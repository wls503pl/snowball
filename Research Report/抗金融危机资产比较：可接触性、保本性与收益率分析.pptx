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76" r:id="rId26"/>
  </p:sldIdLst>
  <p:sldSz cx="10704195" cy="6015990"/>
  <p:notesSz cx="7559675" cy="106914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page261">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page258">
    <p:spTree>
      <p:nvGrpSpPr>
        <p:cNvPr id="1" name=""/>
        <p:cNvGrpSpPr/>
        <p:nvPr/>
      </p:nvGrpSpPr>
      <p:grpSpPr>
        <a:xfrm>
          <a:off x="0" y="0"/>
          <a:ext cx="0" cy="0"/>
          <a:chOff x="0" y="0"/>
          <a:chExt cx="0" cy="0"/>
        </a:xfrm>
      </p:grpSpPr>
      <p:sp>
        <p:nvSpPr>
          <p:cNvPr id="0"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master-page124">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3"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master-page87">
    <p:spTree>
      <p:nvGrpSpPr>
        <p:cNvPr id="1" name=""/>
        <p:cNvGrpSpPr/>
        <p:nvPr/>
      </p:nvGrpSpPr>
      <p:grpSpPr>
        <a:xfrm>
          <a:off x="0" y="0"/>
          <a:ext cx="0" cy="0"/>
          <a:chOff x="0" y="0"/>
          <a:chExt cx="0" cy="0"/>
        </a:xfrm>
      </p:grpSpPr>
      <p:sp>
        <p:nvSpPr>
          <p:cNvPr id="4"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5"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master-page78">
    <p:spTree>
      <p:nvGrpSpPr>
        <p:cNvPr id="1" name=""/>
        <p:cNvGrpSpPr/>
        <p:nvPr/>
      </p:nvGrpSpPr>
      <p:grpSpPr>
        <a:xfrm>
          <a:off x="0" y="0"/>
          <a:ext cx="0" cy="0"/>
          <a:chOff x="0" y="0"/>
          <a:chExt cx="0" cy="0"/>
        </a:xfrm>
      </p:grpSpPr>
      <p:sp>
        <p:nvSpPr>
          <p:cNvPr id="6"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7"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master-page61">
    <p:spTree>
      <p:nvGrpSpPr>
        <p:cNvPr id="1" name=""/>
        <p:cNvGrpSpPr/>
        <p:nvPr/>
      </p:nvGrpSpPr>
      <p:grpSpPr>
        <a:xfrm>
          <a:off x="0" y="0"/>
          <a:ext cx="0" cy="0"/>
          <a:chOff x="0" y="0"/>
          <a:chExt cx="0" cy="0"/>
        </a:xfrm>
      </p:grpSpPr>
      <p:sp>
        <p:nvSpPr>
          <p:cNvPr id="8"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9"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10"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11"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ster-page40">
    <p:spTree>
      <p:nvGrpSpPr>
        <p:cNvPr id="1" name=""/>
        <p:cNvGrpSpPr/>
        <p:nvPr/>
      </p:nvGrpSpPr>
      <p:grpSpPr>
        <a:xfrm>
          <a:off x="0" y="0"/>
          <a:ext cx="0" cy="0"/>
          <a:chOff x="0" y="0"/>
          <a:chExt cx="0" cy="0"/>
        </a:xfrm>
      </p:grpSpPr>
      <p:sp>
        <p:nvSpPr>
          <p:cNvPr id="12"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13"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master-page131">
    <p:spTree>
      <p:nvGrpSpPr>
        <p:cNvPr id="1" name=""/>
        <p:cNvGrpSpPr/>
        <p:nvPr/>
      </p:nvGrpSpPr>
      <p:grpSpPr>
        <a:xfrm>
          <a:off x="0" y="0"/>
          <a:ext cx="0" cy="0"/>
          <a:chOff x="0" y="0"/>
          <a:chExt cx="0" cy="0"/>
        </a:xfrm>
      </p:grpSpPr>
      <p:sp>
        <p:nvSpPr>
          <p:cNvPr id="14"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15"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master-page166">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17"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master-page173">
    <p:spTree>
      <p:nvGrpSpPr>
        <p:cNvPr id="1" name=""/>
        <p:cNvGrpSpPr/>
        <p:nvPr/>
      </p:nvGrpSpPr>
      <p:grpSpPr>
        <a:xfrm>
          <a:off x="0" y="0"/>
          <a:ext cx="0" cy="0"/>
          <a:chOff x="0" y="0"/>
          <a:chExt cx="0" cy="0"/>
        </a:xfrm>
      </p:grpSpPr>
      <p:sp>
        <p:nvSpPr>
          <p:cNvPr id="18"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19"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master-page190">
    <p:spTree>
      <p:nvGrpSpPr>
        <p:cNvPr id="1" name=""/>
        <p:cNvGrpSpPr/>
        <p:nvPr/>
      </p:nvGrpSpPr>
      <p:grpSpPr>
        <a:xfrm>
          <a:off x="0" y="0"/>
          <a:ext cx="0" cy="0"/>
          <a:chOff x="0" y="0"/>
          <a:chExt cx="0" cy="0"/>
        </a:xfrm>
      </p:grpSpPr>
      <p:sp>
        <p:nvSpPr>
          <p:cNvPr id="20"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1"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master-page205">
    <p:spTree>
      <p:nvGrpSpPr>
        <p:cNvPr id="1" name=""/>
        <p:cNvGrpSpPr/>
        <p:nvPr/>
      </p:nvGrpSpPr>
      <p:grpSpPr>
        <a:xfrm>
          <a:off x="0" y="0"/>
          <a:ext cx="0" cy="0"/>
          <a:chOff x="0" y="0"/>
          <a:chExt cx="0" cy="0"/>
        </a:xfrm>
      </p:grpSpPr>
      <p:sp>
        <p:nvSpPr>
          <p:cNvPr id="22"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3"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master-page212">
    <p:spTree>
      <p:nvGrpSpPr>
        <p:cNvPr id="1" name=""/>
        <p:cNvGrpSpPr/>
        <p:nvPr/>
      </p:nvGrpSpPr>
      <p:grpSpPr>
        <a:xfrm>
          <a:off x="0" y="0"/>
          <a:ext cx="0" cy="0"/>
          <a:chOff x="0" y="0"/>
          <a:chExt cx="0" cy="0"/>
        </a:xfrm>
      </p:grpSpPr>
      <p:sp>
        <p:nvSpPr>
          <p:cNvPr id="24"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5"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master-page235">
    <p:spTree>
      <p:nvGrpSpPr>
        <p:cNvPr id="1" name=""/>
        <p:cNvGrpSpPr/>
        <p:nvPr/>
      </p:nvGrpSpPr>
      <p:grpSpPr>
        <a:xfrm>
          <a:off x="0" y="0"/>
          <a:ext cx="0" cy="0"/>
          <a:chOff x="0" y="0"/>
          <a:chExt cx="0" cy="0"/>
        </a:xfrm>
      </p:grpSpPr>
      <p:sp>
        <p:nvSpPr>
          <p:cNvPr id="26"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7"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master-page238">
    <p:spTree>
      <p:nvGrpSpPr>
        <p:cNvPr id="1" name=""/>
        <p:cNvGrpSpPr/>
        <p:nvPr/>
      </p:nvGrpSpPr>
      <p:grpSpPr>
        <a:xfrm>
          <a:off x="0" y="0"/>
          <a:ext cx="0" cy="0"/>
          <a:chOff x="0" y="0"/>
          <a:chExt cx="0" cy="0"/>
        </a:xfrm>
      </p:grpSpPr>
      <p:sp>
        <p:nvSpPr>
          <p:cNvPr id="28"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29"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aster-page255">
    <p:spTree>
      <p:nvGrpSpPr>
        <p:cNvPr id="1" name=""/>
        <p:cNvGrpSpPr/>
        <p:nvPr/>
      </p:nvGrpSpPr>
      <p:grpSpPr>
        <a:xfrm>
          <a:off x="0" y="0"/>
          <a:ext cx="0" cy="0"/>
          <a:chOff x="0" y="0"/>
          <a:chExt cx="0" cy="0"/>
        </a:xfrm>
      </p:grpSpPr>
      <p:sp>
        <p:nvSpPr>
          <p:cNvPr id="30" name="PlaceHolder 1"/>
          <p:cNvSpPr>
            <a:spLocks noGrp="1"/>
          </p:cNvSpPr>
          <p:nvPr>
            <p:ph type="title" hasCustomPrompt="1"/>
          </p:nvPr>
        </p:nvSpPr>
        <p:spPr>
          <a:xfrm>
            <a:off x="534960" y="558360"/>
            <a:ext cx="9633240" cy="1132200"/>
          </a:xfrm>
          <a:prstGeom prst="rect">
            <a:avLst/>
          </a:prstGeom>
          <a:noFill/>
          <a:ln w="0">
            <a:noFill/>
          </a:ln>
        </p:spPr>
        <p:txBody>
          <a:bodyPr lIns="0" tIns="0" rIns="0" bIns="0" anchor="ctr">
            <a:noAutofit/>
          </a:bodyPr>
          <a:p>
            <a:pPr indent="0" algn="ctr">
              <a:buNone/>
            </a:pPr>
            <a:r>
              <a:rPr lang="en-US" sz="4400" b="0" u="none" strike="noStrike">
                <a:solidFill>
                  <a:srgbClr val="000000"/>
                </a:solidFill>
                <a:effectLst/>
                <a:uFillTx/>
                <a:latin typeface="Arial" panose="020B0604020202020204"/>
              </a:rPr>
              <a:t>Click to edit the title text format</a:t>
            </a:r>
            <a:endParaRPr lang="en-US" sz="4400" b="0" u="none" strike="noStrike">
              <a:solidFill>
                <a:srgbClr val="000000"/>
              </a:solidFill>
              <a:effectLst/>
              <a:uFillTx/>
              <a:latin typeface="Arial" panose="020B0604020202020204"/>
            </a:endParaRPr>
          </a:p>
        </p:txBody>
      </p:sp>
      <p:sp>
        <p:nvSpPr>
          <p:cNvPr id="31" name="PlaceHolder 2"/>
          <p:cNvSpPr>
            <a:spLocks noGrp="1"/>
          </p:cNvSpPr>
          <p:nvPr>
            <p:ph type="body" hasCustomPrompt="1"/>
          </p:nvPr>
        </p:nvSpPr>
        <p:spPr>
          <a:xfrm>
            <a:off x="534960" y="1874880"/>
            <a:ext cx="9633240" cy="393336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effectLst/>
                <a:uFillTx/>
                <a:latin typeface="Arial" panose="020B0604020202020204"/>
              </a:rPr>
              <a:t>Click to edit the outline text format</a:t>
            </a:r>
            <a:endParaRPr lang="en-US" sz="3200" b="0" u="none" strike="noStrike">
              <a:solidFill>
                <a:srgbClr val="000000"/>
              </a:solidFill>
              <a:effectLst/>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effectLst/>
                <a:uFillTx/>
                <a:latin typeface="Arial" panose="020B0604020202020204"/>
              </a:rPr>
              <a:t>Second Outline Level</a:t>
            </a:r>
            <a:endParaRPr lang="en-US" sz="2800" b="0" u="none" strike="noStrike">
              <a:solidFill>
                <a:srgbClr val="000000"/>
              </a:solidFill>
              <a:effectLst/>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effectLst/>
                <a:uFillTx/>
                <a:latin typeface="Arial" panose="020B0604020202020204"/>
              </a:rPr>
              <a:t>Third Outline Level</a:t>
            </a:r>
            <a:endParaRPr lang="en-US" sz="2400" b="0" u="none" strike="noStrike">
              <a:solidFill>
                <a:srgbClr val="000000"/>
              </a:solidFill>
              <a:effectLst/>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effectLst/>
                <a:uFillTx/>
                <a:latin typeface="Arial" panose="020B0604020202020204"/>
              </a:rPr>
              <a:t>Fourth Outline Level</a:t>
            </a:r>
            <a:endParaRPr lang="en-US" sz="2000" b="0" u="none" strike="noStrike">
              <a:solidFill>
                <a:srgbClr val="000000"/>
              </a:solidFill>
              <a:effectLst/>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Fifth Outline Level</a:t>
            </a:r>
            <a:endParaRPr lang="en-US" sz="2000" b="0" u="none" strike="noStrike">
              <a:solidFill>
                <a:srgbClr val="000000"/>
              </a:solidFill>
              <a:effectLst/>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Sixth Outline Level</a:t>
            </a:r>
            <a:endParaRPr lang="en-US" sz="2000" b="0" u="none" strike="noStrike">
              <a:solidFill>
                <a:srgbClr val="000000"/>
              </a:solidFill>
              <a:effectLst/>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effectLst/>
                <a:uFillTx/>
                <a:latin typeface="Arial" panose="020B0604020202020204"/>
              </a:rPr>
              <a:t>Seventh Outline Level</a:t>
            </a:r>
            <a:endParaRPr lang="en-US" sz="2000" b="0" u="none" strike="noStrike">
              <a:solidFill>
                <a:srgbClr val="000000"/>
              </a:solidFill>
              <a:effectLst/>
              <a:uFillTx/>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p:bodyStyle/>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1" Type="http://schemas.openxmlformats.org/officeDocument/2006/relationships/slideLayout" Target="../slideLayouts/slideLayout8.xml"/><Relationship Id="rId10" Type="http://schemas.openxmlformats.org/officeDocument/2006/relationships/image" Target="../media/image16.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0" Type="http://schemas.openxmlformats.org/officeDocument/2006/relationships/slideLayout" Target="../slideLayouts/slideLayout6.xml"/><Relationship Id="rId2" Type="http://schemas.openxmlformats.org/officeDocument/2006/relationships/image" Target="../media/image8.png"/><Relationship Id="rId19" Type="http://schemas.openxmlformats.org/officeDocument/2006/relationships/image" Target="../media/image33.png"/><Relationship Id="rId18" Type="http://schemas.openxmlformats.org/officeDocument/2006/relationships/image" Target="../media/image32.png"/><Relationship Id="rId17" Type="http://schemas.openxmlformats.org/officeDocument/2006/relationships/image" Target="../media/image31.png"/><Relationship Id="rId16" Type="http://schemas.openxmlformats.org/officeDocument/2006/relationships/image" Target="../media/image5.png"/><Relationship Id="rId15" Type="http://schemas.openxmlformats.org/officeDocument/2006/relationships/image" Target="../media/image30.png"/><Relationship Id="rId14" Type="http://schemas.openxmlformats.org/officeDocument/2006/relationships/image" Target="../media/image29.png"/><Relationship Id="rId13" Type="http://schemas.openxmlformats.org/officeDocument/2006/relationships/image" Target="../media/image28.png"/><Relationship Id="rId12" Type="http://schemas.openxmlformats.org/officeDocument/2006/relationships/image" Target="../media/image27.png"/><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image" Target="../media/image17.png"/></Relationships>
</file>

<file path=ppt/slides/_rels/slide4.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pn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8.png"/><Relationship Id="rId16" Type="http://schemas.openxmlformats.org/officeDocument/2006/relationships/slideLayout" Target="../slideLayouts/slideLayout5.xml"/><Relationship Id="rId15" Type="http://schemas.openxmlformats.org/officeDocument/2006/relationships/image" Target="../media/image47.png"/><Relationship Id="rId14" Type="http://schemas.openxmlformats.org/officeDocument/2006/relationships/image" Target="../media/image46.png"/><Relationship Id="rId13" Type="http://schemas.openxmlformats.org/officeDocument/2006/relationships/image" Target="../media/image45.png"/><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image" Target="../media/image34.png"/></Relationships>
</file>

<file path=ppt/slides/_rels/slide5.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54.png"/><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8.png"/><Relationship Id="rId15" Type="http://schemas.openxmlformats.org/officeDocument/2006/relationships/slideLayout" Target="../slideLayouts/slideLayout4.xml"/><Relationship Id="rId14" Type="http://schemas.openxmlformats.org/officeDocument/2006/relationships/image" Target="../media/image59.png"/><Relationship Id="rId13" Type="http://schemas.openxmlformats.org/officeDocument/2006/relationships/image" Target="../media/image58.png"/><Relationship Id="rId12" Type="http://schemas.openxmlformats.org/officeDocument/2006/relationships/image" Target="../media/image57.png"/><Relationship Id="rId11" Type="http://schemas.openxmlformats.org/officeDocument/2006/relationships/image" Target="../media/image56.png"/><Relationship Id="rId10" Type="http://schemas.openxmlformats.org/officeDocument/2006/relationships/image" Target="../media/image28.png"/><Relationship Id="rId1" Type="http://schemas.openxmlformats.org/officeDocument/2006/relationships/image" Target="../media/image48.png"/></Relationships>
</file>

<file path=ppt/slides/_rels/slide6.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image" Target="../media/image64.png"/><Relationship Id="rId7" Type="http://schemas.openxmlformats.org/officeDocument/2006/relationships/image" Target="../media/image43.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8.png"/><Relationship Id="rId14" Type="http://schemas.openxmlformats.org/officeDocument/2006/relationships/slideLayout" Target="../slideLayouts/slideLayout8.xml"/><Relationship Id="rId13" Type="http://schemas.openxmlformats.org/officeDocument/2006/relationships/image" Target="../media/image68.png"/><Relationship Id="rId12" Type="http://schemas.openxmlformats.org/officeDocument/2006/relationships/image" Target="../media/image67.png"/><Relationship Id="rId11" Type="http://schemas.openxmlformats.org/officeDocument/2006/relationships/image" Target="../media/image66.png"/><Relationship Id="rId10" Type="http://schemas.openxmlformats.org/officeDocument/2006/relationships/image" Target="../media/image65.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75.png"/><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8.png"/><Relationship Id="rId1" Type="http://schemas.openxmlformats.org/officeDocument/2006/relationships/image" Target="../media/image69.png"/></Relationships>
</file>

<file path=ppt/slides/_rels/slide8.xml.rels><?xml version="1.0" encoding="UTF-8" standalone="yes"?>
<Relationships xmlns="http://schemas.openxmlformats.org/package/2006/relationships"><Relationship Id="rId9" Type="http://schemas.openxmlformats.org/officeDocument/2006/relationships/image" Target="../media/image83.png"/><Relationship Id="rId8" Type="http://schemas.openxmlformats.org/officeDocument/2006/relationships/image" Target="../media/image82.png"/><Relationship Id="rId7" Type="http://schemas.openxmlformats.org/officeDocument/2006/relationships/image" Target="../media/image81.png"/><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8.png"/><Relationship Id="rId13" Type="http://schemas.openxmlformats.org/officeDocument/2006/relationships/slideLayout" Target="../slideLayouts/slideLayout9.xml"/><Relationship Id="rId12" Type="http://schemas.openxmlformats.org/officeDocument/2006/relationships/image" Target="../media/image86.png"/><Relationship Id="rId11" Type="http://schemas.openxmlformats.org/officeDocument/2006/relationships/image" Target="../media/image85.png"/><Relationship Id="rId10" Type="http://schemas.openxmlformats.org/officeDocument/2006/relationships/image" Target="../media/image84.png"/><Relationship Id="rId1" Type="http://schemas.openxmlformats.org/officeDocument/2006/relationships/image" Target="../media/image76.png"/></Relationships>
</file>

<file path=ppt/slides/_rels/slide9.xml.rels><?xml version="1.0" encoding="UTF-8" standalone="yes"?>
<Relationships xmlns="http://schemas.openxmlformats.org/package/2006/relationships"><Relationship Id="rId9" Type="http://schemas.openxmlformats.org/officeDocument/2006/relationships/image" Target="../media/image92.png"/><Relationship Id="rId8" Type="http://schemas.openxmlformats.org/officeDocument/2006/relationships/image" Target="../media/image91.png"/><Relationship Id="rId7" Type="http://schemas.openxmlformats.org/officeDocument/2006/relationships/image" Target="../media/image90.png"/><Relationship Id="rId6" Type="http://schemas.openxmlformats.org/officeDocument/2006/relationships/image" Target="../media/image21.png"/><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87.png"/><Relationship Id="rId2" Type="http://schemas.openxmlformats.org/officeDocument/2006/relationships/image" Target="../media/image8.png"/><Relationship Id="rId16" Type="http://schemas.openxmlformats.org/officeDocument/2006/relationships/slideLayout" Target="../slideLayouts/slideLayout8.xml"/><Relationship Id="rId15" Type="http://schemas.openxmlformats.org/officeDocument/2006/relationships/image" Target="../media/image98.png"/><Relationship Id="rId14" Type="http://schemas.openxmlformats.org/officeDocument/2006/relationships/image" Target="../media/image97.png"/><Relationship Id="rId13" Type="http://schemas.openxmlformats.org/officeDocument/2006/relationships/image" Target="../media/image96.png"/><Relationship Id="rId12" Type="http://schemas.openxmlformats.org/officeDocument/2006/relationships/image" Target="../media/image95.png"/><Relationship Id="rId11" Type="http://schemas.openxmlformats.org/officeDocument/2006/relationships/image" Target="../media/image94.png"/><Relationship Id="rId10" Type="http://schemas.openxmlformats.org/officeDocument/2006/relationships/image" Target="../media/image9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image" Target="../media/image106.png"/><Relationship Id="rId8" Type="http://schemas.openxmlformats.org/officeDocument/2006/relationships/image" Target="../media/image105.png"/><Relationship Id="rId7" Type="http://schemas.openxmlformats.org/officeDocument/2006/relationships/image" Target="../media/image104.png"/><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3" Type="http://schemas.openxmlformats.org/officeDocument/2006/relationships/image" Target="../media/image100.png"/><Relationship Id="rId2" Type="http://schemas.openxmlformats.org/officeDocument/2006/relationships/image" Target="../media/image8.png"/><Relationship Id="rId17" Type="http://schemas.openxmlformats.org/officeDocument/2006/relationships/slideLayout" Target="../slideLayouts/slideLayout10.xml"/><Relationship Id="rId16" Type="http://schemas.openxmlformats.org/officeDocument/2006/relationships/image" Target="../media/image111.png"/><Relationship Id="rId15" Type="http://schemas.openxmlformats.org/officeDocument/2006/relationships/image" Target="../media/image62.png"/><Relationship Id="rId14" Type="http://schemas.openxmlformats.org/officeDocument/2006/relationships/image" Target="../media/image110.png"/><Relationship Id="rId13" Type="http://schemas.openxmlformats.org/officeDocument/2006/relationships/image" Target="../media/image35.png"/><Relationship Id="rId12" Type="http://schemas.openxmlformats.org/officeDocument/2006/relationships/image" Target="../media/image109.png"/><Relationship Id="rId11" Type="http://schemas.openxmlformats.org/officeDocument/2006/relationships/image" Target="../media/image108.png"/><Relationship Id="rId10" Type="http://schemas.openxmlformats.org/officeDocument/2006/relationships/image" Target="../media/image107.png"/><Relationship Id="rId1" Type="http://schemas.openxmlformats.org/officeDocument/2006/relationships/image" Target="../media/image99.png"/></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image" Target="../media/image118.png"/><Relationship Id="rId7" Type="http://schemas.openxmlformats.org/officeDocument/2006/relationships/image" Target="../media/image117.png"/><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113.png"/><Relationship Id="rId2" Type="http://schemas.openxmlformats.org/officeDocument/2006/relationships/image" Target="../media/image8.png"/><Relationship Id="rId1" Type="http://schemas.openxmlformats.org/officeDocument/2006/relationships/image" Target="../media/image112.png"/></Relationships>
</file>

<file path=ppt/slides/_rels/slide12.xml.rels><?xml version="1.0" encoding="UTF-8" standalone="yes"?>
<Relationships xmlns="http://schemas.openxmlformats.org/package/2006/relationships"><Relationship Id="rId9" Type="http://schemas.openxmlformats.org/officeDocument/2006/relationships/image" Target="../media/image126.png"/><Relationship Id="rId8" Type="http://schemas.openxmlformats.org/officeDocument/2006/relationships/image" Target="../media/image125.png"/><Relationship Id="rId7" Type="http://schemas.openxmlformats.org/officeDocument/2006/relationships/image" Target="../media/image124.png"/><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20.png"/><Relationship Id="rId2" Type="http://schemas.openxmlformats.org/officeDocument/2006/relationships/image" Target="../media/image8.png"/><Relationship Id="rId13" Type="http://schemas.openxmlformats.org/officeDocument/2006/relationships/slideLayout" Target="../slideLayouts/slideLayout12.xml"/><Relationship Id="rId12" Type="http://schemas.openxmlformats.org/officeDocument/2006/relationships/image" Target="../media/image129.png"/><Relationship Id="rId11" Type="http://schemas.openxmlformats.org/officeDocument/2006/relationships/image" Target="../media/image128.png"/><Relationship Id="rId10" Type="http://schemas.openxmlformats.org/officeDocument/2006/relationships/image" Target="../media/image127.png"/><Relationship Id="rId1" Type="http://schemas.openxmlformats.org/officeDocument/2006/relationships/image" Target="../media/image119.png"/></Relationships>
</file>

<file path=ppt/slides/_rels/slide13.xml.rels><?xml version="1.0" encoding="UTF-8" standalone="yes"?>
<Relationships xmlns="http://schemas.openxmlformats.org/package/2006/relationships"><Relationship Id="rId9" Type="http://schemas.openxmlformats.org/officeDocument/2006/relationships/image" Target="../media/image135.png"/><Relationship Id="rId8" Type="http://schemas.openxmlformats.org/officeDocument/2006/relationships/image" Target="../media/image134.png"/><Relationship Id="rId7" Type="http://schemas.openxmlformats.org/officeDocument/2006/relationships/image" Target="../media/image39.png"/><Relationship Id="rId6" Type="http://schemas.openxmlformats.org/officeDocument/2006/relationships/image" Target="../media/image126.png"/><Relationship Id="rId5" Type="http://schemas.openxmlformats.org/officeDocument/2006/relationships/image" Target="../media/image133.png"/><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8.png"/><Relationship Id="rId16" Type="http://schemas.openxmlformats.org/officeDocument/2006/relationships/slideLayout" Target="../slideLayouts/slideLayout13.xml"/><Relationship Id="rId15" Type="http://schemas.openxmlformats.org/officeDocument/2006/relationships/image" Target="../media/image35.png"/><Relationship Id="rId14" Type="http://schemas.openxmlformats.org/officeDocument/2006/relationships/image" Target="../media/image67.png"/><Relationship Id="rId13" Type="http://schemas.openxmlformats.org/officeDocument/2006/relationships/image" Target="../media/image138.png"/><Relationship Id="rId12" Type="http://schemas.openxmlformats.org/officeDocument/2006/relationships/image" Target="../media/image137.png"/><Relationship Id="rId11" Type="http://schemas.openxmlformats.org/officeDocument/2006/relationships/image" Target="../media/image136.png"/><Relationship Id="rId10" Type="http://schemas.openxmlformats.org/officeDocument/2006/relationships/image" Target="../media/image42.png"/><Relationship Id="rId1" Type="http://schemas.openxmlformats.org/officeDocument/2006/relationships/image" Target="../media/image130.png"/></Relationships>
</file>

<file path=ppt/slides/_rels/slide14.xml.rels><?xml version="1.0" encoding="UTF-8" standalone="yes"?>
<Relationships xmlns="http://schemas.openxmlformats.org/package/2006/relationships"><Relationship Id="rId9" Type="http://schemas.openxmlformats.org/officeDocument/2006/relationships/image" Target="../media/image144.png"/><Relationship Id="rId8" Type="http://schemas.openxmlformats.org/officeDocument/2006/relationships/image" Target="../media/image94.png"/><Relationship Id="rId7" Type="http://schemas.openxmlformats.org/officeDocument/2006/relationships/image" Target="../media/image143.png"/><Relationship Id="rId6" Type="http://schemas.openxmlformats.org/officeDocument/2006/relationships/image" Target="../media/image90.png"/><Relationship Id="rId5" Type="http://schemas.openxmlformats.org/officeDocument/2006/relationships/image" Target="../media/image142.png"/><Relationship Id="rId4" Type="http://schemas.openxmlformats.org/officeDocument/2006/relationships/image" Target="../media/image141.png"/><Relationship Id="rId3" Type="http://schemas.openxmlformats.org/officeDocument/2006/relationships/image" Target="../media/image140.png"/><Relationship Id="rId2" Type="http://schemas.openxmlformats.org/officeDocument/2006/relationships/image" Target="../media/image8.png"/><Relationship Id="rId10" Type="http://schemas.openxmlformats.org/officeDocument/2006/relationships/slideLayout" Target="../slideLayouts/slideLayout14.xml"/><Relationship Id="rId1" Type="http://schemas.openxmlformats.org/officeDocument/2006/relationships/image" Target="../media/image139.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image" Target="../media/image70.png"/><Relationship Id="rId7" Type="http://schemas.openxmlformats.org/officeDocument/2006/relationships/image" Target="../media/image149.png"/><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0.png"/><Relationship Id="rId3" Type="http://schemas.openxmlformats.org/officeDocument/2006/relationships/image" Target="../media/image146.png"/><Relationship Id="rId2" Type="http://schemas.openxmlformats.org/officeDocument/2006/relationships/image" Target="../media/image8.png"/><Relationship Id="rId1" Type="http://schemas.openxmlformats.org/officeDocument/2006/relationships/image" Target="../media/image145.png"/></Relationships>
</file>

<file path=ppt/slides/_rels/slide16.xml.rels><?xml version="1.0" encoding="UTF-8" standalone="yes"?>
<Relationships xmlns="http://schemas.openxmlformats.org/package/2006/relationships"><Relationship Id="rId9" Type="http://schemas.openxmlformats.org/officeDocument/2006/relationships/image" Target="../media/image157.png"/><Relationship Id="rId8" Type="http://schemas.openxmlformats.org/officeDocument/2006/relationships/image" Target="../media/image156.png"/><Relationship Id="rId7" Type="http://schemas.openxmlformats.org/officeDocument/2006/relationships/image" Target="../media/image155.png"/><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 Id="rId3" Type="http://schemas.openxmlformats.org/officeDocument/2006/relationships/image" Target="../media/image151.png"/><Relationship Id="rId2" Type="http://schemas.openxmlformats.org/officeDocument/2006/relationships/image" Target="../media/image8.png"/><Relationship Id="rId12" Type="http://schemas.openxmlformats.org/officeDocument/2006/relationships/slideLayout" Target="../slideLayouts/slideLayout16.xml"/><Relationship Id="rId11" Type="http://schemas.openxmlformats.org/officeDocument/2006/relationships/image" Target="../media/image159.png"/><Relationship Id="rId10" Type="http://schemas.openxmlformats.org/officeDocument/2006/relationships/image" Target="../media/image158.png"/><Relationship Id="rId1" Type="http://schemas.openxmlformats.org/officeDocument/2006/relationships/image" Target="../media/image150.png"/></Relationships>
</file>

<file path=ppt/slides/_rels/slide17.xml.rels><?xml version="1.0" encoding="UTF-8" standalone="yes"?>
<Relationships xmlns="http://schemas.openxmlformats.org/package/2006/relationships"><Relationship Id="rId9" Type="http://schemas.openxmlformats.org/officeDocument/2006/relationships/image" Target="../media/image167.png"/><Relationship Id="rId8" Type="http://schemas.openxmlformats.org/officeDocument/2006/relationships/image" Target="../media/image166.png"/><Relationship Id="rId7" Type="http://schemas.openxmlformats.org/officeDocument/2006/relationships/image" Target="../media/image165.png"/><Relationship Id="rId6" Type="http://schemas.openxmlformats.org/officeDocument/2006/relationships/image" Target="../media/image164.png"/><Relationship Id="rId5" Type="http://schemas.openxmlformats.org/officeDocument/2006/relationships/image" Target="../media/image163.png"/><Relationship Id="rId4" Type="http://schemas.openxmlformats.org/officeDocument/2006/relationships/image" Target="../media/image162.png"/><Relationship Id="rId3" Type="http://schemas.openxmlformats.org/officeDocument/2006/relationships/image" Target="../media/image161.png"/><Relationship Id="rId2" Type="http://schemas.openxmlformats.org/officeDocument/2006/relationships/image" Target="../media/image8.png"/><Relationship Id="rId14" Type="http://schemas.openxmlformats.org/officeDocument/2006/relationships/slideLayout" Target="../slideLayouts/slideLayout17.xml"/><Relationship Id="rId13" Type="http://schemas.openxmlformats.org/officeDocument/2006/relationships/image" Target="../media/image171.png"/><Relationship Id="rId12" Type="http://schemas.openxmlformats.org/officeDocument/2006/relationships/image" Target="../media/image170.png"/><Relationship Id="rId11" Type="http://schemas.openxmlformats.org/officeDocument/2006/relationships/image" Target="../media/image169.png"/><Relationship Id="rId10" Type="http://schemas.openxmlformats.org/officeDocument/2006/relationships/image" Target="../media/image168.png"/><Relationship Id="rId1" Type="http://schemas.openxmlformats.org/officeDocument/2006/relationships/image" Target="../media/image160.png"/></Relationships>
</file>

<file path=ppt/slides/_rels/slide18.xml.rels><?xml version="1.0" encoding="UTF-8" standalone="yes"?>
<Relationships xmlns="http://schemas.openxmlformats.org/package/2006/relationships"><Relationship Id="rId9" Type="http://schemas.openxmlformats.org/officeDocument/2006/relationships/image" Target="../media/image120.png"/><Relationship Id="rId8" Type="http://schemas.openxmlformats.org/officeDocument/2006/relationships/image" Target="../media/image177.png"/><Relationship Id="rId7" Type="http://schemas.openxmlformats.org/officeDocument/2006/relationships/image" Target="../media/image128.png"/><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 Id="rId3" Type="http://schemas.openxmlformats.org/officeDocument/2006/relationships/image" Target="../media/image173.png"/><Relationship Id="rId2" Type="http://schemas.openxmlformats.org/officeDocument/2006/relationships/image" Target="../media/image8.png"/><Relationship Id="rId11" Type="http://schemas.openxmlformats.org/officeDocument/2006/relationships/slideLayout" Target="../slideLayouts/slideLayout2.xml"/><Relationship Id="rId10" Type="http://schemas.openxmlformats.org/officeDocument/2006/relationships/image" Target="../media/image178.png"/><Relationship Id="rId1" Type="http://schemas.openxmlformats.org/officeDocument/2006/relationships/image" Target="../media/image172.png"/></Relationships>
</file>

<file path=ppt/slides/_rels/slide19.xml.rels><?xml version="1.0" encoding="UTF-8" standalone="yes"?>
<Relationships xmlns="http://schemas.openxmlformats.org/package/2006/relationships"><Relationship Id="rId9" Type="http://schemas.openxmlformats.org/officeDocument/2006/relationships/image" Target="../media/image184.png"/><Relationship Id="rId8" Type="http://schemas.openxmlformats.org/officeDocument/2006/relationships/image" Target="../media/image183.png"/><Relationship Id="rId7" Type="http://schemas.openxmlformats.org/officeDocument/2006/relationships/image" Target="../media/image182.png"/><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67.png"/><Relationship Id="rId3" Type="http://schemas.openxmlformats.org/officeDocument/2006/relationships/image" Target="../media/image35.png"/><Relationship Id="rId2" Type="http://schemas.openxmlformats.org/officeDocument/2006/relationships/image" Target="../media/image8.png"/><Relationship Id="rId11" Type="http://schemas.openxmlformats.org/officeDocument/2006/relationships/slideLayout" Target="../slideLayouts/slideLayout1.xml"/><Relationship Id="rId10" Type="http://schemas.openxmlformats.org/officeDocument/2006/relationships/image" Target="../media/image185.png"/><Relationship Id="rId1" Type="http://schemas.openxmlformats.org/officeDocument/2006/relationships/image" Target="../media/image17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89.png"/></Relationships>
</file>

<file path=ppt/slides/_rels/slide24.xml.rels><?xml version="1.0" encoding="UTF-8" standalone="yes"?>
<Relationships xmlns="http://schemas.openxmlformats.org/package/2006/relationships"><Relationship Id="rId9" Type="http://schemas.openxmlformats.org/officeDocument/2006/relationships/image" Target="../media/image196.png"/><Relationship Id="rId8" Type="http://schemas.openxmlformats.org/officeDocument/2006/relationships/image" Target="../media/image195.png"/><Relationship Id="rId7" Type="http://schemas.openxmlformats.org/officeDocument/2006/relationships/image" Target="../media/image194.png"/><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 Id="rId3" Type="http://schemas.openxmlformats.org/officeDocument/2006/relationships/image" Target="../media/image161.png"/><Relationship Id="rId2" Type="http://schemas.openxmlformats.org/officeDocument/2006/relationships/image" Target="../media/image8.png"/><Relationship Id="rId11" Type="http://schemas.openxmlformats.org/officeDocument/2006/relationships/slideLayout" Target="../slideLayouts/slideLayout1.xml"/><Relationship Id="rId10" Type="http://schemas.openxmlformats.org/officeDocument/2006/relationships/image" Target="../media/image197.png"/><Relationship Id="rId1" Type="http://schemas.openxmlformats.org/officeDocument/2006/relationships/image" Target="../media/image1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圖片 31"/>
          <p:cNvPicPr/>
          <p:nvPr/>
        </p:nvPicPr>
        <p:blipFill>
          <a:blip r:embed="rId1"/>
          <a:stretch>
            <a:fillRect/>
          </a:stretch>
        </p:blipFill>
        <p:spPr>
          <a:xfrm>
            <a:off x="0" y="0"/>
            <a:ext cx="10696320" cy="6016320"/>
          </a:xfrm>
          <a:prstGeom prst="rect">
            <a:avLst/>
          </a:prstGeom>
          <a:noFill/>
          <a:ln w="0">
            <a:noFill/>
          </a:ln>
        </p:spPr>
      </p:pic>
      <p:pic>
        <p:nvPicPr>
          <p:cNvPr id="33" name="圖片 32"/>
          <p:cNvPicPr/>
          <p:nvPr/>
        </p:nvPicPr>
        <p:blipFill>
          <a:blip r:embed="rId2"/>
          <a:stretch>
            <a:fillRect/>
          </a:stretch>
        </p:blipFill>
        <p:spPr>
          <a:xfrm>
            <a:off x="1779840" y="969480"/>
            <a:ext cx="7142040" cy="33120"/>
          </a:xfrm>
          <a:prstGeom prst="rect">
            <a:avLst/>
          </a:prstGeom>
          <a:noFill/>
          <a:ln w="0">
            <a:noFill/>
          </a:ln>
        </p:spPr>
      </p:pic>
      <p:sp>
        <p:nvSpPr>
          <p:cNvPr id="34" name="文字框 33"/>
          <p:cNvSpPr txBox="1"/>
          <p:nvPr/>
        </p:nvSpPr>
        <p:spPr>
          <a:xfrm>
            <a:off x="3588120" y="424440"/>
            <a:ext cx="3607920" cy="504720"/>
          </a:xfrm>
          <a:prstGeom prst="rect">
            <a:avLst/>
          </a:prstGeom>
          <a:noFill/>
          <a:ln w="0">
            <a:noFill/>
          </a:ln>
        </p:spPr>
        <p:txBody>
          <a:bodyPr wrap="none" lIns="0" tIns="0" rIns="0" bIns="0" anchor="t">
            <a:spAutoFit/>
          </a:bodyPr>
          <a:p>
            <a:r>
              <a:rPr lang="zh-CN" sz="3160" b="0" u="none" strike="noStrike">
                <a:solidFill>
                  <a:srgbClr val="FFFFFF"/>
                </a:solidFill>
                <a:effectLst/>
                <a:uFillTx/>
                <a:latin typeface="WenQuanYiZenHei"/>
                <a:ea typeface="WenQuanYiZenHei"/>
              </a:rPr>
              <a:t>抗金融危机资产比较</a:t>
            </a:r>
            <a:endParaRPr lang="en-US" sz="3160" b="0" u="none" strike="noStrike">
              <a:solidFill>
                <a:srgbClr val="000000"/>
              </a:solidFill>
              <a:effectLst/>
              <a:uFillTx/>
              <a:latin typeface="Times New Roman" panose="02020603050405020304"/>
            </a:endParaRPr>
          </a:p>
        </p:txBody>
      </p:sp>
      <p:sp>
        <p:nvSpPr>
          <p:cNvPr id="35" name="任意多邊形 34"/>
          <p:cNvSpPr/>
          <p:nvPr/>
        </p:nvSpPr>
        <p:spPr>
          <a:xfrm>
            <a:off x="2164320" y="2373120"/>
            <a:ext cx="668880" cy="668880"/>
          </a:xfrm>
          <a:custGeom>
            <a:avLst/>
            <a:gdLst/>
            <a:ahLst/>
            <a:cxnLst/>
            <a:rect l="0" t="0" r="r" b="b"/>
            <a:pathLst>
              <a:path w="1858" h="1858">
                <a:moveTo>
                  <a:pt x="1858" y="929"/>
                </a:moveTo>
                <a:cubicBezTo>
                  <a:pt x="1858" y="959"/>
                  <a:pt x="1856" y="989"/>
                  <a:pt x="1853" y="1020"/>
                </a:cubicBezTo>
                <a:cubicBezTo>
                  <a:pt x="1850" y="1050"/>
                  <a:pt x="1846" y="1080"/>
                  <a:pt x="1840" y="1110"/>
                </a:cubicBezTo>
                <a:cubicBezTo>
                  <a:pt x="1834" y="1140"/>
                  <a:pt x="1827" y="1169"/>
                  <a:pt x="1818" y="1198"/>
                </a:cubicBezTo>
                <a:cubicBezTo>
                  <a:pt x="1809" y="1227"/>
                  <a:pt x="1799" y="1256"/>
                  <a:pt x="1787" y="1284"/>
                </a:cubicBezTo>
                <a:cubicBezTo>
                  <a:pt x="1775" y="1312"/>
                  <a:pt x="1762" y="1339"/>
                  <a:pt x="1748" y="1366"/>
                </a:cubicBezTo>
                <a:cubicBezTo>
                  <a:pt x="1734" y="1393"/>
                  <a:pt x="1718" y="1419"/>
                  <a:pt x="1701" y="1444"/>
                </a:cubicBezTo>
                <a:cubicBezTo>
                  <a:pt x="1684" y="1470"/>
                  <a:pt x="1666" y="1494"/>
                  <a:pt x="1647" y="1518"/>
                </a:cubicBezTo>
                <a:cubicBezTo>
                  <a:pt x="1628" y="1541"/>
                  <a:pt x="1607" y="1564"/>
                  <a:pt x="1586" y="1585"/>
                </a:cubicBezTo>
                <a:cubicBezTo>
                  <a:pt x="1564" y="1607"/>
                  <a:pt x="1542" y="1627"/>
                  <a:pt x="1518" y="1646"/>
                </a:cubicBezTo>
                <a:cubicBezTo>
                  <a:pt x="1495" y="1666"/>
                  <a:pt x="1470" y="1684"/>
                  <a:pt x="1445" y="1701"/>
                </a:cubicBezTo>
                <a:cubicBezTo>
                  <a:pt x="1420" y="1717"/>
                  <a:pt x="1394" y="1733"/>
                  <a:pt x="1367" y="1747"/>
                </a:cubicBezTo>
                <a:cubicBezTo>
                  <a:pt x="1340" y="1762"/>
                  <a:pt x="1313" y="1776"/>
                  <a:pt x="1285" y="1787"/>
                </a:cubicBezTo>
                <a:cubicBezTo>
                  <a:pt x="1256" y="1799"/>
                  <a:pt x="1228" y="1809"/>
                  <a:pt x="1199" y="1818"/>
                </a:cubicBezTo>
                <a:cubicBezTo>
                  <a:pt x="1170" y="1827"/>
                  <a:pt x="1140" y="1834"/>
                  <a:pt x="1110" y="1840"/>
                </a:cubicBezTo>
                <a:cubicBezTo>
                  <a:pt x="1081" y="1846"/>
                  <a:pt x="1050" y="1851"/>
                  <a:pt x="1020" y="1854"/>
                </a:cubicBezTo>
                <a:cubicBezTo>
                  <a:pt x="990" y="1857"/>
                  <a:pt x="960" y="1858"/>
                  <a:pt x="929" y="1858"/>
                </a:cubicBezTo>
                <a:cubicBezTo>
                  <a:pt x="899" y="1858"/>
                  <a:pt x="868" y="1857"/>
                  <a:pt x="838" y="1854"/>
                </a:cubicBezTo>
                <a:cubicBezTo>
                  <a:pt x="808" y="1851"/>
                  <a:pt x="778" y="1846"/>
                  <a:pt x="748" y="1840"/>
                </a:cubicBezTo>
                <a:cubicBezTo>
                  <a:pt x="718" y="1834"/>
                  <a:pt x="689" y="1827"/>
                  <a:pt x="660" y="1818"/>
                </a:cubicBezTo>
                <a:cubicBezTo>
                  <a:pt x="631" y="1809"/>
                  <a:pt x="602" y="1799"/>
                  <a:pt x="574" y="1787"/>
                </a:cubicBezTo>
                <a:cubicBezTo>
                  <a:pt x="546" y="1776"/>
                  <a:pt x="518" y="1762"/>
                  <a:pt x="492" y="1747"/>
                </a:cubicBezTo>
                <a:cubicBezTo>
                  <a:pt x="464" y="1733"/>
                  <a:pt x="438" y="1717"/>
                  <a:pt x="412" y="1701"/>
                </a:cubicBezTo>
                <a:cubicBezTo>
                  <a:pt x="387" y="1684"/>
                  <a:pt x="363" y="1666"/>
                  <a:pt x="339" y="1646"/>
                </a:cubicBezTo>
                <a:cubicBezTo>
                  <a:pt x="316" y="1627"/>
                  <a:pt x="293" y="1607"/>
                  <a:pt x="272" y="1585"/>
                </a:cubicBezTo>
                <a:cubicBezTo>
                  <a:pt x="250" y="1564"/>
                  <a:pt x="230" y="1541"/>
                  <a:pt x="210" y="1518"/>
                </a:cubicBezTo>
                <a:cubicBezTo>
                  <a:pt x="191" y="1494"/>
                  <a:pt x="173" y="1470"/>
                  <a:pt x="156" y="1444"/>
                </a:cubicBezTo>
                <a:cubicBezTo>
                  <a:pt x="139" y="1419"/>
                  <a:pt x="124" y="1393"/>
                  <a:pt x="109" y="1366"/>
                </a:cubicBezTo>
                <a:cubicBezTo>
                  <a:pt x="95" y="1339"/>
                  <a:pt x="82" y="1312"/>
                  <a:pt x="70" y="1284"/>
                </a:cubicBezTo>
                <a:cubicBezTo>
                  <a:pt x="59" y="1256"/>
                  <a:pt x="48" y="1227"/>
                  <a:pt x="40" y="1198"/>
                </a:cubicBezTo>
                <a:cubicBezTo>
                  <a:pt x="31" y="1169"/>
                  <a:pt x="23" y="1140"/>
                  <a:pt x="18" y="1110"/>
                </a:cubicBezTo>
                <a:cubicBezTo>
                  <a:pt x="12" y="1080"/>
                  <a:pt x="7" y="1050"/>
                  <a:pt x="4" y="1020"/>
                </a:cubicBezTo>
                <a:cubicBezTo>
                  <a:pt x="1" y="989"/>
                  <a:pt x="0" y="959"/>
                  <a:pt x="0" y="929"/>
                </a:cubicBezTo>
                <a:cubicBezTo>
                  <a:pt x="0" y="898"/>
                  <a:pt x="1" y="868"/>
                  <a:pt x="4" y="838"/>
                </a:cubicBezTo>
                <a:cubicBezTo>
                  <a:pt x="7" y="807"/>
                  <a:pt x="12" y="777"/>
                  <a:pt x="18" y="747"/>
                </a:cubicBezTo>
                <a:cubicBezTo>
                  <a:pt x="23" y="718"/>
                  <a:pt x="31" y="688"/>
                  <a:pt x="40" y="659"/>
                </a:cubicBezTo>
                <a:cubicBezTo>
                  <a:pt x="48" y="630"/>
                  <a:pt x="59" y="601"/>
                  <a:pt x="70" y="573"/>
                </a:cubicBezTo>
                <a:cubicBezTo>
                  <a:pt x="82" y="545"/>
                  <a:pt x="95" y="518"/>
                  <a:pt x="109" y="491"/>
                </a:cubicBezTo>
                <a:cubicBezTo>
                  <a:pt x="124" y="464"/>
                  <a:pt x="139" y="438"/>
                  <a:pt x="156" y="413"/>
                </a:cubicBezTo>
                <a:cubicBezTo>
                  <a:pt x="173" y="387"/>
                  <a:pt x="191" y="363"/>
                  <a:pt x="210" y="339"/>
                </a:cubicBezTo>
                <a:cubicBezTo>
                  <a:pt x="230" y="316"/>
                  <a:pt x="250" y="293"/>
                  <a:pt x="272" y="272"/>
                </a:cubicBezTo>
                <a:cubicBezTo>
                  <a:pt x="293" y="250"/>
                  <a:pt x="316" y="230"/>
                  <a:pt x="339" y="211"/>
                </a:cubicBezTo>
                <a:cubicBezTo>
                  <a:pt x="363" y="191"/>
                  <a:pt x="387" y="173"/>
                  <a:pt x="412" y="156"/>
                </a:cubicBezTo>
                <a:cubicBezTo>
                  <a:pt x="438" y="140"/>
                  <a:pt x="464" y="124"/>
                  <a:pt x="492" y="110"/>
                </a:cubicBezTo>
                <a:cubicBezTo>
                  <a:pt x="518" y="95"/>
                  <a:pt x="546" y="82"/>
                  <a:pt x="574" y="71"/>
                </a:cubicBezTo>
                <a:cubicBezTo>
                  <a:pt x="602" y="59"/>
                  <a:pt x="631" y="49"/>
                  <a:pt x="660" y="40"/>
                </a:cubicBezTo>
                <a:cubicBezTo>
                  <a:pt x="689" y="31"/>
                  <a:pt x="718" y="24"/>
                  <a:pt x="748" y="18"/>
                </a:cubicBezTo>
                <a:cubicBezTo>
                  <a:pt x="778" y="12"/>
                  <a:pt x="808" y="7"/>
                  <a:pt x="838" y="4"/>
                </a:cubicBezTo>
                <a:cubicBezTo>
                  <a:pt x="868" y="1"/>
                  <a:pt x="899" y="0"/>
                  <a:pt x="929" y="0"/>
                </a:cubicBezTo>
                <a:cubicBezTo>
                  <a:pt x="960" y="0"/>
                  <a:pt x="990" y="1"/>
                  <a:pt x="1020" y="4"/>
                </a:cubicBezTo>
                <a:cubicBezTo>
                  <a:pt x="1050" y="7"/>
                  <a:pt x="1081" y="12"/>
                  <a:pt x="1110" y="18"/>
                </a:cubicBezTo>
                <a:cubicBezTo>
                  <a:pt x="1140" y="24"/>
                  <a:pt x="1170" y="31"/>
                  <a:pt x="1199" y="40"/>
                </a:cubicBezTo>
                <a:cubicBezTo>
                  <a:pt x="1228" y="49"/>
                  <a:pt x="1256" y="59"/>
                  <a:pt x="1285" y="71"/>
                </a:cubicBezTo>
                <a:cubicBezTo>
                  <a:pt x="1313" y="82"/>
                  <a:pt x="1340" y="95"/>
                  <a:pt x="1367" y="110"/>
                </a:cubicBezTo>
                <a:cubicBezTo>
                  <a:pt x="1394" y="124"/>
                  <a:pt x="1420" y="140"/>
                  <a:pt x="1445" y="156"/>
                </a:cubicBezTo>
                <a:cubicBezTo>
                  <a:pt x="1470" y="173"/>
                  <a:pt x="1495" y="191"/>
                  <a:pt x="1518" y="211"/>
                </a:cubicBezTo>
                <a:cubicBezTo>
                  <a:pt x="1542" y="230"/>
                  <a:pt x="1564" y="250"/>
                  <a:pt x="1586" y="272"/>
                </a:cubicBezTo>
                <a:cubicBezTo>
                  <a:pt x="1607" y="293"/>
                  <a:pt x="1628" y="316"/>
                  <a:pt x="1647" y="339"/>
                </a:cubicBezTo>
                <a:cubicBezTo>
                  <a:pt x="1666" y="363"/>
                  <a:pt x="1684" y="387"/>
                  <a:pt x="1701" y="413"/>
                </a:cubicBezTo>
                <a:cubicBezTo>
                  <a:pt x="1718" y="438"/>
                  <a:pt x="1734" y="464"/>
                  <a:pt x="1748" y="491"/>
                </a:cubicBezTo>
                <a:cubicBezTo>
                  <a:pt x="1762" y="518"/>
                  <a:pt x="1775" y="545"/>
                  <a:pt x="1787" y="573"/>
                </a:cubicBezTo>
                <a:cubicBezTo>
                  <a:pt x="1799" y="601"/>
                  <a:pt x="1809" y="630"/>
                  <a:pt x="1818" y="659"/>
                </a:cubicBezTo>
                <a:cubicBezTo>
                  <a:pt x="1827" y="688"/>
                  <a:pt x="1834" y="718"/>
                  <a:pt x="1840" y="747"/>
                </a:cubicBezTo>
                <a:cubicBezTo>
                  <a:pt x="1846" y="777"/>
                  <a:pt x="1850" y="807"/>
                  <a:pt x="1853" y="838"/>
                </a:cubicBezTo>
                <a:cubicBezTo>
                  <a:pt x="1856" y="868"/>
                  <a:pt x="1858" y="898"/>
                  <a:pt x="1858" y="929"/>
                </a:cubicBezTo>
                <a:close/>
              </a:path>
            </a:pathLst>
          </a:custGeom>
          <a:solidFill>
            <a:srgbClr val="1E40AF"/>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36" name="圖片 35"/>
          <p:cNvPicPr/>
          <p:nvPr/>
        </p:nvPicPr>
        <p:blipFill>
          <a:blip r:embed="rId3"/>
          <a:stretch>
            <a:fillRect/>
          </a:stretch>
        </p:blipFill>
        <p:spPr>
          <a:xfrm>
            <a:off x="2323080" y="2557080"/>
            <a:ext cx="342360" cy="300600"/>
          </a:xfrm>
          <a:prstGeom prst="rect">
            <a:avLst/>
          </a:prstGeom>
          <a:noFill/>
          <a:ln w="0">
            <a:noFill/>
          </a:ln>
        </p:spPr>
      </p:pic>
      <p:sp>
        <p:nvSpPr>
          <p:cNvPr id="37" name="文字框 36"/>
          <p:cNvSpPr txBox="1"/>
          <p:nvPr/>
        </p:nvSpPr>
        <p:spPr>
          <a:xfrm>
            <a:off x="3549600" y="1062360"/>
            <a:ext cx="3521160" cy="317520"/>
          </a:xfrm>
          <a:prstGeom prst="rect">
            <a:avLst/>
          </a:prstGeom>
          <a:noFill/>
          <a:ln w="0">
            <a:noFill/>
          </a:ln>
        </p:spPr>
        <p:txBody>
          <a:bodyPr wrap="none" lIns="0" tIns="0" rIns="0" bIns="0" anchor="t">
            <a:spAutoFit/>
          </a:bodyPr>
          <a:p>
            <a:r>
              <a:rPr lang="zh-CN" sz="1980" b="0" u="none" strike="noStrike">
                <a:solidFill>
                  <a:srgbClr val="FCD34D"/>
                </a:solidFill>
                <a:effectLst/>
                <a:uFillTx/>
                <a:latin typeface="WenQuanYiZenHei"/>
                <a:ea typeface="WenQuanYiZenHei"/>
              </a:rPr>
              <a:t>可接触性、保本性与收益率分析</a:t>
            </a:r>
            <a:endParaRPr lang="en-US" sz="1980" b="0" u="none" strike="noStrike">
              <a:solidFill>
                <a:srgbClr val="000000"/>
              </a:solidFill>
              <a:effectLst/>
              <a:uFillTx/>
              <a:latin typeface="Times New Roman" panose="02020603050405020304"/>
            </a:endParaRPr>
          </a:p>
        </p:txBody>
      </p:sp>
      <p:sp>
        <p:nvSpPr>
          <p:cNvPr id="38" name="文字框 37"/>
          <p:cNvSpPr txBox="1"/>
          <p:nvPr/>
        </p:nvSpPr>
        <p:spPr>
          <a:xfrm>
            <a:off x="2161440" y="3156480"/>
            <a:ext cx="67140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可接触性</a:t>
            </a:r>
            <a:endParaRPr lang="en-US" sz="1320" b="0" u="none" strike="noStrike">
              <a:solidFill>
                <a:srgbClr val="000000"/>
              </a:solidFill>
              <a:effectLst/>
              <a:uFillTx/>
              <a:latin typeface="Times New Roman" panose="02020603050405020304"/>
            </a:endParaRPr>
          </a:p>
        </p:txBody>
      </p:sp>
      <p:sp>
        <p:nvSpPr>
          <p:cNvPr id="39" name="任意多邊形 38"/>
          <p:cNvSpPr/>
          <p:nvPr/>
        </p:nvSpPr>
        <p:spPr>
          <a:xfrm>
            <a:off x="5013720" y="2373120"/>
            <a:ext cx="668880" cy="668880"/>
          </a:xfrm>
          <a:custGeom>
            <a:avLst/>
            <a:gdLst/>
            <a:ahLst/>
            <a:cxnLst/>
            <a:rect l="0" t="0" r="r" b="b"/>
            <a:pathLst>
              <a:path w="1858" h="1858">
                <a:moveTo>
                  <a:pt x="1858" y="929"/>
                </a:moveTo>
                <a:cubicBezTo>
                  <a:pt x="1858" y="959"/>
                  <a:pt x="1857" y="989"/>
                  <a:pt x="1854" y="1020"/>
                </a:cubicBezTo>
                <a:cubicBezTo>
                  <a:pt x="1851" y="1050"/>
                  <a:pt x="1846" y="1080"/>
                  <a:pt x="1841" y="1110"/>
                </a:cubicBezTo>
                <a:cubicBezTo>
                  <a:pt x="1835" y="1140"/>
                  <a:pt x="1827" y="1169"/>
                  <a:pt x="1818" y="1198"/>
                </a:cubicBezTo>
                <a:cubicBezTo>
                  <a:pt x="1810" y="1227"/>
                  <a:pt x="1799" y="1256"/>
                  <a:pt x="1788" y="1284"/>
                </a:cubicBezTo>
                <a:cubicBezTo>
                  <a:pt x="1776" y="1312"/>
                  <a:pt x="1763" y="1339"/>
                  <a:pt x="1749" y="1366"/>
                </a:cubicBezTo>
                <a:cubicBezTo>
                  <a:pt x="1734" y="1393"/>
                  <a:pt x="1719" y="1419"/>
                  <a:pt x="1702" y="1444"/>
                </a:cubicBezTo>
                <a:cubicBezTo>
                  <a:pt x="1685" y="1470"/>
                  <a:pt x="1667" y="1494"/>
                  <a:pt x="1648" y="1518"/>
                </a:cubicBezTo>
                <a:cubicBezTo>
                  <a:pt x="1628" y="1541"/>
                  <a:pt x="1608" y="1564"/>
                  <a:pt x="1586" y="1585"/>
                </a:cubicBezTo>
                <a:cubicBezTo>
                  <a:pt x="1565" y="1607"/>
                  <a:pt x="1542" y="1627"/>
                  <a:pt x="1519" y="1646"/>
                </a:cubicBezTo>
                <a:cubicBezTo>
                  <a:pt x="1495" y="1666"/>
                  <a:pt x="1471" y="1684"/>
                  <a:pt x="1446" y="1701"/>
                </a:cubicBezTo>
                <a:cubicBezTo>
                  <a:pt x="1420" y="1717"/>
                  <a:pt x="1394" y="1733"/>
                  <a:pt x="1368" y="1747"/>
                </a:cubicBezTo>
                <a:cubicBezTo>
                  <a:pt x="1341" y="1762"/>
                  <a:pt x="1313" y="1776"/>
                  <a:pt x="1285" y="1787"/>
                </a:cubicBezTo>
                <a:cubicBezTo>
                  <a:pt x="1257" y="1799"/>
                  <a:pt x="1228" y="1809"/>
                  <a:pt x="1199" y="1818"/>
                </a:cubicBezTo>
                <a:cubicBezTo>
                  <a:pt x="1170" y="1827"/>
                  <a:pt x="1141" y="1834"/>
                  <a:pt x="1111" y="1840"/>
                </a:cubicBezTo>
                <a:cubicBezTo>
                  <a:pt x="1081" y="1846"/>
                  <a:pt x="1051" y="1851"/>
                  <a:pt x="1021" y="1854"/>
                </a:cubicBezTo>
                <a:cubicBezTo>
                  <a:pt x="991" y="1857"/>
                  <a:pt x="960" y="1858"/>
                  <a:pt x="930" y="1858"/>
                </a:cubicBezTo>
                <a:cubicBezTo>
                  <a:pt x="899" y="1858"/>
                  <a:pt x="869" y="1857"/>
                  <a:pt x="839" y="1854"/>
                </a:cubicBezTo>
                <a:cubicBezTo>
                  <a:pt x="809" y="1851"/>
                  <a:pt x="779" y="1846"/>
                  <a:pt x="749" y="1840"/>
                </a:cubicBezTo>
                <a:cubicBezTo>
                  <a:pt x="719" y="1834"/>
                  <a:pt x="689" y="1827"/>
                  <a:pt x="660" y="1818"/>
                </a:cubicBezTo>
                <a:cubicBezTo>
                  <a:pt x="631" y="1809"/>
                  <a:pt x="603" y="1799"/>
                  <a:pt x="575" y="1787"/>
                </a:cubicBezTo>
                <a:cubicBezTo>
                  <a:pt x="546" y="1776"/>
                  <a:pt x="519" y="1762"/>
                  <a:pt x="492" y="1747"/>
                </a:cubicBezTo>
                <a:cubicBezTo>
                  <a:pt x="465" y="1733"/>
                  <a:pt x="439" y="1717"/>
                  <a:pt x="414" y="1701"/>
                </a:cubicBezTo>
                <a:cubicBezTo>
                  <a:pt x="389" y="1684"/>
                  <a:pt x="364" y="1666"/>
                  <a:pt x="341" y="1646"/>
                </a:cubicBezTo>
                <a:cubicBezTo>
                  <a:pt x="317" y="1627"/>
                  <a:pt x="295" y="1607"/>
                  <a:pt x="273" y="1585"/>
                </a:cubicBezTo>
                <a:cubicBezTo>
                  <a:pt x="252" y="1564"/>
                  <a:pt x="231" y="1541"/>
                  <a:pt x="212" y="1518"/>
                </a:cubicBezTo>
                <a:cubicBezTo>
                  <a:pt x="193" y="1494"/>
                  <a:pt x="175" y="1470"/>
                  <a:pt x="158" y="1444"/>
                </a:cubicBezTo>
                <a:cubicBezTo>
                  <a:pt x="141" y="1419"/>
                  <a:pt x="125" y="1393"/>
                  <a:pt x="111" y="1366"/>
                </a:cubicBezTo>
                <a:cubicBezTo>
                  <a:pt x="97" y="1339"/>
                  <a:pt x="84" y="1312"/>
                  <a:pt x="72" y="1284"/>
                </a:cubicBezTo>
                <a:cubicBezTo>
                  <a:pt x="60" y="1256"/>
                  <a:pt x="50" y="1227"/>
                  <a:pt x="41" y="1198"/>
                </a:cubicBezTo>
                <a:cubicBezTo>
                  <a:pt x="32" y="1169"/>
                  <a:pt x="25" y="1140"/>
                  <a:pt x="19" y="1110"/>
                </a:cubicBezTo>
                <a:cubicBezTo>
                  <a:pt x="13" y="1080"/>
                  <a:pt x="9" y="1050"/>
                  <a:pt x="6" y="1020"/>
                </a:cubicBezTo>
                <a:cubicBezTo>
                  <a:pt x="3" y="989"/>
                  <a:pt x="0" y="959"/>
                  <a:pt x="0" y="929"/>
                </a:cubicBezTo>
                <a:cubicBezTo>
                  <a:pt x="0" y="898"/>
                  <a:pt x="3" y="868"/>
                  <a:pt x="6" y="838"/>
                </a:cubicBezTo>
                <a:cubicBezTo>
                  <a:pt x="9" y="807"/>
                  <a:pt x="13" y="777"/>
                  <a:pt x="19" y="747"/>
                </a:cubicBezTo>
                <a:cubicBezTo>
                  <a:pt x="25" y="718"/>
                  <a:pt x="32" y="688"/>
                  <a:pt x="41" y="659"/>
                </a:cubicBezTo>
                <a:cubicBezTo>
                  <a:pt x="50" y="630"/>
                  <a:pt x="60" y="601"/>
                  <a:pt x="72" y="573"/>
                </a:cubicBezTo>
                <a:cubicBezTo>
                  <a:pt x="84" y="545"/>
                  <a:pt x="97" y="518"/>
                  <a:pt x="111" y="491"/>
                </a:cubicBezTo>
                <a:cubicBezTo>
                  <a:pt x="125" y="464"/>
                  <a:pt x="141" y="438"/>
                  <a:pt x="158" y="413"/>
                </a:cubicBezTo>
                <a:cubicBezTo>
                  <a:pt x="175" y="387"/>
                  <a:pt x="193" y="363"/>
                  <a:pt x="212" y="339"/>
                </a:cubicBezTo>
                <a:cubicBezTo>
                  <a:pt x="231" y="316"/>
                  <a:pt x="252" y="293"/>
                  <a:pt x="273" y="272"/>
                </a:cubicBezTo>
                <a:cubicBezTo>
                  <a:pt x="295" y="250"/>
                  <a:pt x="317" y="230"/>
                  <a:pt x="341" y="211"/>
                </a:cubicBezTo>
                <a:cubicBezTo>
                  <a:pt x="364" y="191"/>
                  <a:pt x="389" y="173"/>
                  <a:pt x="414" y="156"/>
                </a:cubicBezTo>
                <a:cubicBezTo>
                  <a:pt x="439" y="140"/>
                  <a:pt x="465" y="124"/>
                  <a:pt x="492" y="110"/>
                </a:cubicBezTo>
                <a:cubicBezTo>
                  <a:pt x="519" y="95"/>
                  <a:pt x="546" y="82"/>
                  <a:pt x="575" y="71"/>
                </a:cubicBezTo>
                <a:cubicBezTo>
                  <a:pt x="603" y="59"/>
                  <a:pt x="631" y="49"/>
                  <a:pt x="660" y="40"/>
                </a:cubicBezTo>
                <a:cubicBezTo>
                  <a:pt x="689" y="31"/>
                  <a:pt x="719" y="24"/>
                  <a:pt x="749" y="18"/>
                </a:cubicBezTo>
                <a:cubicBezTo>
                  <a:pt x="779" y="12"/>
                  <a:pt x="809" y="7"/>
                  <a:pt x="839" y="4"/>
                </a:cubicBezTo>
                <a:cubicBezTo>
                  <a:pt x="869" y="1"/>
                  <a:pt x="899" y="0"/>
                  <a:pt x="930" y="0"/>
                </a:cubicBezTo>
                <a:cubicBezTo>
                  <a:pt x="960" y="0"/>
                  <a:pt x="991" y="1"/>
                  <a:pt x="1021" y="4"/>
                </a:cubicBezTo>
                <a:cubicBezTo>
                  <a:pt x="1051" y="7"/>
                  <a:pt x="1081" y="12"/>
                  <a:pt x="1111" y="18"/>
                </a:cubicBezTo>
                <a:cubicBezTo>
                  <a:pt x="1141" y="24"/>
                  <a:pt x="1170" y="31"/>
                  <a:pt x="1199" y="40"/>
                </a:cubicBezTo>
                <a:cubicBezTo>
                  <a:pt x="1228" y="49"/>
                  <a:pt x="1257" y="59"/>
                  <a:pt x="1285" y="71"/>
                </a:cubicBezTo>
                <a:cubicBezTo>
                  <a:pt x="1313" y="82"/>
                  <a:pt x="1341" y="95"/>
                  <a:pt x="1368" y="110"/>
                </a:cubicBezTo>
                <a:cubicBezTo>
                  <a:pt x="1394" y="124"/>
                  <a:pt x="1420" y="140"/>
                  <a:pt x="1446" y="156"/>
                </a:cubicBezTo>
                <a:cubicBezTo>
                  <a:pt x="1471" y="173"/>
                  <a:pt x="1495" y="191"/>
                  <a:pt x="1519" y="211"/>
                </a:cubicBezTo>
                <a:cubicBezTo>
                  <a:pt x="1542" y="230"/>
                  <a:pt x="1565" y="250"/>
                  <a:pt x="1586" y="272"/>
                </a:cubicBezTo>
                <a:cubicBezTo>
                  <a:pt x="1608" y="293"/>
                  <a:pt x="1628" y="316"/>
                  <a:pt x="1648" y="339"/>
                </a:cubicBezTo>
                <a:cubicBezTo>
                  <a:pt x="1667" y="363"/>
                  <a:pt x="1685" y="387"/>
                  <a:pt x="1702" y="413"/>
                </a:cubicBezTo>
                <a:cubicBezTo>
                  <a:pt x="1719" y="438"/>
                  <a:pt x="1734" y="464"/>
                  <a:pt x="1749" y="491"/>
                </a:cubicBezTo>
                <a:cubicBezTo>
                  <a:pt x="1763" y="518"/>
                  <a:pt x="1776" y="545"/>
                  <a:pt x="1788" y="573"/>
                </a:cubicBezTo>
                <a:cubicBezTo>
                  <a:pt x="1799" y="601"/>
                  <a:pt x="1810" y="630"/>
                  <a:pt x="1818" y="659"/>
                </a:cubicBezTo>
                <a:cubicBezTo>
                  <a:pt x="1827" y="688"/>
                  <a:pt x="1835" y="718"/>
                  <a:pt x="1841" y="747"/>
                </a:cubicBezTo>
                <a:cubicBezTo>
                  <a:pt x="1846" y="777"/>
                  <a:pt x="1851" y="807"/>
                  <a:pt x="1854" y="838"/>
                </a:cubicBezTo>
                <a:cubicBezTo>
                  <a:pt x="1857" y="868"/>
                  <a:pt x="1858" y="898"/>
                  <a:pt x="1858" y="929"/>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0" name="圖片 39"/>
          <p:cNvPicPr/>
          <p:nvPr/>
        </p:nvPicPr>
        <p:blipFill>
          <a:blip r:embed="rId4"/>
          <a:stretch>
            <a:fillRect/>
          </a:stretch>
        </p:blipFill>
        <p:spPr>
          <a:xfrm>
            <a:off x="5198040" y="2557080"/>
            <a:ext cx="300600" cy="300600"/>
          </a:xfrm>
          <a:prstGeom prst="rect">
            <a:avLst/>
          </a:prstGeom>
          <a:noFill/>
          <a:ln w="0">
            <a:noFill/>
          </a:ln>
        </p:spPr>
      </p:pic>
      <p:sp>
        <p:nvSpPr>
          <p:cNvPr id="41" name="文字框 40"/>
          <p:cNvSpPr txBox="1"/>
          <p:nvPr/>
        </p:nvSpPr>
        <p:spPr>
          <a:xfrm>
            <a:off x="1492920" y="345636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投资门槛、市场准入与流动性评估</a:t>
            </a:r>
            <a:endParaRPr lang="en-US" sz="1050" b="0" u="none" strike="noStrike">
              <a:solidFill>
                <a:srgbClr val="000000"/>
              </a:solidFill>
              <a:effectLst/>
              <a:uFillTx/>
              <a:latin typeface="Times New Roman" panose="02020603050405020304"/>
            </a:endParaRPr>
          </a:p>
        </p:txBody>
      </p:sp>
      <p:sp>
        <p:nvSpPr>
          <p:cNvPr id="42" name="文字框 41"/>
          <p:cNvSpPr txBox="1"/>
          <p:nvPr/>
        </p:nvSpPr>
        <p:spPr>
          <a:xfrm>
            <a:off x="5097600" y="3156480"/>
            <a:ext cx="50364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保本性</a:t>
            </a:r>
            <a:endParaRPr lang="en-US" sz="1320" b="0" u="none" strike="noStrike">
              <a:solidFill>
                <a:srgbClr val="000000"/>
              </a:solidFill>
              <a:effectLst/>
              <a:uFillTx/>
              <a:latin typeface="Times New Roman" panose="02020603050405020304"/>
            </a:endParaRPr>
          </a:p>
        </p:txBody>
      </p:sp>
      <p:sp>
        <p:nvSpPr>
          <p:cNvPr id="43" name="任意多邊形 42"/>
          <p:cNvSpPr/>
          <p:nvPr/>
        </p:nvSpPr>
        <p:spPr>
          <a:xfrm>
            <a:off x="7863480" y="2373120"/>
            <a:ext cx="668880" cy="668880"/>
          </a:xfrm>
          <a:custGeom>
            <a:avLst/>
            <a:gdLst/>
            <a:ahLst/>
            <a:cxnLst/>
            <a:rect l="0" t="0" r="r" b="b"/>
            <a:pathLst>
              <a:path w="1858" h="1858">
                <a:moveTo>
                  <a:pt x="1858" y="929"/>
                </a:moveTo>
                <a:cubicBezTo>
                  <a:pt x="1858" y="959"/>
                  <a:pt x="1857" y="989"/>
                  <a:pt x="1854" y="1020"/>
                </a:cubicBezTo>
                <a:cubicBezTo>
                  <a:pt x="1851" y="1050"/>
                  <a:pt x="1846" y="1080"/>
                  <a:pt x="1840" y="1110"/>
                </a:cubicBezTo>
                <a:cubicBezTo>
                  <a:pt x="1834" y="1140"/>
                  <a:pt x="1827" y="1169"/>
                  <a:pt x="1818" y="1198"/>
                </a:cubicBezTo>
                <a:cubicBezTo>
                  <a:pt x="1809" y="1227"/>
                  <a:pt x="1799" y="1256"/>
                  <a:pt x="1787" y="1284"/>
                </a:cubicBezTo>
                <a:cubicBezTo>
                  <a:pt x="1776" y="1312"/>
                  <a:pt x="1763" y="1339"/>
                  <a:pt x="1748" y="1366"/>
                </a:cubicBezTo>
                <a:cubicBezTo>
                  <a:pt x="1734" y="1393"/>
                  <a:pt x="1718" y="1419"/>
                  <a:pt x="1702" y="1444"/>
                </a:cubicBezTo>
                <a:cubicBezTo>
                  <a:pt x="1685" y="1470"/>
                  <a:pt x="1667" y="1494"/>
                  <a:pt x="1647" y="1518"/>
                </a:cubicBezTo>
                <a:cubicBezTo>
                  <a:pt x="1628" y="1541"/>
                  <a:pt x="1608" y="1564"/>
                  <a:pt x="1586" y="1585"/>
                </a:cubicBezTo>
                <a:cubicBezTo>
                  <a:pt x="1565" y="1607"/>
                  <a:pt x="1542" y="1627"/>
                  <a:pt x="1519" y="1646"/>
                </a:cubicBezTo>
                <a:cubicBezTo>
                  <a:pt x="1495" y="1666"/>
                  <a:pt x="1471" y="1684"/>
                  <a:pt x="1445" y="1701"/>
                </a:cubicBezTo>
                <a:cubicBezTo>
                  <a:pt x="1420" y="1717"/>
                  <a:pt x="1394" y="1733"/>
                  <a:pt x="1366" y="1747"/>
                </a:cubicBezTo>
                <a:cubicBezTo>
                  <a:pt x="1339" y="1762"/>
                  <a:pt x="1312" y="1776"/>
                  <a:pt x="1284" y="1787"/>
                </a:cubicBezTo>
                <a:cubicBezTo>
                  <a:pt x="1256" y="1799"/>
                  <a:pt x="1227" y="1809"/>
                  <a:pt x="1198" y="1818"/>
                </a:cubicBezTo>
                <a:cubicBezTo>
                  <a:pt x="1169" y="1827"/>
                  <a:pt x="1139" y="1834"/>
                  <a:pt x="1110" y="1840"/>
                </a:cubicBezTo>
                <a:cubicBezTo>
                  <a:pt x="1080" y="1846"/>
                  <a:pt x="1050" y="1851"/>
                  <a:pt x="1020" y="1854"/>
                </a:cubicBezTo>
                <a:cubicBezTo>
                  <a:pt x="989" y="1857"/>
                  <a:pt x="959" y="1858"/>
                  <a:pt x="929" y="1858"/>
                </a:cubicBezTo>
                <a:cubicBezTo>
                  <a:pt x="898" y="1858"/>
                  <a:pt x="868" y="1857"/>
                  <a:pt x="837" y="1854"/>
                </a:cubicBezTo>
                <a:cubicBezTo>
                  <a:pt x="807" y="1851"/>
                  <a:pt x="777" y="1846"/>
                  <a:pt x="747" y="1840"/>
                </a:cubicBezTo>
                <a:cubicBezTo>
                  <a:pt x="718" y="1834"/>
                  <a:pt x="688" y="1827"/>
                  <a:pt x="659" y="1818"/>
                </a:cubicBezTo>
                <a:cubicBezTo>
                  <a:pt x="630" y="1809"/>
                  <a:pt x="601" y="1799"/>
                  <a:pt x="573" y="1787"/>
                </a:cubicBezTo>
                <a:cubicBezTo>
                  <a:pt x="545" y="1776"/>
                  <a:pt x="518" y="1762"/>
                  <a:pt x="491" y="1747"/>
                </a:cubicBezTo>
                <a:cubicBezTo>
                  <a:pt x="464" y="1733"/>
                  <a:pt x="438" y="1717"/>
                  <a:pt x="413" y="1701"/>
                </a:cubicBezTo>
                <a:cubicBezTo>
                  <a:pt x="387" y="1684"/>
                  <a:pt x="363" y="1666"/>
                  <a:pt x="339" y="1646"/>
                </a:cubicBezTo>
                <a:cubicBezTo>
                  <a:pt x="316" y="1627"/>
                  <a:pt x="293" y="1607"/>
                  <a:pt x="272" y="1585"/>
                </a:cubicBezTo>
                <a:cubicBezTo>
                  <a:pt x="250" y="1564"/>
                  <a:pt x="230" y="1541"/>
                  <a:pt x="211" y="1518"/>
                </a:cubicBezTo>
                <a:cubicBezTo>
                  <a:pt x="191" y="1494"/>
                  <a:pt x="173" y="1470"/>
                  <a:pt x="156" y="1444"/>
                </a:cubicBezTo>
                <a:cubicBezTo>
                  <a:pt x="140" y="1419"/>
                  <a:pt x="124" y="1393"/>
                  <a:pt x="110" y="1366"/>
                </a:cubicBezTo>
                <a:cubicBezTo>
                  <a:pt x="95" y="1339"/>
                  <a:pt x="82" y="1312"/>
                  <a:pt x="71" y="1284"/>
                </a:cubicBezTo>
                <a:cubicBezTo>
                  <a:pt x="59" y="1256"/>
                  <a:pt x="49" y="1227"/>
                  <a:pt x="40" y="1198"/>
                </a:cubicBezTo>
                <a:cubicBezTo>
                  <a:pt x="31" y="1169"/>
                  <a:pt x="24" y="1140"/>
                  <a:pt x="18" y="1110"/>
                </a:cubicBezTo>
                <a:cubicBezTo>
                  <a:pt x="12" y="1080"/>
                  <a:pt x="7" y="1050"/>
                  <a:pt x="4" y="1020"/>
                </a:cubicBezTo>
                <a:cubicBezTo>
                  <a:pt x="1" y="989"/>
                  <a:pt x="0" y="959"/>
                  <a:pt x="0" y="929"/>
                </a:cubicBezTo>
                <a:cubicBezTo>
                  <a:pt x="0" y="898"/>
                  <a:pt x="1" y="868"/>
                  <a:pt x="4" y="838"/>
                </a:cubicBezTo>
                <a:cubicBezTo>
                  <a:pt x="7" y="807"/>
                  <a:pt x="12" y="777"/>
                  <a:pt x="18" y="747"/>
                </a:cubicBezTo>
                <a:cubicBezTo>
                  <a:pt x="24" y="718"/>
                  <a:pt x="31" y="688"/>
                  <a:pt x="40" y="659"/>
                </a:cubicBezTo>
                <a:cubicBezTo>
                  <a:pt x="49" y="630"/>
                  <a:pt x="59" y="601"/>
                  <a:pt x="71" y="573"/>
                </a:cubicBezTo>
                <a:cubicBezTo>
                  <a:pt x="82" y="545"/>
                  <a:pt x="95" y="518"/>
                  <a:pt x="110" y="491"/>
                </a:cubicBezTo>
                <a:cubicBezTo>
                  <a:pt x="124" y="464"/>
                  <a:pt x="140" y="438"/>
                  <a:pt x="156" y="413"/>
                </a:cubicBezTo>
                <a:cubicBezTo>
                  <a:pt x="173" y="387"/>
                  <a:pt x="191" y="363"/>
                  <a:pt x="211" y="339"/>
                </a:cubicBezTo>
                <a:cubicBezTo>
                  <a:pt x="230" y="316"/>
                  <a:pt x="250" y="293"/>
                  <a:pt x="272" y="272"/>
                </a:cubicBezTo>
                <a:cubicBezTo>
                  <a:pt x="293" y="250"/>
                  <a:pt x="316" y="230"/>
                  <a:pt x="339" y="211"/>
                </a:cubicBezTo>
                <a:cubicBezTo>
                  <a:pt x="363" y="191"/>
                  <a:pt x="387" y="173"/>
                  <a:pt x="413" y="156"/>
                </a:cubicBezTo>
                <a:cubicBezTo>
                  <a:pt x="438" y="140"/>
                  <a:pt x="464" y="124"/>
                  <a:pt x="491" y="110"/>
                </a:cubicBezTo>
                <a:cubicBezTo>
                  <a:pt x="518" y="95"/>
                  <a:pt x="545" y="82"/>
                  <a:pt x="573" y="71"/>
                </a:cubicBezTo>
                <a:cubicBezTo>
                  <a:pt x="601" y="59"/>
                  <a:pt x="630" y="49"/>
                  <a:pt x="659" y="40"/>
                </a:cubicBezTo>
                <a:cubicBezTo>
                  <a:pt x="688" y="31"/>
                  <a:pt x="718" y="24"/>
                  <a:pt x="747" y="18"/>
                </a:cubicBezTo>
                <a:cubicBezTo>
                  <a:pt x="777" y="12"/>
                  <a:pt x="807" y="7"/>
                  <a:pt x="837" y="4"/>
                </a:cubicBezTo>
                <a:cubicBezTo>
                  <a:pt x="868" y="1"/>
                  <a:pt x="898" y="0"/>
                  <a:pt x="929" y="0"/>
                </a:cubicBezTo>
                <a:cubicBezTo>
                  <a:pt x="959" y="0"/>
                  <a:pt x="989" y="1"/>
                  <a:pt x="1020" y="4"/>
                </a:cubicBezTo>
                <a:cubicBezTo>
                  <a:pt x="1050" y="7"/>
                  <a:pt x="1080" y="12"/>
                  <a:pt x="1110" y="18"/>
                </a:cubicBezTo>
                <a:cubicBezTo>
                  <a:pt x="1139" y="24"/>
                  <a:pt x="1169" y="31"/>
                  <a:pt x="1198" y="40"/>
                </a:cubicBezTo>
                <a:cubicBezTo>
                  <a:pt x="1227" y="49"/>
                  <a:pt x="1256" y="59"/>
                  <a:pt x="1284" y="71"/>
                </a:cubicBezTo>
                <a:cubicBezTo>
                  <a:pt x="1312" y="82"/>
                  <a:pt x="1339" y="95"/>
                  <a:pt x="1366" y="110"/>
                </a:cubicBezTo>
                <a:cubicBezTo>
                  <a:pt x="1394" y="124"/>
                  <a:pt x="1420" y="140"/>
                  <a:pt x="1445" y="156"/>
                </a:cubicBezTo>
                <a:cubicBezTo>
                  <a:pt x="1471" y="173"/>
                  <a:pt x="1495" y="191"/>
                  <a:pt x="1519" y="211"/>
                </a:cubicBezTo>
                <a:cubicBezTo>
                  <a:pt x="1542" y="230"/>
                  <a:pt x="1565" y="250"/>
                  <a:pt x="1586" y="272"/>
                </a:cubicBezTo>
                <a:cubicBezTo>
                  <a:pt x="1608" y="293"/>
                  <a:pt x="1628" y="316"/>
                  <a:pt x="1647" y="339"/>
                </a:cubicBezTo>
                <a:cubicBezTo>
                  <a:pt x="1667" y="363"/>
                  <a:pt x="1685" y="387"/>
                  <a:pt x="1702" y="413"/>
                </a:cubicBezTo>
                <a:cubicBezTo>
                  <a:pt x="1718" y="438"/>
                  <a:pt x="1734" y="464"/>
                  <a:pt x="1748" y="491"/>
                </a:cubicBezTo>
                <a:cubicBezTo>
                  <a:pt x="1763" y="518"/>
                  <a:pt x="1776" y="545"/>
                  <a:pt x="1787" y="573"/>
                </a:cubicBezTo>
                <a:cubicBezTo>
                  <a:pt x="1799" y="601"/>
                  <a:pt x="1809" y="630"/>
                  <a:pt x="1818" y="659"/>
                </a:cubicBezTo>
                <a:cubicBezTo>
                  <a:pt x="1827" y="688"/>
                  <a:pt x="1834" y="718"/>
                  <a:pt x="1840" y="747"/>
                </a:cubicBezTo>
                <a:cubicBezTo>
                  <a:pt x="1846" y="777"/>
                  <a:pt x="1851" y="807"/>
                  <a:pt x="1854" y="838"/>
                </a:cubicBezTo>
                <a:cubicBezTo>
                  <a:pt x="1857" y="868"/>
                  <a:pt x="1858" y="898"/>
                  <a:pt x="1858" y="929"/>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4" name="圖片 43"/>
          <p:cNvPicPr/>
          <p:nvPr/>
        </p:nvPicPr>
        <p:blipFill>
          <a:blip r:embed="rId5"/>
          <a:stretch>
            <a:fillRect/>
          </a:stretch>
        </p:blipFill>
        <p:spPr>
          <a:xfrm>
            <a:off x="8047440" y="2557080"/>
            <a:ext cx="300600" cy="300600"/>
          </a:xfrm>
          <a:prstGeom prst="rect">
            <a:avLst/>
          </a:prstGeom>
          <a:noFill/>
          <a:ln w="0">
            <a:noFill/>
          </a:ln>
        </p:spPr>
      </p:pic>
      <p:sp>
        <p:nvSpPr>
          <p:cNvPr id="45" name="文字框 44"/>
          <p:cNvSpPr txBox="1"/>
          <p:nvPr/>
        </p:nvSpPr>
        <p:spPr>
          <a:xfrm>
            <a:off x="4412160" y="345636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历史表现、风险特征与保本机制</a:t>
            </a:r>
            <a:endParaRPr lang="en-US" sz="1050" b="0" u="none" strike="noStrike">
              <a:solidFill>
                <a:srgbClr val="000000"/>
              </a:solidFill>
              <a:effectLst/>
              <a:uFillTx/>
              <a:latin typeface="Times New Roman" panose="02020603050405020304"/>
            </a:endParaRPr>
          </a:p>
        </p:txBody>
      </p:sp>
      <p:sp>
        <p:nvSpPr>
          <p:cNvPr id="46" name="文字框 45"/>
          <p:cNvSpPr txBox="1"/>
          <p:nvPr/>
        </p:nvSpPr>
        <p:spPr>
          <a:xfrm>
            <a:off x="7949880" y="3156480"/>
            <a:ext cx="50364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收益率</a:t>
            </a:r>
            <a:endParaRPr lang="en-US" sz="1320" b="0" u="none" strike="noStrike">
              <a:solidFill>
                <a:srgbClr val="000000"/>
              </a:solidFill>
              <a:effectLst/>
              <a:uFillTx/>
              <a:latin typeface="Times New Roman" panose="02020603050405020304"/>
            </a:endParaRPr>
          </a:p>
        </p:txBody>
      </p:sp>
      <p:pic>
        <p:nvPicPr>
          <p:cNvPr id="47" name="圖片 46"/>
          <p:cNvPicPr/>
          <p:nvPr/>
        </p:nvPicPr>
        <p:blipFill>
          <a:blip r:embed="rId6"/>
          <a:stretch>
            <a:fillRect/>
          </a:stretch>
        </p:blipFill>
        <p:spPr>
          <a:xfrm>
            <a:off x="3568320" y="5281560"/>
            <a:ext cx="3562560" cy="33120"/>
          </a:xfrm>
          <a:prstGeom prst="rect">
            <a:avLst/>
          </a:prstGeom>
          <a:noFill/>
          <a:ln w="0">
            <a:noFill/>
          </a:ln>
        </p:spPr>
      </p:pic>
      <p:sp>
        <p:nvSpPr>
          <p:cNvPr id="48" name="文字框 47"/>
          <p:cNvSpPr txBox="1"/>
          <p:nvPr/>
        </p:nvSpPr>
        <p:spPr>
          <a:xfrm>
            <a:off x="7130880" y="345636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危机期间表现、长期潜力与风险调整</a:t>
            </a:r>
            <a:endParaRPr lang="en-US" sz="1050" b="0" u="none" strike="noStrike">
              <a:solidFill>
                <a:srgbClr val="000000"/>
              </a:solidFill>
              <a:effectLst/>
              <a:uFillTx/>
              <a:latin typeface="Times New Roman" panose="02020603050405020304"/>
            </a:endParaRPr>
          </a:p>
        </p:txBody>
      </p:sp>
      <p:sp>
        <p:nvSpPr>
          <p:cNvPr id="49" name="文字框 48"/>
          <p:cNvSpPr txBox="1"/>
          <p:nvPr/>
        </p:nvSpPr>
        <p:spPr>
          <a:xfrm>
            <a:off x="4619160" y="5528160"/>
            <a:ext cx="7048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报告生成日期</a:t>
            </a:r>
            <a:endParaRPr lang="en-US" sz="920" b="0" u="none" strike="noStrike">
              <a:solidFill>
                <a:srgbClr val="000000"/>
              </a:solidFill>
              <a:effectLst/>
              <a:uFillTx/>
              <a:latin typeface="Times New Roman" panose="02020603050405020304"/>
            </a:endParaRPr>
          </a:p>
        </p:txBody>
      </p:sp>
      <p:pic>
        <p:nvPicPr>
          <p:cNvPr id="50" name="圖片 49"/>
          <p:cNvPicPr/>
          <p:nvPr/>
        </p:nvPicPr>
        <p:blipFill>
          <a:blip r:embed="rId7"/>
          <a:stretch>
            <a:fillRect/>
          </a:stretch>
        </p:blipFill>
        <p:spPr>
          <a:xfrm>
            <a:off x="0" y="0"/>
            <a:ext cx="66600" cy="6016320"/>
          </a:xfrm>
          <a:prstGeom prst="rect">
            <a:avLst/>
          </a:prstGeom>
          <a:noFill/>
          <a:ln w="0">
            <a:noFill/>
          </a:ln>
        </p:spPr>
      </p:pic>
      <p:pic>
        <p:nvPicPr>
          <p:cNvPr id="51" name="圖片 50"/>
          <p:cNvPicPr/>
          <p:nvPr/>
        </p:nvPicPr>
        <p:blipFill>
          <a:blip r:embed="rId7"/>
          <a:stretch>
            <a:fillRect/>
          </a:stretch>
        </p:blipFill>
        <p:spPr>
          <a:xfrm>
            <a:off x="10629720" y="0"/>
            <a:ext cx="66600" cy="6016320"/>
          </a:xfrm>
          <a:prstGeom prst="rect">
            <a:avLst/>
          </a:prstGeom>
          <a:noFill/>
          <a:ln w="0">
            <a:noFill/>
          </a:ln>
        </p:spPr>
      </p:pic>
      <p:sp>
        <p:nvSpPr>
          <p:cNvPr id="52" name="文字框 51"/>
          <p:cNvSpPr txBox="1"/>
          <p:nvPr/>
        </p:nvSpPr>
        <p:spPr>
          <a:xfrm>
            <a:off x="5321160" y="5532120"/>
            <a:ext cx="759600" cy="136080"/>
          </a:xfrm>
          <a:prstGeom prst="rect">
            <a:avLst/>
          </a:prstGeom>
          <a:noFill/>
          <a:ln w="0">
            <a:noFill/>
          </a:ln>
        </p:spPr>
        <p:txBody>
          <a:bodyPr wrap="none" lIns="0" tIns="0" rIns="0" bIns="0" anchor="t">
            <a:spAutoFit/>
          </a:bodyPr>
          <a:p>
            <a:r>
              <a:rPr lang="en-US" sz="920" b="0" u="none" strike="noStrike">
                <a:solidFill>
                  <a:srgbClr val="D1D5DB"/>
                </a:solidFill>
                <a:effectLst/>
                <a:uFillTx/>
                <a:latin typeface="DejaVuSans"/>
                <a:ea typeface="DejaVuSans"/>
              </a:rPr>
              <a:t>: 2025-06-27</a:t>
            </a:r>
            <a:endParaRPr lang="en-US" sz="92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圖片 52"/>
          <p:cNvPicPr/>
          <p:nvPr/>
        </p:nvPicPr>
        <p:blipFill>
          <a:blip r:embed="rId1"/>
          <a:stretch>
            <a:fillRect/>
          </a:stretch>
        </p:blipFill>
        <p:spPr>
          <a:xfrm>
            <a:off x="0" y="0"/>
            <a:ext cx="10696320" cy="6016320"/>
          </a:xfrm>
          <a:prstGeom prst="rect">
            <a:avLst/>
          </a:prstGeom>
          <a:noFill/>
          <a:ln w="0">
            <a:noFill/>
          </a:ln>
        </p:spPr>
      </p:pic>
      <p:pic>
        <p:nvPicPr>
          <p:cNvPr id="54" name="圖片 53"/>
          <p:cNvPicPr/>
          <p:nvPr/>
        </p:nvPicPr>
        <p:blipFill>
          <a:blip r:embed="rId2"/>
          <a:stretch>
            <a:fillRect/>
          </a:stretch>
        </p:blipFill>
        <p:spPr>
          <a:xfrm>
            <a:off x="534960" y="735480"/>
            <a:ext cx="3208680" cy="33120"/>
          </a:xfrm>
          <a:prstGeom prst="rect">
            <a:avLst/>
          </a:prstGeom>
          <a:noFill/>
          <a:ln w="0">
            <a:noFill/>
          </a:ln>
        </p:spPr>
      </p:pic>
      <p:pic>
        <p:nvPicPr>
          <p:cNvPr id="55" name="圖片 54"/>
          <p:cNvPicPr/>
          <p:nvPr/>
        </p:nvPicPr>
        <p:blipFill>
          <a:blip r:embed="rId3"/>
          <a:stretch>
            <a:fillRect/>
          </a:stretch>
        </p:blipFill>
        <p:spPr>
          <a:xfrm>
            <a:off x="6309360" y="1303560"/>
            <a:ext cx="3852000" cy="2080440"/>
          </a:xfrm>
          <a:prstGeom prst="rect">
            <a:avLst/>
          </a:prstGeom>
          <a:noFill/>
          <a:ln w="0">
            <a:noFill/>
          </a:ln>
        </p:spPr>
      </p:pic>
      <p:sp>
        <p:nvSpPr>
          <p:cNvPr id="56" name="任意多邊形 55"/>
          <p:cNvSpPr/>
          <p:nvPr/>
        </p:nvSpPr>
        <p:spPr>
          <a:xfrm>
            <a:off x="7019280" y="3576600"/>
            <a:ext cx="2440800" cy="1337400"/>
          </a:xfrm>
          <a:custGeom>
            <a:avLst/>
            <a:gdLst/>
            <a:ahLst/>
            <a:cxnLst/>
            <a:rect l="0" t="0" r="r" b="b"/>
            <a:pathLst>
              <a:path w="6780" h="3715">
                <a:moveTo>
                  <a:pt x="0" y="3529"/>
                </a:moveTo>
                <a:lnTo>
                  <a:pt x="0" y="185"/>
                </a:lnTo>
                <a:cubicBezTo>
                  <a:pt x="0" y="173"/>
                  <a:pt x="2" y="161"/>
                  <a:pt x="4" y="149"/>
                </a:cubicBezTo>
                <a:cubicBezTo>
                  <a:pt x="6" y="137"/>
                  <a:pt x="10" y="126"/>
                  <a:pt x="15" y="114"/>
                </a:cubicBezTo>
                <a:cubicBezTo>
                  <a:pt x="19" y="103"/>
                  <a:pt x="25" y="92"/>
                  <a:pt x="32" y="82"/>
                </a:cubicBezTo>
                <a:cubicBezTo>
                  <a:pt x="39"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6594" y="0"/>
                </a:lnTo>
                <a:cubicBezTo>
                  <a:pt x="6606" y="0"/>
                  <a:pt x="6618" y="1"/>
                  <a:pt x="6630" y="3"/>
                </a:cubicBezTo>
                <a:cubicBezTo>
                  <a:pt x="6642" y="6"/>
                  <a:pt x="6654" y="9"/>
                  <a:pt x="6665" y="14"/>
                </a:cubicBezTo>
                <a:cubicBezTo>
                  <a:pt x="6676" y="18"/>
                  <a:pt x="6687" y="24"/>
                  <a:pt x="6697" y="31"/>
                </a:cubicBezTo>
                <a:cubicBezTo>
                  <a:pt x="6707" y="38"/>
                  <a:pt x="6717" y="45"/>
                  <a:pt x="6725" y="54"/>
                </a:cubicBezTo>
                <a:cubicBezTo>
                  <a:pt x="6734" y="63"/>
                  <a:pt x="6742" y="72"/>
                  <a:pt x="6748" y="82"/>
                </a:cubicBezTo>
                <a:cubicBezTo>
                  <a:pt x="6755" y="92"/>
                  <a:pt x="6761" y="103"/>
                  <a:pt x="6766" y="114"/>
                </a:cubicBezTo>
                <a:cubicBezTo>
                  <a:pt x="6770" y="126"/>
                  <a:pt x="6774" y="137"/>
                  <a:pt x="6776" y="149"/>
                </a:cubicBezTo>
                <a:cubicBezTo>
                  <a:pt x="6778" y="161"/>
                  <a:pt x="6780" y="173"/>
                  <a:pt x="6780" y="185"/>
                </a:cubicBezTo>
                <a:lnTo>
                  <a:pt x="6780" y="3529"/>
                </a:lnTo>
                <a:cubicBezTo>
                  <a:pt x="6780" y="3541"/>
                  <a:pt x="6778" y="3553"/>
                  <a:pt x="6776" y="3565"/>
                </a:cubicBezTo>
                <a:cubicBezTo>
                  <a:pt x="6774" y="3577"/>
                  <a:pt x="6770" y="3589"/>
                  <a:pt x="6766" y="3600"/>
                </a:cubicBezTo>
                <a:cubicBezTo>
                  <a:pt x="6761" y="3611"/>
                  <a:pt x="6755" y="3622"/>
                  <a:pt x="6748" y="3632"/>
                </a:cubicBezTo>
                <a:cubicBezTo>
                  <a:pt x="6742" y="3642"/>
                  <a:pt x="6734" y="3652"/>
                  <a:pt x="6725" y="3660"/>
                </a:cubicBezTo>
                <a:cubicBezTo>
                  <a:pt x="6717" y="3669"/>
                  <a:pt x="6707" y="3677"/>
                  <a:pt x="6697" y="3683"/>
                </a:cubicBezTo>
                <a:cubicBezTo>
                  <a:pt x="6687" y="3690"/>
                  <a:pt x="6676" y="3696"/>
                  <a:pt x="6665" y="3701"/>
                </a:cubicBezTo>
                <a:cubicBezTo>
                  <a:pt x="6654" y="3705"/>
                  <a:pt x="6642" y="3709"/>
                  <a:pt x="6630" y="3711"/>
                </a:cubicBezTo>
                <a:cubicBezTo>
                  <a:pt x="6618" y="3714"/>
                  <a:pt x="6606" y="3715"/>
                  <a:pt x="6594" y="3715"/>
                </a:cubicBezTo>
                <a:lnTo>
                  <a:pt x="186" y="3715"/>
                </a:lnTo>
                <a:cubicBezTo>
                  <a:pt x="174" y="3715"/>
                  <a:pt x="162" y="3714"/>
                  <a:pt x="150" y="3711"/>
                </a:cubicBezTo>
                <a:cubicBezTo>
                  <a:pt x="138" y="3709"/>
                  <a:pt x="126" y="3705"/>
                  <a:pt x="115" y="3701"/>
                </a:cubicBezTo>
                <a:cubicBezTo>
                  <a:pt x="104" y="3696"/>
                  <a:pt x="93" y="3690"/>
                  <a:pt x="83" y="3683"/>
                </a:cubicBezTo>
                <a:cubicBezTo>
                  <a:pt x="73" y="3677"/>
                  <a:pt x="63" y="3669"/>
                  <a:pt x="55" y="3660"/>
                </a:cubicBezTo>
                <a:cubicBezTo>
                  <a:pt x="46" y="3652"/>
                  <a:pt x="39" y="3642"/>
                  <a:pt x="32" y="3632"/>
                </a:cubicBezTo>
                <a:cubicBezTo>
                  <a:pt x="25" y="3622"/>
                  <a:pt x="19" y="3611"/>
                  <a:pt x="15" y="3600"/>
                </a:cubicBezTo>
                <a:cubicBezTo>
                  <a:pt x="10" y="3589"/>
                  <a:pt x="6" y="3577"/>
                  <a:pt x="4" y="3565"/>
                </a:cubicBezTo>
                <a:cubicBezTo>
                  <a:pt x="2" y="3553"/>
                  <a:pt x="0" y="3541"/>
                  <a:pt x="0" y="352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57" name="圖片 56"/>
          <p:cNvPicPr/>
          <p:nvPr/>
        </p:nvPicPr>
        <p:blipFill>
          <a:blip r:embed="rId4"/>
          <a:stretch>
            <a:fillRect/>
          </a:stretch>
        </p:blipFill>
        <p:spPr>
          <a:xfrm>
            <a:off x="7153200" y="3727080"/>
            <a:ext cx="200160" cy="200160"/>
          </a:xfrm>
          <a:prstGeom prst="rect">
            <a:avLst/>
          </a:prstGeom>
          <a:noFill/>
          <a:ln w="0">
            <a:noFill/>
          </a:ln>
        </p:spPr>
      </p:pic>
      <p:sp>
        <p:nvSpPr>
          <p:cNvPr id="58" name="文字框 57"/>
          <p:cNvSpPr txBox="1"/>
          <p:nvPr/>
        </p:nvSpPr>
        <p:spPr>
          <a:xfrm>
            <a:off x="534960" y="312120"/>
            <a:ext cx="360360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引言：金融危机与资产保全</a:t>
            </a:r>
            <a:endParaRPr lang="en-US" sz="2370" b="0" u="none" strike="noStrike">
              <a:solidFill>
                <a:srgbClr val="000000"/>
              </a:solidFill>
              <a:effectLst/>
              <a:uFillTx/>
              <a:latin typeface="Times New Roman" panose="02020603050405020304"/>
            </a:endParaRPr>
          </a:p>
        </p:txBody>
      </p:sp>
      <p:pic>
        <p:nvPicPr>
          <p:cNvPr id="59" name="圖片 58"/>
          <p:cNvPicPr/>
          <p:nvPr/>
        </p:nvPicPr>
        <p:blipFill>
          <a:blip r:embed="rId5"/>
          <a:stretch>
            <a:fillRect/>
          </a:stretch>
        </p:blipFill>
        <p:spPr>
          <a:xfrm>
            <a:off x="7153200" y="4078080"/>
            <a:ext cx="100080" cy="133200"/>
          </a:xfrm>
          <a:prstGeom prst="rect">
            <a:avLst/>
          </a:prstGeom>
          <a:noFill/>
          <a:ln w="0">
            <a:noFill/>
          </a:ln>
        </p:spPr>
      </p:pic>
      <p:sp>
        <p:nvSpPr>
          <p:cNvPr id="60" name="文字框 59"/>
          <p:cNvSpPr txBox="1"/>
          <p:nvPr/>
        </p:nvSpPr>
        <p:spPr>
          <a:xfrm>
            <a:off x="7450560" y="3724920"/>
            <a:ext cx="167724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危机中的典型市场反应</a:t>
            </a:r>
            <a:endParaRPr lang="en-US" sz="1320" b="0" u="none" strike="noStrike">
              <a:solidFill>
                <a:srgbClr val="000000"/>
              </a:solidFill>
              <a:effectLst/>
              <a:uFillTx/>
              <a:latin typeface="Times New Roman" panose="02020603050405020304"/>
            </a:endParaRPr>
          </a:p>
        </p:txBody>
      </p:sp>
      <p:pic>
        <p:nvPicPr>
          <p:cNvPr id="61" name="圖片 60"/>
          <p:cNvPicPr/>
          <p:nvPr/>
        </p:nvPicPr>
        <p:blipFill>
          <a:blip r:embed="rId6"/>
          <a:stretch>
            <a:fillRect/>
          </a:stretch>
        </p:blipFill>
        <p:spPr>
          <a:xfrm>
            <a:off x="7153200" y="4345560"/>
            <a:ext cx="100080" cy="133200"/>
          </a:xfrm>
          <a:prstGeom prst="rect">
            <a:avLst/>
          </a:prstGeom>
          <a:noFill/>
          <a:ln w="0">
            <a:noFill/>
          </a:ln>
        </p:spPr>
      </p:pic>
      <p:sp>
        <p:nvSpPr>
          <p:cNvPr id="62" name="文字框 61"/>
          <p:cNvSpPr txBox="1"/>
          <p:nvPr/>
        </p:nvSpPr>
        <p:spPr>
          <a:xfrm>
            <a:off x="7317000" y="405792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风险资产（如股票）大幅贬值</a:t>
            </a:r>
            <a:endParaRPr lang="en-US" sz="1050" b="0" u="none" strike="noStrike">
              <a:solidFill>
                <a:srgbClr val="000000"/>
              </a:solidFill>
              <a:effectLst/>
              <a:uFillTx/>
              <a:latin typeface="Times New Roman" panose="02020603050405020304"/>
            </a:endParaRPr>
          </a:p>
        </p:txBody>
      </p:sp>
      <p:pic>
        <p:nvPicPr>
          <p:cNvPr id="63" name="圖片 62"/>
          <p:cNvPicPr/>
          <p:nvPr/>
        </p:nvPicPr>
        <p:blipFill>
          <a:blip r:embed="rId7"/>
          <a:stretch>
            <a:fillRect/>
          </a:stretch>
        </p:blipFill>
        <p:spPr>
          <a:xfrm>
            <a:off x="7153200" y="4613040"/>
            <a:ext cx="133200" cy="133200"/>
          </a:xfrm>
          <a:prstGeom prst="rect">
            <a:avLst/>
          </a:prstGeom>
          <a:noFill/>
          <a:ln w="0">
            <a:noFill/>
          </a:ln>
        </p:spPr>
      </p:pic>
      <p:sp>
        <p:nvSpPr>
          <p:cNvPr id="64" name="文字框 63"/>
          <p:cNvSpPr txBox="1"/>
          <p:nvPr/>
        </p:nvSpPr>
        <p:spPr>
          <a:xfrm>
            <a:off x="7317000" y="432540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避险资产（如黄金、国债）受追捧</a:t>
            </a:r>
            <a:endParaRPr lang="en-US" sz="1050" b="0" u="none" strike="noStrike">
              <a:solidFill>
                <a:srgbClr val="000000"/>
              </a:solidFill>
              <a:effectLst/>
              <a:uFillTx/>
              <a:latin typeface="Times New Roman" panose="02020603050405020304"/>
            </a:endParaRPr>
          </a:p>
        </p:txBody>
      </p:sp>
      <p:sp>
        <p:nvSpPr>
          <p:cNvPr id="65" name="文字框 64"/>
          <p:cNvSpPr txBox="1"/>
          <p:nvPr/>
        </p:nvSpPr>
        <p:spPr>
          <a:xfrm>
            <a:off x="7350480" y="459288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投资者风险偏好急剧转变</a:t>
            </a:r>
            <a:endParaRPr lang="en-US" sz="1050" b="0" u="none" strike="noStrike">
              <a:solidFill>
                <a:srgbClr val="000000"/>
              </a:solidFill>
              <a:effectLst/>
              <a:uFillTx/>
              <a:latin typeface="Times New Roman" panose="02020603050405020304"/>
            </a:endParaRPr>
          </a:p>
        </p:txBody>
      </p:sp>
      <p:sp>
        <p:nvSpPr>
          <p:cNvPr id="66" name="文字框 65"/>
          <p:cNvSpPr txBox="1"/>
          <p:nvPr/>
        </p:nvSpPr>
        <p:spPr>
          <a:xfrm>
            <a:off x="534960" y="572868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67" name="任意多邊形 66"/>
          <p:cNvSpPr/>
          <p:nvPr/>
        </p:nvSpPr>
        <p:spPr>
          <a:xfrm>
            <a:off x="551520" y="902520"/>
            <a:ext cx="5490720" cy="4412520"/>
          </a:xfrm>
          <a:custGeom>
            <a:avLst/>
            <a:gdLst/>
            <a:ahLst/>
            <a:cxnLst/>
            <a:rect l="0" t="0" r="r" b="b"/>
            <a:pathLst>
              <a:path w="15252" h="12257">
                <a:moveTo>
                  <a:pt x="0" y="12071"/>
                </a:moveTo>
                <a:lnTo>
                  <a:pt x="0" y="185"/>
                </a:lnTo>
                <a:cubicBezTo>
                  <a:pt x="0" y="173"/>
                  <a:pt x="0" y="161"/>
                  <a:pt x="2" y="149"/>
                </a:cubicBezTo>
                <a:cubicBezTo>
                  <a:pt x="4" y="137"/>
                  <a:pt x="7" y="125"/>
                  <a:pt x="10" y="114"/>
                </a:cubicBezTo>
                <a:cubicBezTo>
                  <a:pt x="14" y="103"/>
                  <a:pt x="18" y="92"/>
                  <a:pt x="23" y="82"/>
                </a:cubicBezTo>
                <a:cubicBezTo>
                  <a:pt x="28" y="72"/>
                  <a:pt x="34" y="63"/>
                  <a:pt x="40" y="54"/>
                </a:cubicBezTo>
                <a:cubicBezTo>
                  <a:pt x="47" y="45"/>
                  <a:pt x="54" y="38"/>
                  <a:pt x="61" y="31"/>
                </a:cubicBezTo>
                <a:cubicBezTo>
                  <a:pt x="69" y="24"/>
                  <a:pt x="77" y="18"/>
                  <a:pt x="86" y="14"/>
                </a:cubicBezTo>
                <a:cubicBezTo>
                  <a:pt x="94" y="9"/>
                  <a:pt x="103" y="5"/>
                  <a:pt x="112" y="3"/>
                </a:cubicBezTo>
                <a:cubicBezTo>
                  <a:pt x="121" y="1"/>
                  <a:pt x="130" y="0"/>
                  <a:pt x="139" y="0"/>
                </a:cubicBezTo>
                <a:lnTo>
                  <a:pt x="15066" y="0"/>
                </a:lnTo>
                <a:cubicBezTo>
                  <a:pt x="15078" y="0"/>
                  <a:pt x="15090" y="1"/>
                  <a:pt x="15102" y="3"/>
                </a:cubicBezTo>
                <a:cubicBezTo>
                  <a:pt x="15114" y="5"/>
                  <a:pt x="15126" y="9"/>
                  <a:pt x="15137" y="14"/>
                </a:cubicBezTo>
                <a:cubicBezTo>
                  <a:pt x="15148" y="18"/>
                  <a:pt x="15159" y="24"/>
                  <a:pt x="15169" y="31"/>
                </a:cubicBezTo>
                <a:cubicBezTo>
                  <a:pt x="15179" y="38"/>
                  <a:pt x="15189" y="45"/>
                  <a:pt x="15197" y="54"/>
                </a:cubicBezTo>
                <a:cubicBezTo>
                  <a:pt x="15206" y="63"/>
                  <a:pt x="15213" y="72"/>
                  <a:pt x="15220" y="82"/>
                </a:cubicBezTo>
                <a:cubicBezTo>
                  <a:pt x="15227" y="92"/>
                  <a:pt x="15233" y="103"/>
                  <a:pt x="15237" y="114"/>
                </a:cubicBezTo>
                <a:cubicBezTo>
                  <a:pt x="15242" y="125"/>
                  <a:pt x="15246" y="137"/>
                  <a:pt x="15248" y="149"/>
                </a:cubicBezTo>
                <a:cubicBezTo>
                  <a:pt x="15250" y="161"/>
                  <a:pt x="15252" y="173"/>
                  <a:pt x="15252" y="185"/>
                </a:cubicBezTo>
                <a:lnTo>
                  <a:pt x="15252" y="12071"/>
                </a:lnTo>
                <a:cubicBezTo>
                  <a:pt x="15252" y="12083"/>
                  <a:pt x="15250" y="12096"/>
                  <a:pt x="15248" y="12108"/>
                </a:cubicBezTo>
                <a:cubicBezTo>
                  <a:pt x="15246" y="12119"/>
                  <a:pt x="15242" y="12131"/>
                  <a:pt x="15237" y="12142"/>
                </a:cubicBezTo>
                <a:cubicBezTo>
                  <a:pt x="15233" y="12154"/>
                  <a:pt x="15227" y="12164"/>
                  <a:pt x="15220" y="12174"/>
                </a:cubicBezTo>
                <a:cubicBezTo>
                  <a:pt x="15213" y="12185"/>
                  <a:pt x="15206" y="12194"/>
                  <a:pt x="15197" y="12203"/>
                </a:cubicBezTo>
                <a:cubicBezTo>
                  <a:pt x="15189" y="12211"/>
                  <a:pt x="15179" y="12219"/>
                  <a:pt x="15169" y="12226"/>
                </a:cubicBezTo>
                <a:cubicBezTo>
                  <a:pt x="15159" y="12232"/>
                  <a:pt x="15148" y="12238"/>
                  <a:pt x="15137" y="12243"/>
                </a:cubicBezTo>
                <a:cubicBezTo>
                  <a:pt x="15126" y="12248"/>
                  <a:pt x="15114" y="12251"/>
                  <a:pt x="15102" y="12253"/>
                </a:cubicBezTo>
                <a:cubicBezTo>
                  <a:pt x="15090" y="12256"/>
                  <a:pt x="15078" y="12257"/>
                  <a:pt x="15066" y="12257"/>
                </a:cubicBezTo>
                <a:lnTo>
                  <a:pt x="139" y="12257"/>
                </a:lnTo>
                <a:cubicBezTo>
                  <a:pt x="130" y="12257"/>
                  <a:pt x="121" y="12256"/>
                  <a:pt x="112" y="12253"/>
                </a:cubicBezTo>
                <a:cubicBezTo>
                  <a:pt x="103" y="12251"/>
                  <a:pt x="94" y="12248"/>
                  <a:pt x="86" y="12243"/>
                </a:cubicBezTo>
                <a:cubicBezTo>
                  <a:pt x="77" y="12238"/>
                  <a:pt x="69" y="12232"/>
                  <a:pt x="61" y="12226"/>
                </a:cubicBezTo>
                <a:cubicBezTo>
                  <a:pt x="54" y="12219"/>
                  <a:pt x="47" y="12211"/>
                  <a:pt x="40" y="12203"/>
                </a:cubicBezTo>
                <a:cubicBezTo>
                  <a:pt x="34" y="12194"/>
                  <a:pt x="28" y="12185"/>
                  <a:pt x="23" y="12174"/>
                </a:cubicBezTo>
                <a:cubicBezTo>
                  <a:pt x="18" y="12164"/>
                  <a:pt x="14" y="12154"/>
                  <a:pt x="10" y="12142"/>
                </a:cubicBezTo>
                <a:cubicBezTo>
                  <a:pt x="7" y="12131"/>
                  <a:pt x="4" y="12119"/>
                  <a:pt x="2" y="12108"/>
                </a:cubicBezTo>
                <a:cubicBezTo>
                  <a:pt x="0" y="12096"/>
                  <a:pt x="0" y="12083"/>
                  <a:pt x="0" y="12071"/>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8" name="任意多邊形 67"/>
          <p:cNvSpPr/>
          <p:nvPr/>
        </p:nvSpPr>
        <p:spPr>
          <a:xfrm>
            <a:off x="534600" y="902520"/>
            <a:ext cx="67320" cy="4412520"/>
          </a:xfrm>
          <a:custGeom>
            <a:avLst/>
            <a:gdLst/>
            <a:ahLst/>
            <a:cxnLst/>
            <a:rect l="0" t="0" r="r" b="b"/>
            <a:pathLst>
              <a:path w="187" h="12257">
                <a:moveTo>
                  <a:pt x="151" y="14"/>
                </a:moveTo>
                <a:cubicBezTo>
                  <a:pt x="140" y="23"/>
                  <a:pt x="130" y="36"/>
                  <a:pt x="121" y="54"/>
                </a:cubicBezTo>
                <a:cubicBezTo>
                  <a:pt x="112" y="71"/>
                  <a:pt x="106" y="91"/>
                  <a:pt x="101" y="114"/>
                </a:cubicBezTo>
                <a:cubicBezTo>
                  <a:pt x="96" y="137"/>
                  <a:pt x="94" y="161"/>
                  <a:pt x="94" y="185"/>
                </a:cubicBezTo>
                <a:lnTo>
                  <a:pt x="94" y="12071"/>
                </a:lnTo>
                <a:cubicBezTo>
                  <a:pt x="94" y="12096"/>
                  <a:pt x="96" y="12120"/>
                  <a:pt x="101" y="12142"/>
                </a:cubicBezTo>
                <a:cubicBezTo>
                  <a:pt x="106" y="12165"/>
                  <a:pt x="112" y="12185"/>
                  <a:pt x="121" y="12203"/>
                </a:cubicBezTo>
                <a:cubicBezTo>
                  <a:pt x="130" y="12220"/>
                  <a:pt x="140" y="12233"/>
                  <a:pt x="151" y="12243"/>
                </a:cubicBezTo>
                <a:cubicBezTo>
                  <a:pt x="163" y="12252"/>
                  <a:pt x="175" y="12257"/>
                  <a:pt x="187" y="12257"/>
                </a:cubicBezTo>
                <a:cubicBezTo>
                  <a:pt x="162" y="12257"/>
                  <a:pt x="139" y="12252"/>
                  <a:pt x="116" y="12243"/>
                </a:cubicBezTo>
                <a:cubicBezTo>
                  <a:pt x="93" y="12233"/>
                  <a:pt x="72" y="12220"/>
                  <a:pt x="55" y="12203"/>
                </a:cubicBezTo>
                <a:cubicBezTo>
                  <a:pt x="37" y="12185"/>
                  <a:pt x="24" y="12165"/>
                  <a:pt x="14" y="12142"/>
                </a:cubicBezTo>
                <a:cubicBezTo>
                  <a:pt x="5" y="12120"/>
                  <a:pt x="0" y="12096"/>
                  <a:pt x="0" y="12071"/>
                </a:cubicBezTo>
                <a:lnTo>
                  <a:pt x="0" y="185"/>
                </a:lnTo>
                <a:cubicBezTo>
                  <a:pt x="0" y="161"/>
                  <a:pt x="5" y="137"/>
                  <a:pt x="14" y="114"/>
                </a:cubicBezTo>
                <a:cubicBezTo>
                  <a:pt x="24" y="91"/>
                  <a:pt x="37" y="71"/>
                  <a:pt x="55" y="54"/>
                </a:cubicBezTo>
                <a:cubicBezTo>
                  <a:pt x="72" y="36"/>
                  <a:pt x="93" y="23"/>
                  <a:pt x="116" y="14"/>
                </a:cubicBezTo>
                <a:cubicBezTo>
                  <a:pt x="139" y="4"/>
                  <a:pt x="162" y="0"/>
                  <a:pt x="187" y="0"/>
                </a:cubicBezTo>
                <a:cubicBezTo>
                  <a:pt x="175" y="0"/>
                  <a:pt x="163" y="4"/>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69" name="圖片 68"/>
          <p:cNvPicPr/>
          <p:nvPr/>
        </p:nvPicPr>
        <p:blipFill>
          <a:blip r:embed="rId8"/>
          <a:stretch>
            <a:fillRect/>
          </a:stretch>
        </p:blipFill>
        <p:spPr>
          <a:xfrm>
            <a:off x="768960" y="1103040"/>
            <a:ext cx="200160" cy="200160"/>
          </a:xfrm>
          <a:prstGeom prst="rect">
            <a:avLst/>
          </a:prstGeom>
          <a:noFill/>
          <a:ln w="0">
            <a:noFill/>
          </a:ln>
        </p:spPr>
      </p:pic>
      <p:sp>
        <p:nvSpPr>
          <p:cNvPr id="70" name="文字框 69"/>
          <p:cNvSpPr txBox="1"/>
          <p:nvPr/>
        </p:nvSpPr>
        <p:spPr>
          <a:xfrm>
            <a:off x="9824760" y="5732640"/>
            <a:ext cx="20447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2 / 24</a:t>
            </a:r>
            <a:endParaRPr lang="en-US" sz="920" b="0" u="none" strike="noStrike">
              <a:solidFill>
                <a:srgbClr val="000000"/>
              </a:solidFill>
              <a:effectLst/>
              <a:uFillTx/>
              <a:latin typeface="Times New Roman" panose="02020603050405020304"/>
            </a:endParaRPr>
          </a:p>
        </p:txBody>
      </p:sp>
      <p:sp>
        <p:nvSpPr>
          <p:cNvPr id="71" name="文字框 70"/>
          <p:cNvSpPr txBox="1"/>
          <p:nvPr/>
        </p:nvSpPr>
        <p:spPr>
          <a:xfrm>
            <a:off x="1103040" y="1117800"/>
            <a:ext cx="15094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市场波动与资产冲击</a:t>
            </a:r>
            <a:endParaRPr lang="en-US" sz="1320" b="0" u="none" strike="noStrike">
              <a:solidFill>
                <a:srgbClr val="000000"/>
              </a:solidFill>
              <a:effectLst/>
              <a:uFillTx/>
              <a:latin typeface="Times New Roman" panose="02020603050405020304"/>
            </a:endParaRPr>
          </a:p>
        </p:txBody>
      </p:sp>
      <p:sp>
        <p:nvSpPr>
          <p:cNvPr id="72" name="文字框 71"/>
          <p:cNvSpPr txBox="1"/>
          <p:nvPr/>
        </p:nvSpPr>
        <p:spPr>
          <a:xfrm>
            <a:off x="1103040" y="1383840"/>
            <a:ext cx="46947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金融危机通常伴随着剧烈的市场波动和广泛的经济衰退，对各类资产价格造成巨</a:t>
            </a:r>
            <a:endParaRPr lang="en-US" sz="1050" b="0" u="none" strike="noStrike">
              <a:solidFill>
                <a:srgbClr val="000000"/>
              </a:solidFill>
              <a:effectLst/>
              <a:uFillTx/>
              <a:latin typeface="Times New Roman" panose="02020603050405020304"/>
            </a:endParaRPr>
          </a:p>
        </p:txBody>
      </p:sp>
      <p:sp>
        <p:nvSpPr>
          <p:cNvPr id="73" name="文字框 72"/>
          <p:cNvSpPr txBox="1"/>
          <p:nvPr/>
        </p:nvSpPr>
        <p:spPr>
          <a:xfrm>
            <a:off x="1103040" y="1584360"/>
            <a:ext cx="46947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大冲击。在不确定性急剧上升时期，风险较高的资产（如股票和高收益债券）往</a:t>
            </a:r>
            <a:endParaRPr lang="en-US" sz="1050" b="0" u="none" strike="noStrike">
              <a:solidFill>
                <a:srgbClr val="000000"/>
              </a:solidFill>
              <a:effectLst/>
              <a:uFillTx/>
              <a:latin typeface="Times New Roman" panose="02020603050405020304"/>
            </a:endParaRPr>
          </a:p>
        </p:txBody>
      </p:sp>
      <p:pic>
        <p:nvPicPr>
          <p:cNvPr id="74" name="圖片 73"/>
          <p:cNvPicPr/>
          <p:nvPr/>
        </p:nvPicPr>
        <p:blipFill>
          <a:blip r:embed="rId9"/>
          <a:stretch>
            <a:fillRect/>
          </a:stretch>
        </p:blipFill>
        <p:spPr>
          <a:xfrm>
            <a:off x="768960" y="2106000"/>
            <a:ext cx="200160" cy="200160"/>
          </a:xfrm>
          <a:prstGeom prst="rect">
            <a:avLst/>
          </a:prstGeom>
          <a:noFill/>
          <a:ln w="0">
            <a:noFill/>
          </a:ln>
        </p:spPr>
      </p:pic>
      <p:sp>
        <p:nvSpPr>
          <p:cNvPr id="75" name="文字框 74"/>
          <p:cNvSpPr txBox="1"/>
          <p:nvPr/>
        </p:nvSpPr>
        <p:spPr>
          <a:xfrm>
            <a:off x="1103040" y="178488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往会大幅贬值。</a:t>
            </a:r>
            <a:endParaRPr lang="en-US" sz="1050" b="0" u="none" strike="noStrike">
              <a:solidFill>
                <a:srgbClr val="000000"/>
              </a:solidFill>
              <a:effectLst/>
              <a:uFillTx/>
              <a:latin typeface="Times New Roman" panose="02020603050405020304"/>
            </a:endParaRPr>
          </a:p>
        </p:txBody>
      </p:sp>
      <p:sp>
        <p:nvSpPr>
          <p:cNvPr id="76" name="文字框 75"/>
          <p:cNvSpPr txBox="1"/>
          <p:nvPr/>
        </p:nvSpPr>
        <p:spPr>
          <a:xfrm>
            <a:off x="1103040" y="2120400"/>
            <a:ext cx="3358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寻找</a:t>
            </a:r>
            <a:endParaRPr lang="en-US" sz="1320" b="0" u="none" strike="noStrike">
              <a:solidFill>
                <a:srgbClr val="000000"/>
              </a:solidFill>
              <a:effectLst/>
              <a:uFillTx/>
              <a:latin typeface="Times New Roman" panose="02020603050405020304"/>
            </a:endParaRPr>
          </a:p>
        </p:txBody>
      </p:sp>
      <p:sp>
        <p:nvSpPr>
          <p:cNvPr id="77" name="文字框 76"/>
          <p:cNvSpPr txBox="1"/>
          <p:nvPr/>
        </p:nvSpPr>
        <p:spPr>
          <a:xfrm>
            <a:off x="1437480" y="2126160"/>
            <a:ext cx="166680" cy="195480"/>
          </a:xfrm>
          <a:prstGeom prst="rect">
            <a:avLst/>
          </a:prstGeom>
          <a:noFill/>
          <a:ln w="0">
            <a:noFill/>
          </a:ln>
        </p:spPr>
        <p:txBody>
          <a:bodyPr wrap="none" lIns="0" tIns="0" rIns="0" bIns="0" anchor="t">
            <a:spAutoFit/>
          </a:bodyPr>
          <a:p>
            <a:r>
              <a:rPr lang="en-US" sz="1320" b="1" u="none" strike="noStrike">
                <a:solidFill>
                  <a:srgbClr val="FCD34D"/>
                </a:solidFill>
                <a:effectLst/>
                <a:uFillTx/>
                <a:latin typeface="DejaVuSans"/>
                <a:ea typeface="DejaVuSans"/>
              </a:rPr>
              <a:t>"</a:t>
            </a:r>
            <a:endParaRPr lang="en-US" sz="1320" b="0" u="none" strike="noStrike">
              <a:solidFill>
                <a:srgbClr val="000000"/>
              </a:solidFill>
              <a:effectLst/>
              <a:uFillTx/>
              <a:latin typeface="Times New Roman" panose="02020603050405020304"/>
            </a:endParaRPr>
          </a:p>
        </p:txBody>
      </p:sp>
      <p:sp>
        <p:nvSpPr>
          <p:cNvPr id="78" name="文字框 77"/>
          <p:cNvSpPr txBox="1"/>
          <p:nvPr/>
        </p:nvSpPr>
        <p:spPr>
          <a:xfrm>
            <a:off x="1524600" y="2120400"/>
            <a:ext cx="50364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避风港</a:t>
            </a:r>
            <a:endParaRPr lang="en-US" sz="1320" b="0" u="none" strike="noStrike">
              <a:solidFill>
                <a:srgbClr val="000000"/>
              </a:solidFill>
              <a:effectLst/>
              <a:uFillTx/>
              <a:latin typeface="Times New Roman" panose="02020603050405020304"/>
            </a:endParaRPr>
          </a:p>
        </p:txBody>
      </p:sp>
      <p:sp>
        <p:nvSpPr>
          <p:cNvPr id="79" name="文字框 78"/>
          <p:cNvSpPr txBox="1"/>
          <p:nvPr/>
        </p:nvSpPr>
        <p:spPr>
          <a:xfrm>
            <a:off x="2025720" y="2126160"/>
            <a:ext cx="166680" cy="195480"/>
          </a:xfrm>
          <a:prstGeom prst="rect">
            <a:avLst/>
          </a:prstGeom>
          <a:noFill/>
          <a:ln w="0">
            <a:noFill/>
          </a:ln>
        </p:spPr>
        <p:txBody>
          <a:bodyPr wrap="none" lIns="0" tIns="0" rIns="0" bIns="0" anchor="t">
            <a:spAutoFit/>
          </a:bodyPr>
          <a:p>
            <a:r>
              <a:rPr lang="en-US" sz="1320" b="1" u="none" strike="noStrike">
                <a:solidFill>
                  <a:srgbClr val="FCD34D"/>
                </a:solidFill>
                <a:effectLst/>
                <a:uFillTx/>
                <a:latin typeface="DejaVuSans"/>
                <a:ea typeface="DejaVuSans"/>
              </a:rPr>
              <a:t>"</a:t>
            </a:r>
            <a:endParaRPr lang="en-US" sz="1320" b="0" u="none" strike="noStrike">
              <a:solidFill>
                <a:srgbClr val="000000"/>
              </a:solidFill>
              <a:effectLst/>
              <a:uFillTx/>
              <a:latin typeface="Times New Roman" panose="02020603050405020304"/>
            </a:endParaRPr>
          </a:p>
        </p:txBody>
      </p:sp>
      <p:sp>
        <p:nvSpPr>
          <p:cNvPr id="80" name="文字框 79"/>
          <p:cNvSpPr txBox="1"/>
          <p:nvPr/>
        </p:nvSpPr>
        <p:spPr>
          <a:xfrm>
            <a:off x="2112840" y="2120400"/>
            <a:ext cx="3358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资产</a:t>
            </a:r>
            <a:endParaRPr lang="en-US" sz="1320" b="0" u="none" strike="noStrike">
              <a:solidFill>
                <a:srgbClr val="000000"/>
              </a:solidFill>
              <a:effectLst/>
              <a:uFillTx/>
              <a:latin typeface="Times New Roman" panose="02020603050405020304"/>
            </a:endParaRPr>
          </a:p>
        </p:txBody>
      </p:sp>
      <p:sp>
        <p:nvSpPr>
          <p:cNvPr id="81" name="文字框 80"/>
          <p:cNvSpPr txBox="1"/>
          <p:nvPr/>
        </p:nvSpPr>
        <p:spPr>
          <a:xfrm>
            <a:off x="1103040" y="2386440"/>
            <a:ext cx="2817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投资者需要寻求能够保全资本并抵御市场下行的</a:t>
            </a:r>
            <a:endParaRPr lang="en-US" sz="1050" b="0" u="none" strike="noStrike">
              <a:solidFill>
                <a:srgbClr val="000000"/>
              </a:solidFill>
              <a:effectLst/>
              <a:uFillTx/>
              <a:latin typeface="Times New Roman" panose="02020603050405020304"/>
            </a:endParaRPr>
          </a:p>
        </p:txBody>
      </p:sp>
      <p:sp>
        <p:nvSpPr>
          <p:cNvPr id="82" name="文字框 81"/>
          <p:cNvSpPr txBox="1"/>
          <p:nvPr/>
        </p:nvSpPr>
        <p:spPr>
          <a:xfrm>
            <a:off x="3911040" y="239112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83" name="文字框 82"/>
          <p:cNvSpPr txBox="1"/>
          <p:nvPr/>
        </p:nvSpPr>
        <p:spPr>
          <a:xfrm>
            <a:off x="3972600" y="238644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避风港</a:t>
            </a:r>
            <a:endParaRPr lang="en-US" sz="1050" b="0" u="none" strike="noStrike">
              <a:solidFill>
                <a:srgbClr val="000000"/>
              </a:solidFill>
              <a:effectLst/>
              <a:uFillTx/>
              <a:latin typeface="Times New Roman" panose="02020603050405020304"/>
            </a:endParaRPr>
          </a:p>
        </p:txBody>
      </p:sp>
      <p:sp>
        <p:nvSpPr>
          <p:cNvPr id="84" name="文字框 83"/>
          <p:cNvSpPr txBox="1"/>
          <p:nvPr/>
        </p:nvSpPr>
        <p:spPr>
          <a:xfrm>
            <a:off x="4373640" y="239112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85" name="文字框 84"/>
          <p:cNvSpPr txBox="1"/>
          <p:nvPr/>
        </p:nvSpPr>
        <p:spPr>
          <a:xfrm>
            <a:off x="4435200" y="238644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资产。识别并理解哪些</a:t>
            </a:r>
            <a:endParaRPr lang="en-US" sz="1050" b="0" u="none" strike="noStrike">
              <a:solidFill>
                <a:srgbClr val="000000"/>
              </a:solidFill>
              <a:effectLst/>
              <a:uFillTx/>
              <a:latin typeface="Times New Roman" panose="02020603050405020304"/>
            </a:endParaRPr>
          </a:p>
        </p:txBody>
      </p:sp>
      <p:pic>
        <p:nvPicPr>
          <p:cNvPr id="86" name="圖片 85"/>
          <p:cNvPicPr/>
          <p:nvPr/>
        </p:nvPicPr>
        <p:blipFill>
          <a:blip r:embed="rId10"/>
          <a:stretch>
            <a:fillRect/>
          </a:stretch>
        </p:blipFill>
        <p:spPr>
          <a:xfrm>
            <a:off x="768960" y="2908080"/>
            <a:ext cx="250200" cy="200160"/>
          </a:xfrm>
          <a:prstGeom prst="rect">
            <a:avLst/>
          </a:prstGeom>
          <a:noFill/>
          <a:ln w="0">
            <a:noFill/>
          </a:ln>
        </p:spPr>
      </p:pic>
      <p:sp>
        <p:nvSpPr>
          <p:cNvPr id="87" name="文字框 86"/>
          <p:cNvSpPr txBox="1"/>
          <p:nvPr/>
        </p:nvSpPr>
        <p:spPr>
          <a:xfrm>
            <a:off x="1103040" y="2587320"/>
            <a:ext cx="3755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资产具备抗危机能力，对于保护财富、优化投资组合至关重要。</a:t>
            </a:r>
            <a:endParaRPr lang="en-US" sz="1050" b="0" u="none" strike="noStrike">
              <a:solidFill>
                <a:srgbClr val="000000"/>
              </a:solidFill>
              <a:effectLst/>
              <a:uFillTx/>
              <a:latin typeface="Times New Roman" panose="02020603050405020304"/>
            </a:endParaRPr>
          </a:p>
        </p:txBody>
      </p:sp>
      <p:sp>
        <p:nvSpPr>
          <p:cNvPr id="88" name="文字框 87"/>
          <p:cNvSpPr txBox="1"/>
          <p:nvPr/>
        </p:nvSpPr>
        <p:spPr>
          <a:xfrm>
            <a:off x="1153080" y="2922840"/>
            <a:ext cx="134172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资产评估的重要性</a:t>
            </a:r>
            <a:endParaRPr lang="en-US" sz="1320" b="0" u="none" strike="noStrike">
              <a:solidFill>
                <a:srgbClr val="000000"/>
              </a:solidFill>
              <a:effectLst/>
              <a:uFillTx/>
              <a:latin typeface="Times New Roman" panose="02020603050405020304"/>
            </a:endParaRPr>
          </a:p>
        </p:txBody>
      </p:sp>
      <p:sp>
        <p:nvSpPr>
          <p:cNvPr id="89" name="文字框 88"/>
          <p:cNvSpPr txBox="1"/>
          <p:nvPr/>
        </p:nvSpPr>
        <p:spPr>
          <a:xfrm>
            <a:off x="1153080" y="3188880"/>
            <a:ext cx="46947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系统性地梳理和评估在历次金融危机中表现出较强韧性的资产类别，可为投资者</a:t>
            </a:r>
            <a:endParaRPr lang="en-US" sz="1050" b="0" u="none" strike="noStrike">
              <a:solidFill>
                <a:srgbClr val="000000"/>
              </a:solidFill>
              <a:effectLst/>
              <a:uFillTx/>
              <a:latin typeface="Times New Roman" panose="02020603050405020304"/>
            </a:endParaRPr>
          </a:p>
        </p:txBody>
      </p:sp>
      <p:sp>
        <p:nvSpPr>
          <p:cNvPr id="90" name="文字框 89"/>
          <p:cNvSpPr txBox="1"/>
          <p:nvPr/>
        </p:nvSpPr>
        <p:spPr>
          <a:xfrm>
            <a:off x="1153080" y="338940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提供清晰的决策参考，帮助在动荡的金融环境中做出更为明智的配置选择。</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圖片 90"/>
          <p:cNvPicPr/>
          <p:nvPr/>
        </p:nvPicPr>
        <p:blipFill>
          <a:blip r:embed="rId1"/>
          <a:stretch>
            <a:fillRect/>
          </a:stretch>
        </p:blipFill>
        <p:spPr>
          <a:xfrm>
            <a:off x="0" y="0"/>
            <a:ext cx="10696320" cy="6885720"/>
          </a:xfrm>
          <a:prstGeom prst="rect">
            <a:avLst/>
          </a:prstGeom>
          <a:noFill/>
          <a:ln w="0">
            <a:noFill/>
          </a:ln>
        </p:spPr>
      </p:pic>
      <p:pic>
        <p:nvPicPr>
          <p:cNvPr id="92" name="圖片 91"/>
          <p:cNvPicPr/>
          <p:nvPr/>
        </p:nvPicPr>
        <p:blipFill>
          <a:blip r:embed="rId2"/>
          <a:stretch>
            <a:fillRect/>
          </a:stretch>
        </p:blipFill>
        <p:spPr>
          <a:xfrm>
            <a:off x="534960" y="735480"/>
            <a:ext cx="3208680" cy="33120"/>
          </a:xfrm>
          <a:prstGeom prst="rect">
            <a:avLst/>
          </a:prstGeom>
          <a:noFill/>
          <a:ln w="0">
            <a:noFill/>
          </a:ln>
        </p:spPr>
      </p:pic>
      <p:sp>
        <p:nvSpPr>
          <p:cNvPr id="93" name="文字框 92"/>
          <p:cNvSpPr txBox="1"/>
          <p:nvPr/>
        </p:nvSpPr>
        <p:spPr>
          <a:xfrm>
            <a:off x="534960" y="312120"/>
            <a:ext cx="330336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研究框架：三大评估维度</a:t>
            </a:r>
            <a:endParaRPr lang="en-US" sz="2370" b="0" u="none" strike="noStrike">
              <a:solidFill>
                <a:srgbClr val="000000"/>
              </a:solidFill>
              <a:effectLst/>
              <a:uFillTx/>
              <a:latin typeface="Times New Roman" panose="02020603050405020304"/>
            </a:endParaRPr>
          </a:p>
        </p:txBody>
      </p:sp>
      <p:sp>
        <p:nvSpPr>
          <p:cNvPr id="94" name="任意多邊形 93"/>
          <p:cNvSpPr/>
          <p:nvPr/>
        </p:nvSpPr>
        <p:spPr>
          <a:xfrm>
            <a:off x="3944160" y="5649120"/>
            <a:ext cx="401400" cy="401400"/>
          </a:xfrm>
          <a:custGeom>
            <a:avLst/>
            <a:gdLst/>
            <a:ahLst/>
            <a:cxnLst/>
            <a:rect l="0" t="0" r="r" b="b"/>
            <a:pathLst>
              <a:path w="1115" h="1115">
                <a:moveTo>
                  <a:pt x="1115" y="558"/>
                </a:moveTo>
                <a:cubicBezTo>
                  <a:pt x="1115" y="594"/>
                  <a:pt x="1112" y="630"/>
                  <a:pt x="1105" y="666"/>
                </a:cubicBezTo>
                <a:cubicBezTo>
                  <a:pt x="1097" y="702"/>
                  <a:pt x="1087" y="737"/>
                  <a:pt x="1073" y="771"/>
                </a:cubicBezTo>
                <a:cubicBezTo>
                  <a:pt x="1059" y="805"/>
                  <a:pt x="1042" y="837"/>
                  <a:pt x="1021" y="867"/>
                </a:cubicBezTo>
                <a:cubicBezTo>
                  <a:pt x="1001" y="898"/>
                  <a:pt x="978" y="926"/>
                  <a:pt x="952" y="952"/>
                </a:cubicBezTo>
                <a:cubicBezTo>
                  <a:pt x="926" y="977"/>
                  <a:pt x="898" y="1001"/>
                  <a:pt x="868" y="1021"/>
                </a:cubicBezTo>
                <a:cubicBezTo>
                  <a:pt x="837" y="1041"/>
                  <a:pt x="805" y="1058"/>
                  <a:pt x="771" y="1072"/>
                </a:cubicBezTo>
                <a:cubicBezTo>
                  <a:pt x="737" y="1086"/>
                  <a:pt x="702" y="1097"/>
                  <a:pt x="666" y="1104"/>
                </a:cubicBezTo>
                <a:cubicBezTo>
                  <a:pt x="630" y="1111"/>
                  <a:pt x="594" y="1115"/>
                  <a:pt x="557" y="1115"/>
                </a:cubicBezTo>
                <a:cubicBezTo>
                  <a:pt x="521" y="1115"/>
                  <a:pt x="484" y="1111"/>
                  <a:pt x="448" y="1104"/>
                </a:cubicBezTo>
                <a:cubicBezTo>
                  <a:pt x="413" y="1097"/>
                  <a:pt x="378" y="1086"/>
                  <a:pt x="344" y="1072"/>
                </a:cubicBezTo>
                <a:cubicBezTo>
                  <a:pt x="310" y="1058"/>
                  <a:pt x="278" y="1041"/>
                  <a:pt x="248" y="1021"/>
                </a:cubicBezTo>
                <a:cubicBezTo>
                  <a:pt x="217" y="1001"/>
                  <a:pt x="189" y="977"/>
                  <a:pt x="163" y="952"/>
                </a:cubicBezTo>
                <a:cubicBezTo>
                  <a:pt x="137" y="926"/>
                  <a:pt x="114" y="898"/>
                  <a:pt x="94" y="867"/>
                </a:cubicBezTo>
                <a:cubicBezTo>
                  <a:pt x="74" y="837"/>
                  <a:pt x="56" y="805"/>
                  <a:pt x="42" y="771"/>
                </a:cubicBezTo>
                <a:cubicBezTo>
                  <a:pt x="28" y="737"/>
                  <a:pt x="18" y="702"/>
                  <a:pt x="11" y="666"/>
                </a:cubicBezTo>
                <a:cubicBezTo>
                  <a:pt x="4" y="630"/>
                  <a:pt x="0" y="594"/>
                  <a:pt x="0" y="558"/>
                </a:cubicBezTo>
                <a:cubicBezTo>
                  <a:pt x="0" y="521"/>
                  <a:pt x="4" y="485"/>
                  <a:pt x="11" y="448"/>
                </a:cubicBezTo>
                <a:cubicBezTo>
                  <a:pt x="18" y="412"/>
                  <a:pt x="28" y="377"/>
                  <a:pt x="42" y="343"/>
                </a:cubicBezTo>
                <a:cubicBezTo>
                  <a:pt x="56" y="310"/>
                  <a:pt x="74" y="278"/>
                  <a:pt x="94" y="247"/>
                </a:cubicBezTo>
                <a:cubicBezTo>
                  <a:pt x="114" y="217"/>
                  <a:pt x="137" y="189"/>
                  <a:pt x="163" y="163"/>
                </a:cubicBezTo>
                <a:cubicBezTo>
                  <a:pt x="189" y="137"/>
                  <a:pt x="217" y="114"/>
                  <a:pt x="248" y="93"/>
                </a:cubicBezTo>
                <a:cubicBezTo>
                  <a:pt x="278" y="73"/>
                  <a:pt x="310" y="56"/>
                  <a:pt x="344" y="42"/>
                </a:cubicBezTo>
                <a:cubicBezTo>
                  <a:pt x="378" y="28"/>
                  <a:pt x="413" y="17"/>
                  <a:pt x="448" y="10"/>
                </a:cubicBezTo>
                <a:cubicBezTo>
                  <a:pt x="484" y="3"/>
                  <a:pt x="521" y="0"/>
                  <a:pt x="557" y="0"/>
                </a:cubicBezTo>
                <a:cubicBezTo>
                  <a:pt x="594" y="0"/>
                  <a:pt x="630" y="3"/>
                  <a:pt x="666" y="10"/>
                </a:cubicBezTo>
                <a:cubicBezTo>
                  <a:pt x="702" y="17"/>
                  <a:pt x="737" y="28"/>
                  <a:pt x="771" y="42"/>
                </a:cubicBezTo>
                <a:cubicBezTo>
                  <a:pt x="805" y="56"/>
                  <a:pt x="837" y="73"/>
                  <a:pt x="868" y="93"/>
                </a:cubicBezTo>
                <a:cubicBezTo>
                  <a:pt x="898" y="114"/>
                  <a:pt x="926" y="137"/>
                  <a:pt x="952" y="163"/>
                </a:cubicBezTo>
                <a:cubicBezTo>
                  <a:pt x="978" y="189"/>
                  <a:pt x="1001" y="217"/>
                  <a:pt x="1021" y="247"/>
                </a:cubicBezTo>
                <a:cubicBezTo>
                  <a:pt x="1042" y="278"/>
                  <a:pt x="1059" y="310"/>
                  <a:pt x="1073" y="343"/>
                </a:cubicBezTo>
                <a:cubicBezTo>
                  <a:pt x="1087" y="377"/>
                  <a:pt x="1097" y="412"/>
                  <a:pt x="1105" y="448"/>
                </a:cubicBezTo>
                <a:cubicBezTo>
                  <a:pt x="1112" y="485"/>
                  <a:pt x="1115" y="521"/>
                  <a:pt x="1115" y="558"/>
                </a:cubicBezTo>
                <a:close/>
              </a:path>
            </a:pathLst>
          </a:custGeom>
          <a:solidFill>
            <a:srgbClr val="1D4ED8"/>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95" name="圖片 94"/>
          <p:cNvPicPr/>
          <p:nvPr/>
        </p:nvPicPr>
        <p:blipFill>
          <a:blip r:embed="rId3"/>
          <a:stretch>
            <a:fillRect/>
          </a:stretch>
        </p:blipFill>
        <p:spPr>
          <a:xfrm>
            <a:off x="4061520" y="5774400"/>
            <a:ext cx="166680" cy="150120"/>
          </a:xfrm>
          <a:prstGeom prst="rect">
            <a:avLst/>
          </a:prstGeom>
          <a:noFill/>
          <a:ln w="0">
            <a:noFill/>
          </a:ln>
        </p:spPr>
      </p:pic>
      <p:pic>
        <p:nvPicPr>
          <p:cNvPr id="96" name="圖片 95"/>
          <p:cNvPicPr/>
          <p:nvPr/>
        </p:nvPicPr>
        <p:blipFill>
          <a:blip r:embed="rId4"/>
          <a:stretch>
            <a:fillRect/>
          </a:stretch>
        </p:blipFill>
        <p:spPr>
          <a:xfrm>
            <a:off x="4345560" y="5833080"/>
            <a:ext cx="801720" cy="33120"/>
          </a:xfrm>
          <a:prstGeom prst="rect">
            <a:avLst/>
          </a:prstGeom>
          <a:noFill/>
          <a:ln w="0">
            <a:noFill/>
          </a:ln>
        </p:spPr>
      </p:pic>
      <p:sp>
        <p:nvSpPr>
          <p:cNvPr id="97" name="任意多邊形 96"/>
          <p:cNvSpPr/>
          <p:nvPr/>
        </p:nvSpPr>
        <p:spPr>
          <a:xfrm>
            <a:off x="5147640" y="5649120"/>
            <a:ext cx="401400" cy="401400"/>
          </a:xfrm>
          <a:custGeom>
            <a:avLst/>
            <a:gdLst/>
            <a:ahLst/>
            <a:cxnLst/>
            <a:rect l="0" t="0" r="r" b="b"/>
            <a:pathLst>
              <a:path w="1115" h="1115">
                <a:moveTo>
                  <a:pt x="1115" y="558"/>
                </a:moveTo>
                <a:cubicBezTo>
                  <a:pt x="1115" y="594"/>
                  <a:pt x="1111" y="630"/>
                  <a:pt x="1104" y="666"/>
                </a:cubicBezTo>
                <a:cubicBezTo>
                  <a:pt x="1097" y="702"/>
                  <a:pt x="1087" y="737"/>
                  <a:pt x="1073" y="771"/>
                </a:cubicBezTo>
                <a:cubicBezTo>
                  <a:pt x="1059" y="805"/>
                  <a:pt x="1041" y="837"/>
                  <a:pt x="1021" y="867"/>
                </a:cubicBezTo>
                <a:cubicBezTo>
                  <a:pt x="1001" y="898"/>
                  <a:pt x="978" y="926"/>
                  <a:pt x="952" y="952"/>
                </a:cubicBezTo>
                <a:cubicBezTo>
                  <a:pt x="926" y="977"/>
                  <a:pt x="898" y="1001"/>
                  <a:pt x="867" y="1021"/>
                </a:cubicBezTo>
                <a:cubicBezTo>
                  <a:pt x="837" y="1041"/>
                  <a:pt x="805" y="1058"/>
                  <a:pt x="771" y="1072"/>
                </a:cubicBezTo>
                <a:cubicBezTo>
                  <a:pt x="736" y="1086"/>
                  <a:pt x="701" y="1097"/>
                  <a:pt x="666" y="1104"/>
                </a:cubicBezTo>
                <a:cubicBezTo>
                  <a:pt x="630" y="1111"/>
                  <a:pt x="593" y="1115"/>
                  <a:pt x="557" y="1115"/>
                </a:cubicBezTo>
                <a:cubicBezTo>
                  <a:pt x="520" y="1115"/>
                  <a:pt x="484" y="1111"/>
                  <a:pt x="448" y="1104"/>
                </a:cubicBezTo>
                <a:cubicBezTo>
                  <a:pt x="412" y="1097"/>
                  <a:pt x="377" y="1086"/>
                  <a:pt x="344" y="1072"/>
                </a:cubicBezTo>
                <a:cubicBezTo>
                  <a:pt x="310" y="1058"/>
                  <a:pt x="278" y="1041"/>
                  <a:pt x="247" y="1021"/>
                </a:cubicBezTo>
                <a:cubicBezTo>
                  <a:pt x="217" y="1001"/>
                  <a:pt x="189" y="977"/>
                  <a:pt x="163" y="952"/>
                </a:cubicBezTo>
                <a:cubicBezTo>
                  <a:pt x="137" y="926"/>
                  <a:pt x="114" y="898"/>
                  <a:pt x="94" y="867"/>
                </a:cubicBezTo>
                <a:cubicBezTo>
                  <a:pt x="73" y="837"/>
                  <a:pt x="56" y="805"/>
                  <a:pt x="42" y="771"/>
                </a:cubicBezTo>
                <a:cubicBezTo>
                  <a:pt x="28" y="737"/>
                  <a:pt x="18" y="702"/>
                  <a:pt x="10" y="666"/>
                </a:cubicBezTo>
                <a:cubicBezTo>
                  <a:pt x="3" y="630"/>
                  <a:pt x="0" y="594"/>
                  <a:pt x="0" y="558"/>
                </a:cubicBezTo>
                <a:cubicBezTo>
                  <a:pt x="0" y="521"/>
                  <a:pt x="3" y="485"/>
                  <a:pt x="10" y="448"/>
                </a:cubicBezTo>
                <a:cubicBezTo>
                  <a:pt x="18" y="412"/>
                  <a:pt x="28" y="377"/>
                  <a:pt x="42" y="343"/>
                </a:cubicBezTo>
                <a:cubicBezTo>
                  <a:pt x="56" y="310"/>
                  <a:pt x="73" y="278"/>
                  <a:pt x="94" y="247"/>
                </a:cubicBezTo>
                <a:cubicBezTo>
                  <a:pt x="114" y="217"/>
                  <a:pt x="137" y="189"/>
                  <a:pt x="163" y="163"/>
                </a:cubicBezTo>
                <a:cubicBezTo>
                  <a:pt x="189" y="137"/>
                  <a:pt x="217" y="114"/>
                  <a:pt x="247" y="93"/>
                </a:cubicBezTo>
                <a:cubicBezTo>
                  <a:pt x="278" y="73"/>
                  <a:pt x="310" y="56"/>
                  <a:pt x="344" y="42"/>
                </a:cubicBezTo>
                <a:cubicBezTo>
                  <a:pt x="377" y="28"/>
                  <a:pt x="412" y="17"/>
                  <a:pt x="448" y="10"/>
                </a:cubicBezTo>
                <a:cubicBezTo>
                  <a:pt x="484" y="3"/>
                  <a:pt x="520" y="0"/>
                  <a:pt x="557" y="0"/>
                </a:cubicBezTo>
                <a:cubicBezTo>
                  <a:pt x="593" y="0"/>
                  <a:pt x="630" y="3"/>
                  <a:pt x="666" y="10"/>
                </a:cubicBezTo>
                <a:cubicBezTo>
                  <a:pt x="701" y="17"/>
                  <a:pt x="736" y="28"/>
                  <a:pt x="771" y="42"/>
                </a:cubicBezTo>
                <a:cubicBezTo>
                  <a:pt x="805" y="56"/>
                  <a:pt x="837" y="73"/>
                  <a:pt x="867" y="93"/>
                </a:cubicBezTo>
                <a:cubicBezTo>
                  <a:pt x="898" y="114"/>
                  <a:pt x="926" y="137"/>
                  <a:pt x="952" y="163"/>
                </a:cubicBezTo>
                <a:cubicBezTo>
                  <a:pt x="978" y="189"/>
                  <a:pt x="1001" y="217"/>
                  <a:pt x="1021" y="247"/>
                </a:cubicBezTo>
                <a:cubicBezTo>
                  <a:pt x="1041" y="278"/>
                  <a:pt x="1059" y="310"/>
                  <a:pt x="1073" y="343"/>
                </a:cubicBezTo>
                <a:cubicBezTo>
                  <a:pt x="1087" y="377"/>
                  <a:pt x="1097" y="412"/>
                  <a:pt x="1104" y="448"/>
                </a:cubicBezTo>
                <a:cubicBezTo>
                  <a:pt x="1111" y="485"/>
                  <a:pt x="1115" y="521"/>
                  <a:pt x="1115" y="558"/>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98" name="圖片 97"/>
          <p:cNvPicPr/>
          <p:nvPr/>
        </p:nvPicPr>
        <p:blipFill>
          <a:blip r:embed="rId5"/>
          <a:stretch>
            <a:fillRect/>
          </a:stretch>
        </p:blipFill>
        <p:spPr>
          <a:xfrm>
            <a:off x="5272920" y="5774400"/>
            <a:ext cx="150120" cy="150120"/>
          </a:xfrm>
          <a:prstGeom prst="rect">
            <a:avLst/>
          </a:prstGeom>
          <a:noFill/>
          <a:ln w="0">
            <a:noFill/>
          </a:ln>
        </p:spPr>
      </p:pic>
      <p:pic>
        <p:nvPicPr>
          <p:cNvPr id="99" name="圖片 98"/>
          <p:cNvPicPr/>
          <p:nvPr/>
        </p:nvPicPr>
        <p:blipFill>
          <a:blip r:embed="rId4"/>
          <a:stretch>
            <a:fillRect/>
          </a:stretch>
        </p:blipFill>
        <p:spPr>
          <a:xfrm>
            <a:off x="5548680" y="5833080"/>
            <a:ext cx="801720" cy="33120"/>
          </a:xfrm>
          <a:prstGeom prst="rect">
            <a:avLst/>
          </a:prstGeom>
          <a:noFill/>
          <a:ln w="0">
            <a:noFill/>
          </a:ln>
        </p:spPr>
      </p:pic>
      <p:sp>
        <p:nvSpPr>
          <p:cNvPr id="100" name="任意多邊形 99"/>
          <p:cNvSpPr/>
          <p:nvPr/>
        </p:nvSpPr>
        <p:spPr>
          <a:xfrm>
            <a:off x="6350760" y="5649120"/>
            <a:ext cx="401760" cy="401400"/>
          </a:xfrm>
          <a:custGeom>
            <a:avLst/>
            <a:gdLst/>
            <a:ahLst/>
            <a:cxnLst/>
            <a:rect l="0" t="0" r="r" b="b"/>
            <a:pathLst>
              <a:path w="1116" h="1115">
                <a:moveTo>
                  <a:pt x="1116" y="558"/>
                </a:moveTo>
                <a:cubicBezTo>
                  <a:pt x="1116" y="594"/>
                  <a:pt x="1112" y="630"/>
                  <a:pt x="1105" y="666"/>
                </a:cubicBezTo>
                <a:cubicBezTo>
                  <a:pt x="1098" y="702"/>
                  <a:pt x="1087" y="737"/>
                  <a:pt x="1073" y="771"/>
                </a:cubicBezTo>
                <a:cubicBezTo>
                  <a:pt x="1059" y="805"/>
                  <a:pt x="1042" y="837"/>
                  <a:pt x="1022" y="867"/>
                </a:cubicBezTo>
                <a:cubicBezTo>
                  <a:pt x="1001" y="898"/>
                  <a:pt x="978" y="926"/>
                  <a:pt x="952" y="952"/>
                </a:cubicBezTo>
                <a:cubicBezTo>
                  <a:pt x="927" y="977"/>
                  <a:pt x="898" y="1001"/>
                  <a:pt x="868" y="1021"/>
                </a:cubicBezTo>
                <a:cubicBezTo>
                  <a:pt x="838" y="1041"/>
                  <a:pt x="806" y="1058"/>
                  <a:pt x="772" y="1072"/>
                </a:cubicBezTo>
                <a:cubicBezTo>
                  <a:pt x="737" y="1086"/>
                  <a:pt x="702" y="1097"/>
                  <a:pt x="666" y="1104"/>
                </a:cubicBezTo>
                <a:cubicBezTo>
                  <a:pt x="630" y="1111"/>
                  <a:pt x="594" y="1115"/>
                  <a:pt x="558" y="1115"/>
                </a:cubicBezTo>
                <a:cubicBezTo>
                  <a:pt x="521" y="1115"/>
                  <a:pt x="485" y="1111"/>
                  <a:pt x="449" y="1104"/>
                </a:cubicBezTo>
                <a:cubicBezTo>
                  <a:pt x="413" y="1097"/>
                  <a:pt x="378" y="1086"/>
                  <a:pt x="344" y="1072"/>
                </a:cubicBezTo>
                <a:cubicBezTo>
                  <a:pt x="311" y="1058"/>
                  <a:pt x="278" y="1041"/>
                  <a:pt x="248" y="1021"/>
                </a:cubicBezTo>
                <a:cubicBezTo>
                  <a:pt x="218" y="1001"/>
                  <a:pt x="189" y="977"/>
                  <a:pt x="164" y="952"/>
                </a:cubicBezTo>
                <a:cubicBezTo>
                  <a:pt x="138" y="926"/>
                  <a:pt x="115" y="898"/>
                  <a:pt x="94" y="867"/>
                </a:cubicBezTo>
                <a:cubicBezTo>
                  <a:pt x="74" y="837"/>
                  <a:pt x="57" y="805"/>
                  <a:pt x="43" y="771"/>
                </a:cubicBezTo>
                <a:cubicBezTo>
                  <a:pt x="29" y="737"/>
                  <a:pt x="18" y="702"/>
                  <a:pt x="11" y="666"/>
                </a:cubicBezTo>
                <a:cubicBezTo>
                  <a:pt x="4" y="630"/>
                  <a:pt x="0" y="594"/>
                  <a:pt x="0" y="558"/>
                </a:cubicBezTo>
                <a:cubicBezTo>
                  <a:pt x="0" y="521"/>
                  <a:pt x="4" y="485"/>
                  <a:pt x="11" y="448"/>
                </a:cubicBezTo>
                <a:cubicBezTo>
                  <a:pt x="18" y="412"/>
                  <a:pt x="29" y="377"/>
                  <a:pt x="43" y="343"/>
                </a:cubicBezTo>
                <a:cubicBezTo>
                  <a:pt x="57" y="310"/>
                  <a:pt x="74" y="278"/>
                  <a:pt x="94" y="247"/>
                </a:cubicBezTo>
                <a:cubicBezTo>
                  <a:pt x="115" y="217"/>
                  <a:pt x="138" y="189"/>
                  <a:pt x="164" y="163"/>
                </a:cubicBezTo>
                <a:cubicBezTo>
                  <a:pt x="189" y="137"/>
                  <a:pt x="218" y="114"/>
                  <a:pt x="248" y="93"/>
                </a:cubicBezTo>
                <a:cubicBezTo>
                  <a:pt x="278" y="73"/>
                  <a:pt x="311" y="56"/>
                  <a:pt x="344" y="42"/>
                </a:cubicBezTo>
                <a:cubicBezTo>
                  <a:pt x="378" y="28"/>
                  <a:pt x="413" y="17"/>
                  <a:pt x="449" y="10"/>
                </a:cubicBezTo>
                <a:cubicBezTo>
                  <a:pt x="485" y="3"/>
                  <a:pt x="521" y="0"/>
                  <a:pt x="558" y="0"/>
                </a:cubicBezTo>
                <a:cubicBezTo>
                  <a:pt x="594" y="0"/>
                  <a:pt x="630" y="3"/>
                  <a:pt x="666" y="10"/>
                </a:cubicBezTo>
                <a:cubicBezTo>
                  <a:pt x="702" y="17"/>
                  <a:pt x="737" y="28"/>
                  <a:pt x="772" y="42"/>
                </a:cubicBezTo>
                <a:cubicBezTo>
                  <a:pt x="806" y="56"/>
                  <a:pt x="838" y="73"/>
                  <a:pt x="868" y="93"/>
                </a:cubicBezTo>
                <a:cubicBezTo>
                  <a:pt x="898" y="114"/>
                  <a:pt x="927" y="137"/>
                  <a:pt x="952" y="163"/>
                </a:cubicBezTo>
                <a:cubicBezTo>
                  <a:pt x="978" y="189"/>
                  <a:pt x="1001" y="217"/>
                  <a:pt x="1022" y="247"/>
                </a:cubicBezTo>
                <a:cubicBezTo>
                  <a:pt x="1042" y="278"/>
                  <a:pt x="1059" y="310"/>
                  <a:pt x="1073" y="343"/>
                </a:cubicBezTo>
                <a:cubicBezTo>
                  <a:pt x="1087" y="377"/>
                  <a:pt x="1098" y="412"/>
                  <a:pt x="1105" y="448"/>
                </a:cubicBezTo>
                <a:cubicBezTo>
                  <a:pt x="1112" y="485"/>
                  <a:pt x="1116" y="521"/>
                  <a:pt x="1116" y="558"/>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01" name="圖片 100"/>
          <p:cNvPicPr/>
          <p:nvPr/>
        </p:nvPicPr>
        <p:blipFill>
          <a:blip r:embed="rId6"/>
          <a:stretch>
            <a:fillRect/>
          </a:stretch>
        </p:blipFill>
        <p:spPr>
          <a:xfrm>
            <a:off x="6476400" y="5774400"/>
            <a:ext cx="150120" cy="150120"/>
          </a:xfrm>
          <a:prstGeom prst="rect">
            <a:avLst/>
          </a:prstGeom>
          <a:noFill/>
          <a:ln w="0">
            <a:noFill/>
          </a:ln>
        </p:spPr>
      </p:pic>
      <p:sp>
        <p:nvSpPr>
          <p:cNvPr id="102" name="文字框 101"/>
          <p:cNvSpPr txBox="1"/>
          <p:nvPr/>
        </p:nvSpPr>
        <p:spPr>
          <a:xfrm>
            <a:off x="534960" y="1058400"/>
            <a:ext cx="6488280" cy="189360"/>
          </a:xfrm>
          <a:prstGeom prst="rect">
            <a:avLst/>
          </a:prstGeom>
          <a:noFill/>
          <a:ln w="0">
            <a:noFill/>
          </a:ln>
        </p:spPr>
        <p:txBody>
          <a:bodyPr wrap="none" lIns="0" tIns="0" rIns="0" bIns="0" anchor="t">
            <a:spAutoFit/>
          </a:bodyPr>
          <a:p>
            <a:r>
              <a:rPr lang="zh-CN" sz="1180" b="0" u="none" strike="noStrike">
                <a:solidFill>
                  <a:srgbClr val="E5E7EB"/>
                </a:solidFill>
                <a:effectLst/>
                <a:uFillTx/>
                <a:latin typeface="WenQuanYiZenHei"/>
                <a:ea typeface="WenQuanYiZenHei"/>
              </a:rPr>
              <a:t>本报告通过以下三个核心维度对各类资产的抗危机能力进行系统性评估，为投资者提供决策参考：</a:t>
            </a:r>
            <a:endParaRPr lang="en-US" sz="1180" b="0" u="none" strike="noStrike">
              <a:solidFill>
                <a:srgbClr val="000000"/>
              </a:solidFill>
              <a:effectLst/>
              <a:uFillTx/>
              <a:latin typeface="Times New Roman" panose="02020603050405020304"/>
            </a:endParaRPr>
          </a:p>
        </p:txBody>
      </p:sp>
      <p:sp>
        <p:nvSpPr>
          <p:cNvPr id="103" name="文字框 102"/>
          <p:cNvSpPr txBox="1"/>
          <p:nvPr/>
        </p:nvSpPr>
        <p:spPr>
          <a:xfrm>
            <a:off x="3209040" y="6197400"/>
            <a:ext cx="429228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通过这三个维度的综合评估，可全面了解资产在金融危机中的表现和价值</a:t>
            </a:r>
            <a:endParaRPr lang="en-US" sz="1050" b="0" u="none" strike="noStrike">
              <a:solidFill>
                <a:srgbClr val="000000"/>
              </a:solidFill>
              <a:effectLst/>
              <a:uFillTx/>
              <a:latin typeface="Times New Roman" panose="02020603050405020304"/>
            </a:endParaRPr>
          </a:p>
        </p:txBody>
      </p:sp>
      <p:sp>
        <p:nvSpPr>
          <p:cNvPr id="104" name="文字框 103"/>
          <p:cNvSpPr txBox="1"/>
          <p:nvPr/>
        </p:nvSpPr>
        <p:spPr>
          <a:xfrm>
            <a:off x="534960" y="659772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105" name="任意多邊形 104"/>
          <p:cNvSpPr/>
          <p:nvPr/>
        </p:nvSpPr>
        <p:spPr>
          <a:xfrm>
            <a:off x="534600" y="1403640"/>
            <a:ext cx="3075840" cy="3911400"/>
          </a:xfrm>
          <a:custGeom>
            <a:avLst/>
            <a:gdLst/>
            <a:ahLst/>
            <a:cxnLst/>
            <a:rect l="0" t="0" r="r" b="b"/>
            <a:pathLst>
              <a:path w="8544" h="10865">
                <a:moveTo>
                  <a:pt x="0" y="10679"/>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8358" y="0"/>
                </a:lnTo>
                <a:cubicBezTo>
                  <a:pt x="8370" y="0"/>
                  <a:pt x="8382" y="1"/>
                  <a:pt x="8394" y="4"/>
                </a:cubicBezTo>
                <a:cubicBezTo>
                  <a:pt x="8406" y="6"/>
                  <a:pt x="8418" y="10"/>
                  <a:pt x="8429" y="14"/>
                </a:cubicBezTo>
                <a:cubicBezTo>
                  <a:pt x="8440" y="19"/>
                  <a:pt x="8451" y="25"/>
                  <a:pt x="8461" y="32"/>
                </a:cubicBezTo>
                <a:cubicBezTo>
                  <a:pt x="8471" y="38"/>
                  <a:pt x="8481" y="46"/>
                  <a:pt x="8489" y="55"/>
                </a:cubicBezTo>
                <a:cubicBezTo>
                  <a:pt x="8498" y="63"/>
                  <a:pt x="8505" y="73"/>
                  <a:pt x="8512" y="83"/>
                </a:cubicBezTo>
                <a:cubicBezTo>
                  <a:pt x="8519" y="93"/>
                  <a:pt x="8525" y="104"/>
                  <a:pt x="8529" y="115"/>
                </a:cubicBezTo>
                <a:cubicBezTo>
                  <a:pt x="8534" y="126"/>
                  <a:pt x="8538" y="138"/>
                  <a:pt x="8540" y="150"/>
                </a:cubicBezTo>
                <a:cubicBezTo>
                  <a:pt x="8542" y="162"/>
                  <a:pt x="8544" y="174"/>
                  <a:pt x="8544" y="186"/>
                </a:cubicBezTo>
                <a:lnTo>
                  <a:pt x="8544" y="10679"/>
                </a:lnTo>
                <a:cubicBezTo>
                  <a:pt x="8544" y="10691"/>
                  <a:pt x="8542" y="10704"/>
                  <a:pt x="8540" y="10716"/>
                </a:cubicBezTo>
                <a:cubicBezTo>
                  <a:pt x="8538" y="10727"/>
                  <a:pt x="8534" y="10739"/>
                  <a:pt x="8529" y="10750"/>
                </a:cubicBezTo>
                <a:cubicBezTo>
                  <a:pt x="8525" y="10762"/>
                  <a:pt x="8519" y="10772"/>
                  <a:pt x="8512" y="10782"/>
                </a:cubicBezTo>
                <a:cubicBezTo>
                  <a:pt x="8505" y="10793"/>
                  <a:pt x="8498" y="10802"/>
                  <a:pt x="8489" y="10811"/>
                </a:cubicBezTo>
                <a:cubicBezTo>
                  <a:pt x="8481" y="10819"/>
                  <a:pt x="8471" y="10827"/>
                  <a:pt x="8461" y="10834"/>
                </a:cubicBezTo>
                <a:cubicBezTo>
                  <a:pt x="8451" y="10840"/>
                  <a:pt x="8440" y="10846"/>
                  <a:pt x="8429" y="10851"/>
                </a:cubicBezTo>
                <a:cubicBezTo>
                  <a:pt x="8418" y="10856"/>
                  <a:pt x="8406" y="10859"/>
                  <a:pt x="8394" y="10861"/>
                </a:cubicBezTo>
                <a:cubicBezTo>
                  <a:pt x="8382" y="10864"/>
                  <a:pt x="8370" y="10865"/>
                  <a:pt x="8358" y="10865"/>
                </a:cubicBezTo>
                <a:lnTo>
                  <a:pt x="186" y="10865"/>
                </a:lnTo>
                <a:cubicBezTo>
                  <a:pt x="174" y="10865"/>
                  <a:pt x="162" y="10864"/>
                  <a:pt x="150" y="10861"/>
                </a:cubicBezTo>
                <a:cubicBezTo>
                  <a:pt x="138" y="10859"/>
                  <a:pt x="126" y="10856"/>
                  <a:pt x="115" y="10851"/>
                </a:cubicBezTo>
                <a:cubicBezTo>
                  <a:pt x="104" y="10846"/>
                  <a:pt x="93" y="10840"/>
                  <a:pt x="83" y="10834"/>
                </a:cubicBezTo>
                <a:cubicBezTo>
                  <a:pt x="73" y="10827"/>
                  <a:pt x="63" y="10819"/>
                  <a:pt x="55" y="10811"/>
                </a:cubicBezTo>
                <a:cubicBezTo>
                  <a:pt x="46" y="10802"/>
                  <a:pt x="38" y="10793"/>
                  <a:pt x="31" y="10782"/>
                </a:cubicBezTo>
                <a:cubicBezTo>
                  <a:pt x="25" y="10772"/>
                  <a:pt x="19" y="10762"/>
                  <a:pt x="14" y="10750"/>
                </a:cubicBezTo>
                <a:cubicBezTo>
                  <a:pt x="10" y="10739"/>
                  <a:pt x="6" y="10727"/>
                  <a:pt x="4" y="10716"/>
                </a:cubicBezTo>
                <a:cubicBezTo>
                  <a:pt x="1" y="10704"/>
                  <a:pt x="0" y="10691"/>
                  <a:pt x="0" y="1067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6" name="任意多邊形 105"/>
          <p:cNvSpPr/>
          <p:nvPr/>
        </p:nvSpPr>
        <p:spPr>
          <a:xfrm>
            <a:off x="1738080" y="1604160"/>
            <a:ext cx="668880" cy="668880"/>
          </a:xfrm>
          <a:custGeom>
            <a:avLst/>
            <a:gdLst/>
            <a:ahLst/>
            <a:cxnLst/>
            <a:rect l="0" t="0" r="r" b="b"/>
            <a:pathLst>
              <a:path w="1858" h="1858">
                <a:moveTo>
                  <a:pt x="1858" y="930"/>
                </a:moveTo>
                <a:cubicBezTo>
                  <a:pt x="1858" y="960"/>
                  <a:pt x="1856" y="991"/>
                  <a:pt x="1853" y="1021"/>
                </a:cubicBezTo>
                <a:cubicBezTo>
                  <a:pt x="1850" y="1051"/>
                  <a:pt x="1846" y="1081"/>
                  <a:pt x="1840" y="1111"/>
                </a:cubicBezTo>
                <a:cubicBezTo>
                  <a:pt x="1834" y="1141"/>
                  <a:pt x="1827" y="1170"/>
                  <a:pt x="1818" y="1199"/>
                </a:cubicBezTo>
                <a:cubicBezTo>
                  <a:pt x="1809" y="1229"/>
                  <a:pt x="1799" y="1257"/>
                  <a:pt x="1787" y="1285"/>
                </a:cubicBezTo>
                <a:cubicBezTo>
                  <a:pt x="1776" y="1313"/>
                  <a:pt x="1763" y="1341"/>
                  <a:pt x="1748" y="1368"/>
                </a:cubicBezTo>
                <a:cubicBezTo>
                  <a:pt x="1734" y="1394"/>
                  <a:pt x="1718" y="1421"/>
                  <a:pt x="1701" y="1446"/>
                </a:cubicBezTo>
                <a:cubicBezTo>
                  <a:pt x="1684" y="1471"/>
                  <a:pt x="1665" y="1495"/>
                  <a:pt x="1646" y="1519"/>
                </a:cubicBezTo>
                <a:cubicBezTo>
                  <a:pt x="1627" y="1542"/>
                  <a:pt x="1606" y="1565"/>
                  <a:pt x="1585" y="1586"/>
                </a:cubicBezTo>
                <a:cubicBezTo>
                  <a:pt x="1563" y="1608"/>
                  <a:pt x="1541" y="1628"/>
                  <a:pt x="1517" y="1648"/>
                </a:cubicBezTo>
                <a:cubicBezTo>
                  <a:pt x="1494" y="1667"/>
                  <a:pt x="1469" y="1685"/>
                  <a:pt x="1444" y="1702"/>
                </a:cubicBezTo>
                <a:cubicBezTo>
                  <a:pt x="1419" y="1719"/>
                  <a:pt x="1393" y="1734"/>
                  <a:pt x="1366" y="1749"/>
                </a:cubicBezTo>
                <a:cubicBezTo>
                  <a:pt x="1339" y="1763"/>
                  <a:pt x="1312" y="1776"/>
                  <a:pt x="1284" y="1788"/>
                </a:cubicBezTo>
                <a:cubicBezTo>
                  <a:pt x="1256" y="1799"/>
                  <a:pt x="1227" y="1810"/>
                  <a:pt x="1198" y="1818"/>
                </a:cubicBezTo>
                <a:cubicBezTo>
                  <a:pt x="1169" y="1827"/>
                  <a:pt x="1139" y="1835"/>
                  <a:pt x="1109" y="1841"/>
                </a:cubicBezTo>
                <a:cubicBezTo>
                  <a:pt x="1080" y="1847"/>
                  <a:pt x="1050" y="1851"/>
                  <a:pt x="1019" y="1854"/>
                </a:cubicBezTo>
                <a:cubicBezTo>
                  <a:pt x="989" y="1857"/>
                  <a:pt x="959" y="1858"/>
                  <a:pt x="928" y="1858"/>
                </a:cubicBezTo>
                <a:cubicBezTo>
                  <a:pt x="898" y="1858"/>
                  <a:pt x="868" y="1857"/>
                  <a:pt x="837" y="1854"/>
                </a:cubicBezTo>
                <a:cubicBezTo>
                  <a:pt x="807" y="1851"/>
                  <a:pt x="777" y="1847"/>
                  <a:pt x="747" y="1841"/>
                </a:cubicBezTo>
                <a:cubicBezTo>
                  <a:pt x="717" y="1835"/>
                  <a:pt x="688" y="1827"/>
                  <a:pt x="659" y="1818"/>
                </a:cubicBezTo>
                <a:cubicBezTo>
                  <a:pt x="630" y="1810"/>
                  <a:pt x="601" y="1799"/>
                  <a:pt x="573" y="1788"/>
                </a:cubicBezTo>
                <a:cubicBezTo>
                  <a:pt x="545" y="1776"/>
                  <a:pt x="517" y="1763"/>
                  <a:pt x="491" y="1749"/>
                </a:cubicBezTo>
                <a:cubicBezTo>
                  <a:pt x="464" y="1734"/>
                  <a:pt x="438" y="1719"/>
                  <a:pt x="412" y="1702"/>
                </a:cubicBezTo>
                <a:cubicBezTo>
                  <a:pt x="387" y="1685"/>
                  <a:pt x="363" y="1667"/>
                  <a:pt x="339" y="1648"/>
                </a:cubicBezTo>
                <a:cubicBezTo>
                  <a:pt x="316" y="1628"/>
                  <a:pt x="293" y="1608"/>
                  <a:pt x="272" y="1586"/>
                </a:cubicBezTo>
                <a:cubicBezTo>
                  <a:pt x="250" y="1565"/>
                  <a:pt x="230" y="1542"/>
                  <a:pt x="211" y="1519"/>
                </a:cubicBezTo>
                <a:cubicBezTo>
                  <a:pt x="191" y="1495"/>
                  <a:pt x="173" y="1471"/>
                  <a:pt x="156" y="1446"/>
                </a:cubicBezTo>
                <a:cubicBezTo>
                  <a:pt x="139" y="1421"/>
                  <a:pt x="124" y="1394"/>
                  <a:pt x="109" y="1368"/>
                </a:cubicBezTo>
                <a:cubicBezTo>
                  <a:pt x="95" y="1341"/>
                  <a:pt x="82" y="1313"/>
                  <a:pt x="70" y="1285"/>
                </a:cubicBezTo>
                <a:cubicBezTo>
                  <a:pt x="59" y="1257"/>
                  <a:pt x="49" y="1229"/>
                  <a:pt x="40" y="1199"/>
                </a:cubicBezTo>
                <a:cubicBezTo>
                  <a:pt x="31" y="1170"/>
                  <a:pt x="24" y="1141"/>
                  <a:pt x="18" y="1111"/>
                </a:cubicBezTo>
                <a:cubicBezTo>
                  <a:pt x="12" y="1081"/>
                  <a:pt x="7" y="1051"/>
                  <a:pt x="4" y="1021"/>
                </a:cubicBezTo>
                <a:cubicBezTo>
                  <a:pt x="1" y="991"/>
                  <a:pt x="0" y="960"/>
                  <a:pt x="0" y="930"/>
                </a:cubicBezTo>
                <a:cubicBezTo>
                  <a:pt x="0" y="900"/>
                  <a:pt x="1" y="869"/>
                  <a:pt x="4" y="839"/>
                </a:cubicBezTo>
                <a:cubicBezTo>
                  <a:pt x="7" y="809"/>
                  <a:pt x="12" y="779"/>
                  <a:pt x="18" y="749"/>
                </a:cubicBezTo>
                <a:cubicBezTo>
                  <a:pt x="24" y="719"/>
                  <a:pt x="31" y="689"/>
                  <a:pt x="40" y="660"/>
                </a:cubicBezTo>
                <a:cubicBezTo>
                  <a:pt x="49" y="631"/>
                  <a:pt x="59" y="603"/>
                  <a:pt x="70" y="575"/>
                </a:cubicBezTo>
                <a:cubicBezTo>
                  <a:pt x="82" y="547"/>
                  <a:pt x="95" y="519"/>
                  <a:pt x="109" y="492"/>
                </a:cubicBezTo>
                <a:cubicBezTo>
                  <a:pt x="124" y="465"/>
                  <a:pt x="139" y="439"/>
                  <a:pt x="156" y="414"/>
                </a:cubicBezTo>
                <a:cubicBezTo>
                  <a:pt x="173" y="389"/>
                  <a:pt x="191" y="364"/>
                  <a:pt x="211" y="341"/>
                </a:cubicBezTo>
                <a:cubicBezTo>
                  <a:pt x="230" y="317"/>
                  <a:pt x="250" y="295"/>
                  <a:pt x="272" y="273"/>
                </a:cubicBezTo>
                <a:cubicBezTo>
                  <a:pt x="293" y="252"/>
                  <a:pt x="316" y="231"/>
                  <a:pt x="339" y="212"/>
                </a:cubicBezTo>
                <a:cubicBezTo>
                  <a:pt x="363" y="193"/>
                  <a:pt x="387" y="174"/>
                  <a:pt x="412" y="157"/>
                </a:cubicBezTo>
                <a:cubicBezTo>
                  <a:pt x="438" y="140"/>
                  <a:pt x="464" y="124"/>
                  <a:pt x="491" y="110"/>
                </a:cubicBezTo>
                <a:cubicBezTo>
                  <a:pt x="517" y="96"/>
                  <a:pt x="545" y="83"/>
                  <a:pt x="573" y="71"/>
                </a:cubicBezTo>
                <a:cubicBezTo>
                  <a:pt x="601" y="59"/>
                  <a:pt x="630" y="49"/>
                  <a:pt x="659" y="40"/>
                </a:cubicBezTo>
                <a:cubicBezTo>
                  <a:pt x="688" y="32"/>
                  <a:pt x="717" y="24"/>
                  <a:pt x="747" y="18"/>
                </a:cubicBezTo>
                <a:cubicBezTo>
                  <a:pt x="777" y="12"/>
                  <a:pt x="807" y="8"/>
                  <a:pt x="837" y="5"/>
                </a:cubicBezTo>
                <a:cubicBezTo>
                  <a:pt x="868" y="2"/>
                  <a:pt x="898" y="0"/>
                  <a:pt x="928" y="0"/>
                </a:cubicBezTo>
                <a:cubicBezTo>
                  <a:pt x="959" y="0"/>
                  <a:pt x="989" y="2"/>
                  <a:pt x="1019" y="5"/>
                </a:cubicBezTo>
                <a:cubicBezTo>
                  <a:pt x="1050" y="8"/>
                  <a:pt x="1080" y="12"/>
                  <a:pt x="1109" y="18"/>
                </a:cubicBezTo>
                <a:cubicBezTo>
                  <a:pt x="1139" y="24"/>
                  <a:pt x="1169" y="32"/>
                  <a:pt x="1198" y="40"/>
                </a:cubicBezTo>
                <a:cubicBezTo>
                  <a:pt x="1227" y="49"/>
                  <a:pt x="1256" y="59"/>
                  <a:pt x="1284" y="71"/>
                </a:cubicBezTo>
                <a:cubicBezTo>
                  <a:pt x="1312" y="83"/>
                  <a:pt x="1339" y="96"/>
                  <a:pt x="1366" y="110"/>
                </a:cubicBezTo>
                <a:cubicBezTo>
                  <a:pt x="1393" y="124"/>
                  <a:pt x="1419" y="140"/>
                  <a:pt x="1444" y="157"/>
                </a:cubicBezTo>
                <a:cubicBezTo>
                  <a:pt x="1469" y="174"/>
                  <a:pt x="1494" y="193"/>
                  <a:pt x="1517" y="212"/>
                </a:cubicBezTo>
                <a:cubicBezTo>
                  <a:pt x="1541" y="231"/>
                  <a:pt x="1563" y="252"/>
                  <a:pt x="1585" y="273"/>
                </a:cubicBezTo>
                <a:cubicBezTo>
                  <a:pt x="1606" y="295"/>
                  <a:pt x="1627" y="317"/>
                  <a:pt x="1646" y="341"/>
                </a:cubicBezTo>
                <a:cubicBezTo>
                  <a:pt x="1665" y="364"/>
                  <a:pt x="1684" y="389"/>
                  <a:pt x="1701" y="414"/>
                </a:cubicBezTo>
                <a:cubicBezTo>
                  <a:pt x="1718" y="439"/>
                  <a:pt x="1734" y="465"/>
                  <a:pt x="1748" y="492"/>
                </a:cubicBezTo>
                <a:cubicBezTo>
                  <a:pt x="1763" y="519"/>
                  <a:pt x="1776" y="547"/>
                  <a:pt x="1787" y="575"/>
                </a:cubicBezTo>
                <a:cubicBezTo>
                  <a:pt x="1799" y="603"/>
                  <a:pt x="1809" y="631"/>
                  <a:pt x="1818" y="660"/>
                </a:cubicBezTo>
                <a:cubicBezTo>
                  <a:pt x="1827" y="689"/>
                  <a:pt x="1834" y="719"/>
                  <a:pt x="1840" y="749"/>
                </a:cubicBezTo>
                <a:cubicBezTo>
                  <a:pt x="1846" y="779"/>
                  <a:pt x="1850" y="809"/>
                  <a:pt x="1853" y="839"/>
                </a:cubicBezTo>
                <a:cubicBezTo>
                  <a:pt x="1856" y="869"/>
                  <a:pt x="1858" y="900"/>
                  <a:pt x="1858" y="930"/>
                </a:cubicBezTo>
                <a:close/>
              </a:path>
            </a:pathLst>
          </a:custGeom>
          <a:solidFill>
            <a:srgbClr val="1D4ED8"/>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07" name="圖片 106"/>
          <p:cNvPicPr/>
          <p:nvPr/>
        </p:nvPicPr>
        <p:blipFill>
          <a:blip r:embed="rId7"/>
          <a:stretch>
            <a:fillRect/>
          </a:stretch>
        </p:blipFill>
        <p:spPr>
          <a:xfrm>
            <a:off x="1905480" y="1788480"/>
            <a:ext cx="342360" cy="300600"/>
          </a:xfrm>
          <a:prstGeom prst="rect">
            <a:avLst/>
          </a:prstGeom>
          <a:noFill/>
          <a:ln w="0">
            <a:noFill/>
          </a:ln>
        </p:spPr>
      </p:pic>
      <p:sp>
        <p:nvSpPr>
          <p:cNvPr id="108" name="文字框 107"/>
          <p:cNvSpPr txBox="1"/>
          <p:nvPr/>
        </p:nvSpPr>
        <p:spPr>
          <a:xfrm>
            <a:off x="9824760" y="6601680"/>
            <a:ext cx="20383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3 / 24</a:t>
            </a:r>
            <a:endParaRPr lang="en-US" sz="920" b="0" u="none" strike="noStrike">
              <a:solidFill>
                <a:srgbClr val="000000"/>
              </a:solidFill>
              <a:effectLst/>
              <a:uFillTx/>
              <a:latin typeface="Times New Roman" panose="02020603050405020304"/>
            </a:endParaRPr>
          </a:p>
        </p:txBody>
      </p:sp>
      <p:sp>
        <p:nvSpPr>
          <p:cNvPr id="109" name="文字框 108"/>
          <p:cNvSpPr txBox="1"/>
          <p:nvPr/>
        </p:nvSpPr>
        <p:spPr>
          <a:xfrm>
            <a:off x="1671480" y="2547720"/>
            <a:ext cx="80532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可接触性</a:t>
            </a:r>
            <a:endParaRPr lang="en-US" sz="1580" b="0" u="none" strike="noStrike">
              <a:solidFill>
                <a:srgbClr val="000000"/>
              </a:solidFill>
              <a:effectLst/>
              <a:uFillTx/>
              <a:latin typeface="Times New Roman" panose="02020603050405020304"/>
            </a:endParaRPr>
          </a:p>
        </p:txBody>
      </p:sp>
      <p:sp>
        <p:nvSpPr>
          <p:cNvPr id="110" name="文字框 109"/>
          <p:cNvSpPr txBox="1"/>
          <p:nvPr/>
        </p:nvSpPr>
        <p:spPr>
          <a:xfrm>
            <a:off x="735480" y="2954880"/>
            <a:ext cx="2683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评估普通投资者获取和交易特定资产的便捷程</a:t>
            </a:r>
            <a:endParaRPr lang="en-US" sz="1050" b="0" u="none" strike="noStrike">
              <a:solidFill>
                <a:srgbClr val="000000"/>
              </a:solidFill>
              <a:effectLst/>
              <a:uFillTx/>
              <a:latin typeface="Times New Roman" panose="02020603050405020304"/>
            </a:endParaRPr>
          </a:p>
        </p:txBody>
      </p:sp>
      <p:pic>
        <p:nvPicPr>
          <p:cNvPr id="111" name="圖片 110"/>
          <p:cNvPicPr/>
          <p:nvPr/>
        </p:nvPicPr>
        <p:blipFill>
          <a:blip r:embed="rId8"/>
          <a:stretch>
            <a:fillRect/>
          </a:stretch>
        </p:blipFill>
        <p:spPr>
          <a:xfrm>
            <a:off x="1404000" y="3476520"/>
            <a:ext cx="1336680" cy="33120"/>
          </a:xfrm>
          <a:prstGeom prst="rect">
            <a:avLst/>
          </a:prstGeom>
          <a:noFill/>
          <a:ln w="0">
            <a:noFill/>
          </a:ln>
        </p:spPr>
      </p:pic>
      <p:pic>
        <p:nvPicPr>
          <p:cNvPr id="112" name="圖片 111"/>
          <p:cNvPicPr/>
          <p:nvPr/>
        </p:nvPicPr>
        <p:blipFill>
          <a:blip r:embed="rId9"/>
          <a:stretch>
            <a:fillRect/>
          </a:stretch>
        </p:blipFill>
        <p:spPr>
          <a:xfrm>
            <a:off x="735480" y="3743640"/>
            <a:ext cx="133200" cy="133200"/>
          </a:xfrm>
          <a:prstGeom prst="rect">
            <a:avLst/>
          </a:prstGeom>
          <a:noFill/>
          <a:ln w="0">
            <a:noFill/>
          </a:ln>
        </p:spPr>
      </p:pic>
      <p:sp>
        <p:nvSpPr>
          <p:cNvPr id="113" name="文字框 112"/>
          <p:cNvSpPr txBox="1"/>
          <p:nvPr/>
        </p:nvSpPr>
        <p:spPr>
          <a:xfrm>
            <a:off x="2005560" y="315540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度</a:t>
            </a:r>
            <a:endParaRPr lang="en-US" sz="1050" b="0" u="none" strike="noStrike">
              <a:solidFill>
                <a:srgbClr val="000000"/>
              </a:solidFill>
              <a:effectLst/>
              <a:uFillTx/>
              <a:latin typeface="Times New Roman" panose="02020603050405020304"/>
            </a:endParaRPr>
          </a:p>
        </p:txBody>
      </p:sp>
      <p:sp>
        <p:nvSpPr>
          <p:cNvPr id="114" name="文字框 113"/>
          <p:cNvSpPr txBox="1"/>
          <p:nvPr/>
        </p:nvSpPr>
        <p:spPr>
          <a:xfrm>
            <a:off x="969480" y="372384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投资门槛：</a:t>
            </a:r>
            <a:r>
              <a:rPr lang="zh-CN" sz="1050" b="0" u="none" strike="noStrike">
                <a:solidFill>
                  <a:srgbClr val="D1D5DB"/>
                </a:solidFill>
                <a:effectLst/>
                <a:uFillTx/>
                <a:latin typeface="WenQuanYiZenHei"/>
                <a:ea typeface="WenQuanYiZenHei"/>
              </a:rPr>
              <a:t>投资者的最低资金需求和准入</a:t>
            </a:r>
            <a:endParaRPr lang="en-US" sz="1050" b="0" u="none" strike="noStrike">
              <a:solidFill>
                <a:srgbClr val="000000"/>
              </a:solidFill>
              <a:effectLst/>
              <a:uFillTx/>
              <a:latin typeface="Times New Roman" panose="02020603050405020304"/>
            </a:endParaRPr>
          </a:p>
        </p:txBody>
      </p:sp>
      <p:pic>
        <p:nvPicPr>
          <p:cNvPr id="115" name="圖片 114"/>
          <p:cNvPicPr/>
          <p:nvPr/>
        </p:nvPicPr>
        <p:blipFill>
          <a:blip r:embed="rId10"/>
          <a:stretch>
            <a:fillRect/>
          </a:stretch>
        </p:blipFill>
        <p:spPr>
          <a:xfrm>
            <a:off x="735480" y="4245120"/>
            <a:ext cx="133200" cy="133200"/>
          </a:xfrm>
          <a:prstGeom prst="rect">
            <a:avLst/>
          </a:prstGeom>
          <a:noFill/>
          <a:ln w="0">
            <a:noFill/>
          </a:ln>
        </p:spPr>
      </p:pic>
      <p:sp>
        <p:nvSpPr>
          <p:cNvPr id="116" name="文字框 115"/>
          <p:cNvSpPr txBox="1"/>
          <p:nvPr/>
        </p:nvSpPr>
        <p:spPr>
          <a:xfrm>
            <a:off x="969480" y="3924360"/>
            <a:ext cx="2689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条件</a:t>
            </a:r>
            <a:endParaRPr lang="en-US" sz="1050" b="0" u="none" strike="noStrike">
              <a:solidFill>
                <a:srgbClr val="000000"/>
              </a:solidFill>
              <a:effectLst/>
              <a:uFillTx/>
              <a:latin typeface="Times New Roman" panose="02020603050405020304"/>
            </a:endParaRPr>
          </a:p>
        </p:txBody>
      </p:sp>
      <p:sp>
        <p:nvSpPr>
          <p:cNvPr id="117" name="文字框 116"/>
          <p:cNvSpPr txBox="1"/>
          <p:nvPr/>
        </p:nvSpPr>
        <p:spPr>
          <a:xfrm>
            <a:off x="969480" y="422496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市场准入：</a:t>
            </a:r>
            <a:r>
              <a:rPr lang="zh-CN" sz="1050" b="0" u="none" strike="noStrike">
                <a:solidFill>
                  <a:srgbClr val="D1D5DB"/>
                </a:solidFill>
                <a:effectLst/>
                <a:uFillTx/>
                <a:latin typeface="WenQuanYiZenHei"/>
                <a:ea typeface="WenQuanYiZenHei"/>
              </a:rPr>
              <a:t>交易渠道的广泛性和相关法规</a:t>
            </a:r>
            <a:endParaRPr lang="en-US" sz="1050" b="0" u="none" strike="noStrike">
              <a:solidFill>
                <a:srgbClr val="000000"/>
              </a:solidFill>
              <a:effectLst/>
              <a:uFillTx/>
              <a:latin typeface="Times New Roman" panose="02020603050405020304"/>
            </a:endParaRPr>
          </a:p>
        </p:txBody>
      </p:sp>
      <p:pic>
        <p:nvPicPr>
          <p:cNvPr id="118" name="圖片 117"/>
          <p:cNvPicPr/>
          <p:nvPr/>
        </p:nvPicPr>
        <p:blipFill>
          <a:blip r:embed="rId11"/>
          <a:stretch>
            <a:fillRect/>
          </a:stretch>
        </p:blipFill>
        <p:spPr>
          <a:xfrm>
            <a:off x="735480" y="4746600"/>
            <a:ext cx="133200" cy="133200"/>
          </a:xfrm>
          <a:prstGeom prst="rect">
            <a:avLst/>
          </a:prstGeom>
          <a:noFill/>
          <a:ln w="0">
            <a:noFill/>
          </a:ln>
        </p:spPr>
      </p:pic>
      <p:sp>
        <p:nvSpPr>
          <p:cNvPr id="119" name="文字框 118"/>
          <p:cNvSpPr txBox="1"/>
          <p:nvPr/>
        </p:nvSpPr>
        <p:spPr>
          <a:xfrm>
            <a:off x="969480" y="4425480"/>
            <a:ext cx="6714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的复杂程度</a:t>
            </a:r>
            <a:endParaRPr lang="en-US" sz="1050" b="0" u="none" strike="noStrike">
              <a:solidFill>
                <a:srgbClr val="000000"/>
              </a:solidFill>
              <a:effectLst/>
              <a:uFillTx/>
              <a:latin typeface="Times New Roman" panose="02020603050405020304"/>
            </a:endParaRPr>
          </a:p>
        </p:txBody>
      </p:sp>
      <p:sp>
        <p:nvSpPr>
          <p:cNvPr id="120" name="文字框 119"/>
          <p:cNvSpPr txBox="1"/>
          <p:nvPr/>
        </p:nvSpPr>
        <p:spPr>
          <a:xfrm>
            <a:off x="969480" y="4726440"/>
            <a:ext cx="24145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流动性：</a:t>
            </a:r>
            <a:r>
              <a:rPr lang="zh-CN" sz="1050" b="0" u="none" strike="noStrike">
                <a:solidFill>
                  <a:srgbClr val="D1D5DB"/>
                </a:solidFill>
                <a:effectLst/>
                <a:uFillTx/>
                <a:latin typeface="WenQuanYiZenHei"/>
                <a:ea typeface="WenQuanYiZenHei"/>
              </a:rPr>
              <a:t>资产在不影响价格的情况下快速</a:t>
            </a:r>
            <a:endParaRPr lang="en-US" sz="1050" b="0" u="none" strike="noStrike">
              <a:solidFill>
                <a:srgbClr val="000000"/>
              </a:solidFill>
              <a:effectLst/>
              <a:uFillTx/>
              <a:latin typeface="Times New Roman" panose="02020603050405020304"/>
            </a:endParaRPr>
          </a:p>
        </p:txBody>
      </p:sp>
      <p:sp>
        <p:nvSpPr>
          <p:cNvPr id="121" name="任意多邊形 120"/>
          <p:cNvSpPr/>
          <p:nvPr/>
        </p:nvSpPr>
        <p:spPr>
          <a:xfrm>
            <a:off x="3810600" y="1403640"/>
            <a:ext cx="3075480" cy="3911400"/>
          </a:xfrm>
          <a:custGeom>
            <a:avLst/>
            <a:gdLst/>
            <a:ahLst/>
            <a:cxnLst/>
            <a:rect l="0" t="0" r="r" b="b"/>
            <a:pathLst>
              <a:path w="8543" h="10865">
                <a:moveTo>
                  <a:pt x="0" y="10679"/>
                </a:moveTo>
                <a:lnTo>
                  <a:pt x="0" y="186"/>
                </a:lnTo>
                <a:cubicBezTo>
                  <a:pt x="0" y="174"/>
                  <a:pt x="1" y="162"/>
                  <a:pt x="3" y="150"/>
                </a:cubicBezTo>
                <a:cubicBezTo>
                  <a:pt x="6" y="138"/>
                  <a:pt x="9" y="126"/>
                  <a:pt x="14" y="115"/>
                </a:cubicBezTo>
                <a:cubicBezTo>
                  <a:pt x="18" y="104"/>
                  <a:pt x="24" y="93"/>
                  <a:pt x="31" y="83"/>
                </a:cubicBezTo>
                <a:cubicBezTo>
                  <a:pt x="38" y="73"/>
                  <a:pt x="45" y="63"/>
                  <a:pt x="54" y="55"/>
                </a:cubicBezTo>
                <a:cubicBezTo>
                  <a:pt x="63" y="46"/>
                  <a:pt x="72" y="38"/>
                  <a:pt x="82" y="32"/>
                </a:cubicBezTo>
                <a:cubicBezTo>
                  <a:pt x="92" y="25"/>
                  <a:pt x="103" y="19"/>
                  <a:pt x="114" y="14"/>
                </a:cubicBezTo>
                <a:cubicBezTo>
                  <a:pt x="126" y="10"/>
                  <a:pt x="137" y="6"/>
                  <a:pt x="149" y="4"/>
                </a:cubicBezTo>
                <a:cubicBezTo>
                  <a:pt x="161" y="1"/>
                  <a:pt x="173" y="0"/>
                  <a:pt x="185" y="0"/>
                </a:cubicBezTo>
                <a:lnTo>
                  <a:pt x="8357" y="0"/>
                </a:lnTo>
                <a:cubicBezTo>
                  <a:pt x="8370" y="0"/>
                  <a:pt x="8382" y="1"/>
                  <a:pt x="8394" y="4"/>
                </a:cubicBezTo>
                <a:cubicBezTo>
                  <a:pt x="8406" y="6"/>
                  <a:pt x="8417" y="10"/>
                  <a:pt x="8428" y="14"/>
                </a:cubicBezTo>
                <a:cubicBezTo>
                  <a:pt x="8440" y="19"/>
                  <a:pt x="8450" y="25"/>
                  <a:pt x="8461" y="32"/>
                </a:cubicBezTo>
                <a:cubicBezTo>
                  <a:pt x="8471" y="38"/>
                  <a:pt x="8480" y="46"/>
                  <a:pt x="8489" y="55"/>
                </a:cubicBezTo>
                <a:cubicBezTo>
                  <a:pt x="8497" y="63"/>
                  <a:pt x="8505" y="73"/>
                  <a:pt x="8512" y="83"/>
                </a:cubicBezTo>
                <a:cubicBezTo>
                  <a:pt x="8519" y="93"/>
                  <a:pt x="8524" y="104"/>
                  <a:pt x="8529" y="115"/>
                </a:cubicBezTo>
                <a:cubicBezTo>
                  <a:pt x="8534" y="126"/>
                  <a:pt x="8537" y="138"/>
                  <a:pt x="8539" y="150"/>
                </a:cubicBezTo>
                <a:cubicBezTo>
                  <a:pt x="8542" y="162"/>
                  <a:pt x="8543" y="174"/>
                  <a:pt x="8543" y="186"/>
                </a:cubicBezTo>
                <a:lnTo>
                  <a:pt x="8543" y="10679"/>
                </a:lnTo>
                <a:cubicBezTo>
                  <a:pt x="8543" y="10691"/>
                  <a:pt x="8542" y="10704"/>
                  <a:pt x="8539" y="10716"/>
                </a:cubicBezTo>
                <a:cubicBezTo>
                  <a:pt x="8537" y="10727"/>
                  <a:pt x="8534" y="10739"/>
                  <a:pt x="8529" y="10750"/>
                </a:cubicBezTo>
                <a:cubicBezTo>
                  <a:pt x="8524" y="10762"/>
                  <a:pt x="8519" y="10772"/>
                  <a:pt x="8512" y="10782"/>
                </a:cubicBezTo>
                <a:cubicBezTo>
                  <a:pt x="8505" y="10793"/>
                  <a:pt x="8497" y="10802"/>
                  <a:pt x="8489" y="10811"/>
                </a:cubicBezTo>
                <a:cubicBezTo>
                  <a:pt x="8480" y="10819"/>
                  <a:pt x="8471" y="10827"/>
                  <a:pt x="8461" y="10834"/>
                </a:cubicBezTo>
                <a:cubicBezTo>
                  <a:pt x="8450" y="10840"/>
                  <a:pt x="8440" y="10846"/>
                  <a:pt x="8428" y="10851"/>
                </a:cubicBezTo>
                <a:cubicBezTo>
                  <a:pt x="8417" y="10856"/>
                  <a:pt x="8406" y="10859"/>
                  <a:pt x="8394" y="10861"/>
                </a:cubicBezTo>
                <a:cubicBezTo>
                  <a:pt x="8382" y="10864"/>
                  <a:pt x="8370" y="10865"/>
                  <a:pt x="8357" y="10865"/>
                </a:cubicBezTo>
                <a:lnTo>
                  <a:pt x="185" y="10865"/>
                </a:lnTo>
                <a:cubicBezTo>
                  <a:pt x="173" y="10865"/>
                  <a:pt x="161" y="10864"/>
                  <a:pt x="149" y="10861"/>
                </a:cubicBezTo>
                <a:cubicBezTo>
                  <a:pt x="137" y="10859"/>
                  <a:pt x="126" y="10856"/>
                  <a:pt x="114" y="10851"/>
                </a:cubicBezTo>
                <a:cubicBezTo>
                  <a:pt x="103" y="10846"/>
                  <a:pt x="92" y="10840"/>
                  <a:pt x="82" y="10834"/>
                </a:cubicBezTo>
                <a:cubicBezTo>
                  <a:pt x="72" y="10827"/>
                  <a:pt x="63" y="10819"/>
                  <a:pt x="54" y="10811"/>
                </a:cubicBezTo>
                <a:cubicBezTo>
                  <a:pt x="45" y="10802"/>
                  <a:pt x="38" y="10793"/>
                  <a:pt x="31" y="10782"/>
                </a:cubicBezTo>
                <a:cubicBezTo>
                  <a:pt x="24" y="10772"/>
                  <a:pt x="18" y="10762"/>
                  <a:pt x="14" y="10750"/>
                </a:cubicBezTo>
                <a:cubicBezTo>
                  <a:pt x="9" y="10739"/>
                  <a:pt x="6" y="10727"/>
                  <a:pt x="3" y="10716"/>
                </a:cubicBezTo>
                <a:cubicBezTo>
                  <a:pt x="1" y="10704"/>
                  <a:pt x="0" y="10691"/>
                  <a:pt x="0" y="1067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2" name="任意多邊形 121"/>
          <p:cNvSpPr/>
          <p:nvPr/>
        </p:nvSpPr>
        <p:spPr>
          <a:xfrm>
            <a:off x="5013720" y="1604160"/>
            <a:ext cx="668880" cy="668880"/>
          </a:xfrm>
          <a:custGeom>
            <a:avLst/>
            <a:gdLst/>
            <a:ahLst/>
            <a:cxnLst/>
            <a:rect l="0" t="0" r="r" b="b"/>
            <a:pathLst>
              <a:path w="1858" h="1858">
                <a:moveTo>
                  <a:pt x="1858" y="930"/>
                </a:moveTo>
                <a:cubicBezTo>
                  <a:pt x="1858" y="960"/>
                  <a:pt x="1857" y="991"/>
                  <a:pt x="1854" y="1021"/>
                </a:cubicBezTo>
                <a:cubicBezTo>
                  <a:pt x="1851" y="1051"/>
                  <a:pt x="1846" y="1081"/>
                  <a:pt x="1841" y="1111"/>
                </a:cubicBezTo>
                <a:cubicBezTo>
                  <a:pt x="1835" y="1141"/>
                  <a:pt x="1827" y="1170"/>
                  <a:pt x="1818" y="1199"/>
                </a:cubicBezTo>
                <a:cubicBezTo>
                  <a:pt x="1810" y="1229"/>
                  <a:pt x="1799" y="1257"/>
                  <a:pt x="1788" y="1285"/>
                </a:cubicBezTo>
                <a:cubicBezTo>
                  <a:pt x="1776" y="1313"/>
                  <a:pt x="1763" y="1341"/>
                  <a:pt x="1749" y="1368"/>
                </a:cubicBezTo>
                <a:cubicBezTo>
                  <a:pt x="1734" y="1394"/>
                  <a:pt x="1719" y="1421"/>
                  <a:pt x="1702" y="1446"/>
                </a:cubicBezTo>
                <a:cubicBezTo>
                  <a:pt x="1685" y="1471"/>
                  <a:pt x="1667" y="1495"/>
                  <a:pt x="1648" y="1519"/>
                </a:cubicBezTo>
                <a:cubicBezTo>
                  <a:pt x="1628" y="1542"/>
                  <a:pt x="1608" y="1565"/>
                  <a:pt x="1586" y="1586"/>
                </a:cubicBezTo>
                <a:cubicBezTo>
                  <a:pt x="1565" y="1608"/>
                  <a:pt x="1542" y="1628"/>
                  <a:pt x="1519" y="1648"/>
                </a:cubicBezTo>
                <a:cubicBezTo>
                  <a:pt x="1495" y="1667"/>
                  <a:pt x="1471" y="1685"/>
                  <a:pt x="1446" y="1702"/>
                </a:cubicBezTo>
                <a:cubicBezTo>
                  <a:pt x="1420" y="1719"/>
                  <a:pt x="1394" y="1734"/>
                  <a:pt x="1368" y="1749"/>
                </a:cubicBezTo>
                <a:cubicBezTo>
                  <a:pt x="1341" y="1763"/>
                  <a:pt x="1313" y="1776"/>
                  <a:pt x="1285" y="1788"/>
                </a:cubicBezTo>
                <a:cubicBezTo>
                  <a:pt x="1257" y="1799"/>
                  <a:pt x="1228" y="1810"/>
                  <a:pt x="1199" y="1818"/>
                </a:cubicBezTo>
                <a:cubicBezTo>
                  <a:pt x="1170" y="1827"/>
                  <a:pt x="1141" y="1835"/>
                  <a:pt x="1111" y="1841"/>
                </a:cubicBezTo>
                <a:cubicBezTo>
                  <a:pt x="1081" y="1847"/>
                  <a:pt x="1051" y="1851"/>
                  <a:pt x="1021" y="1854"/>
                </a:cubicBezTo>
                <a:cubicBezTo>
                  <a:pt x="991" y="1857"/>
                  <a:pt x="960" y="1858"/>
                  <a:pt x="930" y="1858"/>
                </a:cubicBezTo>
                <a:cubicBezTo>
                  <a:pt x="899" y="1858"/>
                  <a:pt x="869" y="1857"/>
                  <a:pt x="839" y="1854"/>
                </a:cubicBezTo>
                <a:cubicBezTo>
                  <a:pt x="809" y="1851"/>
                  <a:pt x="779" y="1847"/>
                  <a:pt x="749" y="1841"/>
                </a:cubicBezTo>
                <a:cubicBezTo>
                  <a:pt x="719" y="1835"/>
                  <a:pt x="689" y="1827"/>
                  <a:pt x="660" y="1818"/>
                </a:cubicBezTo>
                <a:cubicBezTo>
                  <a:pt x="631" y="1810"/>
                  <a:pt x="603" y="1799"/>
                  <a:pt x="575" y="1788"/>
                </a:cubicBezTo>
                <a:cubicBezTo>
                  <a:pt x="546" y="1776"/>
                  <a:pt x="519" y="1763"/>
                  <a:pt x="492" y="1749"/>
                </a:cubicBezTo>
                <a:cubicBezTo>
                  <a:pt x="465" y="1734"/>
                  <a:pt x="439" y="1719"/>
                  <a:pt x="414" y="1702"/>
                </a:cubicBezTo>
                <a:cubicBezTo>
                  <a:pt x="389" y="1685"/>
                  <a:pt x="364" y="1667"/>
                  <a:pt x="341" y="1648"/>
                </a:cubicBezTo>
                <a:cubicBezTo>
                  <a:pt x="317" y="1628"/>
                  <a:pt x="295" y="1608"/>
                  <a:pt x="273" y="1586"/>
                </a:cubicBezTo>
                <a:cubicBezTo>
                  <a:pt x="252" y="1565"/>
                  <a:pt x="231" y="1542"/>
                  <a:pt x="212" y="1519"/>
                </a:cubicBezTo>
                <a:cubicBezTo>
                  <a:pt x="193" y="1495"/>
                  <a:pt x="175" y="1471"/>
                  <a:pt x="158" y="1446"/>
                </a:cubicBezTo>
                <a:cubicBezTo>
                  <a:pt x="141" y="1421"/>
                  <a:pt x="125" y="1394"/>
                  <a:pt x="111" y="1368"/>
                </a:cubicBezTo>
                <a:cubicBezTo>
                  <a:pt x="97" y="1341"/>
                  <a:pt x="84" y="1313"/>
                  <a:pt x="72" y="1285"/>
                </a:cubicBezTo>
                <a:cubicBezTo>
                  <a:pt x="60" y="1257"/>
                  <a:pt x="50" y="1229"/>
                  <a:pt x="41" y="1199"/>
                </a:cubicBezTo>
                <a:cubicBezTo>
                  <a:pt x="32" y="1170"/>
                  <a:pt x="25" y="1141"/>
                  <a:pt x="19" y="1111"/>
                </a:cubicBezTo>
                <a:cubicBezTo>
                  <a:pt x="13" y="1081"/>
                  <a:pt x="9" y="1051"/>
                  <a:pt x="6" y="1021"/>
                </a:cubicBezTo>
                <a:cubicBezTo>
                  <a:pt x="3" y="991"/>
                  <a:pt x="0" y="960"/>
                  <a:pt x="0" y="930"/>
                </a:cubicBezTo>
                <a:cubicBezTo>
                  <a:pt x="0" y="900"/>
                  <a:pt x="3" y="869"/>
                  <a:pt x="6" y="839"/>
                </a:cubicBezTo>
                <a:cubicBezTo>
                  <a:pt x="9" y="809"/>
                  <a:pt x="13" y="779"/>
                  <a:pt x="19" y="749"/>
                </a:cubicBezTo>
                <a:cubicBezTo>
                  <a:pt x="25" y="719"/>
                  <a:pt x="32" y="689"/>
                  <a:pt x="41" y="660"/>
                </a:cubicBezTo>
                <a:cubicBezTo>
                  <a:pt x="50" y="631"/>
                  <a:pt x="60" y="603"/>
                  <a:pt x="72" y="575"/>
                </a:cubicBezTo>
                <a:cubicBezTo>
                  <a:pt x="84" y="547"/>
                  <a:pt x="97" y="519"/>
                  <a:pt x="111" y="492"/>
                </a:cubicBezTo>
                <a:cubicBezTo>
                  <a:pt x="125" y="465"/>
                  <a:pt x="141" y="439"/>
                  <a:pt x="158" y="414"/>
                </a:cubicBezTo>
                <a:cubicBezTo>
                  <a:pt x="175" y="389"/>
                  <a:pt x="193" y="364"/>
                  <a:pt x="212" y="341"/>
                </a:cubicBezTo>
                <a:cubicBezTo>
                  <a:pt x="231" y="317"/>
                  <a:pt x="252" y="295"/>
                  <a:pt x="273" y="273"/>
                </a:cubicBezTo>
                <a:cubicBezTo>
                  <a:pt x="295" y="252"/>
                  <a:pt x="317" y="231"/>
                  <a:pt x="341" y="212"/>
                </a:cubicBezTo>
                <a:cubicBezTo>
                  <a:pt x="364" y="193"/>
                  <a:pt x="389" y="174"/>
                  <a:pt x="414" y="157"/>
                </a:cubicBezTo>
                <a:cubicBezTo>
                  <a:pt x="439" y="140"/>
                  <a:pt x="465" y="124"/>
                  <a:pt x="492" y="110"/>
                </a:cubicBezTo>
                <a:cubicBezTo>
                  <a:pt x="519" y="96"/>
                  <a:pt x="546" y="83"/>
                  <a:pt x="575" y="71"/>
                </a:cubicBezTo>
                <a:cubicBezTo>
                  <a:pt x="603" y="59"/>
                  <a:pt x="631" y="49"/>
                  <a:pt x="660" y="40"/>
                </a:cubicBezTo>
                <a:cubicBezTo>
                  <a:pt x="689" y="32"/>
                  <a:pt x="719" y="24"/>
                  <a:pt x="749" y="18"/>
                </a:cubicBezTo>
                <a:cubicBezTo>
                  <a:pt x="779" y="12"/>
                  <a:pt x="809" y="8"/>
                  <a:pt x="839" y="5"/>
                </a:cubicBezTo>
                <a:cubicBezTo>
                  <a:pt x="869" y="2"/>
                  <a:pt x="899" y="0"/>
                  <a:pt x="930" y="0"/>
                </a:cubicBezTo>
                <a:cubicBezTo>
                  <a:pt x="960" y="0"/>
                  <a:pt x="991" y="2"/>
                  <a:pt x="1021" y="5"/>
                </a:cubicBezTo>
                <a:cubicBezTo>
                  <a:pt x="1051" y="8"/>
                  <a:pt x="1081" y="12"/>
                  <a:pt x="1111" y="18"/>
                </a:cubicBezTo>
                <a:cubicBezTo>
                  <a:pt x="1141" y="24"/>
                  <a:pt x="1170" y="32"/>
                  <a:pt x="1199" y="40"/>
                </a:cubicBezTo>
                <a:cubicBezTo>
                  <a:pt x="1228" y="49"/>
                  <a:pt x="1257" y="59"/>
                  <a:pt x="1285" y="71"/>
                </a:cubicBezTo>
                <a:cubicBezTo>
                  <a:pt x="1313" y="83"/>
                  <a:pt x="1341" y="96"/>
                  <a:pt x="1368" y="110"/>
                </a:cubicBezTo>
                <a:cubicBezTo>
                  <a:pt x="1394" y="124"/>
                  <a:pt x="1420" y="140"/>
                  <a:pt x="1446" y="157"/>
                </a:cubicBezTo>
                <a:cubicBezTo>
                  <a:pt x="1471" y="174"/>
                  <a:pt x="1495" y="193"/>
                  <a:pt x="1519" y="212"/>
                </a:cubicBezTo>
                <a:cubicBezTo>
                  <a:pt x="1542" y="231"/>
                  <a:pt x="1565" y="252"/>
                  <a:pt x="1586" y="273"/>
                </a:cubicBezTo>
                <a:cubicBezTo>
                  <a:pt x="1608" y="295"/>
                  <a:pt x="1628" y="317"/>
                  <a:pt x="1648" y="341"/>
                </a:cubicBezTo>
                <a:cubicBezTo>
                  <a:pt x="1667" y="364"/>
                  <a:pt x="1685" y="389"/>
                  <a:pt x="1702" y="414"/>
                </a:cubicBezTo>
                <a:cubicBezTo>
                  <a:pt x="1719" y="439"/>
                  <a:pt x="1734" y="465"/>
                  <a:pt x="1749" y="492"/>
                </a:cubicBezTo>
                <a:cubicBezTo>
                  <a:pt x="1763" y="519"/>
                  <a:pt x="1776" y="547"/>
                  <a:pt x="1788" y="575"/>
                </a:cubicBezTo>
                <a:cubicBezTo>
                  <a:pt x="1799" y="603"/>
                  <a:pt x="1810" y="631"/>
                  <a:pt x="1818" y="660"/>
                </a:cubicBezTo>
                <a:cubicBezTo>
                  <a:pt x="1827" y="689"/>
                  <a:pt x="1835" y="719"/>
                  <a:pt x="1841" y="749"/>
                </a:cubicBezTo>
                <a:cubicBezTo>
                  <a:pt x="1846" y="779"/>
                  <a:pt x="1851" y="809"/>
                  <a:pt x="1854" y="839"/>
                </a:cubicBezTo>
                <a:cubicBezTo>
                  <a:pt x="1857" y="869"/>
                  <a:pt x="1858" y="900"/>
                  <a:pt x="1858" y="930"/>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23" name="圖片 122"/>
          <p:cNvPicPr/>
          <p:nvPr/>
        </p:nvPicPr>
        <p:blipFill>
          <a:blip r:embed="rId12"/>
          <a:stretch>
            <a:fillRect/>
          </a:stretch>
        </p:blipFill>
        <p:spPr>
          <a:xfrm>
            <a:off x="5198040" y="1788480"/>
            <a:ext cx="300600" cy="300600"/>
          </a:xfrm>
          <a:prstGeom prst="rect">
            <a:avLst/>
          </a:prstGeom>
          <a:noFill/>
          <a:ln w="0">
            <a:noFill/>
          </a:ln>
        </p:spPr>
      </p:pic>
      <p:sp>
        <p:nvSpPr>
          <p:cNvPr id="124" name="文字框 123"/>
          <p:cNvSpPr txBox="1"/>
          <p:nvPr/>
        </p:nvSpPr>
        <p:spPr>
          <a:xfrm>
            <a:off x="969480" y="4926960"/>
            <a:ext cx="6714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变现的能力</a:t>
            </a:r>
            <a:endParaRPr lang="en-US" sz="1050" b="0" u="none" strike="noStrike">
              <a:solidFill>
                <a:srgbClr val="000000"/>
              </a:solidFill>
              <a:effectLst/>
              <a:uFillTx/>
              <a:latin typeface="Times New Roman" panose="02020603050405020304"/>
            </a:endParaRPr>
          </a:p>
        </p:txBody>
      </p:sp>
      <p:sp>
        <p:nvSpPr>
          <p:cNvPr id="125" name="文字框 124"/>
          <p:cNvSpPr txBox="1"/>
          <p:nvPr/>
        </p:nvSpPr>
        <p:spPr>
          <a:xfrm>
            <a:off x="5047560" y="2547720"/>
            <a:ext cx="60408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保本性</a:t>
            </a:r>
            <a:endParaRPr lang="en-US" sz="1580" b="0" u="none" strike="noStrike">
              <a:solidFill>
                <a:srgbClr val="000000"/>
              </a:solidFill>
              <a:effectLst/>
              <a:uFillTx/>
              <a:latin typeface="Times New Roman" panose="02020603050405020304"/>
            </a:endParaRPr>
          </a:p>
        </p:txBody>
      </p:sp>
      <p:pic>
        <p:nvPicPr>
          <p:cNvPr id="126" name="圖片 125"/>
          <p:cNvPicPr/>
          <p:nvPr/>
        </p:nvPicPr>
        <p:blipFill>
          <a:blip r:embed="rId8"/>
          <a:stretch>
            <a:fillRect/>
          </a:stretch>
        </p:blipFill>
        <p:spPr>
          <a:xfrm>
            <a:off x="4679640" y="3276000"/>
            <a:ext cx="1336680" cy="33120"/>
          </a:xfrm>
          <a:prstGeom prst="rect">
            <a:avLst/>
          </a:prstGeom>
          <a:noFill/>
          <a:ln w="0">
            <a:noFill/>
          </a:ln>
        </p:spPr>
      </p:pic>
      <p:pic>
        <p:nvPicPr>
          <p:cNvPr id="127" name="圖片 126"/>
          <p:cNvPicPr/>
          <p:nvPr/>
        </p:nvPicPr>
        <p:blipFill>
          <a:blip r:embed="rId13"/>
          <a:stretch>
            <a:fillRect/>
          </a:stretch>
        </p:blipFill>
        <p:spPr>
          <a:xfrm>
            <a:off x="4011120" y="3543120"/>
            <a:ext cx="133200" cy="133200"/>
          </a:xfrm>
          <a:prstGeom prst="rect">
            <a:avLst/>
          </a:prstGeom>
          <a:noFill/>
          <a:ln w="0">
            <a:noFill/>
          </a:ln>
        </p:spPr>
      </p:pic>
      <p:sp>
        <p:nvSpPr>
          <p:cNvPr id="128" name="文字框 127"/>
          <p:cNvSpPr txBox="1"/>
          <p:nvPr/>
        </p:nvSpPr>
        <p:spPr>
          <a:xfrm>
            <a:off x="4011120" y="2954880"/>
            <a:ext cx="2683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分析资产在危机期间保全初始投资本金的能力</a:t>
            </a:r>
            <a:endParaRPr lang="en-US" sz="1050" b="0" u="none" strike="noStrike">
              <a:solidFill>
                <a:srgbClr val="000000"/>
              </a:solidFill>
              <a:effectLst/>
              <a:uFillTx/>
              <a:latin typeface="Times New Roman" panose="02020603050405020304"/>
            </a:endParaRPr>
          </a:p>
        </p:txBody>
      </p:sp>
      <p:sp>
        <p:nvSpPr>
          <p:cNvPr id="129" name="文字框 128"/>
          <p:cNvSpPr txBox="1"/>
          <p:nvPr/>
        </p:nvSpPr>
        <p:spPr>
          <a:xfrm>
            <a:off x="4245120" y="352296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历史表现：</a:t>
            </a:r>
            <a:r>
              <a:rPr lang="zh-CN" sz="1050" b="0" u="none" strike="noStrike">
                <a:solidFill>
                  <a:srgbClr val="D1D5DB"/>
                </a:solidFill>
                <a:effectLst/>
                <a:uFillTx/>
                <a:latin typeface="WenQuanYiZenHei"/>
                <a:ea typeface="WenQuanYiZenHei"/>
              </a:rPr>
              <a:t>资产在过往金融危机中的价格</a:t>
            </a:r>
            <a:endParaRPr lang="en-US" sz="1050" b="0" u="none" strike="noStrike">
              <a:solidFill>
                <a:srgbClr val="000000"/>
              </a:solidFill>
              <a:effectLst/>
              <a:uFillTx/>
              <a:latin typeface="Times New Roman" panose="02020603050405020304"/>
            </a:endParaRPr>
          </a:p>
        </p:txBody>
      </p:sp>
      <p:pic>
        <p:nvPicPr>
          <p:cNvPr id="130" name="圖片 129"/>
          <p:cNvPicPr/>
          <p:nvPr/>
        </p:nvPicPr>
        <p:blipFill>
          <a:blip r:embed="rId14"/>
          <a:stretch>
            <a:fillRect/>
          </a:stretch>
        </p:blipFill>
        <p:spPr>
          <a:xfrm>
            <a:off x="4011120" y="4044600"/>
            <a:ext cx="133200" cy="133200"/>
          </a:xfrm>
          <a:prstGeom prst="rect">
            <a:avLst/>
          </a:prstGeom>
          <a:noFill/>
          <a:ln w="0">
            <a:noFill/>
          </a:ln>
        </p:spPr>
      </p:pic>
      <p:sp>
        <p:nvSpPr>
          <p:cNvPr id="131" name="文字框 130"/>
          <p:cNvSpPr txBox="1"/>
          <p:nvPr/>
        </p:nvSpPr>
        <p:spPr>
          <a:xfrm>
            <a:off x="4245120" y="3723840"/>
            <a:ext cx="9396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表现和回撤幅度</a:t>
            </a:r>
            <a:endParaRPr lang="en-US" sz="1050" b="0" u="none" strike="noStrike">
              <a:solidFill>
                <a:srgbClr val="000000"/>
              </a:solidFill>
              <a:effectLst/>
              <a:uFillTx/>
              <a:latin typeface="Times New Roman" panose="02020603050405020304"/>
            </a:endParaRPr>
          </a:p>
        </p:txBody>
      </p:sp>
      <p:sp>
        <p:nvSpPr>
          <p:cNvPr id="132" name="文字框 131"/>
          <p:cNvSpPr txBox="1"/>
          <p:nvPr/>
        </p:nvSpPr>
        <p:spPr>
          <a:xfrm>
            <a:off x="4245120" y="402444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风险特征：</a:t>
            </a:r>
            <a:r>
              <a:rPr lang="zh-CN" sz="1050" b="0" u="none" strike="noStrike">
                <a:solidFill>
                  <a:srgbClr val="D1D5DB"/>
                </a:solidFill>
                <a:effectLst/>
                <a:uFillTx/>
                <a:latin typeface="WenQuanYiZenHei"/>
                <a:ea typeface="WenQuanYiZenHei"/>
              </a:rPr>
              <a:t>资产的波动性和受危机影响的</a:t>
            </a:r>
            <a:endParaRPr lang="en-US" sz="1050" b="0" u="none" strike="noStrike">
              <a:solidFill>
                <a:srgbClr val="000000"/>
              </a:solidFill>
              <a:effectLst/>
              <a:uFillTx/>
              <a:latin typeface="Times New Roman" panose="02020603050405020304"/>
            </a:endParaRPr>
          </a:p>
        </p:txBody>
      </p:sp>
      <p:pic>
        <p:nvPicPr>
          <p:cNvPr id="133" name="圖片 132"/>
          <p:cNvPicPr/>
          <p:nvPr/>
        </p:nvPicPr>
        <p:blipFill>
          <a:blip r:embed="rId15"/>
          <a:stretch>
            <a:fillRect/>
          </a:stretch>
        </p:blipFill>
        <p:spPr>
          <a:xfrm>
            <a:off x="4011120" y="4546080"/>
            <a:ext cx="116640" cy="133200"/>
          </a:xfrm>
          <a:prstGeom prst="rect">
            <a:avLst/>
          </a:prstGeom>
          <a:noFill/>
          <a:ln w="0">
            <a:noFill/>
          </a:ln>
        </p:spPr>
      </p:pic>
      <p:sp>
        <p:nvSpPr>
          <p:cNvPr id="134" name="文字框 133"/>
          <p:cNvSpPr txBox="1"/>
          <p:nvPr/>
        </p:nvSpPr>
        <p:spPr>
          <a:xfrm>
            <a:off x="4245120" y="4224960"/>
            <a:ext cx="5371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敏感程度</a:t>
            </a:r>
            <a:endParaRPr lang="en-US" sz="1050" b="0" u="none" strike="noStrike">
              <a:solidFill>
                <a:srgbClr val="000000"/>
              </a:solidFill>
              <a:effectLst/>
              <a:uFillTx/>
              <a:latin typeface="Times New Roman" panose="02020603050405020304"/>
            </a:endParaRPr>
          </a:p>
        </p:txBody>
      </p:sp>
      <p:sp>
        <p:nvSpPr>
          <p:cNvPr id="135" name="文字框 134"/>
          <p:cNvSpPr txBox="1"/>
          <p:nvPr/>
        </p:nvSpPr>
        <p:spPr>
          <a:xfrm>
            <a:off x="4228560" y="452592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保本机制：</a:t>
            </a:r>
            <a:r>
              <a:rPr lang="zh-CN" sz="1050" b="0" u="none" strike="noStrike">
                <a:solidFill>
                  <a:srgbClr val="D1D5DB"/>
                </a:solidFill>
                <a:effectLst/>
                <a:uFillTx/>
                <a:latin typeface="WenQuanYiZenHei"/>
                <a:ea typeface="WenQuanYiZenHei"/>
              </a:rPr>
              <a:t>资产内在的结构和属性对本金</a:t>
            </a:r>
            <a:endParaRPr lang="en-US" sz="1050" b="0" u="none" strike="noStrike">
              <a:solidFill>
                <a:srgbClr val="000000"/>
              </a:solidFill>
              <a:effectLst/>
              <a:uFillTx/>
              <a:latin typeface="Times New Roman" panose="02020603050405020304"/>
            </a:endParaRPr>
          </a:p>
        </p:txBody>
      </p:sp>
      <p:sp>
        <p:nvSpPr>
          <p:cNvPr id="136" name="任意多邊形 135"/>
          <p:cNvSpPr/>
          <p:nvPr/>
        </p:nvSpPr>
        <p:spPr>
          <a:xfrm>
            <a:off x="7086240" y="1403640"/>
            <a:ext cx="3075840" cy="3911400"/>
          </a:xfrm>
          <a:custGeom>
            <a:avLst/>
            <a:gdLst/>
            <a:ahLst/>
            <a:cxnLst/>
            <a:rect l="0" t="0" r="r" b="b"/>
            <a:pathLst>
              <a:path w="8544" h="10865">
                <a:moveTo>
                  <a:pt x="0" y="10679"/>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8358" y="0"/>
                </a:lnTo>
                <a:cubicBezTo>
                  <a:pt x="8370" y="0"/>
                  <a:pt x="8382" y="1"/>
                  <a:pt x="8394" y="4"/>
                </a:cubicBezTo>
                <a:cubicBezTo>
                  <a:pt x="8406" y="6"/>
                  <a:pt x="8418" y="10"/>
                  <a:pt x="8429" y="14"/>
                </a:cubicBezTo>
                <a:cubicBezTo>
                  <a:pt x="8440" y="19"/>
                  <a:pt x="8451" y="25"/>
                  <a:pt x="8461" y="32"/>
                </a:cubicBezTo>
                <a:cubicBezTo>
                  <a:pt x="8471" y="38"/>
                  <a:pt x="8481" y="46"/>
                  <a:pt x="8489" y="55"/>
                </a:cubicBezTo>
                <a:cubicBezTo>
                  <a:pt x="8498" y="63"/>
                  <a:pt x="8505" y="73"/>
                  <a:pt x="8512" y="83"/>
                </a:cubicBezTo>
                <a:cubicBezTo>
                  <a:pt x="8519" y="93"/>
                  <a:pt x="8525" y="104"/>
                  <a:pt x="8529" y="115"/>
                </a:cubicBezTo>
                <a:cubicBezTo>
                  <a:pt x="8534" y="126"/>
                  <a:pt x="8538" y="138"/>
                  <a:pt x="8540" y="150"/>
                </a:cubicBezTo>
                <a:cubicBezTo>
                  <a:pt x="8542" y="162"/>
                  <a:pt x="8544" y="174"/>
                  <a:pt x="8544" y="186"/>
                </a:cubicBezTo>
                <a:lnTo>
                  <a:pt x="8544" y="10679"/>
                </a:lnTo>
                <a:cubicBezTo>
                  <a:pt x="8544" y="10691"/>
                  <a:pt x="8542" y="10704"/>
                  <a:pt x="8540" y="10716"/>
                </a:cubicBezTo>
                <a:cubicBezTo>
                  <a:pt x="8538" y="10727"/>
                  <a:pt x="8534" y="10739"/>
                  <a:pt x="8529" y="10750"/>
                </a:cubicBezTo>
                <a:cubicBezTo>
                  <a:pt x="8525" y="10762"/>
                  <a:pt x="8519" y="10772"/>
                  <a:pt x="8512" y="10782"/>
                </a:cubicBezTo>
                <a:cubicBezTo>
                  <a:pt x="8505" y="10793"/>
                  <a:pt x="8498" y="10802"/>
                  <a:pt x="8489" y="10811"/>
                </a:cubicBezTo>
                <a:cubicBezTo>
                  <a:pt x="8481" y="10819"/>
                  <a:pt x="8471" y="10827"/>
                  <a:pt x="8461" y="10834"/>
                </a:cubicBezTo>
                <a:cubicBezTo>
                  <a:pt x="8451" y="10840"/>
                  <a:pt x="8440" y="10846"/>
                  <a:pt x="8429" y="10851"/>
                </a:cubicBezTo>
                <a:cubicBezTo>
                  <a:pt x="8418" y="10856"/>
                  <a:pt x="8406" y="10859"/>
                  <a:pt x="8394" y="10861"/>
                </a:cubicBezTo>
                <a:cubicBezTo>
                  <a:pt x="8382" y="10864"/>
                  <a:pt x="8370" y="10865"/>
                  <a:pt x="8358" y="10865"/>
                </a:cubicBezTo>
                <a:lnTo>
                  <a:pt x="186" y="10865"/>
                </a:lnTo>
                <a:cubicBezTo>
                  <a:pt x="174" y="10865"/>
                  <a:pt x="162" y="10864"/>
                  <a:pt x="150" y="10861"/>
                </a:cubicBezTo>
                <a:cubicBezTo>
                  <a:pt x="138" y="10859"/>
                  <a:pt x="126" y="10856"/>
                  <a:pt x="115" y="10851"/>
                </a:cubicBezTo>
                <a:cubicBezTo>
                  <a:pt x="104" y="10846"/>
                  <a:pt x="93" y="10840"/>
                  <a:pt x="83" y="10834"/>
                </a:cubicBezTo>
                <a:cubicBezTo>
                  <a:pt x="73" y="10827"/>
                  <a:pt x="63" y="10819"/>
                  <a:pt x="55" y="10811"/>
                </a:cubicBezTo>
                <a:cubicBezTo>
                  <a:pt x="46" y="10802"/>
                  <a:pt x="38" y="10793"/>
                  <a:pt x="31" y="10782"/>
                </a:cubicBezTo>
                <a:cubicBezTo>
                  <a:pt x="25" y="10772"/>
                  <a:pt x="19" y="10762"/>
                  <a:pt x="14" y="10750"/>
                </a:cubicBezTo>
                <a:cubicBezTo>
                  <a:pt x="10" y="10739"/>
                  <a:pt x="6" y="10727"/>
                  <a:pt x="4" y="10716"/>
                </a:cubicBezTo>
                <a:cubicBezTo>
                  <a:pt x="1" y="10704"/>
                  <a:pt x="0" y="10691"/>
                  <a:pt x="0" y="1067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7" name="任意多邊形 136"/>
          <p:cNvSpPr/>
          <p:nvPr/>
        </p:nvSpPr>
        <p:spPr>
          <a:xfrm>
            <a:off x="8289720" y="1604160"/>
            <a:ext cx="668880" cy="668880"/>
          </a:xfrm>
          <a:custGeom>
            <a:avLst/>
            <a:gdLst/>
            <a:ahLst/>
            <a:cxnLst/>
            <a:rect l="0" t="0" r="r" b="b"/>
            <a:pathLst>
              <a:path w="1858" h="1858">
                <a:moveTo>
                  <a:pt x="1858" y="930"/>
                </a:moveTo>
                <a:cubicBezTo>
                  <a:pt x="1858" y="960"/>
                  <a:pt x="1856" y="991"/>
                  <a:pt x="1853" y="1021"/>
                </a:cubicBezTo>
                <a:cubicBezTo>
                  <a:pt x="1850" y="1051"/>
                  <a:pt x="1846" y="1081"/>
                  <a:pt x="1840" y="1111"/>
                </a:cubicBezTo>
                <a:cubicBezTo>
                  <a:pt x="1834" y="1141"/>
                  <a:pt x="1827" y="1170"/>
                  <a:pt x="1818" y="1199"/>
                </a:cubicBezTo>
                <a:cubicBezTo>
                  <a:pt x="1809" y="1229"/>
                  <a:pt x="1799" y="1257"/>
                  <a:pt x="1787" y="1285"/>
                </a:cubicBezTo>
                <a:cubicBezTo>
                  <a:pt x="1776" y="1313"/>
                  <a:pt x="1763" y="1341"/>
                  <a:pt x="1748" y="1368"/>
                </a:cubicBezTo>
                <a:cubicBezTo>
                  <a:pt x="1734" y="1394"/>
                  <a:pt x="1718" y="1421"/>
                  <a:pt x="1701" y="1446"/>
                </a:cubicBezTo>
                <a:cubicBezTo>
                  <a:pt x="1685" y="1471"/>
                  <a:pt x="1666" y="1495"/>
                  <a:pt x="1647" y="1519"/>
                </a:cubicBezTo>
                <a:cubicBezTo>
                  <a:pt x="1628" y="1542"/>
                  <a:pt x="1607" y="1565"/>
                  <a:pt x="1586" y="1586"/>
                </a:cubicBezTo>
                <a:cubicBezTo>
                  <a:pt x="1564" y="1608"/>
                  <a:pt x="1542" y="1628"/>
                  <a:pt x="1518" y="1648"/>
                </a:cubicBezTo>
                <a:cubicBezTo>
                  <a:pt x="1495" y="1667"/>
                  <a:pt x="1471" y="1685"/>
                  <a:pt x="1445" y="1702"/>
                </a:cubicBezTo>
                <a:cubicBezTo>
                  <a:pt x="1420" y="1719"/>
                  <a:pt x="1394" y="1734"/>
                  <a:pt x="1367" y="1749"/>
                </a:cubicBezTo>
                <a:cubicBezTo>
                  <a:pt x="1340" y="1763"/>
                  <a:pt x="1313" y="1776"/>
                  <a:pt x="1285" y="1788"/>
                </a:cubicBezTo>
                <a:cubicBezTo>
                  <a:pt x="1257" y="1799"/>
                  <a:pt x="1228" y="1810"/>
                  <a:pt x="1199" y="1818"/>
                </a:cubicBezTo>
                <a:cubicBezTo>
                  <a:pt x="1170" y="1827"/>
                  <a:pt x="1140" y="1835"/>
                  <a:pt x="1111" y="1841"/>
                </a:cubicBezTo>
                <a:cubicBezTo>
                  <a:pt x="1081" y="1847"/>
                  <a:pt x="1051" y="1851"/>
                  <a:pt x="1020" y="1854"/>
                </a:cubicBezTo>
                <a:cubicBezTo>
                  <a:pt x="990" y="1857"/>
                  <a:pt x="960" y="1858"/>
                  <a:pt x="929" y="1858"/>
                </a:cubicBezTo>
                <a:cubicBezTo>
                  <a:pt x="899" y="1858"/>
                  <a:pt x="869" y="1857"/>
                  <a:pt x="838" y="1854"/>
                </a:cubicBezTo>
                <a:cubicBezTo>
                  <a:pt x="808" y="1851"/>
                  <a:pt x="778" y="1847"/>
                  <a:pt x="748" y="1841"/>
                </a:cubicBezTo>
                <a:cubicBezTo>
                  <a:pt x="718" y="1835"/>
                  <a:pt x="689" y="1827"/>
                  <a:pt x="660" y="1818"/>
                </a:cubicBezTo>
                <a:cubicBezTo>
                  <a:pt x="631" y="1810"/>
                  <a:pt x="602" y="1799"/>
                  <a:pt x="574" y="1788"/>
                </a:cubicBezTo>
                <a:cubicBezTo>
                  <a:pt x="546" y="1776"/>
                  <a:pt x="518" y="1763"/>
                  <a:pt x="492" y="1749"/>
                </a:cubicBezTo>
                <a:cubicBezTo>
                  <a:pt x="465" y="1734"/>
                  <a:pt x="439" y="1719"/>
                  <a:pt x="414" y="1702"/>
                </a:cubicBezTo>
                <a:cubicBezTo>
                  <a:pt x="388" y="1685"/>
                  <a:pt x="364" y="1667"/>
                  <a:pt x="340" y="1648"/>
                </a:cubicBezTo>
                <a:cubicBezTo>
                  <a:pt x="317" y="1628"/>
                  <a:pt x="294" y="1608"/>
                  <a:pt x="273" y="1586"/>
                </a:cubicBezTo>
                <a:cubicBezTo>
                  <a:pt x="251" y="1565"/>
                  <a:pt x="231" y="1542"/>
                  <a:pt x="212" y="1519"/>
                </a:cubicBezTo>
                <a:cubicBezTo>
                  <a:pt x="192" y="1495"/>
                  <a:pt x="173" y="1471"/>
                  <a:pt x="156" y="1446"/>
                </a:cubicBezTo>
                <a:cubicBezTo>
                  <a:pt x="139" y="1421"/>
                  <a:pt x="124" y="1394"/>
                  <a:pt x="109" y="1368"/>
                </a:cubicBezTo>
                <a:cubicBezTo>
                  <a:pt x="95" y="1341"/>
                  <a:pt x="82" y="1313"/>
                  <a:pt x="71" y="1285"/>
                </a:cubicBezTo>
                <a:cubicBezTo>
                  <a:pt x="59" y="1257"/>
                  <a:pt x="49" y="1229"/>
                  <a:pt x="40" y="1199"/>
                </a:cubicBezTo>
                <a:cubicBezTo>
                  <a:pt x="31" y="1170"/>
                  <a:pt x="24" y="1141"/>
                  <a:pt x="18" y="1111"/>
                </a:cubicBezTo>
                <a:cubicBezTo>
                  <a:pt x="12" y="1081"/>
                  <a:pt x="7" y="1051"/>
                  <a:pt x="4" y="1021"/>
                </a:cubicBezTo>
                <a:cubicBezTo>
                  <a:pt x="1" y="991"/>
                  <a:pt x="0" y="960"/>
                  <a:pt x="0" y="930"/>
                </a:cubicBezTo>
                <a:cubicBezTo>
                  <a:pt x="0" y="900"/>
                  <a:pt x="1" y="869"/>
                  <a:pt x="4" y="839"/>
                </a:cubicBezTo>
                <a:cubicBezTo>
                  <a:pt x="7" y="809"/>
                  <a:pt x="12" y="779"/>
                  <a:pt x="18" y="749"/>
                </a:cubicBezTo>
                <a:cubicBezTo>
                  <a:pt x="24" y="719"/>
                  <a:pt x="31" y="689"/>
                  <a:pt x="40" y="660"/>
                </a:cubicBezTo>
                <a:cubicBezTo>
                  <a:pt x="49" y="631"/>
                  <a:pt x="59" y="603"/>
                  <a:pt x="71" y="575"/>
                </a:cubicBezTo>
                <a:cubicBezTo>
                  <a:pt x="82" y="547"/>
                  <a:pt x="95" y="519"/>
                  <a:pt x="109" y="492"/>
                </a:cubicBezTo>
                <a:cubicBezTo>
                  <a:pt x="124" y="465"/>
                  <a:pt x="139" y="439"/>
                  <a:pt x="156" y="414"/>
                </a:cubicBezTo>
                <a:cubicBezTo>
                  <a:pt x="173" y="389"/>
                  <a:pt x="192" y="364"/>
                  <a:pt x="212" y="341"/>
                </a:cubicBezTo>
                <a:cubicBezTo>
                  <a:pt x="231" y="317"/>
                  <a:pt x="251" y="295"/>
                  <a:pt x="273" y="273"/>
                </a:cubicBezTo>
                <a:cubicBezTo>
                  <a:pt x="294" y="252"/>
                  <a:pt x="317" y="231"/>
                  <a:pt x="340" y="212"/>
                </a:cubicBezTo>
                <a:cubicBezTo>
                  <a:pt x="364" y="193"/>
                  <a:pt x="388" y="174"/>
                  <a:pt x="414" y="157"/>
                </a:cubicBezTo>
                <a:cubicBezTo>
                  <a:pt x="439" y="140"/>
                  <a:pt x="465" y="124"/>
                  <a:pt x="492" y="110"/>
                </a:cubicBezTo>
                <a:cubicBezTo>
                  <a:pt x="518" y="96"/>
                  <a:pt x="546" y="83"/>
                  <a:pt x="574" y="71"/>
                </a:cubicBezTo>
                <a:cubicBezTo>
                  <a:pt x="602" y="59"/>
                  <a:pt x="631" y="49"/>
                  <a:pt x="660" y="40"/>
                </a:cubicBezTo>
                <a:cubicBezTo>
                  <a:pt x="689" y="32"/>
                  <a:pt x="718" y="24"/>
                  <a:pt x="748" y="18"/>
                </a:cubicBezTo>
                <a:cubicBezTo>
                  <a:pt x="778" y="12"/>
                  <a:pt x="808" y="8"/>
                  <a:pt x="838" y="5"/>
                </a:cubicBezTo>
                <a:cubicBezTo>
                  <a:pt x="869" y="2"/>
                  <a:pt x="899" y="0"/>
                  <a:pt x="929" y="0"/>
                </a:cubicBezTo>
                <a:cubicBezTo>
                  <a:pt x="960" y="0"/>
                  <a:pt x="990" y="2"/>
                  <a:pt x="1020" y="5"/>
                </a:cubicBezTo>
                <a:cubicBezTo>
                  <a:pt x="1051" y="8"/>
                  <a:pt x="1081" y="12"/>
                  <a:pt x="1111" y="18"/>
                </a:cubicBezTo>
                <a:cubicBezTo>
                  <a:pt x="1140" y="24"/>
                  <a:pt x="1170" y="32"/>
                  <a:pt x="1199" y="40"/>
                </a:cubicBezTo>
                <a:cubicBezTo>
                  <a:pt x="1228" y="49"/>
                  <a:pt x="1257" y="59"/>
                  <a:pt x="1285" y="71"/>
                </a:cubicBezTo>
                <a:cubicBezTo>
                  <a:pt x="1313" y="83"/>
                  <a:pt x="1340" y="96"/>
                  <a:pt x="1367" y="110"/>
                </a:cubicBezTo>
                <a:cubicBezTo>
                  <a:pt x="1394" y="124"/>
                  <a:pt x="1420" y="140"/>
                  <a:pt x="1445" y="157"/>
                </a:cubicBezTo>
                <a:cubicBezTo>
                  <a:pt x="1471" y="174"/>
                  <a:pt x="1495" y="193"/>
                  <a:pt x="1518" y="212"/>
                </a:cubicBezTo>
                <a:cubicBezTo>
                  <a:pt x="1542" y="231"/>
                  <a:pt x="1564" y="252"/>
                  <a:pt x="1586" y="273"/>
                </a:cubicBezTo>
                <a:cubicBezTo>
                  <a:pt x="1607" y="295"/>
                  <a:pt x="1628" y="317"/>
                  <a:pt x="1647" y="341"/>
                </a:cubicBezTo>
                <a:cubicBezTo>
                  <a:pt x="1666" y="364"/>
                  <a:pt x="1685" y="389"/>
                  <a:pt x="1701" y="414"/>
                </a:cubicBezTo>
                <a:cubicBezTo>
                  <a:pt x="1718" y="439"/>
                  <a:pt x="1734" y="465"/>
                  <a:pt x="1748" y="492"/>
                </a:cubicBezTo>
                <a:cubicBezTo>
                  <a:pt x="1763" y="519"/>
                  <a:pt x="1776" y="547"/>
                  <a:pt x="1787" y="575"/>
                </a:cubicBezTo>
                <a:cubicBezTo>
                  <a:pt x="1799" y="603"/>
                  <a:pt x="1809" y="631"/>
                  <a:pt x="1818" y="660"/>
                </a:cubicBezTo>
                <a:cubicBezTo>
                  <a:pt x="1827" y="689"/>
                  <a:pt x="1834" y="719"/>
                  <a:pt x="1840" y="749"/>
                </a:cubicBezTo>
                <a:cubicBezTo>
                  <a:pt x="1846" y="779"/>
                  <a:pt x="1850" y="809"/>
                  <a:pt x="1853" y="839"/>
                </a:cubicBezTo>
                <a:cubicBezTo>
                  <a:pt x="1856" y="869"/>
                  <a:pt x="1858" y="900"/>
                  <a:pt x="1858" y="930"/>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38" name="圖片 137"/>
          <p:cNvPicPr/>
          <p:nvPr/>
        </p:nvPicPr>
        <p:blipFill>
          <a:blip r:embed="rId16"/>
          <a:stretch>
            <a:fillRect/>
          </a:stretch>
        </p:blipFill>
        <p:spPr>
          <a:xfrm>
            <a:off x="8473680" y="1788480"/>
            <a:ext cx="300600" cy="300600"/>
          </a:xfrm>
          <a:prstGeom prst="rect">
            <a:avLst/>
          </a:prstGeom>
          <a:noFill/>
          <a:ln w="0">
            <a:noFill/>
          </a:ln>
        </p:spPr>
      </p:pic>
      <p:sp>
        <p:nvSpPr>
          <p:cNvPr id="139" name="文字框 138"/>
          <p:cNvSpPr txBox="1"/>
          <p:nvPr/>
        </p:nvSpPr>
        <p:spPr>
          <a:xfrm>
            <a:off x="4228560" y="4726440"/>
            <a:ext cx="6714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的保护能力</a:t>
            </a:r>
            <a:endParaRPr lang="en-US" sz="1050" b="0" u="none" strike="noStrike">
              <a:solidFill>
                <a:srgbClr val="000000"/>
              </a:solidFill>
              <a:effectLst/>
              <a:uFillTx/>
              <a:latin typeface="Times New Roman" panose="02020603050405020304"/>
            </a:endParaRPr>
          </a:p>
        </p:txBody>
      </p:sp>
      <p:sp>
        <p:nvSpPr>
          <p:cNvPr id="140" name="文字框 139"/>
          <p:cNvSpPr txBox="1"/>
          <p:nvPr/>
        </p:nvSpPr>
        <p:spPr>
          <a:xfrm>
            <a:off x="8323200" y="2547720"/>
            <a:ext cx="60408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收益率</a:t>
            </a:r>
            <a:endParaRPr lang="en-US" sz="1580" b="0" u="none" strike="noStrike">
              <a:solidFill>
                <a:srgbClr val="000000"/>
              </a:solidFill>
              <a:effectLst/>
              <a:uFillTx/>
              <a:latin typeface="Times New Roman" panose="02020603050405020304"/>
            </a:endParaRPr>
          </a:p>
        </p:txBody>
      </p:sp>
      <p:pic>
        <p:nvPicPr>
          <p:cNvPr id="141" name="圖片 140"/>
          <p:cNvPicPr/>
          <p:nvPr/>
        </p:nvPicPr>
        <p:blipFill>
          <a:blip r:embed="rId8"/>
          <a:stretch>
            <a:fillRect/>
          </a:stretch>
        </p:blipFill>
        <p:spPr>
          <a:xfrm>
            <a:off x="7955640" y="3276000"/>
            <a:ext cx="1336680" cy="33120"/>
          </a:xfrm>
          <a:prstGeom prst="rect">
            <a:avLst/>
          </a:prstGeom>
          <a:noFill/>
          <a:ln w="0">
            <a:noFill/>
          </a:ln>
        </p:spPr>
      </p:pic>
      <p:pic>
        <p:nvPicPr>
          <p:cNvPr id="142" name="圖片 141"/>
          <p:cNvPicPr/>
          <p:nvPr/>
        </p:nvPicPr>
        <p:blipFill>
          <a:blip r:embed="rId17"/>
          <a:stretch>
            <a:fillRect/>
          </a:stretch>
        </p:blipFill>
        <p:spPr>
          <a:xfrm>
            <a:off x="7287120" y="3543120"/>
            <a:ext cx="100080" cy="133200"/>
          </a:xfrm>
          <a:prstGeom prst="rect">
            <a:avLst/>
          </a:prstGeom>
          <a:noFill/>
          <a:ln w="0">
            <a:noFill/>
          </a:ln>
        </p:spPr>
      </p:pic>
      <p:sp>
        <p:nvSpPr>
          <p:cNvPr id="143" name="文字框 142"/>
          <p:cNvSpPr txBox="1"/>
          <p:nvPr/>
        </p:nvSpPr>
        <p:spPr>
          <a:xfrm>
            <a:off x="7353720" y="295488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比较不同资产在危机环境下的实际收益水平</a:t>
            </a:r>
            <a:endParaRPr lang="en-US" sz="1050" b="0" u="none" strike="noStrike">
              <a:solidFill>
                <a:srgbClr val="000000"/>
              </a:solidFill>
              <a:effectLst/>
              <a:uFillTx/>
              <a:latin typeface="Times New Roman" panose="02020603050405020304"/>
            </a:endParaRPr>
          </a:p>
        </p:txBody>
      </p:sp>
      <p:sp>
        <p:nvSpPr>
          <p:cNvPr id="144" name="文字框 143"/>
          <p:cNvSpPr txBox="1"/>
          <p:nvPr/>
        </p:nvSpPr>
        <p:spPr>
          <a:xfrm>
            <a:off x="7487640" y="352296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危机期间表现：</a:t>
            </a:r>
            <a:r>
              <a:rPr lang="zh-CN" sz="1050" b="0" u="none" strike="noStrike">
                <a:solidFill>
                  <a:srgbClr val="D1D5DB"/>
                </a:solidFill>
                <a:effectLst/>
                <a:uFillTx/>
                <a:latin typeface="WenQuanYiZenHei"/>
                <a:ea typeface="WenQuanYiZenHei"/>
              </a:rPr>
              <a:t>资产在市场动荡时期的实</a:t>
            </a:r>
            <a:endParaRPr lang="en-US" sz="1050" b="0" u="none" strike="noStrike">
              <a:solidFill>
                <a:srgbClr val="000000"/>
              </a:solidFill>
              <a:effectLst/>
              <a:uFillTx/>
              <a:latin typeface="Times New Roman" panose="02020603050405020304"/>
            </a:endParaRPr>
          </a:p>
        </p:txBody>
      </p:sp>
      <p:pic>
        <p:nvPicPr>
          <p:cNvPr id="145" name="圖片 144"/>
          <p:cNvPicPr/>
          <p:nvPr/>
        </p:nvPicPr>
        <p:blipFill>
          <a:blip r:embed="rId18"/>
          <a:stretch>
            <a:fillRect/>
          </a:stretch>
        </p:blipFill>
        <p:spPr>
          <a:xfrm>
            <a:off x="7287120" y="4044600"/>
            <a:ext cx="133200" cy="133200"/>
          </a:xfrm>
          <a:prstGeom prst="rect">
            <a:avLst/>
          </a:prstGeom>
          <a:noFill/>
          <a:ln w="0">
            <a:noFill/>
          </a:ln>
        </p:spPr>
      </p:pic>
      <p:sp>
        <p:nvSpPr>
          <p:cNvPr id="146" name="文字框 145"/>
          <p:cNvSpPr txBox="1"/>
          <p:nvPr/>
        </p:nvSpPr>
        <p:spPr>
          <a:xfrm>
            <a:off x="7487640" y="3723840"/>
            <a:ext cx="6714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际收益水平</a:t>
            </a:r>
            <a:endParaRPr lang="en-US" sz="1050" b="0" u="none" strike="noStrike">
              <a:solidFill>
                <a:srgbClr val="000000"/>
              </a:solidFill>
              <a:effectLst/>
              <a:uFillTx/>
              <a:latin typeface="Times New Roman" panose="02020603050405020304"/>
            </a:endParaRPr>
          </a:p>
        </p:txBody>
      </p:sp>
      <p:sp>
        <p:nvSpPr>
          <p:cNvPr id="147" name="文字框 146"/>
          <p:cNvSpPr txBox="1"/>
          <p:nvPr/>
        </p:nvSpPr>
        <p:spPr>
          <a:xfrm>
            <a:off x="7521120" y="402444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长期收益潜力：</a:t>
            </a:r>
            <a:r>
              <a:rPr lang="zh-CN" sz="1050" b="0" u="none" strike="noStrike">
                <a:solidFill>
                  <a:srgbClr val="D1D5DB"/>
                </a:solidFill>
                <a:effectLst/>
                <a:uFillTx/>
                <a:latin typeface="WenQuanYiZenHei"/>
                <a:ea typeface="WenQuanYiZenHei"/>
              </a:rPr>
              <a:t>危机后的恢复能力和持续</a:t>
            </a:r>
            <a:endParaRPr lang="en-US" sz="1050" b="0" u="none" strike="noStrike">
              <a:solidFill>
                <a:srgbClr val="000000"/>
              </a:solidFill>
              <a:effectLst/>
              <a:uFillTx/>
              <a:latin typeface="Times New Roman" panose="02020603050405020304"/>
            </a:endParaRPr>
          </a:p>
        </p:txBody>
      </p:sp>
      <p:pic>
        <p:nvPicPr>
          <p:cNvPr id="148" name="圖片 147"/>
          <p:cNvPicPr/>
          <p:nvPr/>
        </p:nvPicPr>
        <p:blipFill>
          <a:blip r:embed="rId19"/>
          <a:stretch>
            <a:fillRect/>
          </a:stretch>
        </p:blipFill>
        <p:spPr>
          <a:xfrm>
            <a:off x="7287120" y="4546080"/>
            <a:ext cx="166680" cy="133200"/>
          </a:xfrm>
          <a:prstGeom prst="rect">
            <a:avLst/>
          </a:prstGeom>
          <a:noFill/>
          <a:ln w="0">
            <a:noFill/>
          </a:ln>
        </p:spPr>
      </p:pic>
      <p:sp>
        <p:nvSpPr>
          <p:cNvPr id="149" name="文字框 148"/>
          <p:cNvSpPr txBox="1"/>
          <p:nvPr/>
        </p:nvSpPr>
        <p:spPr>
          <a:xfrm>
            <a:off x="7521120" y="4224960"/>
            <a:ext cx="5371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增长表现</a:t>
            </a:r>
            <a:endParaRPr lang="en-US" sz="1050" b="0" u="none" strike="noStrike">
              <a:solidFill>
                <a:srgbClr val="000000"/>
              </a:solidFill>
              <a:effectLst/>
              <a:uFillTx/>
              <a:latin typeface="Times New Roman" panose="02020603050405020304"/>
            </a:endParaRPr>
          </a:p>
        </p:txBody>
      </p:sp>
      <p:sp>
        <p:nvSpPr>
          <p:cNvPr id="150" name="文字框 149"/>
          <p:cNvSpPr txBox="1"/>
          <p:nvPr/>
        </p:nvSpPr>
        <p:spPr>
          <a:xfrm>
            <a:off x="7554600" y="4525920"/>
            <a:ext cx="24145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风险调整后收益：</a:t>
            </a:r>
            <a:r>
              <a:rPr lang="zh-CN" sz="1050" b="0" u="none" strike="noStrike">
                <a:solidFill>
                  <a:srgbClr val="D1D5DB"/>
                </a:solidFill>
                <a:effectLst/>
                <a:uFillTx/>
                <a:latin typeface="WenQuanYiZenHei"/>
                <a:ea typeface="WenQuanYiZenHei"/>
              </a:rPr>
              <a:t>考虑风险因素后的实际</a:t>
            </a:r>
            <a:endParaRPr lang="en-US" sz="1050" b="0" u="none" strike="noStrike">
              <a:solidFill>
                <a:srgbClr val="000000"/>
              </a:solidFill>
              <a:effectLst/>
              <a:uFillTx/>
              <a:latin typeface="Times New Roman" panose="02020603050405020304"/>
            </a:endParaRPr>
          </a:p>
        </p:txBody>
      </p:sp>
      <p:sp>
        <p:nvSpPr>
          <p:cNvPr id="151" name="文字框 150"/>
          <p:cNvSpPr txBox="1"/>
          <p:nvPr/>
        </p:nvSpPr>
        <p:spPr>
          <a:xfrm>
            <a:off x="7554600" y="4726440"/>
            <a:ext cx="5371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投资回报</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圖片 151"/>
          <p:cNvPicPr/>
          <p:nvPr/>
        </p:nvPicPr>
        <p:blipFill>
          <a:blip r:embed="rId1"/>
          <a:stretch>
            <a:fillRect/>
          </a:stretch>
        </p:blipFill>
        <p:spPr>
          <a:xfrm>
            <a:off x="0" y="0"/>
            <a:ext cx="10696320" cy="6450840"/>
          </a:xfrm>
          <a:prstGeom prst="rect">
            <a:avLst/>
          </a:prstGeom>
          <a:noFill/>
          <a:ln w="0">
            <a:noFill/>
          </a:ln>
        </p:spPr>
      </p:pic>
      <p:pic>
        <p:nvPicPr>
          <p:cNvPr id="153" name="圖片 152"/>
          <p:cNvPicPr/>
          <p:nvPr/>
        </p:nvPicPr>
        <p:blipFill>
          <a:blip r:embed="rId2"/>
          <a:stretch>
            <a:fillRect/>
          </a:stretch>
        </p:blipFill>
        <p:spPr>
          <a:xfrm>
            <a:off x="534960" y="735480"/>
            <a:ext cx="3208680" cy="33120"/>
          </a:xfrm>
          <a:prstGeom prst="rect">
            <a:avLst/>
          </a:prstGeom>
          <a:noFill/>
          <a:ln w="0">
            <a:noFill/>
          </a:ln>
        </p:spPr>
      </p:pic>
      <p:sp>
        <p:nvSpPr>
          <p:cNvPr id="154" name="任意多邊形 153"/>
          <p:cNvSpPr/>
          <p:nvPr/>
        </p:nvSpPr>
        <p:spPr>
          <a:xfrm>
            <a:off x="534600" y="4880160"/>
            <a:ext cx="9627480" cy="936360"/>
          </a:xfrm>
          <a:custGeom>
            <a:avLst/>
            <a:gdLst/>
            <a:ahLst/>
            <a:cxnLst/>
            <a:rect l="0" t="0" r="r" b="b"/>
            <a:pathLst>
              <a:path w="26743" h="2601">
                <a:moveTo>
                  <a:pt x="0" y="2415"/>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26557" y="0"/>
                </a:lnTo>
                <a:cubicBezTo>
                  <a:pt x="26569" y="0"/>
                  <a:pt x="26581" y="1"/>
                  <a:pt x="26593" y="3"/>
                </a:cubicBezTo>
                <a:cubicBezTo>
                  <a:pt x="26605" y="6"/>
                  <a:pt x="26617" y="9"/>
                  <a:pt x="26628" y="14"/>
                </a:cubicBezTo>
                <a:cubicBezTo>
                  <a:pt x="26639" y="19"/>
                  <a:pt x="26650" y="24"/>
                  <a:pt x="26660" y="31"/>
                </a:cubicBezTo>
                <a:cubicBezTo>
                  <a:pt x="26670" y="38"/>
                  <a:pt x="26680" y="46"/>
                  <a:pt x="26688" y="54"/>
                </a:cubicBezTo>
                <a:cubicBezTo>
                  <a:pt x="26697" y="63"/>
                  <a:pt x="26704" y="72"/>
                  <a:pt x="26711" y="82"/>
                </a:cubicBezTo>
                <a:cubicBezTo>
                  <a:pt x="26718" y="93"/>
                  <a:pt x="26724" y="103"/>
                  <a:pt x="26728" y="115"/>
                </a:cubicBezTo>
                <a:cubicBezTo>
                  <a:pt x="26733" y="126"/>
                  <a:pt x="26737" y="137"/>
                  <a:pt x="26739" y="149"/>
                </a:cubicBezTo>
                <a:cubicBezTo>
                  <a:pt x="26741" y="161"/>
                  <a:pt x="26743" y="173"/>
                  <a:pt x="26743" y="186"/>
                </a:cubicBezTo>
                <a:lnTo>
                  <a:pt x="26743" y="2415"/>
                </a:lnTo>
                <a:cubicBezTo>
                  <a:pt x="26743" y="2427"/>
                  <a:pt x="26741" y="2439"/>
                  <a:pt x="26739" y="2451"/>
                </a:cubicBezTo>
                <a:cubicBezTo>
                  <a:pt x="26737" y="2463"/>
                  <a:pt x="26733" y="2475"/>
                  <a:pt x="26728" y="2486"/>
                </a:cubicBezTo>
                <a:cubicBezTo>
                  <a:pt x="26724" y="2497"/>
                  <a:pt x="26718" y="2508"/>
                  <a:pt x="26711" y="2518"/>
                </a:cubicBezTo>
                <a:cubicBezTo>
                  <a:pt x="26704" y="2528"/>
                  <a:pt x="26697" y="2538"/>
                  <a:pt x="26688" y="2546"/>
                </a:cubicBezTo>
                <a:cubicBezTo>
                  <a:pt x="26680" y="2555"/>
                  <a:pt x="26670" y="2563"/>
                  <a:pt x="26660" y="2569"/>
                </a:cubicBezTo>
                <a:cubicBezTo>
                  <a:pt x="26650" y="2576"/>
                  <a:pt x="26639" y="2582"/>
                  <a:pt x="26628" y="2587"/>
                </a:cubicBezTo>
                <a:cubicBezTo>
                  <a:pt x="26617" y="2591"/>
                  <a:pt x="26605" y="2595"/>
                  <a:pt x="26593" y="2597"/>
                </a:cubicBezTo>
                <a:cubicBezTo>
                  <a:pt x="26581" y="2600"/>
                  <a:pt x="26569" y="2601"/>
                  <a:pt x="26557" y="2601"/>
                </a:cubicBezTo>
                <a:lnTo>
                  <a:pt x="186" y="2601"/>
                </a:lnTo>
                <a:cubicBezTo>
                  <a:pt x="174" y="2601"/>
                  <a:pt x="162" y="2600"/>
                  <a:pt x="150" y="2597"/>
                </a:cubicBezTo>
                <a:cubicBezTo>
                  <a:pt x="138" y="2595"/>
                  <a:pt x="126" y="2591"/>
                  <a:pt x="115" y="2587"/>
                </a:cubicBezTo>
                <a:cubicBezTo>
                  <a:pt x="104" y="2582"/>
                  <a:pt x="93" y="2576"/>
                  <a:pt x="83" y="2569"/>
                </a:cubicBezTo>
                <a:cubicBezTo>
                  <a:pt x="73" y="2563"/>
                  <a:pt x="63" y="2555"/>
                  <a:pt x="55" y="2546"/>
                </a:cubicBezTo>
                <a:cubicBezTo>
                  <a:pt x="46" y="2538"/>
                  <a:pt x="38" y="2528"/>
                  <a:pt x="31" y="2518"/>
                </a:cubicBezTo>
                <a:cubicBezTo>
                  <a:pt x="25" y="2508"/>
                  <a:pt x="19" y="2497"/>
                  <a:pt x="14" y="2486"/>
                </a:cubicBezTo>
                <a:cubicBezTo>
                  <a:pt x="10" y="2475"/>
                  <a:pt x="6" y="2463"/>
                  <a:pt x="4" y="2451"/>
                </a:cubicBezTo>
                <a:cubicBezTo>
                  <a:pt x="1" y="2439"/>
                  <a:pt x="0" y="2427"/>
                  <a:pt x="0" y="24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55" name="圖片 154"/>
          <p:cNvPicPr/>
          <p:nvPr/>
        </p:nvPicPr>
        <p:blipFill>
          <a:blip r:embed="rId3"/>
          <a:stretch>
            <a:fillRect/>
          </a:stretch>
        </p:blipFill>
        <p:spPr>
          <a:xfrm>
            <a:off x="668520" y="5047560"/>
            <a:ext cx="150120" cy="200160"/>
          </a:xfrm>
          <a:prstGeom prst="rect">
            <a:avLst/>
          </a:prstGeom>
          <a:noFill/>
          <a:ln w="0">
            <a:noFill/>
          </a:ln>
        </p:spPr>
      </p:pic>
      <p:sp>
        <p:nvSpPr>
          <p:cNvPr id="156" name="文字框 155"/>
          <p:cNvSpPr txBox="1"/>
          <p:nvPr/>
        </p:nvSpPr>
        <p:spPr>
          <a:xfrm>
            <a:off x="534960" y="312120"/>
            <a:ext cx="270288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抗金融危机资产概览</a:t>
            </a:r>
            <a:endParaRPr lang="en-US" sz="2370" b="0" u="none" strike="noStrike">
              <a:solidFill>
                <a:srgbClr val="000000"/>
              </a:solidFill>
              <a:effectLst/>
              <a:uFillTx/>
              <a:latin typeface="Times New Roman" panose="02020603050405020304"/>
            </a:endParaRPr>
          </a:p>
        </p:txBody>
      </p:sp>
      <p:sp>
        <p:nvSpPr>
          <p:cNvPr id="157" name="文字框 156"/>
          <p:cNvSpPr txBox="1"/>
          <p:nvPr/>
        </p:nvSpPr>
        <p:spPr>
          <a:xfrm>
            <a:off x="952560" y="5036400"/>
            <a:ext cx="60408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关键洞察</a:t>
            </a:r>
            <a:endParaRPr lang="en-US" sz="1180" b="0" u="none" strike="noStrike">
              <a:solidFill>
                <a:srgbClr val="000000"/>
              </a:solidFill>
              <a:effectLst/>
              <a:uFillTx/>
              <a:latin typeface="Times New Roman" panose="02020603050405020304"/>
            </a:endParaRPr>
          </a:p>
        </p:txBody>
      </p:sp>
      <p:sp>
        <p:nvSpPr>
          <p:cNvPr id="158" name="文字框 157"/>
          <p:cNvSpPr txBox="1"/>
          <p:nvPr/>
        </p:nvSpPr>
        <p:spPr>
          <a:xfrm>
            <a:off x="952560" y="5294880"/>
            <a:ext cx="8986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不同资产类别在金融危机中扮演不同角色，它们的表现取决于危机的性质、投资者情绪和市场流动性等多种因素。理解这些资产的特性有助于构建抗风险</a:t>
            </a:r>
            <a:endParaRPr lang="en-US" sz="1050" b="0" u="none" strike="noStrike">
              <a:solidFill>
                <a:srgbClr val="000000"/>
              </a:solidFill>
              <a:effectLst/>
              <a:uFillTx/>
              <a:latin typeface="Times New Roman" panose="02020603050405020304"/>
            </a:endParaRPr>
          </a:p>
        </p:txBody>
      </p:sp>
      <p:sp>
        <p:nvSpPr>
          <p:cNvPr id="159" name="文字框 158"/>
          <p:cNvSpPr txBox="1"/>
          <p:nvPr/>
        </p:nvSpPr>
        <p:spPr>
          <a:xfrm>
            <a:off x="952560" y="549540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的多元化投资组合。</a:t>
            </a:r>
            <a:endParaRPr lang="en-US" sz="1050" b="0" u="none" strike="noStrike">
              <a:solidFill>
                <a:srgbClr val="000000"/>
              </a:solidFill>
              <a:effectLst/>
              <a:uFillTx/>
              <a:latin typeface="Times New Roman" panose="02020603050405020304"/>
            </a:endParaRPr>
          </a:p>
        </p:txBody>
      </p:sp>
      <p:sp>
        <p:nvSpPr>
          <p:cNvPr id="160" name="文字框 159"/>
          <p:cNvSpPr txBox="1"/>
          <p:nvPr/>
        </p:nvSpPr>
        <p:spPr>
          <a:xfrm>
            <a:off x="534960" y="616320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161" name="任意多邊形 160"/>
          <p:cNvSpPr/>
          <p:nvPr/>
        </p:nvSpPr>
        <p:spPr>
          <a:xfrm>
            <a:off x="534600" y="902520"/>
            <a:ext cx="3008880" cy="3777480"/>
          </a:xfrm>
          <a:custGeom>
            <a:avLst/>
            <a:gdLst/>
            <a:ahLst/>
            <a:cxnLst/>
            <a:rect l="0" t="0" r="r" b="b"/>
            <a:pathLst>
              <a:path w="8358" h="10493">
                <a:moveTo>
                  <a:pt x="0" y="10307"/>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8172" y="0"/>
                </a:lnTo>
                <a:cubicBezTo>
                  <a:pt x="8184" y="0"/>
                  <a:pt x="8196" y="1"/>
                  <a:pt x="8208" y="3"/>
                </a:cubicBezTo>
                <a:cubicBezTo>
                  <a:pt x="8220" y="5"/>
                  <a:pt x="8232" y="9"/>
                  <a:pt x="8243" y="14"/>
                </a:cubicBezTo>
                <a:cubicBezTo>
                  <a:pt x="8254" y="18"/>
                  <a:pt x="8265" y="24"/>
                  <a:pt x="8275" y="31"/>
                </a:cubicBezTo>
                <a:cubicBezTo>
                  <a:pt x="8285" y="38"/>
                  <a:pt x="8295" y="45"/>
                  <a:pt x="8303" y="54"/>
                </a:cubicBezTo>
                <a:cubicBezTo>
                  <a:pt x="8312" y="63"/>
                  <a:pt x="8320" y="72"/>
                  <a:pt x="8327" y="82"/>
                </a:cubicBezTo>
                <a:cubicBezTo>
                  <a:pt x="8333" y="92"/>
                  <a:pt x="8339" y="103"/>
                  <a:pt x="8344" y="114"/>
                </a:cubicBezTo>
                <a:cubicBezTo>
                  <a:pt x="8348" y="125"/>
                  <a:pt x="8352" y="137"/>
                  <a:pt x="8354" y="149"/>
                </a:cubicBezTo>
                <a:cubicBezTo>
                  <a:pt x="8357" y="161"/>
                  <a:pt x="8358" y="173"/>
                  <a:pt x="8358" y="185"/>
                </a:cubicBezTo>
                <a:lnTo>
                  <a:pt x="8358" y="10307"/>
                </a:lnTo>
                <a:cubicBezTo>
                  <a:pt x="8358" y="10319"/>
                  <a:pt x="8357" y="10331"/>
                  <a:pt x="8354" y="10343"/>
                </a:cubicBezTo>
                <a:cubicBezTo>
                  <a:pt x="8352" y="10355"/>
                  <a:pt x="8348" y="10367"/>
                  <a:pt x="8344" y="10378"/>
                </a:cubicBezTo>
                <a:cubicBezTo>
                  <a:pt x="8339" y="10389"/>
                  <a:pt x="8333" y="10400"/>
                  <a:pt x="8327" y="10410"/>
                </a:cubicBezTo>
                <a:cubicBezTo>
                  <a:pt x="8320" y="10420"/>
                  <a:pt x="8312" y="10430"/>
                  <a:pt x="8303" y="10438"/>
                </a:cubicBezTo>
                <a:cubicBezTo>
                  <a:pt x="8295" y="10447"/>
                  <a:pt x="8285" y="10455"/>
                  <a:pt x="8275" y="10462"/>
                </a:cubicBezTo>
                <a:cubicBezTo>
                  <a:pt x="8265" y="10468"/>
                  <a:pt x="8254" y="10474"/>
                  <a:pt x="8243" y="10479"/>
                </a:cubicBezTo>
                <a:cubicBezTo>
                  <a:pt x="8232" y="10483"/>
                  <a:pt x="8220" y="10487"/>
                  <a:pt x="8208" y="10489"/>
                </a:cubicBezTo>
                <a:cubicBezTo>
                  <a:pt x="8196" y="10492"/>
                  <a:pt x="8184" y="10493"/>
                  <a:pt x="8172" y="10493"/>
                </a:cubicBezTo>
                <a:lnTo>
                  <a:pt x="186" y="10493"/>
                </a:lnTo>
                <a:cubicBezTo>
                  <a:pt x="174" y="10493"/>
                  <a:pt x="162" y="10492"/>
                  <a:pt x="150" y="10489"/>
                </a:cubicBezTo>
                <a:cubicBezTo>
                  <a:pt x="138" y="10487"/>
                  <a:pt x="126" y="10483"/>
                  <a:pt x="115" y="10479"/>
                </a:cubicBezTo>
                <a:cubicBezTo>
                  <a:pt x="104" y="10474"/>
                  <a:pt x="93" y="10468"/>
                  <a:pt x="83" y="10462"/>
                </a:cubicBezTo>
                <a:cubicBezTo>
                  <a:pt x="73" y="10455"/>
                  <a:pt x="63" y="10447"/>
                  <a:pt x="55" y="10438"/>
                </a:cubicBezTo>
                <a:cubicBezTo>
                  <a:pt x="46" y="10430"/>
                  <a:pt x="38" y="10420"/>
                  <a:pt x="31" y="10410"/>
                </a:cubicBezTo>
                <a:cubicBezTo>
                  <a:pt x="25" y="10400"/>
                  <a:pt x="19" y="10389"/>
                  <a:pt x="14" y="10378"/>
                </a:cubicBezTo>
                <a:cubicBezTo>
                  <a:pt x="10" y="10367"/>
                  <a:pt x="6" y="10355"/>
                  <a:pt x="4" y="10343"/>
                </a:cubicBezTo>
                <a:cubicBezTo>
                  <a:pt x="1" y="10331"/>
                  <a:pt x="0" y="10319"/>
                  <a:pt x="0" y="1030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62" name="任意多邊形 161"/>
          <p:cNvSpPr/>
          <p:nvPr/>
        </p:nvSpPr>
        <p:spPr>
          <a:xfrm>
            <a:off x="1704600" y="1103040"/>
            <a:ext cx="668880" cy="668880"/>
          </a:xfrm>
          <a:custGeom>
            <a:avLst/>
            <a:gdLst/>
            <a:ahLst/>
            <a:cxnLst/>
            <a:rect l="0" t="0" r="r" b="b"/>
            <a:pathLst>
              <a:path w="1858" h="1858">
                <a:moveTo>
                  <a:pt x="1858" y="928"/>
                </a:moveTo>
                <a:cubicBezTo>
                  <a:pt x="1858" y="959"/>
                  <a:pt x="1857" y="989"/>
                  <a:pt x="1854" y="1019"/>
                </a:cubicBezTo>
                <a:cubicBezTo>
                  <a:pt x="1851" y="1049"/>
                  <a:pt x="1846" y="1079"/>
                  <a:pt x="1840" y="1109"/>
                </a:cubicBezTo>
                <a:cubicBezTo>
                  <a:pt x="1834" y="1139"/>
                  <a:pt x="1827" y="1169"/>
                  <a:pt x="1818" y="1198"/>
                </a:cubicBezTo>
                <a:cubicBezTo>
                  <a:pt x="1809" y="1227"/>
                  <a:pt x="1799" y="1255"/>
                  <a:pt x="1787" y="1283"/>
                </a:cubicBezTo>
                <a:cubicBezTo>
                  <a:pt x="1776" y="1312"/>
                  <a:pt x="1762" y="1339"/>
                  <a:pt x="1747" y="1366"/>
                </a:cubicBezTo>
                <a:cubicBezTo>
                  <a:pt x="1733" y="1393"/>
                  <a:pt x="1717" y="1419"/>
                  <a:pt x="1701" y="1444"/>
                </a:cubicBezTo>
                <a:cubicBezTo>
                  <a:pt x="1684" y="1469"/>
                  <a:pt x="1666" y="1494"/>
                  <a:pt x="1646" y="1517"/>
                </a:cubicBezTo>
                <a:cubicBezTo>
                  <a:pt x="1627" y="1541"/>
                  <a:pt x="1607" y="1563"/>
                  <a:pt x="1585" y="1586"/>
                </a:cubicBezTo>
                <a:cubicBezTo>
                  <a:pt x="1564" y="1607"/>
                  <a:pt x="1541" y="1628"/>
                  <a:pt x="1518" y="1647"/>
                </a:cubicBezTo>
                <a:cubicBezTo>
                  <a:pt x="1494" y="1666"/>
                  <a:pt x="1470" y="1684"/>
                  <a:pt x="1444" y="1701"/>
                </a:cubicBezTo>
                <a:cubicBezTo>
                  <a:pt x="1419" y="1718"/>
                  <a:pt x="1393" y="1734"/>
                  <a:pt x="1366" y="1748"/>
                </a:cubicBezTo>
                <a:cubicBezTo>
                  <a:pt x="1339" y="1762"/>
                  <a:pt x="1312" y="1775"/>
                  <a:pt x="1284" y="1787"/>
                </a:cubicBezTo>
                <a:cubicBezTo>
                  <a:pt x="1256" y="1799"/>
                  <a:pt x="1227" y="1809"/>
                  <a:pt x="1198" y="1818"/>
                </a:cubicBezTo>
                <a:cubicBezTo>
                  <a:pt x="1169" y="1827"/>
                  <a:pt x="1139" y="1834"/>
                  <a:pt x="1110" y="1840"/>
                </a:cubicBezTo>
                <a:cubicBezTo>
                  <a:pt x="1080" y="1846"/>
                  <a:pt x="1050" y="1850"/>
                  <a:pt x="1019" y="1853"/>
                </a:cubicBezTo>
                <a:cubicBezTo>
                  <a:pt x="989" y="1856"/>
                  <a:pt x="959" y="1858"/>
                  <a:pt x="928" y="1858"/>
                </a:cubicBezTo>
                <a:cubicBezTo>
                  <a:pt x="898" y="1858"/>
                  <a:pt x="868" y="1856"/>
                  <a:pt x="837" y="1853"/>
                </a:cubicBezTo>
                <a:cubicBezTo>
                  <a:pt x="807" y="1850"/>
                  <a:pt x="777" y="1846"/>
                  <a:pt x="747" y="1840"/>
                </a:cubicBezTo>
                <a:cubicBezTo>
                  <a:pt x="718" y="1834"/>
                  <a:pt x="688" y="1827"/>
                  <a:pt x="659" y="1818"/>
                </a:cubicBezTo>
                <a:cubicBezTo>
                  <a:pt x="630" y="1809"/>
                  <a:pt x="601" y="1799"/>
                  <a:pt x="573" y="1787"/>
                </a:cubicBezTo>
                <a:cubicBezTo>
                  <a:pt x="545" y="1775"/>
                  <a:pt x="518" y="1762"/>
                  <a:pt x="491" y="1748"/>
                </a:cubicBezTo>
                <a:cubicBezTo>
                  <a:pt x="464" y="1734"/>
                  <a:pt x="438" y="1718"/>
                  <a:pt x="413" y="1701"/>
                </a:cubicBezTo>
                <a:cubicBezTo>
                  <a:pt x="387" y="1684"/>
                  <a:pt x="363" y="1666"/>
                  <a:pt x="339" y="1647"/>
                </a:cubicBezTo>
                <a:cubicBezTo>
                  <a:pt x="316" y="1628"/>
                  <a:pt x="293" y="1607"/>
                  <a:pt x="272" y="1586"/>
                </a:cubicBezTo>
                <a:cubicBezTo>
                  <a:pt x="250" y="1563"/>
                  <a:pt x="230" y="1541"/>
                  <a:pt x="211" y="1517"/>
                </a:cubicBezTo>
                <a:cubicBezTo>
                  <a:pt x="191" y="1494"/>
                  <a:pt x="173" y="1469"/>
                  <a:pt x="156" y="1444"/>
                </a:cubicBezTo>
                <a:cubicBezTo>
                  <a:pt x="140" y="1419"/>
                  <a:pt x="124" y="1393"/>
                  <a:pt x="110" y="1366"/>
                </a:cubicBezTo>
                <a:cubicBezTo>
                  <a:pt x="95" y="1339"/>
                  <a:pt x="82" y="1312"/>
                  <a:pt x="71" y="1283"/>
                </a:cubicBezTo>
                <a:cubicBezTo>
                  <a:pt x="59" y="1255"/>
                  <a:pt x="49" y="1227"/>
                  <a:pt x="40" y="1198"/>
                </a:cubicBezTo>
                <a:cubicBezTo>
                  <a:pt x="31" y="1169"/>
                  <a:pt x="24" y="1139"/>
                  <a:pt x="18" y="1109"/>
                </a:cubicBezTo>
                <a:cubicBezTo>
                  <a:pt x="12" y="1079"/>
                  <a:pt x="7" y="1049"/>
                  <a:pt x="4" y="1019"/>
                </a:cubicBezTo>
                <a:cubicBezTo>
                  <a:pt x="1" y="989"/>
                  <a:pt x="0" y="959"/>
                  <a:pt x="0" y="928"/>
                </a:cubicBezTo>
                <a:cubicBezTo>
                  <a:pt x="0" y="898"/>
                  <a:pt x="1" y="867"/>
                  <a:pt x="4" y="837"/>
                </a:cubicBezTo>
                <a:cubicBezTo>
                  <a:pt x="7" y="807"/>
                  <a:pt x="12" y="777"/>
                  <a:pt x="18" y="747"/>
                </a:cubicBezTo>
                <a:cubicBezTo>
                  <a:pt x="24" y="717"/>
                  <a:pt x="31" y="688"/>
                  <a:pt x="40" y="659"/>
                </a:cubicBezTo>
                <a:cubicBezTo>
                  <a:pt x="49" y="630"/>
                  <a:pt x="59" y="601"/>
                  <a:pt x="71" y="573"/>
                </a:cubicBezTo>
                <a:cubicBezTo>
                  <a:pt x="82" y="545"/>
                  <a:pt x="95" y="517"/>
                  <a:pt x="110" y="490"/>
                </a:cubicBezTo>
                <a:cubicBezTo>
                  <a:pt x="124" y="464"/>
                  <a:pt x="140" y="438"/>
                  <a:pt x="156" y="412"/>
                </a:cubicBezTo>
                <a:cubicBezTo>
                  <a:pt x="173" y="387"/>
                  <a:pt x="191" y="363"/>
                  <a:pt x="211" y="339"/>
                </a:cubicBezTo>
                <a:cubicBezTo>
                  <a:pt x="230" y="316"/>
                  <a:pt x="250" y="293"/>
                  <a:pt x="272" y="272"/>
                </a:cubicBezTo>
                <a:cubicBezTo>
                  <a:pt x="293" y="250"/>
                  <a:pt x="316" y="230"/>
                  <a:pt x="339" y="210"/>
                </a:cubicBezTo>
                <a:cubicBezTo>
                  <a:pt x="363" y="191"/>
                  <a:pt x="387" y="173"/>
                  <a:pt x="413" y="156"/>
                </a:cubicBezTo>
                <a:cubicBezTo>
                  <a:pt x="438" y="139"/>
                  <a:pt x="464" y="124"/>
                  <a:pt x="491" y="109"/>
                </a:cubicBezTo>
                <a:cubicBezTo>
                  <a:pt x="518" y="95"/>
                  <a:pt x="545" y="82"/>
                  <a:pt x="573" y="70"/>
                </a:cubicBezTo>
                <a:cubicBezTo>
                  <a:pt x="601" y="59"/>
                  <a:pt x="630" y="48"/>
                  <a:pt x="659" y="40"/>
                </a:cubicBezTo>
                <a:cubicBezTo>
                  <a:pt x="688" y="31"/>
                  <a:pt x="718" y="23"/>
                  <a:pt x="747" y="17"/>
                </a:cubicBezTo>
                <a:cubicBezTo>
                  <a:pt x="777" y="12"/>
                  <a:pt x="807" y="7"/>
                  <a:pt x="837" y="4"/>
                </a:cubicBezTo>
                <a:cubicBezTo>
                  <a:pt x="868" y="1"/>
                  <a:pt x="898" y="0"/>
                  <a:pt x="928" y="0"/>
                </a:cubicBezTo>
                <a:cubicBezTo>
                  <a:pt x="959" y="0"/>
                  <a:pt x="989" y="1"/>
                  <a:pt x="1019" y="4"/>
                </a:cubicBezTo>
                <a:cubicBezTo>
                  <a:pt x="1050" y="7"/>
                  <a:pt x="1080" y="12"/>
                  <a:pt x="1110" y="17"/>
                </a:cubicBezTo>
                <a:cubicBezTo>
                  <a:pt x="1139" y="23"/>
                  <a:pt x="1169" y="31"/>
                  <a:pt x="1198" y="40"/>
                </a:cubicBezTo>
                <a:cubicBezTo>
                  <a:pt x="1227" y="48"/>
                  <a:pt x="1256" y="59"/>
                  <a:pt x="1284" y="70"/>
                </a:cubicBezTo>
                <a:cubicBezTo>
                  <a:pt x="1312" y="82"/>
                  <a:pt x="1339" y="95"/>
                  <a:pt x="1366" y="109"/>
                </a:cubicBezTo>
                <a:cubicBezTo>
                  <a:pt x="1393" y="124"/>
                  <a:pt x="1419" y="139"/>
                  <a:pt x="1444" y="156"/>
                </a:cubicBezTo>
                <a:cubicBezTo>
                  <a:pt x="1470" y="173"/>
                  <a:pt x="1494" y="191"/>
                  <a:pt x="1518" y="210"/>
                </a:cubicBezTo>
                <a:cubicBezTo>
                  <a:pt x="1541" y="230"/>
                  <a:pt x="1564" y="250"/>
                  <a:pt x="1585" y="272"/>
                </a:cubicBezTo>
                <a:cubicBezTo>
                  <a:pt x="1607" y="293"/>
                  <a:pt x="1627" y="316"/>
                  <a:pt x="1646" y="339"/>
                </a:cubicBezTo>
                <a:cubicBezTo>
                  <a:pt x="1666" y="363"/>
                  <a:pt x="1684" y="387"/>
                  <a:pt x="1701" y="412"/>
                </a:cubicBezTo>
                <a:cubicBezTo>
                  <a:pt x="1717" y="438"/>
                  <a:pt x="1733" y="464"/>
                  <a:pt x="1747" y="490"/>
                </a:cubicBezTo>
                <a:cubicBezTo>
                  <a:pt x="1762" y="517"/>
                  <a:pt x="1776" y="545"/>
                  <a:pt x="1787" y="573"/>
                </a:cubicBezTo>
                <a:cubicBezTo>
                  <a:pt x="1799" y="601"/>
                  <a:pt x="1809" y="630"/>
                  <a:pt x="1818" y="659"/>
                </a:cubicBezTo>
                <a:cubicBezTo>
                  <a:pt x="1827" y="688"/>
                  <a:pt x="1834" y="717"/>
                  <a:pt x="1840" y="747"/>
                </a:cubicBezTo>
                <a:cubicBezTo>
                  <a:pt x="1846" y="777"/>
                  <a:pt x="1851" y="807"/>
                  <a:pt x="1854" y="837"/>
                </a:cubicBezTo>
                <a:cubicBezTo>
                  <a:pt x="1857" y="867"/>
                  <a:pt x="1858" y="898"/>
                  <a:pt x="1858" y="928"/>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63" name="圖片 162"/>
          <p:cNvPicPr/>
          <p:nvPr/>
        </p:nvPicPr>
        <p:blipFill>
          <a:blip r:embed="rId4"/>
          <a:stretch>
            <a:fillRect/>
          </a:stretch>
        </p:blipFill>
        <p:spPr>
          <a:xfrm>
            <a:off x="1888560" y="1287000"/>
            <a:ext cx="300600" cy="300600"/>
          </a:xfrm>
          <a:prstGeom prst="rect">
            <a:avLst/>
          </a:prstGeom>
          <a:noFill/>
          <a:ln w="0">
            <a:noFill/>
          </a:ln>
        </p:spPr>
      </p:pic>
      <p:sp>
        <p:nvSpPr>
          <p:cNvPr id="164" name="文字框 163"/>
          <p:cNvSpPr txBox="1"/>
          <p:nvPr/>
        </p:nvSpPr>
        <p:spPr>
          <a:xfrm>
            <a:off x="9824760" y="6167160"/>
            <a:ext cx="20701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4 / 24</a:t>
            </a:r>
            <a:endParaRPr lang="en-US" sz="920" b="0" u="none" strike="noStrike">
              <a:solidFill>
                <a:srgbClr val="000000"/>
              </a:solidFill>
              <a:effectLst/>
              <a:uFillTx/>
              <a:latin typeface="Times New Roman" panose="02020603050405020304"/>
            </a:endParaRPr>
          </a:p>
        </p:txBody>
      </p:sp>
      <p:sp>
        <p:nvSpPr>
          <p:cNvPr id="165" name="文字框 164"/>
          <p:cNvSpPr txBox="1"/>
          <p:nvPr/>
        </p:nvSpPr>
        <p:spPr>
          <a:xfrm>
            <a:off x="1437480" y="1912680"/>
            <a:ext cx="120780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传统避险资产</a:t>
            </a:r>
            <a:endParaRPr lang="en-US" sz="1580" b="0" u="none" strike="noStrike">
              <a:solidFill>
                <a:srgbClr val="000000"/>
              </a:solidFill>
              <a:effectLst/>
              <a:uFillTx/>
              <a:latin typeface="Times New Roman" panose="02020603050405020304"/>
            </a:endParaRPr>
          </a:p>
        </p:txBody>
      </p:sp>
      <p:sp>
        <p:nvSpPr>
          <p:cNvPr id="166" name="文字框 165"/>
          <p:cNvSpPr txBox="1"/>
          <p:nvPr/>
        </p:nvSpPr>
        <p:spPr>
          <a:xfrm>
            <a:off x="774000" y="228636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被视为金融危机中的</a:t>
            </a:r>
            <a:endParaRPr lang="en-US" sz="1050" b="0" u="none" strike="noStrike">
              <a:solidFill>
                <a:srgbClr val="000000"/>
              </a:solidFill>
              <a:effectLst/>
              <a:uFillTx/>
              <a:latin typeface="Times New Roman" panose="02020603050405020304"/>
            </a:endParaRPr>
          </a:p>
        </p:txBody>
      </p:sp>
      <p:sp>
        <p:nvSpPr>
          <p:cNvPr id="167" name="文字框 166"/>
          <p:cNvSpPr txBox="1"/>
          <p:nvPr/>
        </p:nvSpPr>
        <p:spPr>
          <a:xfrm>
            <a:off x="1977480" y="22910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68" name="文字框 167"/>
          <p:cNvSpPr txBox="1"/>
          <p:nvPr/>
        </p:nvSpPr>
        <p:spPr>
          <a:xfrm>
            <a:off x="2039040" y="228636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避风港</a:t>
            </a:r>
            <a:endParaRPr lang="en-US" sz="1050" b="0" u="none" strike="noStrike">
              <a:solidFill>
                <a:srgbClr val="000000"/>
              </a:solidFill>
              <a:effectLst/>
              <a:uFillTx/>
              <a:latin typeface="Times New Roman" panose="02020603050405020304"/>
            </a:endParaRPr>
          </a:p>
        </p:txBody>
      </p:sp>
      <p:sp>
        <p:nvSpPr>
          <p:cNvPr id="169" name="文字框 168"/>
          <p:cNvSpPr txBox="1"/>
          <p:nvPr/>
        </p:nvSpPr>
        <p:spPr>
          <a:xfrm>
            <a:off x="2440080" y="22910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70" name="文字框 169"/>
          <p:cNvSpPr txBox="1"/>
          <p:nvPr/>
        </p:nvSpPr>
        <p:spPr>
          <a:xfrm>
            <a:off x="2501640" y="228636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，在市场动荡</a:t>
            </a:r>
            <a:endParaRPr lang="en-US" sz="1050" b="0" u="none" strike="noStrike">
              <a:solidFill>
                <a:srgbClr val="000000"/>
              </a:solidFill>
              <a:effectLst/>
              <a:uFillTx/>
              <a:latin typeface="Times New Roman" panose="02020603050405020304"/>
            </a:endParaRPr>
          </a:p>
        </p:txBody>
      </p:sp>
      <p:pic>
        <p:nvPicPr>
          <p:cNvPr id="171" name="圖片 170"/>
          <p:cNvPicPr/>
          <p:nvPr/>
        </p:nvPicPr>
        <p:blipFill>
          <a:blip r:embed="rId5"/>
          <a:stretch>
            <a:fillRect/>
          </a:stretch>
        </p:blipFill>
        <p:spPr>
          <a:xfrm>
            <a:off x="735480" y="2999880"/>
            <a:ext cx="100080" cy="133200"/>
          </a:xfrm>
          <a:prstGeom prst="rect">
            <a:avLst/>
          </a:prstGeom>
          <a:noFill/>
          <a:ln w="0">
            <a:noFill/>
          </a:ln>
        </p:spPr>
      </p:pic>
      <p:sp>
        <p:nvSpPr>
          <p:cNvPr id="172" name="文字框 171"/>
          <p:cNvSpPr txBox="1"/>
          <p:nvPr/>
        </p:nvSpPr>
        <p:spPr>
          <a:xfrm>
            <a:off x="1437480" y="248688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时期表现稳定的资产</a:t>
            </a:r>
            <a:endParaRPr lang="en-US" sz="1050" b="0" u="none" strike="noStrike">
              <a:solidFill>
                <a:srgbClr val="000000"/>
              </a:solidFill>
              <a:effectLst/>
              <a:uFillTx/>
              <a:latin typeface="Times New Roman" panose="02020603050405020304"/>
            </a:endParaRPr>
          </a:p>
        </p:txBody>
      </p:sp>
      <p:sp>
        <p:nvSpPr>
          <p:cNvPr id="173" name="文字框 172"/>
          <p:cNvSpPr txBox="1"/>
          <p:nvPr/>
        </p:nvSpPr>
        <p:spPr>
          <a:xfrm>
            <a:off x="936000" y="288792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政府债券：被视为全球最安全的金融资产</a:t>
            </a:r>
            <a:endParaRPr lang="en-US" sz="1050" b="0" u="none" strike="noStrike">
              <a:solidFill>
                <a:srgbClr val="000000"/>
              </a:solidFill>
              <a:effectLst/>
              <a:uFillTx/>
              <a:latin typeface="Times New Roman" panose="02020603050405020304"/>
            </a:endParaRPr>
          </a:p>
        </p:txBody>
      </p:sp>
      <p:pic>
        <p:nvPicPr>
          <p:cNvPr id="174" name="圖片 173"/>
          <p:cNvPicPr/>
          <p:nvPr/>
        </p:nvPicPr>
        <p:blipFill>
          <a:blip r:embed="rId6"/>
          <a:stretch>
            <a:fillRect/>
          </a:stretch>
        </p:blipFill>
        <p:spPr>
          <a:xfrm>
            <a:off x="735480" y="3467880"/>
            <a:ext cx="133200" cy="133200"/>
          </a:xfrm>
          <a:prstGeom prst="rect">
            <a:avLst/>
          </a:prstGeom>
          <a:noFill/>
          <a:ln w="0">
            <a:noFill/>
          </a:ln>
        </p:spPr>
      </p:pic>
      <p:sp>
        <p:nvSpPr>
          <p:cNvPr id="175" name="文字框 174"/>
          <p:cNvSpPr txBox="1"/>
          <p:nvPr/>
        </p:nvSpPr>
        <p:spPr>
          <a:xfrm>
            <a:off x="936000" y="3088440"/>
            <a:ext cx="1609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之一，危机期间通常会升值</a:t>
            </a:r>
            <a:endParaRPr lang="en-US" sz="1050" b="0" u="none" strike="noStrike">
              <a:solidFill>
                <a:srgbClr val="000000"/>
              </a:solidFill>
              <a:effectLst/>
              <a:uFillTx/>
              <a:latin typeface="Times New Roman" panose="02020603050405020304"/>
            </a:endParaRPr>
          </a:p>
        </p:txBody>
      </p:sp>
      <p:sp>
        <p:nvSpPr>
          <p:cNvPr id="176" name="文字框 175"/>
          <p:cNvSpPr txBox="1"/>
          <p:nvPr/>
        </p:nvSpPr>
        <p:spPr>
          <a:xfrm>
            <a:off x="969480" y="335592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黄金：历史悠久的避险工具，用作对冲</a:t>
            </a:r>
            <a:endParaRPr lang="en-US" sz="1050" b="0" u="none" strike="noStrike">
              <a:solidFill>
                <a:srgbClr val="000000"/>
              </a:solidFill>
              <a:effectLst/>
              <a:uFillTx/>
              <a:latin typeface="Times New Roman" panose="02020603050405020304"/>
            </a:endParaRPr>
          </a:p>
        </p:txBody>
      </p:sp>
      <p:pic>
        <p:nvPicPr>
          <p:cNvPr id="177" name="圖片 176"/>
          <p:cNvPicPr/>
          <p:nvPr/>
        </p:nvPicPr>
        <p:blipFill>
          <a:blip r:embed="rId7"/>
          <a:stretch>
            <a:fillRect/>
          </a:stretch>
        </p:blipFill>
        <p:spPr>
          <a:xfrm>
            <a:off x="735480" y="3935880"/>
            <a:ext cx="133200" cy="133200"/>
          </a:xfrm>
          <a:prstGeom prst="rect">
            <a:avLst/>
          </a:prstGeom>
          <a:noFill/>
          <a:ln w="0">
            <a:noFill/>
          </a:ln>
        </p:spPr>
      </p:pic>
      <p:sp>
        <p:nvSpPr>
          <p:cNvPr id="178" name="文字框 177"/>
          <p:cNvSpPr txBox="1"/>
          <p:nvPr/>
        </p:nvSpPr>
        <p:spPr>
          <a:xfrm>
            <a:off x="969480" y="355644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系统性风险、通货膨胀和货币贬值</a:t>
            </a:r>
            <a:endParaRPr lang="en-US" sz="1050" b="0" u="none" strike="noStrike">
              <a:solidFill>
                <a:srgbClr val="000000"/>
              </a:solidFill>
              <a:effectLst/>
              <a:uFillTx/>
              <a:latin typeface="Times New Roman" panose="02020603050405020304"/>
            </a:endParaRPr>
          </a:p>
        </p:txBody>
      </p:sp>
      <p:sp>
        <p:nvSpPr>
          <p:cNvPr id="179" name="文字框 178"/>
          <p:cNvSpPr txBox="1"/>
          <p:nvPr/>
        </p:nvSpPr>
        <p:spPr>
          <a:xfrm>
            <a:off x="969480" y="382392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特点：低风险、高流动性，在危机中往</a:t>
            </a:r>
            <a:endParaRPr lang="en-US" sz="1050" b="0" u="none" strike="noStrike">
              <a:solidFill>
                <a:srgbClr val="000000"/>
              </a:solidFill>
              <a:effectLst/>
              <a:uFillTx/>
              <a:latin typeface="Times New Roman" panose="02020603050405020304"/>
            </a:endParaRPr>
          </a:p>
        </p:txBody>
      </p:sp>
      <p:sp>
        <p:nvSpPr>
          <p:cNvPr id="180" name="任意多邊形 179"/>
          <p:cNvSpPr/>
          <p:nvPr/>
        </p:nvSpPr>
        <p:spPr>
          <a:xfrm>
            <a:off x="3944160" y="902520"/>
            <a:ext cx="3008880" cy="3777480"/>
          </a:xfrm>
          <a:custGeom>
            <a:avLst/>
            <a:gdLst/>
            <a:ahLst/>
            <a:cxnLst/>
            <a:rect l="0" t="0" r="r" b="b"/>
            <a:pathLst>
              <a:path w="8358" h="10493">
                <a:moveTo>
                  <a:pt x="0" y="10307"/>
                </a:moveTo>
                <a:lnTo>
                  <a:pt x="0" y="185"/>
                </a:lnTo>
                <a:cubicBezTo>
                  <a:pt x="0" y="173"/>
                  <a:pt x="1" y="161"/>
                  <a:pt x="4" y="149"/>
                </a:cubicBezTo>
                <a:cubicBezTo>
                  <a:pt x="6" y="137"/>
                  <a:pt x="10" y="125"/>
                  <a:pt x="14" y="114"/>
                </a:cubicBezTo>
                <a:cubicBezTo>
                  <a:pt x="19" y="103"/>
                  <a:pt x="25" y="92"/>
                  <a:pt x="31" y="82"/>
                </a:cubicBezTo>
                <a:cubicBezTo>
                  <a:pt x="38" y="72"/>
                  <a:pt x="46" y="63"/>
                  <a:pt x="54" y="54"/>
                </a:cubicBezTo>
                <a:cubicBezTo>
                  <a:pt x="63" y="45"/>
                  <a:pt x="72" y="38"/>
                  <a:pt x="83" y="31"/>
                </a:cubicBezTo>
                <a:cubicBezTo>
                  <a:pt x="93" y="24"/>
                  <a:pt x="103" y="18"/>
                  <a:pt x="115" y="14"/>
                </a:cubicBezTo>
                <a:cubicBezTo>
                  <a:pt x="126" y="9"/>
                  <a:pt x="138" y="5"/>
                  <a:pt x="150" y="3"/>
                </a:cubicBezTo>
                <a:cubicBezTo>
                  <a:pt x="161" y="1"/>
                  <a:pt x="174" y="0"/>
                  <a:pt x="186" y="0"/>
                </a:cubicBezTo>
                <a:lnTo>
                  <a:pt x="8172" y="0"/>
                </a:lnTo>
                <a:cubicBezTo>
                  <a:pt x="8184" y="0"/>
                  <a:pt x="8196" y="1"/>
                  <a:pt x="8208" y="3"/>
                </a:cubicBezTo>
                <a:cubicBezTo>
                  <a:pt x="8220" y="5"/>
                  <a:pt x="8232" y="9"/>
                  <a:pt x="8243" y="14"/>
                </a:cubicBezTo>
                <a:cubicBezTo>
                  <a:pt x="8254" y="18"/>
                  <a:pt x="8265" y="24"/>
                  <a:pt x="8275" y="31"/>
                </a:cubicBezTo>
                <a:cubicBezTo>
                  <a:pt x="8285" y="38"/>
                  <a:pt x="8295" y="45"/>
                  <a:pt x="8303" y="54"/>
                </a:cubicBezTo>
                <a:cubicBezTo>
                  <a:pt x="8312" y="63"/>
                  <a:pt x="8320" y="72"/>
                  <a:pt x="8326" y="82"/>
                </a:cubicBezTo>
                <a:cubicBezTo>
                  <a:pt x="8333" y="92"/>
                  <a:pt x="8339" y="103"/>
                  <a:pt x="8344" y="114"/>
                </a:cubicBezTo>
                <a:cubicBezTo>
                  <a:pt x="8348" y="125"/>
                  <a:pt x="8352" y="137"/>
                  <a:pt x="8354" y="149"/>
                </a:cubicBezTo>
                <a:cubicBezTo>
                  <a:pt x="8357" y="161"/>
                  <a:pt x="8358" y="173"/>
                  <a:pt x="8358" y="185"/>
                </a:cubicBezTo>
                <a:lnTo>
                  <a:pt x="8358" y="10307"/>
                </a:lnTo>
                <a:cubicBezTo>
                  <a:pt x="8358" y="10319"/>
                  <a:pt x="8357" y="10331"/>
                  <a:pt x="8354" y="10343"/>
                </a:cubicBezTo>
                <a:cubicBezTo>
                  <a:pt x="8352" y="10355"/>
                  <a:pt x="8348" y="10367"/>
                  <a:pt x="8344" y="10378"/>
                </a:cubicBezTo>
                <a:cubicBezTo>
                  <a:pt x="8339" y="10389"/>
                  <a:pt x="8333" y="10400"/>
                  <a:pt x="8326" y="10410"/>
                </a:cubicBezTo>
                <a:cubicBezTo>
                  <a:pt x="8320" y="10420"/>
                  <a:pt x="8312" y="10430"/>
                  <a:pt x="8303" y="10438"/>
                </a:cubicBezTo>
                <a:cubicBezTo>
                  <a:pt x="8295" y="10447"/>
                  <a:pt x="8285" y="10455"/>
                  <a:pt x="8275" y="10462"/>
                </a:cubicBezTo>
                <a:cubicBezTo>
                  <a:pt x="8265" y="10468"/>
                  <a:pt x="8254" y="10474"/>
                  <a:pt x="8243" y="10479"/>
                </a:cubicBezTo>
                <a:cubicBezTo>
                  <a:pt x="8232" y="10483"/>
                  <a:pt x="8220" y="10487"/>
                  <a:pt x="8208" y="10489"/>
                </a:cubicBezTo>
                <a:cubicBezTo>
                  <a:pt x="8196" y="10492"/>
                  <a:pt x="8184" y="10493"/>
                  <a:pt x="8172" y="10493"/>
                </a:cubicBezTo>
                <a:lnTo>
                  <a:pt x="186" y="10493"/>
                </a:lnTo>
                <a:cubicBezTo>
                  <a:pt x="174" y="10493"/>
                  <a:pt x="161" y="10492"/>
                  <a:pt x="150" y="10489"/>
                </a:cubicBezTo>
                <a:cubicBezTo>
                  <a:pt x="138" y="10487"/>
                  <a:pt x="126" y="10483"/>
                  <a:pt x="115" y="10479"/>
                </a:cubicBezTo>
                <a:cubicBezTo>
                  <a:pt x="103" y="10474"/>
                  <a:pt x="93" y="10468"/>
                  <a:pt x="83" y="10462"/>
                </a:cubicBezTo>
                <a:cubicBezTo>
                  <a:pt x="72" y="10455"/>
                  <a:pt x="63" y="10447"/>
                  <a:pt x="54" y="10438"/>
                </a:cubicBezTo>
                <a:cubicBezTo>
                  <a:pt x="46" y="10430"/>
                  <a:pt x="38" y="10420"/>
                  <a:pt x="31" y="10410"/>
                </a:cubicBezTo>
                <a:cubicBezTo>
                  <a:pt x="25" y="10400"/>
                  <a:pt x="19" y="10389"/>
                  <a:pt x="14" y="10378"/>
                </a:cubicBezTo>
                <a:cubicBezTo>
                  <a:pt x="10" y="10367"/>
                  <a:pt x="6" y="10355"/>
                  <a:pt x="4" y="10343"/>
                </a:cubicBezTo>
                <a:cubicBezTo>
                  <a:pt x="1" y="10331"/>
                  <a:pt x="0" y="10319"/>
                  <a:pt x="0" y="1030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81" name="任意多邊形 180"/>
          <p:cNvSpPr/>
          <p:nvPr/>
        </p:nvSpPr>
        <p:spPr>
          <a:xfrm>
            <a:off x="5114160" y="1103040"/>
            <a:ext cx="668880" cy="668880"/>
          </a:xfrm>
          <a:custGeom>
            <a:avLst/>
            <a:gdLst/>
            <a:ahLst/>
            <a:cxnLst/>
            <a:rect l="0" t="0" r="r" b="b"/>
            <a:pathLst>
              <a:path w="1858" h="1858">
                <a:moveTo>
                  <a:pt x="1858" y="928"/>
                </a:moveTo>
                <a:cubicBezTo>
                  <a:pt x="1858" y="959"/>
                  <a:pt x="1856" y="989"/>
                  <a:pt x="1853" y="1019"/>
                </a:cubicBezTo>
                <a:cubicBezTo>
                  <a:pt x="1850" y="1049"/>
                  <a:pt x="1846" y="1079"/>
                  <a:pt x="1840" y="1109"/>
                </a:cubicBezTo>
                <a:cubicBezTo>
                  <a:pt x="1834" y="1139"/>
                  <a:pt x="1827" y="1169"/>
                  <a:pt x="1818" y="1198"/>
                </a:cubicBezTo>
                <a:cubicBezTo>
                  <a:pt x="1809" y="1227"/>
                  <a:pt x="1799" y="1255"/>
                  <a:pt x="1787" y="1283"/>
                </a:cubicBezTo>
                <a:cubicBezTo>
                  <a:pt x="1776" y="1312"/>
                  <a:pt x="1763" y="1339"/>
                  <a:pt x="1748" y="1366"/>
                </a:cubicBezTo>
                <a:cubicBezTo>
                  <a:pt x="1734" y="1393"/>
                  <a:pt x="1718" y="1419"/>
                  <a:pt x="1701" y="1444"/>
                </a:cubicBezTo>
                <a:cubicBezTo>
                  <a:pt x="1685" y="1469"/>
                  <a:pt x="1666" y="1494"/>
                  <a:pt x="1647" y="1517"/>
                </a:cubicBezTo>
                <a:cubicBezTo>
                  <a:pt x="1628" y="1541"/>
                  <a:pt x="1607" y="1563"/>
                  <a:pt x="1586" y="1586"/>
                </a:cubicBezTo>
                <a:cubicBezTo>
                  <a:pt x="1563" y="1607"/>
                  <a:pt x="1541" y="1628"/>
                  <a:pt x="1517" y="1647"/>
                </a:cubicBezTo>
                <a:cubicBezTo>
                  <a:pt x="1494" y="1666"/>
                  <a:pt x="1470" y="1684"/>
                  <a:pt x="1444" y="1701"/>
                </a:cubicBezTo>
                <a:cubicBezTo>
                  <a:pt x="1419" y="1718"/>
                  <a:pt x="1393" y="1734"/>
                  <a:pt x="1366" y="1748"/>
                </a:cubicBezTo>
                <a:cubicBezTo>
                  <a:pt x="1339" y="1762"/>
                  <a:pt x="1312" y="1775"/>
                  <a:pt x="1284" y="1787"/>
                </a:cubicBezTo>
                <a:cubicBezTo>
                  <a:pt x="1256" y="1799"/>
                  <a:pt x="1227" y="1809"/>
                  <a:pt x="1198" y="1818"/>
                </a:cubicBezTo>
                <a:cubicBezTo>
                  <a:pt x="1169" y="1827"/>
                  <a:pt x="1139" y="1834"/>
                  <a:pt x="1110" y="1840"/>
                </a:cubicBezTo>
                <a:cubicBezTo>
                  <a:pt x="1080" y="1846"/>
                  <a:pt x="1050" y="1850"/>
                  <a:pt x="1019" y="1853"/>
                </a:cubicBezTo>
                <a:cubicBezTo>
                  <a:pt x="989" y="1856"/>
                  <a:pt x="959" y="1858"/>
                  <a:pt x="928" y="1858"/>
                </a:cubicBezTo>
                <a:cubicBezTo>
                  <a:pt x="898" y="1858"/>
                  <a:pt x="868" y="1856"/>
                  <a:pt x="837" y="1853"/>
                </a:cubicBezTo>
                <a:cubicBezTo>
                  <a:pt x="807" y="1850"/>
                  <a:pt x="777" y="1846"/>
                  <a:pt x="747" y="1840"/>
                </a:cubicBezTo>
                <a:cubicBezTo>
                  <a:pt x="717" y="1834"/>
                  <a:pt x="688" y="1827"/>
                  <a:pt x="659" y="1818"/>
                </a:cubicBezTo>
                <a:cubicBezTo>
                  <a:pt x="630" y="1809"/>
                  <a:pt x="601" y="1799"/>
                  <a:pt x="573" y="1787"/>
                </a:cubicBezTo>
                <a:cubicBezTo>
                  <a:pt x="545" y="1775"/>
                  <a:pt x="518" y="1762"/>
                  <a:pt x="491" y="1748"/>
                </a:cubicBezTo>
                <a:cubicBezTo>
                  <a:pt x="464" y="1734"/>
                  <a:pt x="438" y="1718"/>
                  <a:pt x="413" y="1701"/>
                </a:cubicBezTo>
                <a:cubicBezTo>
                  <a:pt x="387" y="1684"/>
                  <a:pt x="363" y="1666"/>
                  <a:pt x="339" y="1647"/>
                </a:cubicBezTo>
                <a:cubicBezTo>
                  <a:pt x="316" y="1628"/>
                  <a:pt x="293" y="1607"/>
                  <a:pt x="272" y="1586"/>
                </a:cubicBezTo>
                <a:cubicBezTo>
                  <a:pt x="250" y="1563"/>
                  <a:pt x="230" y="1541"/>
                  <a:pt x="211" y="1517"/>
                </a:cubicBezTo>
                <a:cubicBezTo>
                  <a:pt x="191" y="1494"/>
                  <a:pt x="173" y="1469"/>
                  <a:pt x="156" y="1444"/>
                </a:cubicBezTo>
                <a:cubicBezTo>
                  <a:pt x="139" y="1419"/>
                  <a:pt x="124" y="1393"/>
                  <a:pt x="110" y="1366"/>
                </a:cubicBezTo>
                <a:cubicBezTo>
                  <a:pt x="95" y="1339"/>
                  <a:pt x="82" y="1312"/>
                  <a:pt x="71" y="1283"/>
                </a:cubicBezTo>
                <a:cubicBezTo>
                  <a:pt x="59" y="1255"/>
                  <a:pt x="49" y="1227"/>
                  <a:pt x="40" y="1198"/>
                </a:cubicBezTo>
                <a:cubicBezTo>
                  <a:pt x="31" y="1169"/>
                  <a:pt x="24" y="1139"/>
                  <a:pt x="18" y="1109"/>
                </a:cubicBezTo>
                <a:cubicBezTo>
                  <a:pt x="12" y="1079"/>
                  <a:pt x="7" y="1049"/>
                  <a:pt x="4" y="1019"/>
                </a:cubicBezTo>
                <a:cubicBezTo>
                  <a:pt x="1" y="989"/>
                  <a:pt x="0" y="959"/>
                  <a:pt x="0" y="928"/>
                </a:cubicBezTo>
                <a:cubicBezTo>
                  <a:pt x="0" y="898"/>
                  <a:pt x="1" y="867"/>
                  <a:pt x="4" y="837"/>
                </a:cubicBezTo>
                <a:cubicBezTo>
                  <a:pt x="7" y="807"/>
                  <a:pt x="12" y="777"/>
                  <a:pt x="18" y="747"/>
                </a:cubicBezTo>
                <a:cubicBezTo>
                  <a:pt x="24" y="717"/>
                  <a:pt x="31" y="688"/>
                  <a:pt x="40" y="659"/>
                </a:cubicBezTo>
                <a:cubicBezTo>
                  <a:pt x="49" y="630"/>
                  <a:pt x="59" y="601"/>
                  <a:pt x="71" y="573"/>
                </a:cubicBezTo>
                <a:cubicBezTo>
                  <a:pt x="82" y="545"/>
                  <a:pt x="95" y="517"/>
                  <a:pt x="110" y="490"/>
                </a:cubicBezTo>
                <a:cubicBezTo>
                  <a:pt x="124" y="464"/>
                  <a:pt x="139" y="438"/>
                  <a:pt x="156" y="412"/>
                </a:cubicBezTo>
                <a:cubicBezTo>
                  <a:pt x="173" y="387"/>
                  <a:pt x="191" y="363"/>
                  <a:pt x="211" y="339"/>
                </a:cubicBezTo>
                <a:cubicBezTo>
                  <a:pt x="230" y="316"/>
                  <a:pt x="250" y="293"/>
                  <a:pt x="272" y="272"/>
                </a:cubicBezTo>
                <a:cubicBezTo>
                  <a:pt x="293" y="250"/>
                  <a:pt x="316" y="230"/>
                  <a:pt x="339" y="210"/>
                </a:cubicBezTo>
                <a:cubicBezTo>
                  <a:pt x="363" y="191"/>
                  <a:pt x="387" y="173"/>
                  <a:pt x="413" y="156"/>
                </a:cubicBezTo>
                <a:cubicBezTo>
                  <a:pt x="438" y="139"/>
                  <a:pt x="464" y="124"/>
                  <a:pt x="491" y="109"/>
                </a:cubicBezTo>
                <a:cubicBezTo>
                  <a:pt x="518" y="95"/>
                  <a:pt x="545" y="82"/>
                  <a:pt x="573" y="70"/>
                </a:cubicBezTo>
                <a:cubicBezTo>
                  <a:pt x="601" y="59"/>
                  <a:pt x="630" y="48"/>
                  <a:pt x="659" y="40"/>
                </a:cubicBezTo>
                <a:cubicBezTo>
                  <a:pt x="688" y="31"/>
                  <a:pt x="717" y="23"/>
                  <a:pt x="747" y="17"/>
                </a:cubicBezTo>
                <a:cubicBezTo>
                  <a:pt x="777" y="12"/>
                  <a:pt x="807" y="7"/>
                  <a:pt x="837" y="4"/>
                </a:cubicBezTo>
                <a:cubicBezTo>
                  <a:pt x="868" y="1"/>
                  <a:pt x="898" y="0"/>
                  <a:pt x="928" y="0"/>
                </a:cubicBezTo>
                <a:cubicBezTo>
                  <a:pt x="959" y="0"/>
                  <a:pt x="989" y="1"/>
                  <a:pt x="1019" y="4"/>
                </a:cubicBezTo>
                <a:cubicBezTo>
                  <a:pt x="1050" y="7"/>
                  <a:pt x="1080" y="12"/>
                  <a:pt x="1110" y="17"/>
                </a:cubicBezTo>
                <a:cubicBezTo>
                  <a:pt x="1139" y="23"/>
                  <a:pt x="1169" y="31"/>
                  <a:pt x="1198" y="40"/>
                </a:cubicBezTo>
                <a:cubicBezTo>
                  <a:pt x="1227" y="48"/>
                  <a:pt x="1256" y="59"/>
                  <a:pt x="1284" y="70"/>
                </a:cubicBezTo>
                <a:cubicBezTo>
                  <a:pt x="1312" y="82"/>
                  <a:pt x="1339" y="95"/>
                  <a:pt x="1366" y="109"/>
                </a:cubicBezTo>
                <a:cubicBezTo>
                  <a:pt x="1393" y="124"/>
                  <a:pt x="1419" y="139"/>
                  <a:pt x="1444" y="156"/>
                </a:cubicBezTo>
                <a:cubicBezTo>
                  <a:pt x="1470" y="173"/>
                  <a:pt x="1494" y="191"/>
                  <a:pt x="1517" y="210"/>
                </a:cubicBezTo>
                <a:cubicBezTo>
                  <a:pt x="1541" y="230"/>
                  <a:pt x="1563" y="250"/>
                  <a:pt x="1586" y="272"/>
                </a:cubicBezTo>
                <a:cubicBezTo>
                  <a:pt x="1607" y="293"/>
                  <a:pt x="1628" y="316"/>
                  <a:pt x="1647" y="339"/>
                </a:cubicBezTo>
                <a:cubicBezTo>
                  <a:pt x="1666" y="363"/>
                  <a:pt x="1685" y="387"/>
                  <a:pt x="1701" y="412"/>
                </a:cubicBezTo>
                <a:cubicBezTo>
                  <a:pt x="1718" y="438"/>
                  <a:pt x="1734" y="464"/>
                  <a:pt x="1748" y="490"/>
                </a:cubicBezTo>
                <a:cubicBezTo>
                  <a:pt x="1763" y="517"/>
                  <a:pt x="1776" y="545"/>
                  <a:pt x="1787" y="573"/>
                </a:cubicBezTo>
                <a:cubicBezTo>
                  <a:pt x="1799" y="601"/>
                  <a:pt x="1809" y="630"/>
                  <a:pt x="1818" y="659"/>
                </a:cubicBezTo>
                <a:cubicBezTo>
                  <a:pt x="1827" y="688"/>
                  <a:pt x="1834" y="717"/>
                  <a:pt x="1840" y="747"/>
                </a:cubicBezTo>
                <a:cubicBezTo>
                  <a:pt x="1846" y="777"/>
                  <a:pt x="1850" y="807"/>
                  <a:pt x="1853" y="837"/>
                </a:cubicBezTo>
                <a:cubicBezTo>
                  <a:pt x="1856" y="867"/>
                  <a:pt x="1858" y="898"/>
                  <a:pt x="1858" y="928"/>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82" name="圖片 181"/>
          <p:cNvPicPr/>
          <p:nvPr/>
        </p:nvPicPr>
        <p:blipFill>
          <a:blip r:embed="rId8"/>
          <a:stretch>
            <a:fillRect/>
          </a:stretch>
        </p:blipFill>
        <p:spPr>
          <a:xfrm>
            <a:off x="5281560" y="1287000"/>
            <a:ext cx="342360" cy="300600"/>
          </a:xfrm>
          <a:prstGeom prst="rect">
            <a:avLst/>
          </a:prstGeom>
          <a:noFill/>
          <a:ln w="0">
            <a:noFill/>
          </a:ln>
        </p:spPr>
      </p:pic>
      <p:sp>
        <p:nvSpPr>
          <p:cNvPr id="183" name="文字框 182"/>
          <p:cNvSpPr txBox="1"/>
          <p:nvPr/>
        </p:nvSpPr>
        <p:spPr>
          <a:xfrm>
            <a:off x="969480" y="402444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往能实现正回报</a:t>
            </a:r>
            <a:endParaRPr lang="en-US" sz="1050" b="0" u="none" strike="noStrike">
              <a:solidFill>
                <a:srgbClr val="000000"/>
              </a:solidFill>
              <a:effectLst/>
              <a:uFillTx/>
              <a:latin typeface="Times New Roman" panose="02020603050405020304"/>
            </a:endParaRPr>
          </a:p>
        </p:txBody>
      </p:sp>
      <p:sp>
        <p:nvSpPr>
          <p:cNvPr id="184" name="文字框 183"/>
          <p:cNvSpPr txBox="1"/>
          <p:nvPr/>
        </p:nvSpPr>
        <p:spPr>
          <a:xfrm>
            <a:off x="5047560" y="1912680"/>
            <a:ext cx="80532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另类投资</a:t>
            </a:r>
            <a:endParaRPr lang="en-US" sz="1580" b="0" u="none" strike="noStrike">
              <a:solidFill>
                <a:srgbClr val="000000"/>
              </a:solidFill>
              <a:effectLst/>
              <a:uFillTx/>
              <a:latin typeface="Times New Roman" panose="02020603050405020304"/>
            </a:endParaRPr>
          </a:p>
        </p:txBody>
      </p:sp>
      <p:sp>
        <p:nvSpPr>
          <p:cNvPr id="185" name="文字框 184"/>
          <p:cNvSpPr txBox="1"/>
          <p:nvPr/>
        </p:nvSpPr>
        <p:spPr>
          <a:xfrm>
            <a:off x="4178520" y="22863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传统股票、债券和现金之外的投资类别，在</a:t>
            </a:r>
            <a:endParaRPr lang="en-US" sz="1050" b="0" u="none" strike="noStrike">
              <a:solidFill>
                <a:srgbClr val="000000"/>
              </a:solidFill>
              <a:effectLst/>
              <a:uFillTx/>
              <a:latin typeface="Times New Roman" panose="02020603050405020304"/>
            </a:endParaRPr>
          </a:p>
        </p:txBody>
      </p:sp>
      <p:pic>
        <p:nvPicPr>
          <p:cNvPr id="186" name="圖片 185"/>
          <p:cNvPicPr/>
          <p:nvPr/>
        </p:nvPicPr>
        <p:blipFill>
          <a:blip r:embed="rId9"/>
          <a:stretch>
            <a:fillRect/>
          </a:stretch>
        </p:blipFill>
        <p:spPr>
          <a:xfrm>
            <a:off x="4145040" y="2999880"/>
            <a:ext cx="100080" cy="133200"/>
          </a:xfrm>
          <a:prstGeom prst="rect">
            <a:avLst/>
          </a:prstGeom>
          <a:noFill/>
          <a:ln w="0">
            <a:noFill/>
          </a:ln>
        </p:spPr>
      </p:pic>
      <p:sp>
        <p:nvSpPr>
          <p:cNvPr id="187" name="文字框 186"/>
          <p:cNvSpPr txBox="1"/>
          <p:nvPr/>
        </p:nvSpPr>
        <p:spPr>
          <a:xfrm>
            <a:off x="4980600" y="248688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危机中表现各异</a:t>
            </a:r>
            <a:endParaRPr lang="en-US" sz="1050" b="0" u="none" strike="noStrike">
              <a:solidFill>
                <a:srgbClr val="000000"/>
              </a:solidFill>
              <a:effectLst/>
              <a:uFillTx/>
              <a:latin typeface="Times New Roman" panose="02020603050405020304"/>
            </a:endParaRPr>
          </a:p>
        </p:txBody>
      </p:sp>
      <p:sp>
        <p:nvSpPr>
          <p:cNvPr id="188" name="文字框 187"/>
          <p:cNvSpPr txBox="1"/>
          <p:nvPr/>
        </p:nvSpPr>
        <p:spPr>
          <a:xfrm>
            <a:off x="4345560" y="288792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私募股权：表现出较强韧性，回撤幅度通</a:t>
            </a:r>
            <a:endParaRPr lang="en-US" sz="1050" b="0" u="none" strike="noStrike">
              <a:solidFill>
                <a:srgbClr val="000000"/>
              </a:solidFill>
              <a:effectLst/>
              <a:uFillTx/>
              <a:latin typeface="Times New Roman" panose="02020603050405020304"/>
            </a:endParaRPr>
          </a:p>
        </p:txBody>
      </p:sp>
      <p:pic>
        <p:nvPicPr>
          <p:cNvPr id="189" name="圖片 188"/>
          <p:cNvPicPr/>
          <p:nvPr/>
        </p:nvPicPr>
        <p:blipFill>
          <a:blip r:embed="rId10"/>
          <a:stretch>
            <a:fillRect/>
          </a:stretch>
        </p:blipFill>
        <p:spPr>
          <a:xfrm>
            <a:off x="4145040" y="3467880"/>
            <a:ext cx="133200" cy="133200"/>
          </a:xfrm>
          <a:prstGeom prst="rect">
            <a:avLst/>
          </a:prstGeom>
          <a:noFill/>
          <a:ln w="0">
            <a:noFill/>
          </a:ln>
        </p:spPr>
      </p:pic>
      <p:sp>
        <p:nvSpPr>
          <p:cNvPr id="190" name="文字框 189"/>
          <p:cNvSpPr txBox="1"/>
          <p:nvPr/>
        </p:nvSpPr>
        <p:spPr>
          <a:xfrm>
            <a:off x="4345560" y="308844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常小于公开市场，且恢复更快</a:t>
            </a:r>
            <a:endParaRPr lang="en-US" sz="1050" b="0" u="none" strike="noStrike">
              <a:solidFill>
                <a:srgbClr val="000000"/>
              </a:solidFill>
              <a:effectLst/>
              <a:uFillTx/>
              <a:latin typeface="Times New Roman" panose="02020603050405020304"/>
            </a:endParaRPr>
          </a:p>
        </p:txBody>
      </p:sp>
      <p:sp>
        <p:nvSpPr>
          <p:cNvPr id="191" name="文字框 190"/>
          <p:cNvSpPr txBox="1"/>
          <p:nvPr/>
        </p:nvSpPr>
        <p:spPr>
          <a:xfrm>
            <a:off x="4379040" y="335592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对冲基金：表现差异巨大，部分策略可</a:t>
            </a:r>
            <a:endParaRPr lang="en-US" sz="1050" b="0" u="none" strike="noStrike">
              <a:solidFill>
                <a:srgbClr val="000000"/>
              </a:solidFill>
              <a:effectLst/>
              <a:uFillTx/>
              <a:latin typeface="Times New Roman" panose="02020603050405020304"/>
            </a:endParaRPr>
          </a:p>
        </p:txBody>
      </p:sp>
      <p:pic>
        <p:nvPicPr>
          <p:cNvPr id="192" name="圖片 191"/>
          <p:cNvPicPr/>
          <p:nvPr/>
        </p:nvPicPr>
        <p:blipFill>
          <a:blip r:embed="rId11"/>
          <a:stretch>
            <a:fillRect/>
          </a:stretch>
        </p:blipFill>
        <p:spPr>
          <a:xfrm>
            <a:off x="4145040" y="3935880"/>
            <a:ext cx="116640" cy="133200"/>
          </a:xfrm>
          <a:prstGeom prst="rect">
            <a:avLst/>
          </a:prstGeom>
          <a:noFill/>
          <a:ln w="0">
            <a:noFill/>
          </a:ln>
        </p:spPr>
      </p:pic>
      <p:sp>
        <p:nvSpPr>
          <p:cNvPr id="193" name="文字框 192"/>
          <p:cNvSpPr txBox="1"/>
          <p:nvPr/>
        </p:nvSpPr>
        <p:spPr>
          <a:xfrm>
            <a:off x="4379040" y="355644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能在市场动荡中获利</a:t>
            </a:r>
            <a:endParaRPr lang="en-US" sz="1050" b="0" u="none" strike="noStrike">
              <a:solidFill>
                <a:srgbClr val="000000"/>
              </a:solidFill>
              <a:effectLst/>
              <a:uFillTx/>
              <a:latin typeface="Times New Roman" panose="02020603050405020304"/>
            </a:endParaRPr>
          </a:p>
        </p:txBody>
      </p:sp>
      <p:sp>
        <p:nvSpPr>
          <p:cNvPr id="194" name="文字框 193"/>
          <p:cNvSpPr txBox="1"/>
          <p:nvPr/>
        </p:nvSpPr>
        <p:spPr>
          <a:xfrm>
            <a:off x="4362120" y="382392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特点：较高投资门槛、较低流动性，依</a:t>
            </a:r>
            <a:endParaRPr lang="en-US" sz="1050" b="0" u="none" strike="noStrike">
              <a:solidFill>
                <a:srgbClr val="000000"/>
              </a:solidFill>
              <a:effectLst/>
              <a:uFillTx/>
              <a:latin typeface="Times New Roman" panose="02020603050405020304"/>
            </a:endParaRPr>
          </a:p>
        </p:txBody>
      </p:sp>
      <p:sp>
        <p:nvSpPr>
          <p:cNvPr id="195" name="任意多邊形 194"/>
          <p:cNvSpPr/>
          <p:nvPr/>
        </p:nvSpPr>
        <p:spPr>
          <a:xfrm>
            <a:off x="7153200" y="902520"/>
            <a:ext cx="3008880" cy="3777480"/>
          </a:xfrm>
          <a:custGeom>
            <a:avLst/>
            <a:gdLst/>
            <a:ahLst/>
            <a:cxnLst/>
            <a:rect l="0" t="0" r="r" b="b"/>
            <a:pathLst>
              <a:path w="8358" h="10493">
                <a:moveTo>
                  <a:pt x="0" y="10307"/>
                </a:moveTo>
                <a:lnTo>
                  <a:pt x="0" y="185"/>
                </a:lnTo>
                <a:cubicBezTo>
                  <a:pt x="0" y="173"/>
                  <a:pt x="1" y="161"/>
                  <a:pt x="3" y="149"/>
                </a:cubicBezTo>
                <a:cubicBezTo>
                  <a:pt x="6" y="137"/>
                  <a:pt x="9" y="125"/>
                  <a:pt x="14" y="114"/>
                </a:cubicBezTo>
                <a:cubicBezTo>
                  <a:pt x="19" y="103"/>
                  <a:pt x="24" y="92"/>
                  <a:pt x="31" y="82"/>
                </a:cubicBezTo>
                <a:cubicBezTo>
                  <a:pt x="38" y="72"/>
                  <a:pt x="46" y="63"/>
                  <a:pt x="54" y="54"/>
                </a:cubicBezTo>
                <a:cubicBezTo>
                  <a:pt x="63" y="45"/>
                  <a:pt x="72" y="38"/>
                  <a:pt x="82" y="31"/>
                </a:cubicBezTo>
                <a:cubicBezTo>
                  <a:pt x="93" y="24"/>
                  <a:pt x="103" y="18"/>
                  <a:pt x="115" y="14"/>
                </a:cubicBezTo>
                <a:cubicBezTo>
                  <a:pt x="126" y="9"/>
                  <a:pt x="137" y="5"/>
                  <a:pt x="149" y="3"/>
                </a:cubicBezTo>
                <a:cubicBezTo>
                  <a:pt x="161" y="1"/>
                  <a:pt x="173" y="0"/>
                  <a:pt x="186" y="0"/>
                </a:cubicBezTo>
                <a:lnTo>
                  <a:pt x="8172" y="0"/>
                </a:lnTo>
                <a:cubicBezTo>
                  <a:pt x="8184" y="0"/>
                  <a:pt x="8196" y="1"/>
                  <a:pt x="8208" y="3"/>
                </a:cubicBezTo>
                <a:cubicBezTo>
                  <a:pt x="8220" y="5"/>
                  <a:pt x="8232" y="9"/>
                  <a:pt x="8243" y="14"/>
                </a:cubicBezTo>
                <a:cubicBezTo>
                  <a:pt x="8254" y="18"/>
                  <a:pt x="8265" y="24"/>
                  <a:pt x="8275" y="31"/>
                </a:cubicBezTo>
                <a:cubicBezTo>
                  <a:pt x="8285" y="38"/>
                  <a:pt x="8295" y="45"/>
                  <a:pt x="8303" y="54"/>
                </a:cubicBezTo>
                <a:cubicBezTo>
                  <a:pt x="8312" y="63"/>
                  <a:pt x="8319" y="72"/>
                  <a:pt x="8326" y="82"/>
                </a:cubicBezTo>
                <a:cubicBezTo>
                  <a:pt x="8333" y="92"/>
                  <a:pt x="8339" y="103"/>
                  <a:pt x="8343" y="114"/>
                </a:cubicBezTo>
                <a:cubicBezTo>
                  <a:pt x="8348" y="125"/>
                  <a:pt x="8352" y="137"/>
                  <a:pt x="8354" y="149"/>
                </a:cubicBezTo>
                <a:cubicBezTo>
                  <a:pt x="8356" y="161"/>
                  <a:pt x="8358" y="173"/>
                  <a:pt x="8358" y="185"/>
                </a:cubicBezTo>
                <a:lnTo>
                  <a:pt x="8358" y="10307"/>
                </a:lnTo>
                <a:cubicBezTo>
                  <a:pt x="8358" y="10319"/>
                  <a:pt x="8356" y="10331"/>
                  <a:pt x="8354" y="10343"/>
                </a:cubicBezTo>
                <a:cubicBezTo>
                  <a:pt x="8352" y="10355"/>
                  <a:pt x="8348" y="10367"/>
                  <a:pt x="8343" y="10378"/>
                </a:cubicBezTo>
                <a:cubicBezTo>
                  <a:pt x="8339" y="10389"/>
                  <a:pt x="8333" y="10400"/>
                  <a:pt x="8326" y="10410"/>
                </a:cubicBezTo>
                <a:cubicBezTo>
                  <a:pt x="8319" y="10420"/>
                  <a:pt x="8312" y="10430"/>
                  <a:pt x="8303" y="10438"/>
                </a:cubicBezTo>
                <a:cubicBezTo>
                  <a:pt x="8295" y="10447"/>
                  <a:pt x="8285" y="10455"/>
                  <a:pt x="8275" y="10462"/>
                </a:cubicBezTo>
                <a:cubicBezTo>
                  <a:pt x="8265" y="10468"/>
                  <a:pt x="8254" y="10474"/>
                  <a:pt x="8243" y="10479"/>
                </a:cubicBezTo>
                <a:cubicBezTo>
                  <a:pt x="8232" y="10483"/>
                  <a:pt x="8220" y="10487"/>
                  <a:pt x="8208" y="10489"/>
                </a:cubicBezTo>
                <a:cubicBezTo>
                  <a:pt x="8196" y="10492"/>
                  <a:pt x="8184" y="10493"/>
                  <a:pt x="8172" y="10493"/>
                </a:cubicBezTo>
                <a:lnTo>
                  <a:pt x="186" y="10493"/>
                </a:lnTo>
                <a:cubicBezTo>
                  <a:pt x="173" y="10493"/>
                  <a:pt x="161" y="10492"/>
                  <a:pt x="149" y="10489"/>
                </a:cubicBezTo>
                <a:cubicBezTo>
                  <a:pt x="137" y="10487"/>
                  <a:pt x="126" y="10483"/>
                  <a:pt x="115" y="10479"/>
                </a:cubicBezTo>
                <a:cubicBezTo>
                  <a:pt x="103" y="10474"/>
                  <a:pt x="93" y="10468"/>
                  <a:pt x="82" y="10462"/>
                </a:cubicBezTo>
                <a:cubicBezTo>
                  <a:pt x="72" y="10455"/>
                  <a:pt x="63" y="10447"/>
                  <a:pt x="54" y="10438"/>
                </a:cubicBezTo>
                <a:cubicBezTo>
                  <a:pt x="46" y="10430"/>
                  <a:pt x="38" y="10420"/>
                  <a:pt x="31" y="10410"/>
                </a:cubicBezTo>
                <a:cubicBezTo>
                  <a:pt x="24" y="10400"/>
                  <a:pt x="19" y="10389"/>
                  <a:pt x="14" y="10378"/>
                </a:cubicBezTo>
                <a:cubicBezTo>
                  <a:pt x="9" y="10367"/>
                  <a:pt x="6" y="10355"/>
                  <a:pt x="3" y="10343"/>
                </a:cubicBezTo>
                <a:cubicBezTo>
                  <a:pt x="1" y="10331"/>
                  <a:pt x="0" y="10319"/>
                  <a:pt x="0" y="1030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96" name="任意多邊形 195"/>
          <p:cNvSpPr/>
          <p:nvPr/>
        </p:nvSpPr>
        <p:spPr>
          <a:xfrm>
            <a:off x="8323200" y="1103040"/>
            <a:ext cx="668880" cy="668880"/>
          </a:xfrm>
          <a:custGeom>
            <a:avLst/>
            <a:gdLst/>
            <a:ahLst/>
            <a:cxnLst/>
            <a:rect l="0" t="0" r="r" b="b"/>
            <a:pathLst>
              <a:path w="1858" h="1858">
                <a:moveTo>
                  <a:pt x="1858" y="928"/>
                </a:moveTo>
                <a:cubicBezTo>
                  <a:pt x="1858" y="959"/>
                  <a:pt x="1856" y="989"/>
                  <a:pt x="1853" y="1019"/>
                </a:cubicBezTo>
                <a:cubicBezTo>
                  <a:pt x="1850" y="1049"/>
                  <a:pt x="1846" y="1079"/>
                  <a:pt x="1840" y="1109"/>
                </a:cubicBezTo>
                <a:cubicBezTo>
                  <a:pt x="1834" y="1139"/>
                  <a:pt x="1827" y="1169"/>
                  <a:pt x="1818" y="1198"/>
                </a:cubicBezTo>
                <a:cubicBezTo>
                  <a:pt x="1809" y="1227"/>
                  <a:pt x="1799" y="1255"/>
                  <a:pt x="1787" y="1283"/>
                </a:cubicBezTo>
                <a:cubicBezTo>
                  <a:pt x="1775" y="1312"/>
                  <a:pt x="1762" y="1339"/>
                  <a:pt x="1748" y="1366"/>
                </a:cubicBezTo>
                <a:cubicBezTo>
                  <a:pt x="1734" y="1393"/>
                  <a:pt x="1718" y="1419"/>
                  <a:pt x="1701" y="1444"/>
                </a:cubicBezTo>
                <a:cubicBezTo>
                  <a:pt x="1684" y="1469"/>
                  <a:pt x="1666" y="1494"/>
                  <a:pt x="1647" y="1517"/>
                </a:cubicBezTo>
                <a:cubicBezTo>
                  <a:pt x="1628" y="1541"/>
                  <a:pt x="1607" y="1563"/>
                  <a:pt x="1586" y="1586"/>
                </a:cubicBezTo>
                <a:cubicBezTo>
                  <a:pt x="1564" y="1607"/>
                  <a:pt x="1542" y="1628"/>
                  <a:pt x="1518" y="1647"/>
                </a:cubicBezTo>
                <a:cubicBezTo>
                  <a:pt x="1495" y="1666"/>
                  <a:pt x="1470" y="1684"/>
                  <a:pt x="1445" y="1701"/>
                </a:cubicBezTo>
                <a:cubicBezTo>
                  <a:pt x="1420" y="1718"/>
                  <a:pt x="1394" y="1734"/>
                  <a:pt x="1367" y="1748"/>
                </a:cubicBezTo>
                <a:cubicBezTo>
                  <a:pt x="1340" y="1762"/>
                  <a:pt x="1313" y="1775"/>
                  <a:pt x="1285" y="1787"/>
                </a:cubicBezTo>
                <a:cubicBezTo>
                  <a:pt x="1256" y="1799"/>
                  <a:pt x="1228" y="1809"/>
                  <a:pt x="1199" y="1818"/>
                </a:cubicBezTo>
                <a:cubicBezTo>
                  <a:pt x="1170" y="1827"/>
                  <a:pt x="1140" y="1834"/>
                  <a:pt x="1110" y="1840"/>
                </a:cubicBezTo>
                <a:cubicBezTo>
                  <a:pt x="1081" y="1846"/>
                  <a:pt x="1051" y="1850"/>
                  <a:pt x="1020" y="1853"/>
                </a:cubicBezTo>
                <a:cubicBezTo>
                  <a:pt x="990" y="1856"/>
                  <a:pt x="960" y="1858"/>
                  <a:pt x="929" y="1858"/>
                </a:cubicBezTo>
                <a:cubicBezTo>
                  <a:pt x="899" y="1858"/>
                  <a:pt x="868" y="1856"/>
                  <a:pt x="838" y="1853"/>
                </a:cubicBezTo>
                <a:cubicBezTo>
                  <a:pt x="808" y="1850"/>
                  <a:pt x="778" y="1846"/>
                  <a:pt x="748" y="1840"/>
                </a:cubicBezTo>
                <a:cubicBezTo>
                  <a:pt x="718" y="1834"/>
                  <a:pt x="689" y="1827"/>
                  <a:pt x="660" y="1818"/>
                </a:cubicBezTo>
                <a:cubicBezTo>
                  <a:pt x="631" y="1809"/>
                  <a:pt x="602" y="1799"/>
                  <a:pt x="574" y="1787"/>
                </a:cubicBezTo>
                <a:cubicBezTo>
                  <a:pt x="546" y="1775"/>
                  <a:pt x="518" y="1762"/>
                  <a:pt x="492" y="1748"/>
                </a:cubicBezTo>
                <a:cubicBezTo>
                  <a:pt x="465" y="1734"/>
                  <a:pt x="439" y="1718"/>
                  <a:pt x="413" y="1701"/>
                </a:cubicBezTo>
                <a:cubicBezTo>
                  <a:pt x="388" y="1684"/>
                  <a:pt x="364" y="1666"/>
                  <a:pt x="340" y="1647"/>
                </a:cubicBezTo>
                <a:cubicBezTo>
                  <a:pt x="317" y="1628"/>
                  <a:pt x="294" y="1607"/>
                  <a:pt x="273" y="1586"/>
                </a:cubicBezTo>
                <a:cubicBezTo>
                  <a:pt x="251" y="1563"/>
                  <a:pt x="231" y="1541"/>
                  <a:pt x="211" y="1517"/>
                </a:cubicBezTo>
                <a:cubicBezTo>
                  <a:pt x="192" y="1494"/>
                  <a:pt x="174" y="1469"/>
                  <a:pt x="157" y="1444"/>
                </a:cubicBezTo>
                <a:cubicBezTo>
                  <a:pt x="140" y="1419"/>
                  <a:pt x="125" y="1393"/>
                  <a:pt x="110" y="1366"/>
                </a:cubicBezTo>
                <a:cubicBezTo>
                  <a:pt x="96" y="1339"/>
                  <a:pt x="82" y="1312"/>
                  <a:pt x="70" y="1283"/>
                </a:cubicBezTo>
                <a:cubicBezTo>
                  <a:pt x="59" y="1255"/>
                  <a:pt x="49" y="1227"/>
                  <a:pt x="40" y="1198"/>
                </a:cubicBezTo>
                <a:cubicBezTo>
                  <a:pt x="31" y="1169"/>
                  <a:pt x="23" y="1139"/>
                  <a:pt x="18" y="1109"/>
                </a:cubicBezTo>
                <a:cubicBezTo>
                  <a:pt x="12" y="1079"/>
                  <a:pt x="7" y="1049"/>
                  <a:pt x="4" y="1019"/>
                </a:cubicBezTo>
                <a:cubicBezTo>
                  <a:pt x="1" y="989"/>
                  <a:pt x="0" y="959"/>
                  <a:pt x="0" y="928"/>
                </a:cubicBezTo>
                <a:cubicBezTo>
                  <a:pt x="0" y="898"/>
                  <a:pt x="1" y="867"/>
                  <a:pt x="4" y="837"/>
                </a:cubicBezTo>
                <a:cubicBezTo>
                  <a:pt x="7" y="807"/>
                  <a:pt x="12" y="777"/>
                  <a:pt x="18" y="747"/>
                </a:cubicBezTo>
                <a:cubicBezTo>
                  <a:pt x="23" y="717"/>
                  <a:pt x="31" y="688"/>
                  <a:pt x="40" y="659"/>
                </a:cubicBezTo>
                <a:cubicBezTo>
                  <a:pt x="49" y="630"/>
                  <a:pt x="59" y="601"/>
                  <a:pt x="70" y="573"/>
                </a:cubicBezTo>
                <a:cubicBezTo>
                  <a:pt x="82" y="545"/>
                  <a:pt x="96" y="517"/>
                  <a:pt x="110" y="490"/>
                </a:cubicBezTo>
                <a:cubicBezTo>
                  <a:pt x="125" y="464"/>
                  <a:pt x="140" y="438"/>
                  <a:pt x="157" y="412"/>
                </a:cubicBezTo>
                <a:cubicBezTo>
                  <a:pt x="174" y="387"/>
                  <a:pt x="192" y="363"/>
                  <a:pt x="211" y="339"/>
                </a:cubicBezTo>
                <a:cubicBezTo>
                  <a:pt x="231" y="316"/>
                  <a:pt x="251" y="293"/>
                  <a:pt x="273" y="272"/>
                </a:cubicBezTo>
                <a:cubicBezTo>
                  <a:pt x="294" y="250"/>
                  <a:pt x="317" y="230"/>
                  <a:pt x="340" y="210"/>
                </a:cubicBezTo>
                <a:cubicBezTo>
                  <a:pt x="364" y="191"/>
                  <a:pt x="388" y="173"/>
                  <a:pt x="413" y="156"/>
                </a:cubicBezTo>
                <a:cubicBezTo>
                  <a:pt x="439" y="139"/>
                  <a:pt x="465" y="124"/>
                  <a:pt x="492" y="109"/>
                </a:cubicBezTo>
                <a:cubicBezTo>
                  <a:pt x="518" y="95"/>
                  <a:pt x="546" y="82"/>
                  <a:pt x="574" y="70"/>
                </a:cubicBezTo>
                <a:cubicBezTo>
                  <a:pt x="602" y="59"/>
                  <a:pt x="631" y="48"/>
                  <a:pt x="660" y="40"/>
                </a:cubicBezTo>
                <a:cubicBezTo>
                  <a:pt x="689" y="31"/>
                  <a:pt x="718" y="23"/>
                  <a:pt x="748" y="17"/>
                </a:cubicBezTo>
                <a:cubicBezTo>
                  <a:pt x="778" y="12"/>
                  <a:pt x="808" y="7"/>
                  <a:pt x="838" y="4"/>
                </a:cubicBezTo>
                <a:cubicBezTo>
                  <a:pt x="868" y="1"/>
                  <a:pt x="899" y="0"/>
                  <a:pt x="929" y="0"/>
                </a:cubicBezTo>
                <a:cubicBezTo>
                  <a:pt x="960" y="0"/>
                  <a:pt x="990" y="1"/>
                  <a:pt x="1020" y="4"/>
                </a:cubicBezTo>
                <a:cubicBezTo>
                  <a:pt x="1051" y="7"/>
                  <a:pt x="1081" y="12"/>
                  <a:pt x="1110" y="17"/>
                </a:cubicBezTo>
                <a:cubicBezTo>
                  <a:pt x="1140" y="23"/>
                  <a:pt x="1170" y="31"/>
                  <a:pt x="1199" y="40"/>
                </a:cubicBezTo>
                <a:cubicBezTo>
                  <a:pt x="1228" y="48"/>
                  <a:pt x="1256" y="59"/>
                  <a:pt x="1285" y="70"/>
                </a:cubicBezTo>
                <a:cubicBezTo>
                  <a:pt x="1313" y="82"/>
                  <a:pt x="1340" y="95"/>
                  <a:pt x="1367" y="109"/>
                </a:cubicBezTo>
                <a:cubicBezTo>
                  <a:pt x="1394" y="124"/>
                  <a:pt x="1420" y="139"/>
                  <a:pt x="1445" y="156"/>
                </a:cubicBezTo>
                <a:cubicBezTo>
                  <a:pt x="1470" y="173"/>
                  <a:pt x="1495" y="191"/>
                  <a:pt x="1518" y="210"/>
                </a:cubicBezTo>
                <a:cubicBezTo>
                  <a:pt x="1542" y="230"/>
                  <a:pt x="1564" y="250"/>
                  <a:pt x="1586" y="272"/>
                </a:cubicBezTo>
                <a:cubicBezTo>
                  <a:pt x="1607" y="293"/>
                  <a:pt x="1628" y="316"/>
                  <a:pt x="1647" y="339"/>
                </a:cubicBezTo>
                <a:cubicBezTo>
                  <a:pt x="1666" y="363"/>
                  <a:pt x="1684" y="387"/>
                  <a:pt x="1701" y="412"/>
                </a:cubicBezTo>
                <a:cubicBezTo>
                  <a:pt x="1718" y="438"/>
                  <a:pt x="1734" y="464"/>
                  <a:pt x="1748" y="490"/>
                </a:cubicBezTo>
                <a:cubicBezTo>
                  <a:pt x="1762" y="517"/>
                  <a:pt x="1775" y="545"/>
                  <a:pt x="1787" y="573"/>
                </a:cubicBezTo>
                <a:cubicBezTo>
                  <a:pt x="1799" y="601"/>
                  <a:pt x="1809" y="630"/>
                  <a:pt x="1818" y="659"/>
                </a:cubicBezTo>
                <a:cubicBezTo>
                  <a:pt x="1827" y="688"/>
                  <a:pt x="1834" y="717"/>
                  <a:pt x="1840" y="747"/>
                </a:cubicBezTo>
                <a:cubicBezTo>
                  <a:pt x="1846" y="777"/>
                  <a:pt x="1850" y="807"/>
                  <a:pt x="1853" y="837"/>
                </a:cubicBezTo>
                <a:cubicBezTo>
                  <a:pt x="1856" y="867"/>
                  <a:pt x="1858" y="898"/>
                  <a:pt x="1858" y="928"/>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97" name="圖片 196"/>
          <p:cNvPicPr/>
          <p:nvPr/>
        </p:nvPicPr>
        <p:blipFill>
          <a:blip r:embed="rId12"/>
          <a:stretch>
            <a:fillRect/>
          </a:stretch>
        </p:blipFill>
        <p:spPr>
          <a:xfrm>
            <a:off x="8490240" y="1287000"/>
            <a:ext cx="342360" cy="300600"/>
          </a:xfrm>
          <a:prstGeom prst="rect">
            <a:avLst/>
          </a:prstGeom>
          <a:noFill/>
          <a:ln w="0">
            <a:noFill/>
          </a:ln>
        </p:spPr>
      </p:pic>
      <p:sp>
        <p:nvSpPr>
          <p:cNvPr id="198" name="文字框 197"/>
          <p:cNvSpPr txBox="1"/>
          <p:nvPr/>
        </p:nvSpPr>
        <p:spPr>
          <a:xfrm>
            <a:off x="4362120" y="402444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赖基金经理的专业能力</a:t>
            </a:r>
            <a:endParaRPr lang="en-US" sz="1050" b="0" u="none" strike="noStrike">
              <a:solidFill>
                <a:srgbClr val="000000"/>
              </a:solidFill>
              <a:effectLst/>
              <a:uFillTx/>
              <a:latin typeface="Times New Roman" panose="02020603050405020304"/>
            </a:endParaRPr>
          </a:p>
        </p:txBody>
      </p:sp>
      <p:sp>
        <p:nvSpPr>
          <p:cNvPr id="199" name="文字框 198"/>
          <p:cNvSpPr txBox="1"/>
          <p:nvPr/>
        </p:nvSpPr>
        <p:spPr>
          <a:xfrm>
            <a:off x="8156160" y="1912680"/>
            <a:ext cx="100656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防御性股票</a:t>
            </a:r>
            <a:endParaRPr lang="en-US" sz="1580" b="0" u="none" strike="noStrike">
              <a:solidFill>
                <a:srgbClr val="000000"/>
              </a:solidFill>
              <a:effectLst/>
              <a:uFillTx/>
              <a:latin typeface="Times New Roman" panose="02020603050405020304"/>
            </a:endParaRPr>
          </a:p>
        </p:txBody>
      </p:sp>
      <p:sp>
        <p:nvSpPr>
          <p:cNvPr id="200" name="文字框 199"/>
          <p:cNvSpPr txBox="1"/>
          <p:nvPr/>
        </p:nvSpPr>
        <p:spPr>
          <a:xfrm>
            <a:off x="7387200" y="22863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经济周期下行或金融危机期间，产品和服务</a:t>
            </a:r>
            <a:endParaRPr lang="en-US" sz="1050" b="0" u="none" strike="noStrike">
              <a:solidFill>
                <a:srgbClr val="000000"/>
              </a:solidFill>
              <a:effectLst/>
              <a:uFillTx/>
              <a:latin typeface="Times New Roman" panose="02020603050405020304"/>
            </a:endParaRPr>
          </a:p>
        </p:txBody>
      </p:sp>
      <p:pic>
        <p:nvPicPr>
          <p:cNvPr id="201" name="圖片 200"/>
          <p:cNvPicPr/>
          <p:nvPr/>
        </p:nvPicPr>
        <p:blipFill>
          <a:blip r:embed="rId13"/>
          <a:stretch>
            <a:fillRect/>
          </a:stretch>
        </p:blipFill>
        <p:spPr>
          <a:xfrm>
            <a:off x="7353720" y="3100320"/>
            <a:ext cx="116640" cy="133200"/>
          </a:xfrm>
          <a:prstGeom prst="rect">
            <a:avLst/>
          </a:prstGeom>
          <a:noFill/>
          <a:ln w="0">
            <a:noFill/>
          </a:ln>
        </p:spPr>
      </p:pic>
      <p:sp>
        <p:nvSpPr>
          <p:cNvPr id="202" name="文字框 201"/>
          <p:cNvSpPr txBox="1"/>
          <p:nvPr/>
        </p:nvSpPr>
        <p:spPr>
          <a:xfrm>
            <a:off x="7788600" y="248688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需求依然保持稳定的公司股票</a:t>
            </a:r>
            <a:endParaRPr lang="en-US" sz="1050" b="0" u="none" strike="noStrike">
              <a:solidFill>
                <a:srgbClr val="000000"/>
              </a:solidFill>
              <a:effectLst/>
              <a:uFillTx/>
              <a:latin typeface="Times New Roman" panose="02020603050405020304"/>
            </a:endParaRPr>
          </a:p>
        </p:txBody>
      </p:sp>
      <p:sp>
        <p:nvSpPr>
          <p:cNvPr id="203" name="文字框 202"/>
          <p:cNvSpPr txBox="1"/>
          <p:nvPr/>
        </p:nvSpPr>
        <p:spPr>
          <a:xfrm>
            <a:off x="7571160" y="288792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消费必需品：食品、饮料、家庭用品</a:t>
            </a:r>
            <a:endParaRPr lang="en-US" sz="1050" b="0" u="none" strike="noStrike">
              <a:solidFill>
                <a:srgbClr val="000000"/>
              </a:solidFill>
              <a:effectLst/>
              <a:uFillTx/>
              <a:latin typeface="Times New Roman" panose="02020603050405020304"/>
            </a:endParaRPr>
          </a:p>
        </p:txBody>
      </p:sp>
      <p:sp>
        <p:nvSpPr>
          <p:cNvPr id="204" name="文字框 203"/>
          <p:cNvSpPr txBox="1"/>
          <p:nvPr/>
        </p:nvSpPr>
        <p:spPr>
          <a:xfrm>
            <a:off x="7571160" y="308844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等，无论经济状况如何，基本需求不会</a:t>
            </a:r>
            <a:endParaRPr lang="en-US" sz="1050" b="0" u="none" strike="noStrike">
              <a:solidFill>
                <a:srgbClr val="000000"/>
              </a:solidFill>
              <a:effectLst/>
              <a:uFillTx/>
              <a:latin typeface="Times New Roman" panose="02020603050405020304"/>
            </a:endParaRPr>
          </a:p>
        </p:txBody>
      </p:sp>
      <p:pic>
        <p:nvPicPr>
          <p:cNvPr id="205" name="圖片 204"/>
          <p:cNvPicPr/>
          <p:nvPr/>
        </p:nvPicPr>
        <p:blipFill>
          <a:blip r:embed="rId14"/>
          <a:stretch>
            <a:fillRect/>
          </a:stretch>
        </p:blipFill>
        <p:spPr>
          <a:xfrm>
            <a:off x="7353720" y="3668760"/>
            <a:ext cx="150120" cy="133200"/>
          </a:xfrm>
          <a:prstGeom prst="rect">
            <a:avLst/>
          </a:prstGeom>
          <a:noFill/>
          <a:ln w="0">
            <a:noFill/>
          </a:ln>
        </p:spPr>
      </p:pic>
      <p:sp>
        <p:nvSpPr>
          <p:cNvPr id="206" name="文字框 205"/>
          <p:cNvSpPr txBox="1"/>
          <p:nvPr/>
        </p:nvSpPr>
        <p:spPr>
          <a:xfrm>
            <a:off x="7571160" y="32889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消失</a:t>
            </a:r>
            <a:endParaRPr lang="en-US" sz="1050" b="0" u="none" strike="noStrike">
              <a:solidFill>
                <a:srgbClr val="000000"/>
              </a:solidFill>
              <a:effectLst/>
              <a:uFillTx/>
              <a:latin typeface="Times New Roman" panose="02020603050405020304"/>
            </a:endParaRPr>
          </a:p>
        </p:txBody>
      </p:sp>
      <p:sp>
        <p:nvSpPr>
          <p:cNvPr id="207" name="文字框 206"/>
          <p:cNvSpPr txBox="1"/>
          <p:nvPr/>
        </p:nvSpPr>
        <p:spPr>
          <a:xfrm>
            <a:off x="7604640" y="355644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医疗保健：药品、医疗服务和设备的需</a:t>
            </a:r>
            <a:endParaRPr lang="en-US" sz="1050" b="0" u="none" strike="noStrike">
              <a:solidFill>
                <a:srgbClr val="000000"/>
              </a:solidFill>
              <a:effectLst/>
              <a:uFillTx/>
              <a:latin typeface="Times New Roman" panose="02020603050405020304"/>
            </a:endParaRPr>
          </a:p>
        </p:txBody>
      </p:sp>
      <p:pic>
        <p:nvPicPr>
          <p:cNvPr id="208" name="圖片 207"/>
          <p:cNvPicPr/>
          <p:nvPr/>
        </p:nvPicPr>
        <p:blipFill>
          <a:blip r:embed="rId15"/>
          <a:stretch>
            <a:fillRect/>
          </a:stretch>
        </p:blipFill>
        <p:spPr>
          <a:xfrm>
            <a:off x="7353720" y="4136400"/>
            <a:ext cx="100080" cy="133200"/>
          </a:xfrm>
          <a:prstGeom prst="rect">
            <a:avLst/>
          </a:prstGeom>
          <a:noFill/>
          <a:ln w="0">
            <a:noFill/>
          </a:ln>
        </p:spPr>
      </p:pic>
      <p:sp>
        <p:nvSpPr>
          <p:cNvPr id="209" name="文字框 208"/>
          <p:cNvSpPr txBox="1"/>
          <p:nvPr/>
        </p:nvSpPr>
        <p:spPr>
          <a:xfrm>
            <a:off x="7604640" y="375696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求通常不受经济衰退的严重影响</a:t>
            </a:r>
            <a:endParaRPr lang="en-US" sz="1050" b="0" u="none" strike="noStrike">
              <a:solidFill>
                <a:srgbClr val="000000"/>
              </a:solidFill>
              <a:effectLst/>
              <a:uFillTx/>
              <a:latin typeface="Times New Roman" panose="02020603050405020304"/>
            </a:endParaRPr>
          </a:p>
        </p:txBody>
      </p:sp>
      <p:sp>
        <p:nvSpPr>
          <p:cNvPr id="210" name="文字框 209"/>
          <p:cNvSpPr txBox="1"/>
          <p:nvPr/>
        </p:nvSpPr>
        <p:spPr>
          <a:xfrm>
            <a:off x="7554600" y="402444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公用事业：电力、天然气和水等是现代生</a:t>
            </a:r>
            <a:endParaRPr lang="en-US" sz="1050" b="0" u="none" strike="noStrike">
              <a:solidFill>
                <a:srgbClr val="000000"/>
              </a:solidFill>
              <a:effectLst/>
              <a:uFillTx/>
              <a:latin typeface="Times New Roman" panose="02020603050405020304"/>
            </a:endParaRPr>
          </a:p>
        </p:txBody>
      </p:sp>
      <p:sp>
        <p:nvSpPr>
          <p:cNvPr id="211" name="文字框 210"/>
          <p:cNvSpPr txBox="1"/>
          <p:nvPr/>
        </p:nvSpPr>
        <p:spPr>
          <a:xfrm>
            <a:off x="7554600" y="422496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活的基础，需求和收入来源相对稳定</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 name="圖片 211"/>
          <p:cNvPicPr/>
          <p:nvPr/>
        </p:nvPicPr>
        <p:blipFill>
          <a:blip r:embed="rId1"/>
          <a:stretch>
            <a:fillRect/>
          </a:stretch>
        </p:blipFill>
        <p:spPr>
          <a:xfrm>
            <a:off x="0" y="0"/>
            <a:ext cx="10696320" cy="6852240"/>
          </a:xfrm>
          <a:prstGeom prst="rect">
            <a:avLst/>
          </a:prstGeom>
          <a:noFill/>
          <a:ln w="0">
            <a:noFill/>
          </a:ln>
        </p:spPr>
      </p:pic>
      <p:pic>
        <p:nvPicPr>
          <p:cNvPr id="213" name="圖片 212"/>
          <p:cNvPicPr/>
          <p:nvPr/>
        </p:nvPicPr>
        <p:blipFill>
          <a:blip r:embed="rId2"/>
          <a:stretch>
            <a:fillRect/>
          </a:stretch>
        </p:blipFill>
        <p:spPr>
          <a:xfrm>
            <a:off x="534960" y="735480"/>
            <a:ext cx="3208680" cy="33120"/>
          </a:xfrm>
          <a:prstGeom prst="rect">
            <a:avLst/>
          </a:prstGeom>
          <a:noFill/>
          <a:ln w="0">
            <a:noFill/>
          </a:ln>
        </p:spPr>
      </p:pic>
      <p:sp>
        <p:nvSpPr>
          <p:cNvPr id="214" name="文字框 213"/>
          <p:cNvSpPr txBox="1"/>
          <p:nvPr/>
        </p:nvSpPr>
        <p:spPr>
          <a:xfrm>
            <a:off x="534960" y="312120"/>
            <a:ext cx="420408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传统避险资产：政府债券与黄金</a:t>
            </a:r>
            <a:endParaRPr lang="en-US" sz="2370" b="0" u="none" strike="noStrike">
              <a:solidFill>
                <a:srgbClr val="000000"/>
              </a:solidFill>
              <a:effectLst/>
              <a:uFillTx/>
              <a:latin typeface="Times New Roman" panose="02020603050405020304"/>
            </a:endParaRPr>
          </a:p>
        </p:txBody>
      </p:sp>
      <p:sp>
        <p:nvSpPr>
          <p:cNvPr id="215" name="文字框 214"/>
          <p:cNvSpPr txBox="1"/>
          <p:nvPr/>
        </p:nvSpPr>
        <p:spPr>
          <a:xfrm>
            <a:off x="534960" y="656424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216" name="任意多邊形 215"/>
          <p:cNvSpPr/>
          <p:nvPr/>
        </p:nvSpPr>
        <p:spPr>
          <a:xfrm>
            <a:off x="534600" y="919080"/>
            <a:ext cx="4613400" cy="5365440"/>
          </a:xfrm>
          <a:custGeom>
            <a:avLst/>
            <a:gdLst/>
            <a:ahLst/>
            <a:cxnLst/>
            <a:rect l="0" t="0" r="r" b="b"/>
            <a:pathLst>
              <a:path w="12815" h="14904">
                <a:moveTo>
                  <a:pt x="0" y="14718"/>
                </a:moveTo>
                <a:lnTo>
                  <a:pt x="0" y="139"/>
                </a:lnTo>
                <a:cubicBezTo>
                  <a:pt x="0" y="130"/>
                  <a:pt x="1" y="121"/>
                  <a:pt x="4" y="112"/>
                </a:cubicBezTo>
                <a:cubicBezTo>
                  <a:pt x="6" y="103"/>
                  <a:pt x="10" y="94"/>
                  <a:pt x="14" y="86"/>
                </a:cubicBezTo>
                <a:cubicBezTo>
                  <a:pt x="19" y="77"/>
                  <a:pt x="25" y="69"/>
                  <a:pt x="31" y="62"/>
                </a:cubicBezTo>
                <a:cubicBezTo>
                  <a:pt x="38" y="54"/>
                  <a:pt x="46" y="47"/>
                  <a:pt x="55" y="41"/>
                </a:cubicBezTo>
                <a:cubicBezTo>
                  <a:pt x="63" y="34"/>
                  <a:pt x="73" y="28"/>
                  <a:pt x="83" y="23"/>
                </a:cubicBezTo>
                <a:cubicBezTo>
                  <a:pt x="93" y="18"/>
                  <a:pt x="104" y="14"/>
                  <a:pt x="115" y="11"/>
                </a:cubicBezTo>
                <a:cubicBezTo>
                  <a:pt x="126" y="7"/>
                  <a:pt x="138" y="4"/>
                  <a:pt x="150" y="3"/>
                </a:cubicBezTo>
                <a:cubicBezTo>
                  <a:pt x="162" y="1"/>
                  <a:pt x="174" y="0"/>
                  <a:pt x="186" y="0"/>
                </a:cubicBezTo>
                <a:lnTo>
                  <a:pt x="12629" y="0"/>
                </a:lnTo>
                <a:cubicBezTo>
                  <a:pt x="12641" y="0"/>
                  <a:pt x="12653" y="1"/>
                  <a:pt x="12665" y="3"/>
                </a:cubicBezTo>
                <a:cubicBezTo>
                  <a:pt x="12677" y="4"/>
                  <a:pt x="12689" y="7"/>
                  <a:pt x="12700" y="11"/>
                </a:cubicBezTo>
                <a:cubicBezTo>
                  <a:pt x="12711" y="14"/>
                  <a:pt x="12722" y="18"/>
                  <a:pt x="12732" y="23"/>
                </a:cubicBezTo>
                <a:cubicBezTo>
                  <a:pt x="12742" y="28"/>
                  <a:pt x="12752" y="34"/>
                  <a:pt x="12760" y="41"/>
                </a:cubicBezTo>
                <a:cubicBezTo>
                  <a:pt x="12769" y="47"/>
                  <a:pt x="12777" y="54"/>
                  <a:pt x="12783" y="62"/>
                </a:cubicBezTo>
                <a:cubicBezTo>
                  <a:pt x="12790" y="69"/>
                  <a:pt x="12796" y="77"/>
                  <a:pt x="12801" y="86"/>
                </a:cubicBezTo>
                <a:cubicBezTo>
                  <a:pt x="12805" y="94"/>
                  <a:pt x="12809" y="103"/>
                  <a:pt x="12811" y="112"/>
                </a:cubicBezTo>
                <a:cubicBezTo>
                  <a:pt x="12814" y="121"/>
                  <a:pt x="12815" y="130"/>
                  <a:pt x="12815" y="139"/>
                </a:cubicBezTo>
                <a:lnTo>
                  <a:pt x="12815" y="14718"/>
                </a:lnTo>
                <a:cubicBezTo>
                  <a:pt x="12815" y="14730"/>
                  <a:pt x="12814" y="14742"/>
                  <a:pt x="12811" y="14754"/>
                </a:cubicBezTo>
                <a:cubicBezTo>
                  <a:pt x="12809" y="14766"/>
                  <a:pt x="12805" y="14778"/>
                  <a:pt x="12801" y="14789"/>
                </a:cubicBezTo>
                <a:cubicBezTo>
                  <a:pt x="12796" y="14800"/>
                  <a:pt x="12790" y="14811"/>
                  <a:pt x="12783" y="14821"/>
                </a:cubicBezTo>
                <a:cubicBezTo>
                  <a:pt x="12777" y="14831"/>
                  <a:pt x="12769" y="14841"/>
                  <a:pt x="12760" y="14849"/>
                </a:cubicBezTo>
                <a:cubicBezTo>
                  <a:pt x="12752" y="14858"/>
                  <a:pt x="12742" y="14866"/>
                  <a:pt x="12732" y="14872"/>
                </a:cubicBezTo>
                <a:cubicBezTo>
                  <a:pt x="12722" y="14879"/>
                  <a:pt x="12711" y="14885"/>
                  <a:pt x="12700" y="14890"/>
                </a:cubicBezTo>
                <a:cubicBezTo>
                  <a:pt x="12689" y="14894"/>
                  <a:pt x="12677" y="14898"/>
                  <a:pt x="12665" y="14900"/>
                </a:cubicBezTo>
                <a:cubicBezTo>
                  <a:pt x="12653" y="14903"/>
                  <a:pt x="12641" y="14904"/>
                  <a:pt x="12629" y="14904"/>
                </a:cubicBezTo>
                <a:lnTo>
                  <a:pt x="186" y="14904"/>
                </a:lnTo>
                <a:cubicBezTo>
                  <a:pt x="174" y="14904"/>
                  <a:pt x="162" y="14903"/>
                  <a:pt x="150" y="14900"/>
                </a:cubicBezTo>
                <a:cubicBezTo>
                  <a:pt x="138" y="14898"/>
                  <a:pt x="126" y="14894"/>
                  <a:pt x="115" y="14890"/>
                </a:cubicBezTo>
                <a:cubicBezTo>
                  <a:pt x="104" y="14885"/>
                  <a:pt x="93" y="14879"/>
                  <a:pt x="83" y="14872"/>
                </a:cubicBezTo>
                <a:cubicBezTo>
                  <a:pt x="73" y="14866"/>
                  <a:pt x="63" y="14858"/>
                  <a:pt x="55" y="14849"/>
                </a:cubicBezTo>
                <a:cubicBezTo>
                  <a:pt x="46" y="14841"/>
                  <a:pt x="38" y="14831"/>
                  <a:pt x="31" y="14821"/>
                </a:cubicBezTo>
                <a:cubicBezTo>
                  <a:pt x="25" y="14811"/>
                  <a:pt x="19" y="14800"/>
                  <a:pt x="14" y="14789"/>
                </a:cubicBezTo>
                <a:cubicBezTo>
                  <a:pt x="10" y="14778"/>
                  <a:pt x="6" y="14766"/>
                  <a:pt x="4" y="14754"/>
                </a:cubicBezTo>
                <a:cubicBezTo>
                  <a:pt x="1" y="14742"/>
                  <a:pt x="0" y="14730"/>
                  <a:pt x="0" y="1471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17" name="任意多邊形 216"/>
          <p:cNvSpPr/>
          <p:nvPr/>
        </p:nvSpPr>
        <p:spPr>
          <a:xfrm>
            <a:off x="534600" y="902520"/>
            <a:ext cx="4613400" cy="66960"/>
          </a:xfrm>
          <a:custGeom>
            <a:avLst/>
            <a:gdLst/>
            <a:ahLst/>
            <a:cxnLst/>
            <a:rect l="0" t="0" r="r" b="b"/>
            <a:pathLst>
              <a:path w="12815" h="186">
                <a:moveTo>
                  <a:pt x="12801" y="150"/>
                </a:moveTo>
                <a:cubicBezTo>
                  <a:pt x="12791" y="138"/>
                  <a:pt x="12778" y="128"/>
                  <a:pt x="12760" y="120"/>
                </a:cubicBezTo>
                <a:cubicBezTo>
                  <a:pt x="12743" y="111"/>
                  <a:pt x="12723" y="104"/>
                  <a:pt x="12700" y="99"/>
                </a:cubicBezTo>
                <a:cubicBezTo>
                  <a:pt x="12677" y="95"/>
                  <a:pt x="12654" y="92"/>
                  <a:pt x="12629" y="92"/>
                </a:cubicBezTo>
                <a:lnTo>
                  <a:pt x="186" y="92"/>
                </a:lnTo>
                <a:cubicBezTo>
                  <a:pt x="161" y="92"/>
                  <a:pt x="138" y="95"/>
                  <a:pt x="115" y="99"/>
                </a:cubicBezTo>
                <a:cubicBezTo>
                  <a:pt x="92" y="104"/>
                  <a:pt x="72" y="111"/>
                  <a:pt x="55" y="120"/>
                </a:cubicBezTo>
                <a:cubicBezTo>
                  <a:pt x="37" y="128"/>
                  <a:pt x="24" y="138"/>
                  <a:pt x="14" y="150"/>
                </a:cubicBezTo>
                <a:cubicBezTo>
                  <a:pt x="5" y="161"/>
                  <a:pt x="0" y="173"/>
                  <a:pt x="0" y="186"/>
                </a:cubicBezTo>
                <a:cubicBezTo>
                  <a:pt x="0" y="161"/>
                  <a:pt x="5" y="137"/>
                  <a:pt x="14" y="114"/>
                </a:cubicBezTo>
                <a:cubicBezTo>
                  <a:pt x="24" y="91"/>
                  <a:pt x="37" y="71"/>
                  <a:pt x="55" y="54"/>
                </a:cubicBezTo>
                <a:cubicBezTo>
                  <a:pt x="72" y="36"/>
                  <a:pt x="92" y="23"/>
                  <a:pt x="115" y="14"/>
                </a:cubicBezTo>
                <a:cubicBezTo>
                  <a:pt x="138" y="4"/>
                  <a:pt x="161" y="0"/>
                  <a:pt x="186" y="0"/>
                </a:cubicBezTo>
                <a:lnTo>
                  <a:pt x="12629" y="0"/>
                </a:lnTo>
                <a:cubicBezTo>
                  <a:pt x="12654" y="0"/>
                  <a:pt x="12677" y="4"/>
                  <a:pt x="12700" y="14"/>
                </a:cubicBezTo>
                <a:cubicBezTo>
                  <a:pt x="12723" y="23"/>
                  <a:pt x="12743" y="36"/>
                  <a:pt x="12760" y="54"/>
                </a:cubicBezTo>
                <a:cubicBezTo>
                  <a:pt x="12778" y="71"/>
                  <a:pt x="12791" y="91"/>
                  <a:pt x="12801" y="114"/>
                </a:cubicBezTo>
                <a:cubicBezTo>
                  <a:pt x="12810" y="137"/>
                  <a:pt x="12815" y="161"/>
                  <a:pt x="12815" y="186"/>
                </a:cubicBezTo>
                <a:cubicBezTo>
                  <a:pt x="12815" y="173"/>
                  <a:pt x="12810" y="161"/>
                  <a:pt x="12801" y="150"/>
                </a:cubicBezTo>
                <a:close/>
              </a:path>
            </a:pathLst>
          </a:custGeom>
          <a:solidFill>
            <a:srgbClr val="60A5FA"/>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18" name="任意多邊形 217"/>
          <p:cNvSpPr/>
          <p:nvPr/>
        </p:nvSpPr>
        <p:spPr>
          <a:xfrm>
            <a:off x="747720" y="3208680"/>
            <a:ext cx="4199760" cy="668880"/>
          </a:xfrm>
          <a:custGeom>
            <a:avLst/>
            <a:gdLst/>
            <a:ahLst/>
            <a:cxnLst/>
            <a:rect l="0" t="0" r="r" b="b"/>
            <a:pathLst>
              <a:path w="11666" h="1858">
                <a:moveTo>
                  <a:pt x="0" y="1719"/>
                </a:moveTo>
                <a:lnTo>
                  <a:pt x="0" y="140"/>
                </a:lnTo>
                <a:cubicBezTo>
                  <a:pt x="0" y="121"/>
                  <a:pt x="3" y="103"/>
                  <a:pt x="8" y="86"/>
                </a:cubicBezTo>
                <a:cubicBezTo>
                  <a:pt x="13" y="69"/>
                  <a:pt x="21" y="54"/>
                  <a:pt x="31" y="41"/>
                </a:cubicBezTo>
                <a:cubicBezTo>
                  <a:pt x="40" y="28"/>
                  <a:pt x="52" y="18"/>
                  <a:pt x="65" y="11"/>
                </a:cubicBezTo>
                <a:cubicBezTo>
                  <a:pt x="77" y="4"/>
                  <a:pt x="91" y="0"/>
                  <a:pt x="105" y="0"/>
                </a:cubicBezTo>
                <a:lnTo>
                  <a:pt x="11526" y="0"/>
                </a:lnTo>
                <a:cubicBezTo>
                  <a:pt x="11545" y="0"/>
                  <a:pt x="11563" y="4"/>
                  <a:pt x="11580" y="11"/>
                </a:cubicBezTo>
                <a:cubicBezTo>
                  <a:pt x="11597" y="18"/>
                  <a:pt x="11612" y="28"/>
                  <a:pt x="11625" y="41"/>
                </a:cubicBezTo>
                <a:cubicBezTo>
                  <a:pt x="11638" y="54"/>
                  <a:pt x="11648" y="69"/>
                  <a:pt x="11655" y="86"/>
                </a:cubicBezTo>
                <a:cubicBezTo>
                  <a:pt x="11662" y="103"/>
                  <a:pt x="11666" y="121"/>
                  <a:pt x="11666" y="140"/>
                </a:cubicBezTo>
                <a:lnTo>
                  <a:pt x="11666" y="1719"/>
                </a:lnTo>
                <a:cubicBezTo>
                  <a:pt x="11666" y="1738"/>
                  <a:pt x="11662" y="1755"/>
                  <a:pt x="11655" y="1772"/>
                </a:cubicBezTo>
                <a:cubicBezTo>
                  <a:pt x="11648" y="1789"/>
                  <a:pt x="11638" y="1805"/>
                  <a:pt x="11625" y="1818"/>
                </a:cubicBezTo>
                <a:cubicBezTo>
                  <a:pt x="11612" y="1831"/>
                  <a:pt x="11597" y="1841"/>
                  <a:pt x="11580" y="1848"/>
                </a:cubicBezTo>
                <a:cubicBezTo>
                  <a:pt x="11563" y="1855"/>
                  <a:pt x="11545" y="1858"/>
                  <a:pt x="11526" y="1858"/>
                </a:cubicBezTo>
                <a:lnTo>
                  <a:pt x="105" y="1858"/>
                </a:lnTo>
                <a:cubicBezTo>
                  <a:pt x="91" y="1858"/>
                  <a:pt x="77" y="1855"/>
                  <a:pt x="65" y="1848"/>
                </a:cubicBezTo>
                <a:cubicBezTo>
                  <a:pt x="52" y="1841"/>
                  <a:pt x="40" y="1831"/>
                  <a:pt x="31" y="1818"/>
                </a:cubicBezTo>
                <a:cubicBezTo>
                  <a:pt x="21" y="1805"/>
                  <a:pt x="13" y="1789"/>
                  <a:pt x="8" y="1772"/>
                </a:cubicBezTo>
                <a:cubicBezTo>
                  <a:pt x="3" y="1755"/>
                  <a:pt x="0" y="1738"/>
                  <a:pt x="0" y="1719"/>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19" name="任意多邊形 218"/>
          <p:cNvSpPr/>
          <p:nvPr/>
        </p:nvSpPr>
        <p:spPr>
          <a:xfrm>
            <a:off x="735120" y="3208680"/>
            <a:ext cx="50760" cy="668880"/>
          </a:xfrm>
          <a:custGeom>
            <a:avLst/>
            <a:gdLst/>
            <a:ahLst/>
            <a:cxnLst/>
            <a:rect l="0" t="0" r="r" b="b"/>
            <a:pathLst>
              <a:path w="141" h="1858">
                <a:moveTo>
                  <a:pt x="90" y="41"/>
                </a:moveTo>
                <a:cubicBezTo>
                  <a:pt x="77" y="68"/>
                  <a:pt x="70" y="101"/>
                  <a:pt x="70" y="140"/>
                </a:cubicBezTo>
                <a:lnTo>
                  <a:pt x="70" y="1719"/>
                </a:lnTo>
                <a:cubicBezTo>
                  <a:pt x="70" y="1758"/>
                  <a:pt x="77" y="1790"/>
                  <a:pt x="90" y="1818"/>
                </a:cubicBezTo>
                <a:cubicBezTo>
                  <a:pt x="104" y="1845"/>
                  <a:pt x="121" y="1858"/>
                  <a:pt x="141" y="1858"/>
                </a:cubicBezTo>
                <a:cubicBezTo>
                  <a:pt x="101" y="1858"/>
                  <a:pt x="68" y="1845"/>
                  <a:pt x="41" y="1818"/>
                </a:cubicBezTo>
                <a:cubicBezTo>
                  <a:pt x="14" y="1790"/>
                  <a:pt x="0" y="1758"/>
                  <a:pt x="0" y="1719"/>
                </a:cubicBezTo>
                <a:lnTo>
                  <a:pt x="0" y="140"/>
                </a:lnTo>
                <a:cubicBezTo>
                  <a:pt x="0" y="101"/>
                  <a:pt x="14" y="68"/>
                  <a:pt x="41" y="41"/>
                </a:cubicBezTo>
                <a:cubicBezTo>
                  <a:pt x="68" y="14"/>
                  <a:pt x="101" y="0"/>
                  <a:pt x="141" y="0"/>
                </a:cubicBezTo>
                <a:cubicBezTo>
                  <a:pt x="121" y="0"/>
                  <a:pt x="104" y="14"/>
                  <a:pt x="90" y="41"/>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220" name="圖片 219"/>
          <p:cNvPicPr/>
          <p:nvPr/>
        </p:nvPicPr>
        <p:blipFill>
          <a:blip r:embed="rId3"/>
          <a:stretch>
            <a:fillRect/>
          </a:stretch>
        </p:blipFill>
        <p:spPr>
          <a:xfrm>
            <a:off x="735480" y="1144800"/>
            <a:ext cx="250200" cy="250200"/>
          </a:xfrm>
          <a:prstGeom prst="rect">
            <a:avLst/>
          </a:prstGeom>
          <a:noFill/>
          <a:ln w="0">
            <a:noFill/>
          </a:ln>
        </p:spPr>
      </p:pic>
      <p:sp>
        <p:nvSpPr>
          <p:cNvPr id="221" name="文字框 220"/>
          <p:cNvSpPr txBox="1"/>
          <p:nvPr/>
        </p:nvSpPr>
        <p:spPr>
          <a:xfrm>
            <a:off x="9824760" y="6568560"/>
            <a:ext cx="20574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5 / 24</a:t>
            </a:r>
            <a:endParaRPr lang="en-US" sz="920" b="0" u="none" strike="noStrike">
              <a:solidFill>
                <a:srgbClr val="000000"/>
              </a:solidFill>
              <a:effectLst/>
              <a:uFillTx/>
              <a:latin typeface="Times New Roman" panose="02020603050405020304"/>
            </a:endParaRPr>
          </a:p>
        </p:txBody>
      </p:sp>
      <p:sp>
        <p:nvSpPr>
          <p:cNvPr id="222" name="文字框 221"/>
          <p:cNvSpPr txBox="1"/>
          <p:nvPr/>
        </p:nvSpPr>
        <p:spPr>
          <a:xfrm>
            <a:off x="1119960" y="1144080"/>
            <a:ext cx="805320" cy="253440"/>
          </a:xfrm>
          <a:prstGeom prst="rect">
            <a:avLst/>
          </a:prstGeom>
          <a:noFill/>
          <a:ln w="0">
            <a:noFill/>
          </a:ln>
        </p:spPr>
        <p:txBody>
          <a:bodyPr wrap="none" lIns="0" tIns="0" rIns="0" bIns="0" anchor="t">
            <a:spAutoFit/>
          </a:bodyPr>
          <a:p>
            <a:r>
              <a:rPr lang="zh-CN" sz="1580" b="0" u="none" strike="noStrike">
                <a:solidFill>
                  <a:srgbClr val="93C5FD"/>
                </a:solidFill>
                <a:effectLst/>
                <a:uFillTx/>
                <a:latin typeface="WenQuanYiZenHei"/>
                <a:ea typeface="WenQuanYiZenHei"/>
              </a:rPr>
              <a:t>政府债券</a:t>
            </a:r>
            <a:endParaRPr lang="en-US" sz="1580" b="0" u="none" strike="noStrike">
              <a:solidFill>
                <a:srgbClr val="000000"/>
              </a:solidFill>
              <a:effectLst/>
              <a:uFillTx/>
              <a:latin typeface="Times New Roman" panose="02020603050405020304"/>
            </a:endParaRPr>
          </a:p>
        </p:txBody>
      </p:sp>
      <p:pic>
        <p:nvPicPr>
          <p:cNvPr id="223" name="圖片 222"/>
          <p:cNvPicPr/>
          <p:nvPr/>
        </p:nvPicPr>
        <p:blipFill>
          <a:blip r:embed="rId4"/>
          <a:stretch>
            <a:fillRect/>
          </a:stretch>
        </p:blipFill>
        <p:spPr>
          <a:xfrm>
            <a:off x="735480" y="1896840"/>
            <a:ext cx="133200" cy="133200"/>
          </a:xfrm>
          <a:prstGeom prst="rect">
            <a:avLst/>
          </a:prstGeom>
          <a:noFill/>
          <a:ln w="0">
            <a:noFill/>
          </a:ln>
        </p:spPr>
      </p:pic>
      <p:sp>
        <p:nvSpPr>
          <p:cNvPr id="224" name="文字框 223"/>
          <p:cNvSpPr txBox="1"/>
          <p:nvPr/>
        </p:nvSpPr>
        <p:spPr>
          <a:xfrm>
            <a:off x="735480" y="155232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主要特点</a:t>
            </a:r>
            <a:endParaRPr lang="en-US" sz="1320" b="0" u="none" strike="noStrike">
              <a:solidFill>
                <a:srgbClr val="000000"/>
              </a:solidFill>
              <a:effectLst/>
              <a:uFillTx/>
              <a:latin typeface="Times New Roman" panose="02020603050405020304"/>
            </a:endParaRPr>
          </a:p>
        </p:txBody>
      </p:sp>
      <p:pic>
        <p:nvPicPr>
          <p:cNvPr id="225" name="圖片 224"/>
          <p:cNvPicPr/>
          <p:nvPr/>
        </p:nvPicPr>
        <p:blipFill>
          <a:blip r:embed="rId5"/>
          <a:stretch>
            <a:fillRect/>
          </a:stretch>
        </p:blipFill>
        <p:spPr>
          <a:xfrm>
            <a:off x="735480" y="2197800"/>
            <a:ext cx="133200" cy="133200"/>
          </a:xfrm>
          <a:prstGeom prst="rect">
            <a:avLst/>
          </a:prstGeom>
          <a:noFill/>
          <a:ln w="0">
            <a:noFill/>
          </a:ln>
        </p:spPr>
      </p:pic>
      <p:sp>
        <p:nvSpPr>
          <p:cNvPr id="226" name="文字框 225"/>
          <p:cNvSpPr txBox="1"/>
          <p:nvPr/>
        </p:nvSpPr>
        <p:spPr>
          <a:xfrm>
            <a:off x="969480" y="1885320"/>
            <a:ext cx="3085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被视为全球最安全的金融资产之一，尤其是美国国债</a:t>
            </a:r>
            <a:endParaRPr lang="en-US" sz="1050" b="0" u="none" strike="noStrike">
              <a:solidFill>
                <a:srgbClr val="000000"/>
              </a:solidFill>
              <a:effectLst/>
              <a:uFillTx/>
              <a:latin typeface="Times New Roman" panose="02020603050405020304"/>
            </a:endParaRPr>
          </a:p>
        </p:txBody>
      </p:sp>
      <p:pic>
        <p:nvPicPr>
          <p:cNvPr id="227" name="圖片 226"/>
          <p:cNvPicPr/>
          <p:nvPr/>
        </p:nvPicPr>
        <p:blipFill>
          <a:blip r:embed="rId6"/>
          <a:stretch>
            <a:fillRect/>
          </a:stretch>
        </p:blipFill>
        <p:spPr>
          <a:xfrm>
            <a:off x="735480" y="2498760"/>
            <a:ext cx="133200" cy="133200"/>
          </a:xfrm>
          <a:prstGeom prst="rect">
            <a:avLst/>
          </a:prstGeom>
          <a:noFill/>
          <a:ln w="0">
            <a:noFill/>
          </a:ln>
        </p:spPr>
      </p:pic>
      <p:sp>
        <p:nvSpPr>
          <p:cNvPr id="228" name="文字框 227"/>
          <p:cNvSpPr txBox="1"/>
          <p:nvPr/>
        </p:nvSpPr>
        <p:spPr>
          <a:xfrm>
            <a:off x="969480" y="2185920"/>
            <a:ext cx="32194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危机期间，央行通常降息刺激经济，推高现有债券价格</a:t>
            </a:r>
            <a:endParaRPr lang="en-US" sz="1050" b="0" u="none" strike="noStrike">
              <a:solidFill>
                <a:srgbClr val="000000"/>
              </a:solidFill>
              <a:effectLst/>
              <a:uFillTx/>
              <a:latin typeface="Times New Roman" panose="02020603050405020304"/>
            </a:endParaRPr>
          </a:p>
        </p:txBody>
      </p:sp>
      <p:sp>
        <p:nvSpPr>
          <p:cNvPr id="229" name="文字框 228"/>
          <p:cNvSpPr txBox="1"/>
          <p:nvPr/>
        </p:nvSpPr>
        <p:spPr>
          <a:xfrm>
            <a:off x="969480" y="2486880"/>
            <a:ext cx="3085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投资者避险情绪促使资金从高风险股市流向安全债市</a:t>
            </a:r>
            <a:endParaRPr lang="en-US" sz="1050" b="0" u="none" strike="noStrike">
              <a:solidFill>
                <a:srgbClr val="000000"/>
              </a:solidFill>
              <a:effectLst/>
              <a:uFillTx/>
              <a:latin typeface="Times New Roman" panose="02020603050405020304"/>
            </a:endParaRPr>
          </a:p>
        </p:txBody>
      </p:sp>
      <p:pic>
        <p:nvPicPr>
          <p:cNvPr id="230" name="圖片 229"/>
          <p:cNvPicPr/>
          <p:nvPr/>
        </p:nvPicPr>
        <p:blipFill>
          <a:blip r:embed="rId7"/>
          <a:stretch>
            <a:fillRect/>
          </a:stretch>
        </p:blipFill>
        <p:spPr>
          <a:xfrm>
            <a:off x="860760" y="3342600"/>
            <a:ext cx="133200" cy="133200"/>
          </a:xfrm>
          <a:prstGeom prst="rect">
            <a:avLst/>
          </a:prstGeom>
          <a:noFill/>
          <a:ln w="0">
            <a:noFill/>
          </a:ln>
        </p:spPr>
      </p:pic>
      <p:sp>
        <p:nvSpPr>
          <p:cNvPr id="231" name="文字框 230"/>
          <p:cNvSpPr txBox="1"/>
          <p:nvPr/>
        </p:nvSpPr>
        <p:spPr>
          <a:xfrm>
            <a:off x="735480" y="288936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历史表现</a:t>
            </a:r>
            <a:endParaRPr lang="en-US" sz="1320" b="0" u="none" strike="noStrike">
              <a:solidFill>
                <a:srgbClr val="000000"/>
              </a:solidFill>
              <a:effectLst/>
              <a:uFillTx/>
              <a:latin typeface="Times New Roman" panose="02020603050405020304"/>
            </a:endParaRPr>
          </a:p>
        </p:txBody>
      </p:sp>
      <p:sp>
        <p:nvSpPr>
          <p:cNvPr id="232" name="文字框 231"/>
          <p:cNvSpPr txBox="1"/>
          <p:nvPr/>
        </p:nvSpPr>
        <p:spPr>
          <a:xfrm>
            <a:off x="1061280" y="3327120"/>
            <a:ext cx="342000" cy="157320"/>
          </a:xfrm>
          <a:prstGeom prst="rect">
            <a:avLst/>
          </a:prstGeom>
          <a:noFill/>
          <a:ln w="0">
            <a:noFill/>
          </a:ln>
        </p:spPr>
        <p:txBody>
          <a:bodyPr wrap="none" lIns="0" tIns="0" rIns="0" bIns="0" anchor="t">
            <a:spAutoFit/>
          </a:bodyPr>
          <a:p>
            <a:r>
              <a:rPr lang="en-US" sz="1050" b="0" u="none" strike="noStrike">
                <a:solidFill>
                  <a:srgbClr val="FFFFFF"/>
                </a:solidFill>
                <a:effectLst/>
                <a:uFillTx/>
                <a:latin typeface="DejaVuSans"/>
                <a:ea typeface="DejaVuSans"/>
              </a:rPr>
              <a:t>2008</a:t>
            </a:r>
            <a:endParaRPr lang="en-US" sz="1050" b="0" u="none" strike="noStrike">
              <a:solidFill>
                <a:srgbClr val="000000"/>
              </a:solidFill>
              <a:effectLst/>
              <a:uFillTx/>
              <a:latin typeface="Times New Roman" panose="02020603050405020304"/>
            </a:endParaRPr>
          </a:p>
        </p:txBody>
      </p:sp>
      <p:sp>
        <p:nvSpPr>
          <p:cNvPr id="233" name="文字框 232"/>
          <p:cNvSpPr txBox="1"/>
          <p:nvPr/>
        </p:nvSpPr>
        <p:spPr>
          <a:xfrm>
            <a:off x="1401480" y="332244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年全球金融危机</a:t>
            </a:r>
            <a:endParaRPr lang="en-US" sz="1050" b="0" u="none" strike="noStrike">
              <a:solidFill>
                <a:srgbClr val="000000"/>
              </a:solidFill>
              <a:effectLst/>
              <a:uFillTx/>
              <a:latin typeface="Times New Roman" panose="02020603050405020304"/>
            </a:endParaRPr>
          </a:p>
        </p:txBody>
      </p:sp>
      <p:sp>
        <p:nvSpPr>
          <p:cNvPr id="234" name="文字框 233"/>
          <p:cNvSpPr txBox="1"/>
          <p:nvPr/>
        </p:nvSpPr>
        <p:spPr>
          <a:xfrm>
            <a:off x="860760" y="358992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美国股市暴跌</a:t>
            </a:r>
            <a:endParaRPr lang="en-US" sz="1050" b="0" u="none" strike="noStrike">
              <a:solidFill>
                <a:srgbClr val="000000"/>
              </a:solidFill>
              <a:effectLst/>
              <a:uFillTx/>
              <a:latin typeface="Times New Roman" panose="02020603050405020304"/>
            </a:endParaRPr>
          </a:p>
        </p:txBody>
      </p:sp>
      <p:sp>
        <p:nvSpPr>
          <p:cNvPr id="235" name="文字框 234"/>
          <p:cNvSpPr txBox="1"/>
          <p:nvPr/>
        </p:nvSpPr>
        <p:spPr>
          <a:xfrm>
            <a:off x="1662840" y="3594600"/>
            <a:ext cx="2988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37%</a:t>
            </a:r>
            <a:endParaRPr lang="en-US" sz="1050" b="0" u="none" strike="noStrike">
              <a:solidFill>
                <a:srgbClr val="000000"/>
              </a:solidFill>
              <a:effectLst/>
              <a:uFillTx/>
              <a:latin typeface="Times New Roman" panose="02020603050405020304"/>
            </a:endParaRPr>
          </a:p>
        </p:txBody>
      </p:sp>
      <p:sp>
        <p:nvSpPr>
          <p:cNvPr id="236" name="文字框 235"/>
          <p:cNvSpPr txBox="1"/>
          <p:nvPr/>
        </p:nvSpPr>
        <p:spPr>
          <a:xfrm>
            <a:off x="1960200" y="358992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时，美国国债实现了</a:t>
            </a:r>
            <a:endParaRPr lang="en-US" sz="1050" b="0" u="none" strike="noStrike">
              <a:solidFill>
                <a:srgbClr val="000000"/>
              </a:solidFill>
              <a:effectLst/>
              <a:uFillTx/>
              <a:latin typeface="Times New Roman" panose="02020603050405020304"/>
            </a:endParaRPr>
          </a:p>
        </p:txBody>
      </p:sp>
      <p:sp>
        <p:nvSpPr>
          <p:cNvPr id="237" name="文字框 236"/>
          <p:cNvSpPr txBox="1"/>
          <p:nvPr/>
        </p:nvSpPr>
        <p:spPr>
          <a:xfrm>
            <a:off x="3163680" y="3594600"/>
            <a:ext cx="372600" cy="157320"/>
          </a:xfrm>
          <a:prstGeom prst="rect">
            <a:avLst/>
          </a:prstGeom>
          <a:noFill/>
          <a:ln w="0">
            <a:noFill/>
          </a:ln>
        </p:spPr>
        <p:txBody>
          <a:bodyPr wrap="none" lIns="0" tIns="0" rIns="0" bIns="0" anchor="t">
            <a:spAutoFit/>
          </a:bodyPr>
          <a:p>
            <a:r>
              <a:rPr lang="en-US" sz="1050" b="1" u="none" strike="noStrike">
                <a:solidFill>
                  <a:srgbClr val="FCD34D"/>
                </a:solidFill>
                <a:effectLst/>
                <a:uFillTx/>
                <a:latin typeface="DejaVuSans"/>
                <a:ea typeface="DejaVuSans"/>
              </a:rPr>
              <a:t>5.2%</a:t>
            </a:r>
            <a:endParaRPr lang="en-US" sz="1050" b="0" u="none" strike="noStrike">
              <a:solidFill>
                <a:srgbClr val="000000"/>
              </a:solidFill>
              <a:effectLst/>
              <a:uFillTx/>
              <a:latin typeface="Times New Roman" panose="02020603050405020304"/>
            </a:endParaRPr>
          </a:p>
        </p:txBody>
      </p:sp>
      <p:sp>
        <p:nvSpPr>
          <p:cNvPr id="238" name="文字框 237"/>
          <p:cNvSpPr txBox="1"/>
          <p:nvPr/>
        </p:nvSpPr>
        <p:spPr>
          <a:xfrm>
            <a:off x="3534480" y="358992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的正回报</a:t>
            </a:r>
            <a:endParaRPr lang="en-US" sz="1050" b="0" u="none" strike="noStrike">
              <a:solidFill>
                <a:srgbClr val="000000"/>
              </a:solidFill>
              <a:effectLst/>
              <a:uFillTx/>
              <a:latin typeface="Times New Roman" panose="02020603050405020304"/>
            </a:endParaRPr>
          </a:p>
        </p:txBody>
      </p:sp>
      <p:sp>
        <p:nvSpPr>
          <p:cNvPr id="239" name="文字框 238"/>
          <p:cNvSpPr txBox="1"/>
          <p:nvPr/>
        </p:nvSpPr>
        <p:spPr>
          <a:xfrm>
            <a:off x="735480" y="402444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对过去八次美国经济衰退期的研究发现，在每一次衰退中，</a:t>
            </a:r>
            <a:r>
              <a:rPr lang="zh-CN" sz="1050" b="0" u="none" strike="noStrike">
                <a:solidFill>
                  <a:srgbClr val="93C5FD"/>
                </a:solidFill>
                <a:effectLst/>
                <a:uFillTx/>
                <a:latin typeface="WenQuanYiZenHei"/>
                <a:ea typeface="WenQuanYiZenHei"/>
              </a:rPr>
              <a:t>高品质债券</a:t>
            </a:r>
            <a:endParaRPr lang="en-US" sz="1050" b="0" u="none" strike="noStrike">
              <a:solidFill>
                <a:srgbClr val="000000"/>
              </a:solidFill>
              <a:effectLst/>
              <a:uFillTx/>
              <a:latin typeface="Times New Roman" panose="02020603050405020304"/>
            </a:endParaRPr>
          </a:p>
        </p:txBody>
      </p:sp>
      <p:pic>
        <p:nvPicPr>
          <p:cNvPr id="240" name="圖片 239"/>
          <p:cNvPicPr/>
          <p:nvPr/>
        </p:nvPicPr>
        <p:blipFill>
          <a:blip r:embed="rId8"/>
          <a:stretch>
            <a:fillRect/>
          </a:stretch>
        </p:blipFill>
        <p:spPr>
          <a:xfrm>
            <a:off x="735480" y="4613040"/>
            <a:ext cx="4211280" cy="1069200"/>
          </a:xfrm>
          <a:prstGeom prst="rect">
            <a:avLst/>
          </a:prstGeom>
          <a:noFill/>
          <a:ln w="0">
            <a:noFill/>
          </a:ln>
        </p:spPr>
      </p:pic>
      <p:sp>
        <p:nvSpPr>
          <p:cNvPr id="241" name="任意多邊形 240"/>
          <p:cNvSpPr/>
          <p:nvPr/>
        </p:nvSpPr>
        <p:spPr>
          <a:xfrm>
            <a:off x="5548680" y="919080"/>
            <a:ext cx="4613400" cy="5365440"/>
          </a:xfrm>
          <a:custGeom>
            <a:avLst/>
            <a:gdLst/>
            <a:ahLst/>
            <a:cxnLst/>
            <a:rect l="0" t="0" r="r" b="b"/>
            <a:pathLst>
              <a:path w="12815" h="14904">
                <a:moveTo>
                  <a:pt x="0" y="14718"/>
                </a:moveTo>
                <a:lnTo>
                  <a:pt x="0" y="139"/>
                </a:lnTo>
                <a:cubicBezTo>
                  <a:pt x="0" y="130"/>
                  <a:pt x="1" y="121"/>
                  <a:pt x="4" y="112"/>
                </a:cubicBezTo>
                <a:cubicBezTo>
                  <a:pt x="6" y="103"/>
                  <a:pt x="9" y="94"/>
                  <a:pt x="14" y="86"/>
                </a:cubicBezTo>
                <a:cubicBezTo>
                  <a:pt x="19" y="77"/>
                  <a:pt x="24" y="69"/>
                  <a:pt x="31" y="62"/>
                </a:cubicBezTo>
                <a:cubicBezTo>
                  <a:pt x="38" y="54"/>
                  <a:pt x="46" y="47"/>
                  <a:pt x="54" y="41"/>
                </a:cubicBezTo>
                <a:cubicBezTo>
                  <a:pt x="63" y="34"/>
                  <a:pt x="72" y="28"/>
                  <a:pt x="83" y="23"/>
                </a:cubicBezTo>
                <a:cubicBezTo>
                  <a:pt x="93" y="18"/>
                  <a:pt x="103" y="14"/>
                  <a:pt x="115" y="11"/>
                </a:cubicBezTo>
                <a:cubicBezTo>
                  <a:pt x="126" y="7"/>
                  <a:pt x="137" y="4"/>
                  <a:pt x="149" y="3"/>
                </a:cubicBezTo>
                <a:cubicBezTo>
                  <a:pt x="161" y="1"/>
                  <a:pt x="173" y="0"/>
                  <a:pt x="186" y="0"/>
                </a:cubicBezTo>
                <a:lnTo>
                  <a:pt x="12629" y="0"/>
                </a:lnTo>
                <a:cubicBezTo>
                  <a:pt x="12641" y="0"/>
                  <a:pt x="12653" y="1"/>
                  <a:pt x="12665" y="3"/>
                </a:cubicBezTo>
                <a:cubicBezTo>
                  <a:pt x="12677" y="4"/>
                  <a:pt x="12689" y="7"/>
                  <a:pt x="12700" y="11"/>
                </a:cubicBezTo>
                <a:cubicBezTo>
                  <a:pt x="12711" y="14"/>
                  <a:pt x="12722" y="18"/>
                  <a:pt x="12732" y="23"/>
                </a:cubicBezTo>
                <a:cubicBezTo>
                  <a:pt x="12742" y="28"/>
                  <a:pt x="12752" y="34"/>
                  <a:pt x="12760" y="41"/>
                </a:cubicBezTo>
                <a:cubicBezTo>
                  <a:pt x="12769" y="47"/>
                  <a:pt x="12776" y="54"/>
                  <a:pt x="12783" y="62"/>
                </a:cubicBezTo>
                <a:cubicBezTo>
                  <a:pt x="12790" y="69"/>
                  <a:pt x="12796" y="77"/>
                  <a:pt x="12800" y="86"/>
                </a:cubicBezTo>
                <a:cubicBezTo>
                  <a:pt x="12805" y="94"/>
                  <a:pt x="12809" y="103"/>
                  <a:pt x="12811" y="112"/>
                </a:cubicBezTo>
                <a:cubicBezTo>
                  <a:pt x="12813" y="121"/>
                  <a:pt x="12815" y="130"/>
                  <a:pt x="12815" y="139"/>
                </a:cubicBezTo>
                <a:lnTo>
                  <a:pt x="12815" y="14718"/>
                </a:lnTo>
                <a:cubicBezTo>
                  <a:pt x="12815" y="14730"/>
                  <a:pt x="12813" y="14742"/>
                  <a:pt x="12811" y="14754"/>
                </a:cubicBezTo>
                <a:cubicBezTo>
                  <a:pt x="12809" y="14766"/>
                  <a:pt x="12805" y="14778"/>
                  <a:pt x="12800" y="14789"/>
                </a:cubicBezTo>
                <a:cubicBezTo>
                  <a:pt x="12796" y="14800"/>
                  <a:pt x="12790" y="14811"/>
                  <a:pt x="12783" y="14821"/>
                </a:cubicBezTo>
                <a:cubicBezTo>
                  <a:pt x="12776" y="14831"/>
                  <a:pt x="12769" y="14841"/>
                  <a:pt x="12760" y="14849"/>
                </a:cubicBezTo>
                <a:cubicBezTo>
                  <a:pt x="12752" y="14858"/>
                  <a:pt x="12742" y="14866"/>
                  <a:pt x="12732" y="14872"/>
                </a:cubicBezTo>
                <a:cubicBezTo>
                  <a:pt x="12722" y="14879"/>
                  <a:pt x="12711" y="14885"/>
                  <a:pt x="12700" y="14890"/>
                </a:cubicBezTo>
                <a:cubicBezTo>
                  <a:pt x="12689" y="14894"/>
                  <a:pt x="12677" y="14898"/>
                  <a:pt x="12665" y="14900"/>
                </a:cubicBezTo>
                <a:cubicBezTo>
                  <a:pt x="12653" y="14903"/>
                  <a:pt x="12641" y="14904"/>
                  <a:pt x="12629" y="14904"/>
                </a:cubicBezTo>
                <a:lnTo>
                  <a:pt x="186" y="14904"/>
                </a:lnTo>
                <a:cubicBezTo>
                  <a:pt x="173" y="14904"/>
                  <a:pt x="161" y="14903"/>
                  <a:pt x="149" y="14900"/>
                </a:cubicBezTo>
                <a:cubicBezTo>
                  <a:pt x="137" y="14898"/>
                  <a:pt x="126" y="14894"/>
                  <a:pt x="115" y="14890"/>
                </a:cubicBezTo>
                <a:cubicBezTo>
                  <a:pt x="103" y="14885"/>
                  <a:pt x="93" y="14879"/>
                  <a:pt x="83" y="14872"/>
                </a:cubicBezTo>
                <a:cubicBezTo>
                  <a:pt x="72" y="14866"/>
                  <a:pt x="63" y="14858"/>
                  <a:pt x="54" y="14849"/>
                </a:cubicBezTo>
                <a:cubicBezTo>
                  <a:pt x="46" y="14841"/>
                  <a:pt x="38" y="14831"/>
                  <a:pt x="31" y="14821"/>
                </a:cubicBezTo>
                <a:cubicBezTo>
                  <a:pt x="24" y="14811"/>
                  <a:pt x="19" y="14800"/>
                  <a:pt x="14" y="14789"/>
                </a:cubicBezTo>
                <a:cubicBezTo>
                  <a:pt x="9" y="14778"/>
                  <a:pt x="6" y="14766"/>
                  <a:pt x="4" y="14754"/>
                </a:cubicBezTo>
                <a:cubicBezTo>
                  <a:pt x="1" y="14742"/>
                  <a:pt x="0" y="14730"/>
                  <a:pt x="0" y="1471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42" name="任意多邊形 241"/>
          <p:cNvSpPr/>
          <p:nvPr/>
        </p:nvSpPr>
        <p:spPr>
          <a:xfrm>
            <a:off x="5548680" y="902520"/>
            <a:ext cx="4613400" cy="66960"/>
          </a:xfrm>
          <a:custGeom>
            <a:avLst/>
            <a:gdLst/>
            <a:ahLst/>
            <a:cxnLst/>
            <a:rect l="0" t="0" r="r" b="b"/>
            <a:pathLst>
              <a:path w="12815" h="186">
                <a:moveTo>
                  <a:pt x="12800" y="150"/>
                </a:moveTo>
                <a:cubicBezTo>
                  <a:pt x="12791" y="138"/>
                  <a:pt x="12778" y="128"/>
                  <a:pt x="12760" y="120"/>
                </a:cubicBezTo>
                <a:cubicBezTo>
                  <a:pt x="12743" y="111"/>
                  <a:pt x="12723" y="104"/>
                  <a:pt x="12700" y="99"/>
                </a:cubicBezTo>
                <a:cubicBezTo>
                  <a:pt x="12677" y="95"/>
                  <a:pt x="12653" y="92"/>
                  <a:pt x="12629" y="92"/>
                </a:cubicBezTo>
                <a:lnTo>
                  <a:pt x="186" y="92"/>
                </a:lnTo>
                <a:cubicBezTo>
                  <a:pt x="161" y="92"/>
                  <a:pt x="137" y="95"/>
                  <a:pt x="115" y="99"/>
                </a:cubicBezTo>
                <a:cubicBezTo>
                  <a:pt x="92" y="104"/>
                  <a:pt x="72" y="111"/>
                  <a:pt x="54" y="120"/>
                </a:cubicBezTo>
                <a:cubicBezTo>
                  <a:pt x="37" y="128"/>
                  <a:pt x="24" y="138"/>
                  <a:pt x="14" y="150"/>
                </a:cubicBezTo>
                <a:cubicBezTo>
                  <a:pt x="5" y="161"/>
                  <a:pt x="0" y="173"/>
                  <a:pt x="0" y="186"/>
                </a:cubicBezTo>
                <a:cubicBezTo>
                  <a:pt x="0" y="161"/>
                  <a:pt x="5" y="137"/>
                  <a:pt x="14" y="114"/>
                </a:cubicBezTo>
                <a:cubicBezTo>
                  <a:pt x="24" y="91"/>
                  <a:pt x="37" y="71"/>
                  <a:pt x="54" y="54"/>
                </a:cubicBezTo>
                <a:cubicBezTo>
                  <a:pt x="72" y="36"/>
                  <a:pt x="92" y="23"/>
                  <a:pt x="115" y="14"/>
                </a:cubicBezTo>
                <a:cubicBezTo>
                  <a:pt x="137" y="4"/>
                  <a:pt x="161" y="0"/>
                  <a:pt x="186" y="0"/>
                </a:cubicBezTo>
                <a:lnTo>
                  <a:pt x="12629" y="0"/>
                </a:lnTo>
                <a:cubicBezTo>
                  <a:pt x="12653" y="0"/>
                  <a:pt x="12677" y="4"/>
                  <a:pt x="12700" y="14"/>
                </a:cubicBezTo>
                <a:cubicBezTo>
                  <a:pt x="12723" y="23"/>
                  <a:pt x="12743" y="36"/>
                  <a:pt x="12760" y="54"/>
                </a:cubicBezTo>
                <a:cubicBezTo>
                  <a:pt x="12778" y="71"/>
                  <a:pt x="12791" y="91"/>
                  <a:pt x="12800" y="114"/>
                </a:cubicBezTo>
                <a:cubicBezTo>
                  <a:pt x="12810" y="137"/>
                  <a:pt x="12815" y="161"/>
                  <a:pt x="12815" y="186"/>
                </a:cubicBezTo>
                <a:cubicBezTo>
                  <a:pt x="12815" y="173"/>
                  <a:pt x="12810" y="161"/>
                  <a:pt x="12800" y="150"/>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43" name="任意多邊形 242"/>
          <p:cNvSpPr/>
          <p:nvPr/>
        </p:nvSpPr>
        <p:spPr>
          <a:xfrm>
            <a:off x="5761800" y="3409200"/>
            <a:ext cx="4199400" cy="869760"/>
          </a:xfrm>
          <a:custGeom>
            <a:avLst/>
            <a:gdLst/>
            <a:ahLst/>
            <a:cxnLst/>
            <a:rect l="0" t="0" r="r" b="b"/>
            <a:pathLst>
              <a:path w="11665" h="2416">
                <a:moveTo>
                  <a:pt x="0" y="2276"/>
                </a:moveTo>
                <a:lnTo>
                  <a:pt x="0" y="140"/>
                </a:lnTo>
                <a:cubicBezTo>
                  <a:pt x="0" y="121"/>
                  <a:pt x="3" y="103"/>
                  <a:pt x="8" y="86"/>
                </a:cubicBezTo>
                <a:cubicBezTo>
                  <a:pt x="13" y="69"/>
                  <a:pt x="21" y="54"/>
                  <a:pt x="30" y="41"/>
                </a:cubicBezTo>
                <a:cubicBezTo>
                  <a:pt x="40" y="28"/>
                  <a:pt x="52" y="18"/>
                  <a:pt x="64" y="11"/>
                </a:cubicBezTo>
                <a:cubicBezTo>
                  <a:pt x="77" y="4"/>
                  <a:pt x="91" y="0"/>
                  <a:pt x="104" y="0"/>
                </a:cubicBezTo>
                <a:lnTo>
                  <a:pt x="11526" y="0"/>
                </a:lnTo>
                <a:cubicBezTo>
                  <a:pt x="11545" y="0"/>
                  <a:pt x="11562" y="4"/>
                  <a:pt x="11579" y="11"/>
                </a:cubicBezTo>
                <a:cubicBezTo>
                  <a:pt x="11597" y="18"/>
                  <a:pt x="11612" y="28"/>
                  <a:pt x="11625" y="41"/>
                </a:cubicBezTo>
                <a:cubicBezTo>
                  <a:pt x="11638" y="54"/>
                  <a:pt x="11648" y="69"/>
                  <a:pt x="11655" y="86"/>
                </a:cubicBezTo>
                <a:cubicBezTo>
                  <a:pt x="11662" y="103"/>
                  <a:pt x="11665" y="121"/>
                  <a:pt x="11665" y="140"/>
                </a:cubicBezTo>
                <a:lnTo>
                  <a:pt x="11665" y="2276"/>
                </a:lnTo>
                <a:cubicBezTo>
                  <a:pt x="11665" y="2295"/>
                  <a:pt x="11662" y="2313"/>
                  <a:pt x="11655" y="2330"/>
                </a:cubicBezTo>
                <a:cubicBezTo>
                  <a:pt x="11648" y="2347"/>
                  <a:pt x="11638" y="2362"/>
                  <a:pt x="11625" y="2375"/>
                </a:cubicBezTo>
                <a:cubicBezTo>
                  <a:pt x="11612" y="2388"/>
                  <a:pt x="11597" y="2398"/>
                  <a:pt x="11579" y="2405"/>
                </a:cubicBezTo>
                <a:cubicBezTo>
                  <a:pt x="11562" y="2412"/>
                  <a:pt x="11545" y="2416"/>
                  <a:pt x="11526" y="2416"/>
                </a:cubicBezTo>
                <a:lnTo>
                  <a:pt x="104" y="2416"/>
                </a:lnTo>
                <a:cubicBezTo>
                  <a:pt x="91" y="2416"/>
                  <a:pt x="77" y="2412"/>
                  <a:pt x="64" y="2405"/>
                </a:cubicBezTo>
                <a:cubicBezTo>
                  <a:pt x="52" y="2398"/>
                  <a:pt x="40" y="2388"/>
                  <a:pt x="30" y="2375"/>
                </a:cubicBezTo>
                <a:cubicBezTo>
                  <a:pt x="21" y="2362"/>
                  <a:pt x="13" y="2347"/>
                  <a:pt x="8" y="2330"/>
                </a:cubicBezTo>
                <a:cubicBezTo>
                  <a:pt x="3" y="2313"/>
                  <a:pt x="0" y="2295"/>
                  <a:pt x="0" y="2276"/>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44" name="任意多邊形 243"/>
          <p:cNvSpPr/>
          <p:nvPr/>
        </p:nvSpPr>
        <p:spPr>
          <a:xfrm>
            <a:off x="5749200" y="3409200"/>
            <a:ext cx="50400" cy="869760"/>
          </a:xfrm>
          <a:custGeom>
            <a:avLst/>
            <a:gdLst/>
            <a:ahLst/>
            <a:cxnLst/>
            <a:rect l="0" t="0" r="r" b="b"/>
            <a:pathLst>
              <a:path w="140" h="2416">
                <a:moveTo>
                  <a:pt x="91" y="41"/>
                </a:moveTo>
                <a:cubicBezTo>
                  <a:pt x="77" y="68"/>
                  <a:pt x="70" y="101"/>
                  <a:pt x="70" y="140"/>
                </a:cubicBezTo>
                <a:lnTo>
                  <a:pt x="70" y="2276"/>
                </a:lnTo>
                <a:cubicBezTo>
                  <a:pt x="70" y="2315"/>
                  <a:pt x="77" y="2348"/>
                  <a:pt x="91" y="2375"/>
                </a:cubicBezTo>
                <a:cubicBezTo>
                  <a:pt x="105" y="2402"/>
                  <a:pt x="121" y="2416"/>
                  <a:pt x="140" y="2416"/>
                </a:cubicBezTo>
                <a:cubicBezTo>
                  <a:pt x="102" y="2416"/>
                  <a:pt x="68" y="2402"/>
                  <a:pt x="41" y="2375"/>
                </a:cubicBezTo>
                <a:cubicBezTo>
                  <a:pt x="14" y="2348"/>
                  <a:pt x="0" y="2315"/>
                  <a:pt x="0" y="2276"/>
                </a:cubicBezTo>
                <a:lnTo>
                  <a:pt x="0" y="140"/>
                </a:lnTo>
                <a:cubicBezTo>
                  <a:pt x="0" y="101"/>
                  <a:pt x="14" y="68"/>
                  <a:pt x="41" y="41"/>
                </a:cubicBezTo>
                <a:cubicBezTo>
                  <a:pt x="68" y="14"/>
                  <a:pt x="102" y="0"/>
                  <a:pt x="140" y="0"/>
                </a:cubicBezTo>
                <a:cubicBezTo>
                  <a:pt x="121" y="0"/>
                  <a:pt x="105" y="14"/>
                  <a:pt x="91" y="41"/>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245" name="圖片 244"/>
          <p:cNvPicPr/>
          <p:nvPr/>
        </p:nvPicPr>
        <p:blipFill>
          <a:blip r:embed="rId9"/>
          <a:stretch>
            <a:fillRect/>
          </a:stretch>
        </p:blipFill>
        <p:spPr>
          <a:xfrm>
            <a:off x="5749560" y="1144800"/>
            <a:ext cx="250200" cy="250200"/>
          </a:xfrm>
          <a:prstGeom prst="rect">
            <a:avLst/>
          </a:prstGeom>
          <a:noFill/>
          <a:ln w="0">
            <a:noFill/>
          </a:ln>
        </p:spPr>
      </p:pic>
      <p:sp>
        <p:nvSpPr>
          <p:cNvPr id="246" name="文字框 245"/>
          <p:cNvSpPr txBox="1"/>
          <p:nvPr/>
        </p:nvSpPr>
        <p:spPr>
          <a:xfrm>
            <a:off x="735480" y="4224960"/>
            <a:ext cx="939600" cy="169560"/>
          </a:xfrm>
          <a:prstGeom prst="rect">
            <a:avLst/>
          </a:prstGeom>
          <a:noFill/>
          <a:ln w="0">
            <a:noFill/>
          </a:ln>
        </p:spPr>
        <p:txBody>
          <a:bodyPr wrap="none" lIns="0" tIns="0" rIns="0" bIns="0" anchor="t">
            <a:spAutoFit/>
          </a:bodyPr>
          <a:p>
            <a:r>
              <a:rPr lang="zh-CN" sz="1050" b="0" u="none" strike="noStrike">
                <a:solidFill>
                  <a:srgbClr val="93C5FD"/>
                </a:solidFill>
                <a:effectLst/>
                <a:uFillTx/>
                <a:latin typeface="WenQuanYiZenHei"/>
                <a:ea typeface="WenQuanYiZenHei"/>
              </a:rPr>
              <a:t>都录得了正收益</a:t>
            </a:r>
            <a:endParaRPr lang="en-US" sz="1050" b="0" u="none" strike="noStrike">
              <a:solidFill>
                <a:srgbClr val="000000"/>
              </a:solidFill>
              <a:effectLst/>
              <a:uFillTx/>
              <a:latin typeface="Times New Roman" panose="02020603050405020304"/>
            </a:endParaRPr>
          </a:p>
        </p:txBody>
      </p:sp>
      <p:sp>
        <p:nvSpPr>
          <p:cNvPr id="247" name="文字框 246"/>
          <p:cNvSpPr txBox="1"/>
          <p:nvPr/>
        </p:nvSpPr>
        <p:spPr>
          <a:xfrm>
            <a:off x="6133680" y="1144080"/>
            <a:ext cx="40320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黄金</a:t>
            </a:r>
            <a:endParaRPr lang="en-US" sz="1580" b="0" u="none" strike="noStrike">
              <a:solidFill>
                <a:srgbClr val="000000"/>
              </a:solidFill>
              <a:effectLst/>
              <a:uFillTx/>
              <a:latin typeface="Times New Roman" panose="02020603050405020304"/>
            </a:endParaRPr>
          </a:p>
        </p:txBody>
      </p:sp>
      <p:pic>
        <p:nvPicPr>
          <p:cNvPr id="248" name="圖片 247"/>
          <p:cNvPicPr/>
          <p:nvPr/>
        </p:nvPicPr>
        <p:blipFill>
          <a:blip r:embed="rId10"/>
          <a:stretch>
            <a:fillRect/>
          </a:stretch>
        </p:blipFill>
        <p:spPr>
          <a:xfrm>
            <a:off x="5749560" y="1896840"/>
            <a:ext cx="133200" cy="133200"/>
          </a:xfrm>
          <a:prstGeom prst="rect">
            <a:avLst/>
          </a:prstGeom>
          <a:noFill/>
          <a:ln w="0">
            <a:noFill/>
          </a:ln>
        </p:spPr>
      </p:pic>
      <p:sp>
        <p:nvSpPr>
          <p:cNvPr id="249" name="文字框 248"/>
          <p:cNvSpPr txBox="1"/>
          <p:nvPr/>
        </p:nvSpPr>
        <p:spPr>
          <a:xfrm>
            <a:off x="5749560" y="155232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主要特点</a:t>
            </a:r>
            <a:endParaRPr lang="en-US" sz="1320" b="0" u="none" strike="noStrike">
              <a:solidFill>
                <a:srgbClr val="000000"/>
              </a:solidFill>
              <a:effectLst/>
              <a:uFillTx/>
              <a:latin typeface="Times New Roman" panose="02020603050405020304"/>
            </a:endParaRPr>
          </a:p>
        </p:txBody>
      </p:sp>
      <p:pic>
        <p:nvPicPr>
          <p:cNvPr id="250" name="圖片 249"/>
          <p:cNvPicPr/>
          <p:nvPr/>
        </p:nvPicPr>
        <p:blipFill>
          <a:blip r:embed="rId11"/>
          <a:stretch>
            <a:fillRect/>
          </a:stretch>
        </p:blipFill>
        <p:spPr>
          <a:xfrm>
            <a:off x="5749560" y="2197800"/>
            <a:ext cx="83160" cy="133200"/>
          </a:xfrm>
          <a:prstGeom prst="rect">
            <a:avLst/>
          </a:prstGeom>
          <a:noFill/>
          <a:ln w="0">
            <a:noFill/>
          </a:ln>
        </p:spPr>
      </p:pic>
      <p:sp>
        <p:nvSpPr>
          <p:cNvPr id="251" name="文字框 250"/>
          <p:cNvSpPr txBox="1"/>
          <p:nvPr/>
        </p:nvSpPr>
        <p:spPr>
          <a:xfrm>
            <a:off x="5983560" y="1885320"/>
            <a:ext cx="32194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历史悠久的避险工具，用作对冲系统性风险和通货膨胀</a:t>
            </a:r>
            <a:endParaRPr lang="en-US" sz="1050" b="0" u="none" strike="noStrike">
              <a:solidFill>
                <a:srgbClr val="000000"/>
              </a:solidFill>
              <a:effectLst/>
              <a:uFillTx/>
              <a:latin typeface="Times New Roman" panose="02020603050405020304"/>
            </a:endParaRPr>
          </a:p>
        </p:txBody>
      </p:sp>
      <p:sp>
        <p:nvSpPr>
          <p:cNvPr id="252" name="文字框 251"/>
          <p:cNvSpPr txBox="1"/>
          <p:nvPr/>
        </p:nvSpPr>
        <p:spPr>
          <a:xfrm>
            <a:off x="5933160" y="218592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被用于防范货币贬值和极端负面事件（即</a:t>
            </a:r>
            <a:endParaRPr lang="en-US" sz="1050" b="0" u="none" strike="noStrike">
              <a:solidFill>
                <a:srgbClr val="000000"/>
              </a:solidFill>
              <a:effectLst/>
              <a:uFillTx/>
              <a:latin typeface="Times New Roman" panose="02020603050405020304"/>
            </a:endParaRPr>
          </a:p>
        </p:txBody>
      </p:sp>
      <p:sp>
        <p:nvSpPr>
          <p:cNvPr id="253" name="文字框 252"/>
          <p:cNvSpPr txBox="1"/>
          <p:nvPr/>
        </p:nvSpPr>
        <p:spPr>
          <a:xfrm>
            <a:off x="8340120" y="219060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254" name="文字框 253"/>
          <p:cNvSpPr txBox="1"/>
          <p:nvPr/>
        </p:nvSpPr>
        <p:spPr>
          <a:xfrm>
            <a:off x="8401320" y="218592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尾部风险</a:t>
            </a:r>
            <a:endParaRPr lang="en-US" sz="1050" b="0" u="none" strike="noStrike">
              <a:solidFill>
                <a:srgbClr val="000000"/>
              </a:solidFill>
              <a:effectLst/>
              <a:uFillTx/>
              <a:latin typeface="Times New Roman" panose="02020603050405020304"/>
            </a:endParaRPr>
          </a:p>
        </p:txBody>
      </p:sp>
      <p:sp>
        <p:nvSpPr>
          <p:cNvPr id="255" name="文字框 254"/>
          <p:cNvSpPr txBox="1"/>
          <p:nvPr/>
        </p:nvSpPr>
        <p:spPr>
          <a:xfrm>
            <a:off x="8936280" y="219060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pic>
        <p:nvPicPr>
          <p:cNvPr id="256" name="圖片 255"/>
          <p:cNvPicPr/>
          <p:nvPr/>
        </p:nvPicPr>
        <p:blipFill>
          <a:blip r:embed="rId12"/>
          <a:stretch>
            <a:fillRect/>
          </a:stretch>
        </p:blipFill>
        <p:spPr>
          <a:xfrm>
            <a:off x="5749560" y="2498760"/>
            <a:ext cx="133200" cy="133200"/>
          </a:xfrm>
          <a:prstGeom prst="rect">
            <a:avLst/>
          </a:prstGeom>
          <a:noFill/>
          <a:ln w="0">
            <a:noFill/>
          </a:ln>
        </p:spPr>
      </p:pic>
      <p:sp>
        <p:nvSpPr>
          <p:cNvPr id="257" name="文字框 256"/>
          <p:cNvSpPr txBox="1"/>
          <p:nvPr/>
        </p:nvSpPr>
        <p:spPr>
          <a:xfrm>
            <a:off x="8997840" y="218592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a:t>
            </a:r>
            <a:endParaRPr lang="en-US" sz="1050" b="0" u="none" strike="noStrike">
              <a:solidFill>
                <a:srgbClr val="000000"/>
              </a:solidFill>
              <a:effectLst/>
              <a:uFillTx/>
              <a:latin typeface="Times New Roman" panose="02020603050405020304"/>
            </a:endParaRPr>
          </a:p>
        </p:txBody>
      </p:sp>
      <p:sp>
        <p:nvSpPr>
          <p:cNvPr id="258" name="文字框 257"/>
          <p:cNvSpPr txBox="1"/>
          <p:nvPr/>
        </p:nvSpPr>
        <p:spPr>
          <a:xfrm>
            <a:off x="5983560" y="248688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危机初期可能短暂下跌（投资者急于获取现金），之后开始避险性</a:t>
            </a:r>
            <a:endParaRPr lang="en-US" sz="1050" b="0" u="none" strike="noStrike">
              <a:solidFill>
                <a:srgbClr val="000000"/>
              </a:solidFill>
              <a:effectLst/>
              <a:uFillTx/>
              <a:latin typeface="Times New Roman" panose="02020603050405020304"/>
            </a:endParaRPr>
          </a:p>
        </p:txBody>
      </p:sp>
      <p:sp>
        <p:nvSpPr>
          <p:cNvPr id="259" name="文字框 258"/>
          <p:cNvSpPr txBox="1"/>
          <p:nvPr/>
        </p:nvSpPr>
        <p:spPr>
          <a:xfrm>
            <a:off x="5983560" y="268740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上涨</a:t>
            </a:r>
            <a:endParaRPr lang="en-US" sz="1050" b="0" u="none" strike="noStrike">
              <a:solidFill>
                <a:srgbClr val="000000"/>
              </a:solidFill>
              <a:effectLst/>
              <a:uFillTx/>
              <a:latin typeface="Times New Roman" panose="02020603050405020304"/>
            </a:endParaRPr>
          </a:p>
        </p:txBody>
      </p:sp>
      <p:pic>
        <p:nvPicPr>
          <p:cNvPr id="260" name="圖片 259"/>
          <p:cNvPicPr/>
          <p:nvPr/>
        </p:nvPicPr>
        <p:blipFill>
          <a:blip r:embed="rId13"/>
          <a:stretch>
            <a:fillRect/>
          </a:stretch>
        </p:blipFill>
        <p:spPr>
          <a:xfrm>
            <a:off x="5874840" y="3543120"/>
            <a:ext cx="133200" cy="133200"/>
          </a:xfrm>
          <a:prstGeom prst="rect">
            <a:avLst/>
          </a:prstGeom>
          <a:noFill/>
          <a:ln w="0">
            <a:noFill/>
          </a:ln>
        </p:spPr>
      </p:pic>
      <p:sp>
        <p:nvSpPr>
          <p:cNvPr id="261" name="文字框 260"/>
          <p:cNvSpPr txBox="1"/>
          <p:nvPr/>
        </p:nvSpPr>
        <p:spPr>
          <a:xfrm>
            <a:off x="5749560" y="308988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历史表现</a:t>
            </a:r>
            <a:endParaRPr lang="en-US" sz="1320" b="0" u="none" strike="noStrike">
              <a:solidFill>
                <a:srgbClr val="000000"/>
              </a:solidFill>
              <a:effectLst/>
              <a:uFillTx/>
              <a:latin typeface="Times New Roman" panose="02020603050405020304"/>
            </a:endParaRPr>
          </a:p>
        </p:txBody>
      </p:sp>
      <p:sp>
        <p:nvSpPr>
          <p:cNvPr id="262" name="文字框 261"/>
          <p:cNvSpPr txBox="1"/>
          <p:nvPr/>
        </p:nvSpPr>
        <p:spPr>
          <a:xfrm>
            <a:off x="6075360" y="3527640"/>
            <a:ext cx="342000" cy="157320"/>
          </a:xfrm>
          <a:prstGeom prst="rect">
            <a:avLst/>
          </a:prstGeom>
          <a:noFill/>
          <a:ln w="0">
            <a:noFill/>
          </a:ln>
        </p:spPr>
        <p:txBody>
          <a:bodyPr wrap="none" lIns="0" tIns="0" rIns="0" bIns="0" anchor="t">
            <a:spAutoFit/>
          </a:bodyPr>
          <a:p>
            <a:r>
              <a:rPr lang="en-US" sz="1050" b="0" u="none" strike="noStrike">
                <a:solidFill>
                  <a:srgbClr val="FFFFFF"/>
                </a:solidFill>
                <a:effectLst/>
                <a:uFillTx/>
                <a:latin typeface="DejaVuSans"/>
                <a:ea typeface="DejaVuSans"/>
              </a:rPr>
              <a:t>2008</a:t>
            </a:r>
            <a:endParaRPr lang="en-US" sz="1050" b="0" u="none" strike="noStrike">
              <a:solidFill>
                <a:srgbClr val="000000"/>
              </a:solidFill>
              <a:effectLst/>
              <a:uFillTx/>
              <a:latin typeface="Times New Roman" panose="02020603050405020304"/>
            </a:endParaRPr>
          </a:p>
        </p:txBody>
      </p:sp>
      <p:sp>
        <p:nvSpPr>
          <p:cNvPr id="263" name="文字框 262"/>
          <p:cNvSpPr txBox="1"/>
          <p:nvPr/>
        </p:nvSpPr>
        <p:spPr>
          <a:xfrm>
            <a:off x="6415560" y="3522960"/>
            <a:ext cx="12078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年金融危机后续表现</a:t>
            </a:r>
            <a:endParaRPr lang="en-US" sz="1050" b="0" u="none" strike="noStrike">
              <a:solidFill>
                <a:srgbClr val="000000"/>
              </a:solidFill>
              <a:effectLst/>
              <a:uFillTx/>
              <a:latin typeface="Times New Roman" panose="02020603050405020304"/>
            </a:endParaRPr>
          </a:p>
        </p:txBody>
      </p:sp>
      <p:sp>
        <p:nvSpPr>
          <p:cNvPr id="264" name="文字框 263"/>
          <p:cNvSpPr txBox="1"/>
          <p:nvPr/>
        </p:nvSpPr>
        <p:spPr>
          <a:xfrm>
            <a:off x="5874840" y="3790440"/>
            <a:ext cx="3621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在金融危机后的五年内，黄金价格几乎</a:t>
            </a:r>
            <a:r>
              <a:rPr lang="zh-CN" sz="1050" b="0" u="none" strike="noStrike">
                <a:solidFill>
                  <a:srgbClr val="FCD34D"/>
                </a:solidFill>
                <a:effectLst/>
                <a:uFillTx/>
                <a:latin typeface="WenQuanYiZenHei"/>
                <a:ea typeface="WenQuanYiZenHei"/>
              </a:rPr>
              <a:t>翻了一番</a:t>
            </a:r>
            <a:r>
              <a:rPr lang="zh-CN" sz="1050" b="0" u="none" strike="noStrike">
                <a:solidFill>
                  <a:srgbClr val="E5E7EB"/>
                </a:solidFill>
                <a:effectLst/>
                <a:uFillTx/>
                <a:latin typeface="WenQuanYiZenHei"/>
                <a:ea typeface="WenQuanYiZenHei"/>
              </a:rPr>
              <a:t>，从每盎司约</a:t>
            </a:r>
            <a:endParaRPr lang="en-US" sz="1050" b="0" u="none" strike="noStrike">
              <a:solidFill>
                <a:srgbClr val="000000"/>
              </a:solidFill>
              <a:effectLst/>
              <a:uFillTx/>
              <a:latin typeface="Times New Roman" panose="02020603050405020304"/>
            </a:endParaRPr>
          </a:p>
        </p:txBody>
      </p:sp>
      <p:sp>
        <p:nvSpPr>
          <p:cNvPr id="265" name="文字框 264"/>
          <p:cNvSpPr txBox="1"/>
          <p:nvPr/>
        </p:nvSpPr>
        <p:spPr>
          <a:xfrm>
            <a:off x="9484920" y="3795120"/>
            <a:ext cx="256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825</a:t>
            </a:r>
            <a:endParaRPr lang="en-US" sz="1050" b="0" u="none" strike="noStrike">
              <a:solidFill>
                <a:srgbClr val="000000"/>
              </a:solidFill>
              <a:effectLst/>
              <a:uFillTx/>
              <a:latin typeface="Times New Roman" panose="02020603050405020304"/>
            </a:endParaRPr>
          </a:p>
        </p:txBody>
      </p:sp>
      <p:sp>
        <p:nvSpPr>
          <p:cNvPr id="266" name="文字框 265"/>
          <p:cNvSpPr txBox="1"/>
          <p:nvPr/>
        </p:nvSpPr>
        <p:spPr>
          <a:xfrm>
            <a:off x="5874840" y="399096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美元涨至超过</a:t>
            </a:r>
            <a:endParaRPr lang="en-US" sz="1050" b="0" u="none" strike="noStrike">
              <a:solidFill>
                <a:srgbClr val="000000"/>
              </a:solidFill>
              <a:effectLst/>
              <a:uFillTx/>
              <a:latin typeface="Times New Roman" panose="02020603050405020304"/>
            </a:endParaRPr>
          </a:p>
        </p:txBody>
      </p:sp>
      <p:sp>
        <p:nvSpPr>
          <p:cNvPr id="267" name="文字框 266"/>
          <p:cNvSpPr txBox="1"/>
          <p:nvPr/>
        </p:nvSpPr>
        <p:spPr>
          <a:xfrm>
            <a:off x="6676920" y="3995640"/>
            <a:ext cx="3420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1650</a:t>
            </a:r>
            <a:endParaRPr lang="en-US" sz="1050" b="0" u="none" strike="noStrike">
              <a:solidFill>
                <a:srgbClr val="000000"/>
              </a:solidFill>
              <a:effectLst/>
              <a:uFillTx/>
              <a:latin typeface="Times New Roman" panose="02020603050405020304"/>
            </a:endParaRPr>
          </a:p>
        </p:txBody>
      </p:sp>
      <p:sp>
        <p:nvSpPr>
          <p:cNvPr id="268" name="文字框 267"/>
          <p:cNvSpPr txBox="1"/>
          <p:nvPr/>
        </p:nvSpPr>
        <p:spPr>
          <a:xfrm>
            <a:off x="7017120" y="39909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美元</a:t>
            </a:r>
            <a:endParaRPr lang="en-US" sz="1050" b="0" u="none" strike="noStrike">
              <a:solidFill>
                <a:srgbClr val="000000"/>
              </a:solidFill>
              <a:effectLst/>
              <a:uFillTx/>
              <a:latin typeface="Times New Roman" panose="02020603050405020304"/>
            </a:endParaRPr>
          </a:p>
        </p:txBody>
      </p:sp>
      <p:sp>
        <p:nvSpPr>
          <p:cNvPr id="269" name="文字框 268"/>
          <p:cNvSpPr txBox="1"/>
          <p:nvPr/>
        </p:nvSpPr>
        <p:spPr>
          <a:xfrm>
            <a:off x="5749560" y="442548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a:t>
            </a:r>
            <a:endParaRPr lang="en-US" sz="1050" b="0" u="none" strike="noStrike">
              <a:solidFill>
                <a:srgbClr val="000000"/>
              </a:solidFill>
              <a:effectLst/>
              <a:uFillTx/>
              <a:latin typeface="Times New Roman" panose="02020603050405020304"/>
            </a:endParaRPr>
          </a:p>
        </p:txBody>
      </p:sp>
      <p:sp>
        <p:nvSpPr>
          <p:cNvPr id="270" name="文字框 269"/>
          <p:cNvSpPr txBox="1"/>
          <p:nvPr/>
        </p:nvSpPr>
        <p:spPr>
          <a:xfrm>
            <a:off x="5883120" y="4430160"/>
            <a:ext cx="3420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2008</a:t>
            </a:r>
            <a:endParaRPr lang="en-US" sz="1050" b="0" u="none" strike="noStrike">
              <a:solidFill>
                <a:srgbClr val="000000"/>
              </a:solidFill>
              <a:effectLst/>
              <a:uFillTx/>
              <a:latin typeface="Times New Roman" panose="02020603050405020304"/>
            </a:endParaRPr>
          </a:p>
        </p:txBody>
      </p:sp>
      <p:sp>
        <p:nvSpPr>
          <p:cNvPr id="271" name="文字框 270"/>
          <p:cNvSpPr txBox="1"/>
          <p:nvPr/>
        </p:nvSpPr>
        <p:spPr>
          <a:xfrm>
            <a:off x="6223320" y="442548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年全球金融危机期间，黄金价格上涨了</a:t>
            </a:r>
            <a:endParaRPr lang="en-US" sz="1050" b="0" u="none" strike="noStrike">
              <a:solidFill>
                <a:srgbClr val="000000"/>
              </a:solidFill>
              <a:effectLst/>
              <a:uFillTx/>
              <a:latin typeface="Times New Roman" panose="02020603050405020304"/>
            </a:endParaRPr>
          </a:p>
        </p:txBody>
      </p:sp>
      <p:sp>
        <p:nvSpPr>
          <p:cNvPr id="272" name="文字框 271"/>
          <p:cNvSpPr txBox="1"/>
          <p:nvPr/>
        </p:nvSpPr>
        <p:spPr>
          <a:xfrm>
            <a:off x="8496360" y="4430160"/>
            <a:ext cx="426600" cy="157320"/>
          </a:xfrm>
          <a:prstGeom prst="rect">
            <a:avLst/>
          </a:prstGeom>
          <a:noFill/>
          <a:ln w="0">
            <a:noFill/>
          </a:ln>
        </p:spPr>
        <p:txBody>
          <a:bodyPr wrap="none" lIns="0" tIns="0" rIns="0" bIns="0" anchor="t">
            <a:spAutoFit/>
          </a:bodyPr>
          <a:p>
            <a:r>
              <a:rPr lang="en-US" sz="1050" b="0" u="none" strike="noStrike">
                <a:solidFill>
                  <a:srgbClr val="FCD34D"/>
                </a:solidFill>
                <a:effectLst/>
                <a:uFillTx/>
                <a:latin typeface="DejaVuSans"/>
                <a:ea typeface="DejaVuSans"/>
              </a:rPr>
              <a:t>3.73%</a:t>
            </a:r>
            <a:endParaRPr lang="en-US" sz="1050" b="0" u="none" strike="noStrike">
              <a:solidFill>
                <a:srgbClr val="000000"/>
              </a:solidFill>
              <a:effectLst/>
              <a:uFillTx/>
              <a:latin typeface="Times New Roman" panose="02020603050405020304"/>
            </a:endParaRPr>
          </a:p>
        </p:txBody>
      </p:sp>
      <p:sp>
        <p:nvSpPr>
          <p:cNvPr id="273" name="文字框 272"/>
          <p:cNvSpPr txBox="1"/>
          <p:nvPr/>
        </p:nvSpPr>
        <p:spPr>
          <a:xfrm>
            <a:off x="8921160" y="442548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，展现出其避险</a:t>
            </a:r>
            <a:endParaRPr lang="en-US" sz="1050" b="0" u="none" strike="noStrike">
              <a:solidFill>
                <a:srgbClr val="000000"/>
              </a:solidFill>
              <a:effectLst/>
              <a:uFillTx/>
              <a:latin typeface="Times New Roman" panose="02020603050405020304"/>
            </a:endParaRPr>
          </a:p>
        </p:txBody>
      </p:sp>
      <p:pic>
        <p:nvPicPr>
          <p:cNvPr id="274" name="圖片 273"/>
          <p:cNvPicPr/>
          <p:nvPr/>
        </p:nvPicPr>
        <p:blipFill>
          <a:blip r:embed="rId14"/>
          <a:stretch>
            <a:fillRect/>
          </a:stretch>
        </p:blipFill>
        <p:spPr>
          <a:xfrm>
            <a:off x="5749560" y="5014080"/>
            <a:ext cx="4211280" cy="1069200"/>
          </a:xfrm>
          <a:prstGeom prst="rect">
            <a:avLst/>
          </a:prstGeom>
          <a:noFill/>
          <a:ln w="0">
            <a:noFill/>
          </a:ln>
        </p:spPr>
      </p:pic>
      <p:sp>
        <p:nvSpPr>
          <p:cNvPr id="275" name="文字框 274"/>
          <p:cNvSpPr txBox="1"/>
          <p:nvPr/>
        </p:nvSpPr>
        <p:spPr>
          <a:xfrm>
            <a:off x="5749560" y="46263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功能</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圖片 275"/>
          <p:cNvPicPr/>
          <p:nvPr/>
        </p:nvPicPr>
        <p:blipFill>
          <a:blip r:embed="rId1"/>
          <a:stretch>
            <a:fillRect/>
          </a:stretch>
        </p:blipFill>
        <p:spPr>
          <a:xfrm>
            <a:off x="0" y="0"/>
            <a:ext cx="10696320" cy="6016320"/>
          </a:xfrm>
          <a:prstGeom prst="rect">
            <a:avLst/>
          </a:prstGeom>
          <a:noFill/>
          <a:ln w="0">
            <a:noFill/>
          </a:ln>
        </p:spPr>
      </p:pic>
      <p:pic>
        <p:nvPicPr>
          <p:cNvPr id="277" name="圖片 276"/>
          <p:cNvPicPr/>
          <p:nvPr/>
        </p:nvPicPr>
        <p:blipFill>
          <a:blip r:embed="rId2"/>
          <a:stretch>
            <a:fillRect/>
          </a:stretch>
        </p:blipFill>
        <p:spPr>
          <a:xfrm>
            <a:off x="534960" y="735480"/>
            <a:ext cx="3208680" cy="33120"/>
          </a:xfrm>
          <a:prstGeom prst="rect">
            <a:avLst/>
          </a:prstGeom>
          <a:noFill/>
          <a:ln w="0">
            <a:noFill/>
          </a:ln>
        </p:spPr>
      </p:pic>
      <p:sp>
        <p:nvSpPr>
          <p:cNvPr id="278" name="文字框 277"/>
          <p:cNvSpPr txBox="1"/>
          <p:nvPr/>
        </p:nvSpPr>
        <p:spPr>
          <a:xfrm>
            <a:off x="534960" y="312120"/>
            <a:ext cx="420408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另类投资：私募股权与对冲基金</a:t>
            </a:r>
            <a:endParaRPr lang="en-US" sz="2370" b="0" u="none" strike="noStrike">
              <a:solidFill>
                <a:srgbClr val="000000"/>
              </a:solidFill>
              <a:effectLst/>
              <a:uFillTx/>
              <a:latin typeface="Times New Roman" panose="02020603050405020304"/>
            </a:endParaRPr>
          </a:p>
        </p:txBody>
      </p:sp>
      <p:sp>
        <p:nvSpPr>
          <p:cNvPr id="279" name="任意多邊形 278"/>
          <p:cNvSpPr/>
          <p:nvPr/>
        </p:nvSpPr>
        <p:spPr>
          <a:xfrm>
            <a:off x="534600" y="4779720"/>
            <a:ext cx="9627480" cy="668880"/>
          </a:xfrm>
          <a:custGeom>
            <a:avLst/>
            <a:gdLst/>
            <a:ahLst/>
            <a:cxnLst/>
            <a:rect l="0" t="0" r="r" b="b"/>
            <a:pathLst>
              <a:path w="26743" h="1858">
                <a:moveTo>
                  <a:pt x="0" y="1673"/>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5"/>
                </a:cubicBezTo>
                <a:cubicBezTo>
                  <a:pt x="126" y="10"/>
                  <a:pt x="138" y="6"/>
                  <a:pt x="150" y="4"/>
                </a:cubicBezTo>
                <a:cubicBezTo>
                  <a:pt x="162" y="2"/>
                  <a:pt x="174" y="0"/>
                  <a:pt x="186" y="0"/>
                </a:cubicBezTo>
                <a:lnTo>
                  <a:pt x="26557" y="0"/>
                </a:lnTo>
                <a:cubicBezTo>
                  <a:pt x="26569" y="0"/>
                  <a:pt x="26581" y="2"/>
                  <a:pt x="26593" y="4"/>
                </a:cubicBezTo>
                <a:cubicBezTo>
                  <a:pt x="26605" y="6"/>
                  <a:pt x="26617" y="10"/>
                  <a:pt x="26628" y="15"/>
                </a:cubicBezTo>
                <a:cubicBezTo>
                  <a:pt x="26639" y="19"/>
                  <a:pt x="26650" y="25"/>
                  <a:pt x="26660" y="32"/>
                </a:cubicBezTo>
                <a:cubicBezTo>
                  <a:pt x="26670" y="38"/>
                  <a:pt x="26680" y="46"/>
                  <a:pt x="26688" y="55"/>
                </a:cubicBezTo>
                <a:cubicBezTo>
                  <a:pt x="26697" y="63"/>
                  <a:pt x="26704" y="73"/>
                  <a:pt x="26711" y="83"/>
                </a:cubicBezTo>
                <a:cubicBezTo>
                  <a:pt x="26718" y="93"/>
                  <a:pt x="26724" y="104"/>
                  <a:pt x="26728" y="115"/>
                </a:cubicBezTo>
                <a:cubicBezTo>
                  <a:pt x="26733" y="126"/>
                  <a:pt x="26737" y="138"/>
                  <a:pt x="26739" y="150"/>
                </a:cubicBezTo>
                <a:cubicBezTo>
                  <a:pt x="26741" y="162"/>
                  <a:pt x="26743" y="174"/>
                  <a:pt x="26743" y="186"/>
                </a:cubicBezTo>
                <a:lnTo>
                  <a:pt x="26743" y="1673"/>
                </a:lnTo>
                <a:cubicBezTo>
                  <a:pt x="26743" y="1685"/>
                  <a:pt x="26741" y="1697"/>
                  <a:pt x="26739" y="1709"/>
                </a:cubicBezTo>
                <a:cubicBezTo>
                  <a:pt x="26737" y="1721"/>
                  <a:pt x="26733" y="1733"/>
                  <a:pt x="26728" y="1744"/>
                </a:cubicBezTo>
                <a:cubicBezTo>
                  <a:pt x="26724" y="1755"/>
                  <a:pt x="26718" y="1766"/>
                  <a:pt x="26711" y="1776"/>
                </a:cubicBezTo>
                <a:cubicBezTo>
                  <a:pt x="26704" y="1786"/>
                  <a:pt x="26697" y="1795"/>
                  <a:pt x="26688" y="1804"/>
                </a:cubicBezTo>
                <a:cubicBezTo>
                  <a:pt x="26680" y="1813"/>
                  <a:pt x="26670" y="1820"/>
                  <a:pt x="26660" y="1827"/>
                </a:cubicBezTo>
                <a:cubicBezTo>
                  <a:pt x="26650" y="1834"/>
                  <a:pt x="26639" y="1840"/>
                  <a:pt x="26628" y="1844"/>
                </a:cubicBezTo>
                <a:cubicBezTo>
                  <a:pt x="26617" y="1849"/>
                  <a:pt x="26605" y="1852"/>
                  <a:pt x="26593" y="1855"/>
                </a:cubicBezTo>
                <a:cubicBezTo>
                  <a:pt x="26581" y="1857"/>
                  <a:pt x="26569" y="1858"/>
                  <a:pt x="26557" y="1858"/>
                </a:cubicBezTo>
                <a:lnTo>
                  <a:pt x="186" y="1858"/>
                </a:lnTo>
                <a:cubicBezTo>
                  <a:pt x="174" y="1858"/>
                  <a:pt x="162" y="1857"/>
                  <a:pt x="150" y="1855"/>
                </a:cubicBezTo>
                <a:cubicBezTo>
                  <a:pt x="138" y="1852"/>
                  <a:pt x="126" y="1849"/>
                  <a:pt x="115" y="1844"/>
                </a:cubicBezTo>
                <a:cubicBezTo>
                  <a:pt x="104" y="1840"/>
                  <a:pt x="93" y="1834"/>
                  <a:pt x="83" y="1827"/>
                </a:cubicBezTo>
                <a:cubicBezTo>
                  <a:pt x="73" y="1820"/>
                  <a:pt x="63" y="1813"/>
                  <a:pt x="55" y="1804"/>
                </a:cubicBezTo>
                <a:cubicBezTo>
                  <a:pt x="46" y="1795"/>
                  <a:pt x="38" y="1786"/>
                  <a:pt x="31" y="1776"/>
                </a:cubicBezTo>
                <a:cubicBezTo>
                  <a:pt x="25" y="1766"/>
                  <a:pt x="19" y="1755"/>
                  <a:pt x="14" y="1744"/>
                </a:cubicBezTo>
                <a:cubicBezTo>
                  <a:pt x="10" y="1733"/>
                  <a:pt x="6" y="1721"/>
                  <a:pt x="4" y="1709"/>
                </a:cubicBezTo>
                <a:cubicBezTo>
                  <a:pt x="1" y="1697"/>
                  <a:pt x="0" y="1685"/>
                  <a:pt x="0" y="1673"/>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80" name="任意多邊形 279"/>
          <p:cNvSpPr/>
          <p:nvPr/>
        </p:nvSpPr>
        <p:spPr>
          <a:xfrm>
            <a:off x="668520" y="4947120"/>
            <a:ext cx="309240" cy="334440"/>
          </a:xfrm>
          <a:custGeom>
            <a:avLst/>
            <a:gdLst/>
            <a:ahLst/>
            <a:cxnLst/>
            <a:rect l="0" t="0" r="r" b="b"/>
            <a:pathLst>
              <a:path w="859" h="929">
                <a:moveTo>
                  <a:pt x="0" y="499"/>
                </a:moveTo>
                <a:lnTo>
                  <a:pt x="0" y="429"/>
                </a:lnTo>
                <a:cubicBezTo>
                  <a:pt x="0" y="401"/>
                  <a:pt x="2" y="373"/>
                  <a:pt x="8" y="345"/>
                </a:cubicBezTo>
                <a:cubicBezTo>
                  <a:pt x="13" y="318"/>
                  <a:pt x="21" y="291"/>
                  <a:pt x="32" y="265"/>
                </a:cubicBezTo>
                <a:cubicBezTo>
                  <a:pt x="43" y="239"/>
                  <a:pt x="56" y="214"/>
                  <a:pt x="72" y="190"/>
                </a:cubicBezTo>
                <a:cubicBezTo>
                  <a:pt x="88" y="167"/>
                  <a:pt x="105" y="145"/>
                  <a:pt x="125" y="125"/>
                </a:cubicBezTo>
                <a:cubicBezTo>
                  <a:pt x="145" y="105"/>
                  <a:pt x="167" y="88"/>
                  <a:pt x="190" y="72"/>
                </a:cubicBezTo>
                <a:cubicBezTo>
                  <a:pt x="214" y="56"/>
                  <a:pt x="239" y="43"/>
                  <a:pt x="265" y="32"/>
                </a:cubicBezTo>
                <a:cubicBezTo>
                  <a:pt x="292" y="22"/>
                  <a:pt x="319" y="13"/>
                  <a:pt x="346" y="8"/>
                </a:cubicBezTo>
                <a:cubicBezTo>
                  <a:pt x="374" y="2"/>
                  <a:pt x="402" y="0"/>
                  <a:pt x="430" y="0"/>
                </a:cubicBezTo>
                <a:cubicBezTo>
                  <a:pt x="458" y="0"/>
                  <a:pt x="486" y="2"/>
                  <a:pt x="514" y="8"/>
                </a:cubicBezTo>
                <a:cubicBezTo>
                  <a:pt x="541" y="13"/>
                  <a:pt x="568" y="22"/>
                  <a:pt x="594" y="32"/>
                </a:cubicBezTo>
                <a:cubicBezTo>
                  <a:pt x="620" y="43"/>
                  <a:pt x="645" y="56"/>
                  <a:pt x="669" y="72"/>
                </a:cubicBezTo>
                <a:cubicBezTo>
                  <a:pt x="692" y="88"/>
                  <a:pt x="714" y="105"/>
                  <a:pt x="734" y="125"/>
                </a:cubicBezTo>
                <a:cubicBezTo>
                  <a:pt x="754" y="145"/>
                  <a:pt x="771" y="167"/>
                  <a:pt x="787" y="190"/>
                </a:cubicBezTo>
                <a:cubicBezTo>
                  <a:pt x="803" y="214"/>
                  <a:pt x="816" y="239"/>
                  <a:pt x="827" y="265"/>
                </a:cubicBezTo>
                <a:cubicBezTo>
                  <a:pt x="838" y="291"/>
                  <a:pt x="846" y="318"/>
                  <a:pt x="851" y="345"/>
                </a:cubicBezTo>
                <a:cubicBezTo>
                  <a:pt x="857" y="373"/>
                  <a:pt x="859" y="401"/>
                  <a:pt x="859" y="429"/>
                </a:cubicBezTo>
                <a:lnTo>
                  <a:pt x="859" y="499"/>
                </a:lnTo>
                <a:cubicBezTo>
                  <a:pt x="859" y="527"/>
                  <a:pt x="857" y="555"/>
                  <a:pt x="851" y="582"/>
                </a:cubicBezTo>
                <a:cubicBezTo>
                  <a:pt x="846" y="610"/>
                  <a:pt x="838" y="637"/>
                  <a:pt x="827" y="664"/>
                </a:cubicBezTo>
                <a:cubicBezTo>
                  <a:pt x="816" y="690"/>
                  <a:pt x="803" y="715"/>
                  <a:pt x="787" y="738"/>
                </a:cubicBezTo>
                <a:cubicBezTo>
                  <a:pt x="771" y="762"/>
                  <a:pt x="754" y="783"/>
                  <a:pt x="734" y="803"/>
                </a:cubicBezTo>
                <a:cubicBezTo>
                  <a:pt x="714" y="823"/>
                  <a:pt x="692" y="841"/>
                  <a:pt x="669" y="857"/>
                </a:cubicBezTo>
                <a:cubicBezTo>
                  <a:pt x="645" y="872"/>
                  <a:pt x="620" y="886"/>
                  <a:pt x="594" y="896"/>
                </a:cubicBezTo>
                <a:cubicBezTo>
                  <a:pt x="568" y="907"/>
                  <a:pt x="541" y="915"/>
                  <a:pt x="514" y="921"/>
                </a:cubicBezTo>
                <a:cubicBezTo>
                  <a:pt x="486" y="926"/>
                  <a:pt x="458" y="929"/>
                  <a:pt x="430" y="929"/>
                </a:cubicBezTo>
                <a:cubicBezTo>
                  <a:pt x="402" y="929"/>
                  <a:pt x="374" y="926"/>
                  <a:pt x="346" y="921"/>
                </a:cubicBezTo>
                <a:cubicBezTo>
                  <a:pt x="319" y="915"/>
                  <a:pt x="292" y="907"/>
                  <a:pt x="265" y="896"/>
                </a:cubicBezTo>
                <a:cubicBezTo>
                  <a:pt x="239" y="886"/>
                  <a:pt x="214" y="872"/>
                  <a:pt x="190" y="857"/>
                </a:cubicBezTo>
                <a:cubicBezTo>
                  <a:pt x="167" y="841"/>
                  <a:pt x="145" y="823"/>
                  <a:pt x="125" y="803"/>
                </a:cubicBezTo>
                <a:cubicBezTo>
                  <a:pt x="105" y="783"/>
                  <a:pt x="88" y="762"/>
                  <a:pt x="72" y="738"/>
                </a:cubicBezTo>
                <a:cubicBezTo>
                  <a:pt x="56" y="715"/>
                  <a:pt x="43" y="690"/>
                  <a:pt x="32" y="664"/>
                </a:cubicBezTo>
                <a:cubicBezTo>
                  <a:pt x="21" y="637"/>
                  <a:pt x="13" y="610"/>
                  <a:pt x="8" y="582"/>
                </a:cubicBezTo>
                <a:cubicBezTo>
                  <a:pt x="2" y="555"/>
                  <a:pt x="0" y="527"/>
                  <a:pt x="0" y="499"/>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281" name="圖片 280"/>
          <p:cNvPicPr/>
          <p:nvPr/>
        </p:nvPicPr>
        <p:blipFill>
          <a:blip r:embed="rId3"/>
          <a:stretch>
            <a:fillRect/>
          </a:stretch>
        </p:blipFill>
        <p:spPr>
          <a:xfrm>
            <a:off x="802080" y="5030640"/>
            <a:ext cx="41400" cy="166680"/>
          </a:xfrm>
          <a:prstGeom prst="rect">
            <a:avLst/>
          </a:prstGeom>
          <a:noFill/>
          <a:ln w="0">
            <a:noFill/>
          </a:ln>
        </p:spPr>
      </p:pic>
      <p:sp>
        <p:nvSpPr>
          <p:cNvPr id="282" name="文字框 281"/>
          <p:cNvSpPr txBox="1"/>
          <p:nvPr/>
        </p:nvSpPr>
        <p:spPr>
          <a:xfrm>
            <a:off x="534960" y="924840"/>
            <a:ext cx="7997040" cy="189360"/>
          </a:xfrm>
          <a:prstGeom prst="rect">
            <a:avLst/>
          </a:prstGeom>
          <a:noFill/>
          <a:ln w="0">
            <a:noFill/>
          </a:ln>
        </p:spPr>
        <p:txBody>
          <a:bodyPr wrap="none" lIns="0" tIns="0" rIns="0" bIns="0" anchor="t">
            <a:spAutoFit/>
          </a:bodyPr>
          <a:p>
            <a:r>
              <a:rPr lang="zh-CN" sz="1180" b="0" u="none" strike="noStrike">
                <a:solidFill>
                  <a:srgbClr val="E5E7EB"/>
                </a:solidFill>
                <a:effectLst/>
                <a:uFillTx/>
                <a:latin typeface="WenQuanYiZenHei"/>
                <a:ea typeface="WenQuanYiZenHei"/>
              </a:rPr>
              <a:t>另类投资指传统股票、债券和现金之外的投资类别，通常具有较高的投资门槛和较低的流动性，在金融危机中表现各异。</a:t>
            </a:r>
            <a:endParaRPr lang="en-US" sz="1180" b="0" u="none" strike="noStrike">
              <a:solidFill>
                <a:srgbClr val="000000"/>
              </a:solidFill>
              <a:effectLst/>
              <a:uFillTx/>
              <a:latin typeface="Times New Roman" panose="02020603050405020304"/>
            </a:endParaRPr>
          </a:p>
        </p:txBody>
      </p:sp>
      <p:sp>
        <p:nvSpPr>
          <p:cNvPr id="283" name="文字框 282"/>
          <p:cNvSpPr txBox="1"/>
          <p:nvPr/>
        </p:nvSpPr>
        <p:spPr>
          <a:xfrm>
            <a:off x="1108440" y="4926960"/>
            <a:ext cx="8053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投资者提示：</a:t>
            </a:r>
            <a:endParaRPr lang="en-US" sz="1050" b="0" u="none" strike="noStrike">
              <a:solidFill>
                <a:srgbClr val="000000"/>
              </a:solidFill>
              <a:effectLst/>
              <a:uFillTx/>
              <a:latin typeface="Times New Roman" panose="02020603050405020304"/>
            </a:endParaRPr>
          </a:p>
        </p:txBody>
      </p:sp>
      <p:sp>
        <p:nvSpPr>
          <p:cNvPr id="284" name="文字框 283"/>
          <p:cNvSpPr txBox="1"/>
          <p:nvPr/>
        </p:nvSpPr>
        <p:spPr>
          <a:xfrm>
            <a:off x="1910520" y="49316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a:t>
            </a:r>
            <a:endParaRPr lang="en-US" sz="1050" b="0" u="none" strike="noStrike">
              <a:solidFill>
                <a:srgbClr val="000000"/>
              </a:solidFill>
              <a:effectLst/>
              <a:uFillTx/>
              <a:latin typeface="Times New Roman" panose="02020603050405020304"/>
            </a:endParaRPr>
          </a:p>
        </p:txBody>
      </p:sp>
      <p:sp>
        <p:nvSpPr>
          <p:cNvPr id="285" name="文字框 284"/>
          <p:cNvSpPr txBox="1"/>
          <p:nvPr/>
        </p:nvSpPr>
        <p:spPr>
          <a:xfrm>
            <a:off x="1953000" y="4926960"/>
            <a:ext cx="3755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另类投资适合能够承受较高风险和较低流动性的成熟投资者。在</a:t>
            </a:r>
            <a:endParaRPr lang="en-US" sz="1050" b="0" u="none" strike="noStrike">
              <a:solidFill>
                <a:srgbClr val="000000"/>
              </a:solidFill>
              <a:effectLst/>
              <a:uFillTx/>
              <a:latin typeface="Times New Roman" panose="02020603050405020304"/>
            </a:endParaRPr>
          </a:p>
        </p:txBody>
      </p:sp>
      <p:sp>
        <p:nvSpPr>
          <p:cNvPr id="286" name="文字框 285"/>
          <p:cNvSpPr txBox="1"/>
          <p:nvPr/>
        </p:nvSpPr>
        <p:spPr>
          <a:xfrm>
            <a:off x="5697000" y="4931640"/>
            <a:ext cx="3420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2008</a:t>
            </a:r>
            <a:endParaRPr lang="en-US" sz="1050" b="0" u="none" strike="noStrike">
              <a:solidFill>
                <a:srgbClr val="000000"/>
              </a:solidFill>
              <a:effectLst/>
              <a:uFillTx/>
              <a:latin typeface="Times New Roman" panose="02020603050405020304"/>
            </a:endParaRPr>
          </a:p>
        </p:txBody>
      </p:sp>
      <p:sp>
        <p:nvSpPr>
          <p:cNvPr id="287" name="文字框 286"/>
          <p:cNvSpPr txBox="1"/>
          <p:nvPr/>
        </p:nvSpPr>
        <p:spPr>
          <a:xfrm>
            <a:off x="6037200" y="492696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年危机后，私募股权、基础设施和房地产的风险调整后回报满意度</a:t>
            </a:r>
            <a:endParaRPr lang="en-US" sz="1050" b="0" u="none" strike="noStrike">
              <a:solidFill>
                <a:srgbClr val="000000"/>
              </a:solidFill>
              <a:effectLst/>
              <a:uFillTx/>
              <a:latin typeface="Times New Roman" panose="02020603050405020304"/>
            </a:endParaRPr>
          </a:p>
        </p:txBody>
      </p:sp>
      <p:sp>
        <p:nvSpPr>
          <p:cNvPr id="288" name="文字框 287"/>
          <p:cNvSpPr txBox="1"/>
          <p:nvPr/>
        </p:nvSpPr>
        <p:spPr>
          <a:xfrm>
            <a:off x="1108440" y="512748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高于对冲基金。</a:t>
            </a:r>
            <a:endParaRPr lang="en-US" sz="1050" b="0" u="none" strike="noStrike">
              <a:solidFill>
                <a:srgbClr val="000000"/>
              </a:solidFill>
              <a:effectLst/>
              <a:uFillTx/>
              <a:latin typeface="Times New Roman" panose="02020603050405020304"/>
            </a:endParaRPr>
          </a:p>
        </p:txBody>
      </p:sp>
      <p:sp>
        <p:nvSpPr>
          <p:cNvPr id="289" name="文字框 288"/>
          <p:cNvSpPr txBox="1"/>
          <p:nvPr/>
        </p:nvSpPr>
        <p:spPr>
          <a:xfrm>
            <a:off x="534960" y="572868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290" name="任意多邊形 289"/>
          <p:cNvSpPr/>
          <p:nvPr/>
        </p:nvSpPr>
        <p:spPr>
          <a:xfrm>
            <a:off x="551520" y="1270080"/>
            <a:ext cx="4604760" cy="3309480"/>
          </a:xfrm>
          <a:custGeom>
            <a:avLst/>
            <a:gdLst/>
            <a:ahLst/>
            <a:cxnLst/>
            <a:rect l="0" t="0" r="r" b="b"/>
            <a:pathLst>
              <a:path w="12791" h="9193">
                <a:moveTo>
                  <a:pt x="0" y="9008"/>
                </a:moveTo>
                <a:lnTo>
                  <a:pt x="0" y="186"/>
                </a:lnTo>
                <a:cubicBezTo>
                  <a:pt x="0" y="173"/>
                  <a:pt x="0" y="161"/>
                  <a:pt x="2" y="149"/>
                </a:cubicBezTo>
                <a:cubicBezTo>
                  <a:pt x="4" y="137"/>
                  <a:pt x="7" y="126"/>
                  <a:pt x="10" y="115"/>
                </a:cubicBezTo>
                <a:cubicBezTo>
                  <a:pt x="14" y="103"/>
                  <a:pt x="18" y="93"/>
                  <a:pt x="23" y="82"/>
                </a:cubicBezTo>
                <a:cubicBezTo>
                  <a:pt x="28" y="72"/>
                  <a:pt x="34" y="63"/>
                  <a:pt x="40" y="54"/>
                </a:cubicBezTo>
                <a:cubicBezTo>
                  <a:pt x="47" y="46"/>
                  <a:pt x="54" y="38"/>
                  <a:pt x="61" y="31"/>
                </a:cubicBezTo>
                <a:cubicBezTo>
                  <a:pt x="69" y="24"/>
                  <a:pt x="77" y="19"/>
                  <a:pt x="86" y="14"/>
                </a:cubicBezTo>
                <a:cubicBezTo>
                  <a:pt x="94" y="9"/>
                  <a:pt x="103" y="6"/>
                  <a:pt x="112" y="3"/>
                </a:cubicBezTo>
                <a:cubicBezTo>
                  <a:pt x="121" y="1"/>
                  <a:pt x="130" y="0"/>
                  <a:pt x="139" y="0"/>
                </a:cubicBezTo>
                <a:lnTo>
                  <a:pt x="12605" y="0"/>
                </a:lnTo>
                <a:cubicBezTo>
                  <a:pt x="12617" y="0"/>
                  <a:pt x="12630" y="1"/>
                  <a:pt x="12641" y="3"/>
                </a:cubicBezTo>
                <a:cubicBezTo>
                  <a:pt x="12653" y="6"/>
                  <a:pt x="12665" y="9"/>
                  <a:pt x="12676" y="14"/>
                </a:cubicBezTo>
                <a:cubicBezTo>
                  <a:pt x="12688" y="19"/>
                  <a:pt x="12698" y="24"/>
                  <a:pt x="12708" y="31"/>
                </a:cubicBezTo>
                <a:cubicBezTo>
                  <a:pt x="12719" y="38"/>
                  <a:pt x="12728" y="46"/>
                  <a:pt x="12737" y="54"/>
                </a:cubicBezTo>
                <a:cubicBezTo>
                  <a:pt x="12745" y="63"/>
                  <a:pt x="12753" y="72"/>
                  <a:pt x="12760" y="82"/>
                </a:cubicBezTo>
                <a:cubicBezTo>
                  <a:pt x="12766" y="93"/>
                  <a:pt x="12772" y="103"/>
                  <a:pt x="12777" y="115"/>
                </a:cubicBezTo>
                <a:cubicBezTo>
                  <a:pt x="12781" y="126"/>
                  <a:pt x="12785" y="137"/>
                  <a:pt x="12787" y="149"/>
                </a:cubicBezTo>
                <a:cubicBezTo>
                  <a:pt x="12790" y="161"/>
                  <a:pt x="12791" y="173"/>
                  <a:pt x="12791" y="186"/>
                </a:cubicBezTo>
                <a:lnTo>
                  <a:pt x="12791" y="9008"/>
                </a:lnTo>
                <a:cubicBezTo>
                  <a:pt x="12791" y="9020"/>
                  <a:pt x="12790" y="9032"/>
                  <a:pt x="12787" y="9044"/>
                </a:cubicBezTo>
                <a:cubicBezTo>
                  <a:pt x="12785" y="9056"/>
                  <a:pt x="12781" y="9067"/>
                  <a:pt x="12777" y="9079"/>
                </a:cubicBezTo>
                <a:cubicBezTo>
                  <a:pt x="12772" y="9090"/>
                  <a:pt x="12766" y="9101"/>
                  <a:pt x="12760" y="9111"/>
                </a:cubicBezTo>
                <a:cubicBezTo>
                  <a:pt x="12753" y="9121"/>
                  <a:pt x="12745" y="9130"/>
                  <a:pt x="12737" y="9139"/>
                </a:cubicBezTo>
                <a:cubicBezTo>
                  <a:pt x="12728" y="9147"/>
                  <a:pt x="12719" y="9155"/>
                  <a:pt x="12708" y="9162"/>
                </a:cubicBezTo>
                <a:cubicBezTo>
                  <a:pt x="12698" y="9169"/>
                  <a:pt x="12688" y="9174"/>
                  <a:pt x="12676" y="9179"/>
                </a:cubicBezTo>
                <a:cubicBezTo>
                  <a:pt x="12665" y="9184"/>
                  <a:pt x="12653" y="9187"/>
                  <a:pt x="12641" y="9190"/>
                </a:cubicBezTo>
                <a:cubicBezTo>
                  <a:pt x="12630" y="9192"/>
                  <a:pt x="12617" y="9193"/>
                  <a:pt x="12605" y="9193"/>
                </a:cubicBezTo>
                <a:lnTo>
                  <a:pt x="139" y="9193"/>
                </a:lnTo>
                <a:cubicBezTo>
                  <a:pt x="130" y="9193"/>
                  <a:pt x="121" y="9192"/>
                  <a:pt x="112" y="9190"/>
                </a:cubicBezTo>
                <a:cubicBezTo>
                  <a:pt x="103" y="9187"/>
                  <a:pt x="94" y="9184"/>
                  <a:pt x="86" y="9179"/>
                </a:cubicBezTo>
                <a:cubicBezTo>
                  <a:pt x="77" y="9174"/>
                  <a:pt x="69" y="9169"/>
                  <a:pt x="61" y="9162"/>
                </a:cubicBezTo>
                <a:cubicBezTo>
                  <a:pt x="54" y="9155"/>
                  <a:pt x="47" y="9147"/>
                  <a:pt x="40" y="9139"/>
                </a:cubicBezTo>
                <a:cubicBezTo>
                  <a:pt x="34" y="9130"/>
                  <a:pt x="28" y="9121"/>
                  <a:pt x="23" y="9111"/>
                </a:cubicBezTo>
                <a:cubicBezTo>
                  <a:pt x="18" y="9101"/>
                  <a:pt x="14" y="9090"/>
                  <a:pt x="10" y="9079"/>
                </a:cubicBezTo>
                <a:cubicBezTo>
                  <a:pt x="7" y="9067"/>
                  <a:pt x="4" y="9056"/>
                  <a:pt x="2" y="9044"/>
                </a:cubicBezTo>
                <a:cubicBezTo>
                  <a:pt x="0" y="9032"/>
                  <a:pt x="0" y="9020"/>
                  <a:pt x="0" y="900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91" name="任意多邊形 290"/>
          <p:cNvSpPr/>
          <p:nvPr/>
        </p:nvSpPr>
        <p:spPr>
          <a:xfrm>
            <a:off x="534600" y="1270080"/>
            <a:ext cx="67320" cy="3309480"/>
          </a:xfrm>
          <a:custGeom>
            <a:avLst/>
            <a:gdLst/>
            <a:ahLst/>
            <a:cxnLst/>
            <a:rect l="0" t="0" r="r" b="b"/>
            <a:pathLst>
              <a:path w="187" h="9193">
                <a:moveTo>
                  <a:pt x="151" y="14"/>
                </a:moveTo>
                <a:cubicBezTo>
                  <a:pt x="140" y="23"/>
                  <a:pt x="130" y="37"/>
                  <a:pt x="121" y="54"/>
                </a:cubicBezTo>
                <a:cubicBezTo>
                  <a:pt x="112" y="72"/>
                  <a:pt x="106" y="92"/>
                  <a:pt x="101" y="115"/>
                </a:cubicBezTo>
                <a:cubicBezTo>
                  <a:pt x="96" y="137"/>
                  <a:pt x="94" y="161"/>
                  <a:pt x="94" y="186"/>
                </a:cubicBezTo>
                <a:lnTo>
                  <a:pt x="94" y="9008"/>
                </a:lnTo>
                <a:cubicBezTo>
                  <a:pt x="94" y="9032"/>
                  <a:pt x="96" y="9056"/>
                  <a:pt x="101" y="9079"/>
                </a:cubicBezTo>
                <a:cubicBezTo>
                  <a:pt x="106" y="9101"/>
                  <a:pt x="112" y="9121"/>
                  <a:pt x="121" y="9139"/>
                </a:cubicBezTo>
                <a:cubicBezTo>
                  <a:pt x="130" y="9156"/>
                  <a:pt x="140" y="9170"/>
                  <a:pt x="151" y="9179"/>
                </a:cubicBezTo>
                <a:cubicBezTo>
                  <a:pt x="163" y="9189"/>
                  <a:pt x="175" y="9193"/>
                  <a:pt x="187" y="9193"/>
                </a:cubicBezTo>
                <a:cubicBezTo>
                  <a:pt x="162" y="9193"/>
                  <a:pt x="139" y="9189"/>
                  <a:pt x="116" y="9179"/>
                </a:cubicBezTo>
                <a:cubicBezTo>
                  <a:pt x="93" y="9170"/>
                  <a:pt x="72" y="9156"/>
                  <a:pt x="55" y="9139"/>
                </a:cubicBezTo>
                <a:cubicBezTo>
                  <a:pt x="37" y="9121"/>
                  <a:pt x="24" y="9101"/>
                  <a:pt x="14" y="9079"/>
                </a:cubicBezTo>
                <a:cubicBezTo>
                  <a:pt x="5" y="9056"/>
                  <a:pt x="0" y="9032"/>
                  <a:pt x="0" y="9008"/>
                </a:cubicBezTo>
                <a:lnTo>
                  <a:pt x="0" y="186"/>
                </a:lnTo>
                <a:cubicBezTo>
                  <a:pt x="0" y="161"/>
                  <a:pt x="5" y="137"/>
                  <a:pt x="14" y="115"/>
                </a:cubicBezTo>
                <a:cubicBezTo>
                  <a:pt x="24" y="92"/>
                  <a:pt x="37" y="72"/>
                  <a:pt x="55" y="54"/>
                </a:cubicBezTo>
                <a:cubicBezTo>
                  <a:pt x="72" y="37"/>
                  <a:pt x="93" y="23"/>
                  <a:pt x="116" y="14"/>
                </a:cubicBezTo>
                <a:cubicBezTo>
                  <a:pt x="139" y="5"/>
                  <a:pt x="162" y="0"/>
                  <a:pt x="187" y="0"/>
                </a:cubicBezTo>
                <a:cubicBezTo>
                  <a:pt x="175" y="0"/>
                  <a:pt x="163" y="5"/>
                  <a:pt x="151" y="14"/>
                </a:cubicBezTo>
                <a:close/>
              </a:path>
            </a:pathLst>
          </a:custGeom>
          <a:solidFill>
            <a:srgbClr val="60A5FA"/>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292" name="任意多邊形 291"/>
          <p:cNvSpPr/>
          <p:nvPr/>
        </p:nvSpPr>
        <p:spPr>
          <a:xfrm>
            <a:off x="768600" y="1470600"/>
            <a:ext cx="401400" cy="401400"/>
          </a:xfrm>
          <a:custGeom>
            <a:avLst/>
            <a:gdLst/>
            <a:ahLst/>
            <a:cxnLst/>
            <a:rect l="0" t="0" r="r" b="b"/>
            <a:pathLst>
              <a:path w="1115" h="1115">
                <a:moveTo>
                  <a:pt x="1115" y="557"/>
                </a:moveTo>
                <a:cubicBezTo>
                  <a:pt x="1115" y="594"/>
                  <a:pt x="1112" y="630"/>
                  <a:pt x="1105" y="666"/>
                </a:cubicBezTo>
                <a:cubicBezTo>
                  <a:pt x="1097" y="702"/>
                  <a:pt x="1087" y="737"/>
                  <a:pt x="1073" y="770"/>
                </a:cubicBezTo>
                <a:cubicBezTo>
                  <a:pt x="1059" y="804"/>
                  <a:pt x="1042" y="836"/>
                  <a:pt x="1021" y="867"/>
                </a:cubicBezTo>
                <a:cubicBezTo>
                  <a:pt x="1001" y="897"/>
                  <a:pt x="978" y="925"/>
                  <a:pt x="952" y="952"/>
                </a:cubicBezTo>
                <a:cubicBezTo>
                  <a:pt x="926" y="978"/>
                  <a:pt x="898" y="1001"/>
                  <a:pt x="868" y="1021"/>
                </a:cubicBezTo>
                <a:cubicBezTo>
                  <a:pt x="837" y="1042"/>
                  <a:pt x="805" y="1059"/>
                  <a:pt x="771" y="1073"/>
                </a:cubicBezTo>
                <a:cubicBezTo>
                  <a:pt x="738" y="1087"/>
                  <a:pt x="703" y="1097"/>
                  <a:pt x="667" y="1105"/>
                </a:cubicBezTo>
                <a:cubicBezTo>
                  <a:pt x="630" y="1112"/>
                  <a:pt x="594" y="1115"/>
                  <a:pt x="557" y="1115"/>
                </a:cubicBezTo>
                <a:cubicBezTo>
                  <a:pt x="521" y="1115"/>
                  <a:pt x="484" y="1112"/>
                  <a:pt x="449" y="1105"/>
                </a:cubicBezTo>
                <a:cubicBezTo>
                  <a:pt x="413" y="1097"/>
                  <a:pt x="378" y="1087"/>
                  <a:pt x="344" y="1073"/>
                </a:cubicBezTo>
                <a:cubicBezTo>
                  <a:pt x="310" y="1059"/>
                  <a:pt x="278" y="1042"/>
                  <a:pt x="248" y="1021"/>
                </a:cubicBezTo>
                <a:cubicBezTo>
                  <a:pt x="217" y="1001"/>
                  <a:pt x="189" y="978"/>
                  <a:pt x="163" y="952"/>
                </a:cubicBezTo>
                <a:cubicBezTo>
                  <a:pt x="137" y="925"/>
                  <a:pt x="114" y="897"/>
                  <a:pt x="94" y="867"/>
                </a:cubicBezTo>
                <a:cubicBezTo>
                  <a:pt x="74" y="836"/>
                  <a:pt x="57" y="804"/>
                  <a:pt x="43" y="770"/>
                </a:cubicBezTo>
                <a:cubicBezTo>
                  <a:pt x="29" y="737"/>
                  <a:pt x="18" y="702"/>
                  <a:pt x="11" y="666"/>
                </a:cubicBezTo>
                <a:cubicBezTo>
                  <a:pt x="4" y="630"/>
                  <a:pt x="0" y="594"/>
                  <a:pt x="0" y="557"/>
                </a:cubicBezTo>
                <a:cubicBezTo>
                  <a:pt x="0" y="521"/>
                  <a:pt x="4" y="484"/>
                  <a:pt x="11" y="448"/>
                </a:cubicBezTo>
                <a:cubicBezTo>
                  <a:pt x="18" y="413"/>
                  <a:pt x="29" y="378"/>
                  <a:pt x="43" y="344"/>
                </a:cubicBezTo>
                <a:cubicBezTo>
                  <a:pt x="57" y="310"/>
                  <a:pt x="74" y="278"/>
                  <a:pt x="94" y="248"/>
                </a:cubicBezTo>
                <a:cubicBezTo>
                  <a:pt x="114" y="217"/>
                  <a:pt x="137" y="189"/>
                  <a:pt x="163" y="163"/>
                </a:cubicBezTo>
                <a:cubicBezTo>
                  <a:pt x="189" y="137"/>
                  <a:pt x="217" y="114"/>
                  <a:pt x="248" y="94"/>
                </a:cubicBezTo>
                <a:cubicBezTo>
                  <a:pt x="278" y="74"/>
                  <a:pt x="310" y="56"/>
                  <a:pt x="344" y="42"/>
                </a:cubicBezTo>
                <a:cubicBezTo>
                  <a:pt x="378" y="28"/>
                  <a:pt x="413" y="18"/>
                  <a:pt x="449" y="11"/>
                </a:cubicBezTo>
                <a:cubicBezTo>
                  <a:pt x="484" y="4"/>
                  <a:pt x="521" y="0"/>
                  <a:pt x="557" y="0"/>
                </a:cubicBezTo>
                <a:cubicBezTo>
                  <a:pt x="594" y="0"/>
                  <a:pt x="630" y="4"/>
                  <a:pt x="667" y="11"/>
                </a:cubicBezTo>
                <a:cubicBezTo>
                  <a:pt x="703" y="18"/>
                  <a:pt x="738" y="28"/>
                  <a:pt x="771" y="42"/>
                </a:cubicBezTo>
                <a:cubicBezTo>
                  <a:pt x="805" y="56"/>
                  <a:pt x="837" y="74"/>
                  <a:pt x="868" y="94"/>
                </a:cubicBezTo>
                <a:cubicBezTo>
                  <a:pt x="898" y="114"/>
                  <a:pt x="926" y="137"/>
                  <a:pt x="952" y="163"/>
                </a:cubicBezTo>
                <a:cubicBezTo>
                  <a:pt x="978" y="189"/>
                  <a:pt x="1001" y="217"/>
                  <a:pt x="1021" y="248"/>
                </a:cubicBezTo>
                <a:cubicBezTo>
                  <a:pt x="1042" y="278"/>
                  <a:pt x="1059" y="310"/>
                  <a:pt x="1073" y="344"/>
                </a:cubicBezTo>
                <a:cubicBezTo>
                  <a:pt x="1087" y="378"/>
                  <a:pt x="1097" y="413"/>
                  <a:pt x="1105" y="448"/>
                </a:cubicBezTo>
                <a:cubicBezTo>
                  <a:pt x="1112" y="484"/>
                  <a:pt x="1115" y="521"/>
                  <a:pt x="1115" y="557"/>
                </a:cubicBezTo>
                <a:close/>
              </a:path>
            </a:pathLst>
          </a:custGeom>
          <a:solidFill>
            <a:srgbClr val="1E40AF"/>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293" name="圖片 292"/>
          <p:cNvPicPr/>
          <p:nvPr/>
        </p:nvPicPr>
        <p:blipFill>
          <a:blip r:embed="rId4"/>
          <a:stretch>
            <a:fillRect/>
          </a:stretch>
        </p:blipFill>
        <p:spPr>
          <a:xfrm>
            <a:off x="894240" y="1571040"/>
            <a:ext cx="150120" cy="200160"/>
          </a:xfrm>
          <a:prstGeom prst="rect">
            <a:avLst/>
          </a:prstGeom>
          <a:noFill/>
          <a:ln w="0">
            <a:noFill/>
          </a:ln>
        </p:spPr>
      </p:pic>
      <p:sp>
        <p:nvSpPr>
          <p:cNvPr id="294" name="文字框 293"/>
          <p:cNvSpPr txBox="1"/>
          <p:nvPr/>
        </p:nvSpPr>
        <p:spPr>
          <a:xfrm>
            <a:off x="9824760" y="5732640"/>
            <a:ext cx="20701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6 / 24</a:t>
            </a:r>
            <a:endParaRPr lang="en-US" sz="920" b="0" u="none" strike="noStrike">
              <a:solidFill>
                <a:srgbClr val="000000"/>
              </a:solidFill>
              <a:effectLst/>
              <a:uFillTx/>
              <a:latin typeface="Times New Roman" panose="02020603050405020304"/>
            </a:endParaRPr>
          </a:p>
        </p:txBody>
      </p:sp>
      <p:sp>
        <p:nvSpPr>
          <p:cNvPr id="295" name="文字框 294"/>
          <p:cNvSpPr txBox="1"/>
          <p:nvPr/>
        </p:nvSpPr>
        <p:spPr>
          <a:xfrm>
            <a:off x="1303560" y="1545120"/>
            <a:ext cx="805320" cy="253440"/>
          </a:xfrm>
          <a:prstGeom prst="rect">
            <a:avLst/>
          </a:prstGeom>
          <a:noFill/>
          <a:ln w="0">
            <a:noFill/>
          </a:ln>
        </p:spPr>
        <p:txBody>
          <a:bodyPr wrap="none" lIns="0" tIns="0" rIns="0" bIns="0" anchor="t">
            <a:spAutoFit/>
          </a:bodyPr>
          <a:p>
            <a:r>
              <a:rPr lang="zh-CN" sz="1580" b="0" u="none" strike="noStrike">
                <a:solidFill>
                  <a:srgbClr val="60A5FA"/>
                </a:solidFill>
                <a:effectLst/>
                <a:uFillTx/>
                <a:latin typeface="WenQuanYiZenHei"/>
                <a:ea typeface="WenQuanYiZenHei"/>
              </a:rPr>
              <a:t>私募股权</a:t>
            </a:r>
            <a:endParaRPr lang="en-US" sz="1580" b="0" u="none" strike="noStrike">
              <a:solidFill>
                <a:srgbClr val="000000"/>
              </a:solidFill>
              <a:effectLst/>
              <a:uFillTx/>
              <a:latin typeface="Times New Roman" panose="02020603050405020304"/>
            </a:endParaRPr>
          </a:p>
        </p:txBody>
      </p:sp>
      <p:pic>
        <p:nvPicPr>
          <p:cNvPr id="296" name="圖片 295"/>
          <p:cNvPicPr/>
          <p:nvPr/>
        </p:nvPicPr>
        <p:blipFill>
          <a:blip r:embed="rId5"/>
          <a:stretch>
            <a:fillRect/>
          </a:stretch>
        </p:blipFill>
        <p:spPr>
          <a:xfrm>
            <a:off x="768960" y="2039040"/>
            <a:ext cx="166680" cy="166680"/>
          </a:xfrm>
          <a:prstGeom prst="rect">
            <a:avLst/>
          </a:prstGeom>
          <a:noFill/>
          <a:ln w="0">
            <a:noFill/>
          </a:ln>
        </p:spPr>
      </p:pic>
      <p:sp>
        <p:nvSpPr>
          <p:cNvPr id="297" name="文字框 296"/>
          <p:cNvSpPr txBox="1"/>
          <p:nvPr/>
        </p:nvSpPr>
        <p:spPr>
          <a:xfrm>
            <a:off x="2106000" y="1551960"/>
            <a:ext cx="1860480" cy="235080"/>
          </a:xfrm>
          <a:prstGeom prst="rect">
            <a:avLst/>
          </a:prstGeom>
          <a:noFill/>
          <a:ln w="0">
            <a:noFill/>
          </a:ln>
        </p:spPr>
        <p:txBody>
          <a:bodyPr wrap="none" lIns="0" tIns="0" rIns="0" bIns="0" anchor="t">
            <a:spAutoFit/>
          </a:bodyPr>
          <a:p>
            <a:r>
              <a:rPr lang="en-US" sz="1580" b="1" u="none" strike="noStrike">
                <a:solidFill>
                  <a:srgbClr val="60A5FA"/>
                </a:solidFill>
                <a:effectLst/>
                <a:uFillTx/>
                <a:latin typeface="DejaVuSans"/>
                <a:ea typeface="DejaVuSans"/>
              </a:rPr>
              <a:t> (Private Equity)</a:t>
            </a:r>
            <a:endParaRPr lang="en-US" sz="1580" b="0" u="none" strike="noStrike">
              <a:solidFill>
                <a:srgbClr val="000000"/>
              </a:solidFill>
              <a:effectLst/>
              <a:uFillTx/>
              <a:latin typeface="Times New Roman" panose="02020603050405020304"/>
            </a:endParaRPr>
          </a:p>
        </p:txBody>
      </p:sp>
      <p:sp>
        <p:nvSpPr>
          <p:cNvPr id="298" name="文字框 297"/>
          <p:cNvSpPr txBox="1"/>
          <p:nvPr/>
        </p:nvSpPr>
        <p:spPr>
          <a:xfrm>
            <a:off x="1002960" y="2020320"/>
            <a:ext cx="8388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危机中表现</a:t>
            </a:r>
            <a:endParaRPr lang="en-US" sz="1320" b="0" u="none" strike="noStrike">
              <a:solidFill>
                <a:srgbClr val="000000"/>
              </a:solidFill>
              <a:effectLst/>
              <a:uFillTx/>
              <a:latin typeface="Times New Roman" panose="02020603050405020304"/>
            </a:endParaRPr>
          </a:p>
        </p:txBody>
      </p:sp>
      <p:pic>
        <p:nvPicPr>
          <p:cNvPr id="299" name="圖片 298"/>
          <p:cNvPicPr/>
          <p:nvPr/>
        </p:nvPicPr>
        <p:blipFill>
          <a:blip r:embed="rId6"/>
          <a:stretch>
            <a:fillRect/>
          </a:stretch>
        </p:blipFill>
        <p:spPr>
          <a:xfrm>
            <a:off x="768960" y="2707560"/>
            <a:ext cx="166680" cy="166680"/>
          </a:xfrm>
          <a:prstGeom prst="rect">
            <a:avLst/>
          </a:prstGeom>
          <a:noFill/>
          <a:ln w="0">
            <a:noFill/>
          </a:ln>
        </p:spPr>
      </p:pic>
      <p:sp>
        <p:nvSpPr>
          <p:cNvPr id="300" name="文字框 299"/>
          <p:cNvSpPr txBox="1"/>
          <p:nvPr/>
        </p:nvSpPr>
        <p:spPr>
          <a:xfrm>
            <a:off x="768960" y="2353320"/>
            <a:ext cx="3755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表现出较强的韧性，回撤幅度通常小于公开市场，且恢复更快。</a:t>
            </a:r>
            <a:endParaRPr lang="en-US" sz="1050" b="0" u="none" strike="noStrike">
              <a:solidFill>
                <a:srgbClr val="000000"/>
              </a:solidFill>
              <a:effectLst/>
              <a:uFillTx/>
              <a:latin typeface="Times New Roman" panose="02020603050405020304"/>
            </a:endParaRPr>
          </a:p>
        </p:txBody>
      </p:sp>
      <p:pic>
        <p:nvPicPr>
          <p:cNvPr id="301" name="圖片 300"/>
          <p:cNvPicPr/>
          <p:nvPr/>
        </p:nvPicPr>
        <p:blipFill>
          <a:blip r:embed="rId7"/>
          <a:stretch>
            <a:fillRect/>
          </a:stretch>
        </p:blipFill>
        <p:spPr>
          <a:xfrm>
            <a:off x="810720" y="3033360"/>
            <a:ext cx="116640" cy="133200"/>
          </a:xfrm>
          <a:prstGeom prst="rect">
            <a:avLst/>
          </a:prstGeom>
          <a:noFill/>
          <a:ln w="0">
            <a:noFill/>
          </a:ln>
        </p:spPr>
      </p:pic>
      <p:sp>
        <p:nvSpPr>
          <p:cNvPr id="302" name="文字框 301"/>
          <p:cNvSpPr txBox="1"/>
          <p:nvPr/>
        </p:nvSpPr>
        <p:spPr>
          <a:xfrm>
            <a:off x="1002960" y="268884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主要特征</a:t>
            </a:r>
            <a:endParaRPr lang="en-US" sz="1320" b="0" u="none" strike="noStrike">
              <a:solidFill>
                <a:srgbClr val="000000"/>
              </a:solidFill>
              <a:effectLst/>
              <a:uFillTx/>
              <a:latin typeface="Times New Roman" panose="02020603050405020304"/>
            </a:endParaRPr>
          </a:p>
        </p:txBody>
      </p:sp>
      <p:pic>
        <p:nvPicPr>
          <p:cNvPr id="303" name="圖片 302"/>
          <p:cNvPicPr/>
          <p:nvPr/>
        </p:nvPicPr>
        <p:blipFill>
          <a:blip r:embed="rId8"/>
          <a:stretch>
            <a:fillRect/>
          </a:stretch>
        </p:blipFill>
        <p:spPr>
          <a:xfrm>
            <a:off x="785520" y="3334320"/>
            <a:ext cx="166680" cy="133200"/>
          </a:xfrm>
          <a:prstGeom prst="rect">
            <a:avLst/>
          </a:prstGeom>
          <a:noFill/>
          <a:ln w="0">
            <a:noFill/>
          </a:ln>
        </p:spPr>
      </p:pic>
      <p:sp>
        <p:nvSpPr>
          <p:cNvPr id="304" name="文字框 303"/>
          <p:cNvSpPr txBox="1"/>
          <p:nvPr/>
        </p:nvSpPr>
        <p:spPr>
          <a:xfrm>
            <a:off x="1069560" y="3021840"/>
            <a:ext cx="32194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资本锁定期长，避免了在市场恐慌时被迫低价出售资产</a:t>
            </a:r>
            <a:endParaRPr lang="en-US" sz="1050" b="0" u="none" strike="noStrike">
              <a:solidFill>
                <a:srgbClr val="000000"/>
              </a:solidFill>
              <a:effectLst/>
              <a:uFillTx/>
              <a:latin typeface="Times New Roman" panose="02020603050405020304"/>
            </a:endParaRPr>
          </a:p>
        </p:txBody>
      </p:sp>
      <p:pic>
        <p:nvPicPr>
          <p:cNvPr id="305" name="圖片 304"/>
          <p:cNvPicPr/>
          <p:nvPr/>
        </p:nvPicPr>
        <p:blipFill>
          <a:blip r:embed="rId9"/>
          <a:stretch>
            <a:fillRect/>
          </a:stretch>
        </p:blipFill>
        <p:spPr>
          <a:xfrm>
            <a:off x="802080" y="3635280"/>
            <a:ext cx="133200" cy="133200"/>
          </a:xfrm>
          <a:prstGeom prst="rect">
            <a:avLst/>
          </a:prstGeom>
          <a:noFill/>
          <a:ln w="0">
            <a:noFill/>
          </a:ln>
        </p:spPr>
      </p:pic>
      <p:sp>
        <p:nvSpPr>
          <p:cNvPr id="306" name="文字框 305"/>
          <p:cNvSpPr txBox="1"/>
          <p:nvPr/>
        </p:nvSpPr>
        <p:spPr>
          <a:xfrm>
            <a:off x="1069560" y="3322440"/>
            <a:ext cx="2683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管理人能够主动介入，帮助被投企业渡过难关</a:t>
            </a:r>
            <a:endParaRPr lang="en-US" sz="1050" b="0" u="none" strike="noStrike">
              <a:solidFill>
                <a:srgbClr val="000000"/>
              </a:solidFill>
              <a:effectLst/>
              <a:uFillTx/>
              <a:latin typeface="Times New Roman" panose="02020603050405020304"/>
            </a:endParaRPr>
          </a:p>
        </p:txBody>
      </p:sp>
      <p:sp>
        <p:nvSpPr>
          <p:cNvPr id="307" name="任意多邊形 306"/>
          <p:cNvSpPr/>
          <p:nvPr/>
        </p:nvSpPr>
        <p:spPr>
          <a:xfrm>
            <a:off x="5556960" y="1270080"/>
            <a:ext cx="4605120" cy="3309480"/>
          </a:xfrm>
          <a:custGeom>
            <a:avLst/>
            <a:gdLst/>
            <a:ahLst/>
            <a:cxnLst/>
            <a:rect l="0" t="0" r="r" b="b"/>
            <a:pathLst>
              <a:path w="12792" h="9193">
                <a:moveTo>
                  <a:pt x="0" y="9008"/>
                </a:moveTo>
                <a:lnTo>
                  <a:pt x="0" y="186"/>
                </a:lnTo>
                <a:cubicBezTo>
                  <a:pt x="0" y="173"/>
                  <a:pt x="1" y="161"/>
                  <a:pt x="3" y="149"/>
                </a:cubicBezTo>
                <a:cubicBezTo>
                  <a:pt x="5" y="137"/>
                  <a:pt x="7" y="126"/>
                  <a:pt x="11" y="115"/>
                </a:cubicBezTo>
                <a:cubicBezTo>
                  <a:pt x="14" y="103"/>
                  <a:pt x="19" y="93"/>
                  <a:pt x="24" y="82"/>
                </a:cubicBezTo>
                <a:cubicBezTo>
                  <a:pt x="29" y="72"/>
                  <a:pt x="35" y="63"/>
                  <a:pt x="41" y="54"/>
                </a:cubicBezTo>
                <a:cubicBezTo>
                  <a:pt x="47" y="46"/>
                  <a:pt x="54" y="38"/>
                  <a:pt x="62" y="31"/>
                </a:cubicBezTo>
                <a:cubicBezTo>
                  <a:pt x="70" y="24"/>
                  <a:pt x="78" y="19"/>
                  <a:pt x="86" y="14"/>
                </a:cubicBezTo>
                <a:cubicBezTo>
                  <a:pt x="95" y="9"/>
                  <a:pt x="103" y="6"/>
                  <a:pt x="112" y="3"/>
                </a:cubicBezTo>
                <a:cubicBezTo>
                  <a:pt x="121" y="1"/>
                  <a:pt x="130" y="0"/>
                  <a:pt x="139" y="0"/>
                </a:cubicBezTo>
                <a:lnTo>
                  <a:pt x="12606" y="0"/>
                </a:lnTo>
                <a:cubicBezTo>
                  <a:pt x="12618" y="0"/>
                  <a:pt x="12630" y="1"/>
                  <a:pt x="12642" y="3"/>
                </a:cubicBezTo>
                <a:cubicBezTo>
                  <a:pt x="12654" y="6"/>
                  <a:pt x="12666" y="9"/>
                  <a:pt x="12677" y="14"/>
                </a:cubicBezTo>
                <a:cubicBezTo>
                  <a:pt x="12688" y="19"/>
                  <a:pt x="12699" y="24"/>
                  <a:pt x="12709" y="31"/>
                </a:cubicBezTo>
                <a:cubicBezTo>
                  <a:pt x="12719" y="38"/>
                  <a:pt x="12729" y="46"/>
                  <a:pt x="12737" y="54"/>
                </a:cubicBezTo>
                <a:cubicBezTo>
                  <a:pt x="12746" y="63"/>
                  <a:pt x="12753" y="72"/>
                  <a:pt x="12760" y="82"/>
                </a:cubicBezTo>
                <a:cubicBezTo>
                  <a:pt x="12767" y="93"/>
                  <a:pt x="12773" y="103"/>
                  <a:pt x="12777" y="115"/>
                </a:cubicBezTo>
                <a:cubicBezTo>
                  <a:pt x="12782" y="126"/>
                  <a:pt x="12786" y="137"/>
                  <a:pt x="12788" y="149"/>
                </a:cubicBezTo>
                <a:cubicBezTo>
                  <a:pt x="12790" y="161"/>
                  <a:pt x="12792" y="173"/>
                  <a:pt x="12792" y="186"/>
                </a:cubicBezTo>
                <a:lnTo>
                  <a:pt x="12792" y="9008"/>
                </a:lnTo>
                <a:cubicBezTo>
                  <a:pt x="12792" y="9020"/>
                  <a:pt x="12790" y="9032"/>
                  <a:pt x="12788" y="9044"/>
                </a:cubicBezTo>
                <a:cubicBezTo>
                  <a:pt x="12786" y="9056"/>
                  <a:pt x="12782" y="9067"/>
                  <a:pt x="12777" y="9079"/>
                </a:cubicBezTo>
                <a:cubicBezTo>
                  <a:pt x="12773" y="9090"/>
                  <a:pt x="12767" y="9101"/>
                  <a:pt x="12760" y="9111"/>
                </a:cubicBezTo>
                <a:cubicBezTo>
                  <a:pt x="12753" y="9121"/>
                  <a:pt x="12746" y="9130"/>
                  <a:pt x="12737" y="9139"/>
                </a:cubicBezTo>
                <a:cubicBezTo>
                  <a:pt x="12729" y="9147"/>
                  <a:pt x="12719" y="9155"/>
                  <a:pt x="12709" y="9162"/>
                </a:cubicBezTo>
                <a:cubicBezTo>
                  <a:pt x="12699" y="9169"/>
                  <a:pt x="12688" y="9174"/>
                  <a:pt x="12677" y="9179"/>
                </a:cubicBezTo>
                <a:cubicBezTo>
                  <a:pt x="12666" y="9184"/>
                  <a:pt x="12654" y="9187"/>
                  <a:pt x="12642" y="9190"/>
                </a:cubicBezTo>
                <a:cubicBezTo>
                  <a:pt x="12630" y="9192"/>
                  <a:pt x="12618" y="9193"/>
                  <a:pt x="12606" y="9193"/>
                </a:cubicBezTo>
                <a:lnTo>
                  <a:pt x="139" y="9193"/>
                </a:lnTo>
                <a:cubicBezTo>
                  <a:pt x="130" y="9193"/>
                  <a:pt x="121" y="9192"/>
                  <a:pt x="112" y="9190"/>
                </a:cubicBezTo>
                <a:cubicBezTo>
                  <a:pt x="103" y="9187"/>
                  <a:pt x="95" y="9184"/>
                  <a:pt x="86" y="9179"/>
                </a:cubicBezTo>
                <a:cubicBezTo>
                  <a:pt x="78" y="9174"/>
                  <a:pt x="70" y="9169"/>
                  <a:pt x="62" y="9162"/>
                </a:cubicBezTo>
                <a:cubicBezTo>
                  <a:pt x="54" y="9155"/>
                  <a:pt x="47" y="9147"/>
                  <a:pt x="41" y="9139"/>
                </a:cubicBezTo>
                <a:cubicBezTo>
                  <a:pt x="35" y="9130"/>
                  <a:pt x="29" y="9121"/>
                  <a:pt x="24" y="9111"/>
                </a:cubicBezTo>
                <a:cubicBezTo>
                  <a:pt x="19" y="9101"/>
                  <a:pt x="14" y="9090"/>
                  <a:pt x="11" y="9079"/>
                </a:cubicBezTo>
                <a:cubicBezTo>
                  <a:pt x="7" y="9067"/>
                  <a:pt x="5" y="9056"/>
                  <a:pt x="3" y="9044"/>
                </a:cubicBezTo>
                <a:cubicBezTo>
                  <a:pt x="1" y="9032"/>
                  <a:pt x="0" y="9020"/>
                  <a:pt x="0" y="900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08" name="任意多邊形 307"/>
          <p:cNvSpPr/>
          <p:nvPr/>
        </p:nvSpPr>
        <p:spPr>
          <a:xfrm>
            <a:off x="5540400" y="1270080"/>
            <a:ext cx="66960" cy="3309480"/>
          </a:xfrm>
          <a:custGeom>
            <a:avLst/>
            <a:gdLst/>
            <a:ahLst/>
            <a:cxnLst/>
            <a:rect l="0" t="0" r="r" b="b"/>
            <a:pathLst>
              <a:path w="186" h="9193">
                <a:moveTo>
                  <a:pt x="151" y="14"/>
                </a:moveTo>
                <a:cubicBezTo>
                  <a:pt x="140" y="23"/>
                  <a:pt x="130" y="37"/>
                  <a:pt x="121" y="54"/>
                </a:cubicBezTo>
                <a:cubicBezTo>
                  <a:pt x="112" y="72"/>
                  <a:pt x="105" y="92"/>
                  <a:pt x="101" y="115"/>
                </a:cubicBezTo>
                <a:cubicBezTo>
                  <a:pt x="96" y="137"/>
                  <a:pt x="94" y="161"/>
                  <a:pt x="94" y="186"/>
                </a:cubicBezTo>
                <a:lnTo>
                  <a:pt x="94" y="9008"/>
                </a:lnTo>
                <a:cubicBezTo>
                  <a:pt x="94" y="9032"/>
                  <a:pt x="96" y="9056"/>
                  <a:pt x="101" y="9079"/>
                </a:cubicBezTo>
                <a:cubicBezTo>
                  <a:pt x="105" y="9101"/>
                  <a:pt x="112" y="9121"/>
                  <a:pt x="121" y="9139"/>
                </a:cubicBezTo>
                <a:cubicBezTo>
                  <a:pt x="130" y="9156"/>
                  <a:pt x="140" y="9170"/>
                  <a:pt x="151" y="9179"/>
                </a:cubicBezTo>
                <a:cubicBezTo>
                  <a:pt x="162" y="9189"/>
                  <a:pt x="174" y="9193"/>
                  <a:pt x="186" y="9193"/>
                </a:cubicBezTo>
                <a:cubicBezTo>
                  <a:pt x="162" y="9193"/>
                  <a:pt x="138" y="9189"/>
                  <a:pt x="115" y="9179"/>
                </a:cubicBezTo>
                <a:cubicBezTo>
                  <a:pt x="93" y="9170"/>
                  <a:pt x="73" y="9156"/>
                  <a:pt x="54" y="9139"/>
                </a:cubicBezTo>
                <a:cubicBezTo>
                  <a:pt x="37" y="9121"/>
                  <a:pt x="23" y="9101"/>
                  <a:pt x="14" y="9079"/>
                </a:cubicBezTo>
                <a:cubicBezTo>
                  <a:pt x="4" y="9056"/>
                  <a:pt x="0" y="9032"/>
                  <a:pt x="0" y="9008"/>
                </a:cubicBezTo>
                <a:lnTo>
                  <a:pt x="0" y="185"/>
                </a:lnTo>
                <a:cubicBezTo>
                  <a:pt x="0" y="161"/>
                  <a:pt x="4" y="137"/>
                  <a:pt x="14" y="115"/>
                </a:cubicBezTo>
                <a:cubicBezTo>
                  <a:pt x="23" y="92"/>
                  <a:pt x="37" y="72"/>
                  <a:pt x="54" y="54"/>
                </a:cubicBezTo>
                <a:cubicBezTo>
                  <a:pt x="73" y="37"/>
                  <a:pt x="93" y="23"/>
                  <a:pt x="115" y="14"/>
                </a:cubicBezTo>
                <a:cubicBezTo>
                  <a:pt x="138" y="5"/>
                  <a:pt x="162" y="0"/>
                  <a:pt x="186" y="0"/>
                </a:cubicBezTo>
                <a:cubicBezTo>
                  <a:pt x="174" y="0"/>
                  <a:pt x="162" y="5"/>
                  <a:pt x="151" y="14"/>
                </a:cubicBezTo>
                <a:close/>
              </a:path>
            </a:pathLst>
          </a:custGeom>
          <a:solidFill>
            <a:srgbClr val="34D399"/>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09" name="任意多邊形 308"/>
          <p:cNvSpPr/>
          <p:nvPr/>
        </p:nvSpPr>
        <p:spPr>
          <a:xfrm>
            <a:off x="5774400" y="1470600"/>
            <a:ext cx="401400" cy="401400"/>
          </a:xfrm>
          <a:custGeom>
            <a:avLst/>
            <a:gdLst/>
            <a:ahLst/>
            <a:cxnLst/>
            <a:rect l="0" t="0" r="r" b="b"/>
            <a:pathLst>
              <a:path w="1115" h="1115">
                <a:moveTo>
                  <a:pt x="1115" y="557"/>
                </a:moveTo>
                <a:cubicBezTo>
                  <a:pt x="1115" y="594"/>
                  <a:pt x="1111" y="630"/>
                  <a:pt x="1104" y="666"/>
                </a:cubicBezTo>
                <a:cubicBezTo>
                  <a:pt x="1097" y="702"/>
                  <a:pt x="1087" y="737"/>
                  <a:pt x="1073" y="770"/>
                </a:cubicBezTo>
                <a:cubicBezTo>
                  <a:pt x="1059" y="804"/>
                  <a:pt x="1041" y="836"/>
                  <a:pt x="1021" y="867"/>
                </a:cubicBezTo>
                <a:cubicBezTo>
                  <a:pt x="1001" y="897"/>
                  <a:pt x="978" y="925"/>
                  <a:pt x="952" y="952"/>
                </a:cubicBezTo>
                <a:cubicBezTo>
                  <a:pt x="926" y="978"/>
                  <a:pt x="898" y="1001"/>
                  <a:pt x="867" y="1021"/>
                </a:cubicBezTo>
                <a:cubicBezTo>
                  <a:pt x="837" y="1042"/>
                  <a:pt x="805" y="1059"/>
                  <a:pt x="771" y="1073"/>
                </a:cubicBezTo>
                <a:cubicBezTo>
                  <a:pt x="737" y="1087"/>
                  <a:pt x="702" y="1097"/>
                  <a:pt x="667" y="1105"/>
                </a:cubicBezTo>
                <a:cubicBezTo>
                  <a:pt x="631" y="1112"/>
                  <a:pt x="594" y="1115"/>
                  <a:pt x="558" y="1115"/>
                </a:cubicBezTo>
                <a:cubicBezTo>
                  <a:pt x="521" y="1115"/>
                  <a:pt x="485" y="1112"/>
                  <a:pt x="449" y="1105"/>
                </a:cubicBezTo>
                <a:cubicBezTo>
                  <a:pt x="413" y="1097"/>
                  <a:pt x="378" y="1087"/>
                  <a:pt x="345" y="1073"/>
                </a:cubicBezTo>
                <a:cubicBezTo>
                  <a:pt x="311" y="1059"/>
                  <a:pt x="279" y="1042"/>
                  <a:pt x="248" y="1021"/>
                </a:cubicBezTo>
                <a:cubicBezTo>
                  <a:pt x="218" y="1001"/>
                  <a:pt x="190" y="978"/>
                  <a:pt x="164" y="952"/>
                </a:cubicBezTo>
                <a:cubicBezTo>
                  <a:pt x="138" y="925"/>
                  <a:pt x="115" y="897"/>
                  <a:pt x="94" y="867"/>
                </a:cubicBezTo>
                <a:cubicBezTo>
                  <a:pt x="73" y="836"/>
                  <a:pt x="56" y="804"/>
                  <a:pt x="42" y="770"/>
                </a:cubicBezTo>
                <a:cubicBezTo>
                  <a:pt x="28" y="737"/>
                  <a:pt x="18" y="702"/>
                  <a:pt x="10" y="666"/>
                </a:cubicBezTo>
                <a:cubicBezTo>
                  <a:pt x="3" y="630"/>
                  <a:pt x="0" y="594"/>
                  <a:pt x="0" y="557"/>
                </a:cubicBezTo>
                <a:cubicBezTo>
                  <a:pt x="0" y="521"/>
                  <a:pt x="3" y="484"/>
                  <a:pt x="10" y="448"/>
                </a:cubicBezTo>
                <a:cubicBezTo>
                  <a:pt x="18" y="413"/>
                  <a:pt x="28" y="378"/>
                  <a:pt x="42" y="344"/>
                </a:cubicBezTo>
                <a:cubicBezTo>
                  <a:pt x="56" y="310"/>
                  <a:pt x="73" y="278"/>
                  <a:pt x="94" y="248"/>
                </a:cubicBezTo>
                <a:cubicBezTo>
                  <a:pt x="115" y="217"/>
                  <a:pt x="138" y="189"/>
                  <a:pt x="164" y="163"/>
                </a:cubicBezTo>
                <a:cubicBezTo>
                  <a:pt x="190" y="137"/>
                  <a:pt x="218" y="114"/>
                  <a:pt x="248" y="94"/>
                </a:cubicBezTo>
                <a:cubicBezTo>
                  <a:pt x="279" y="74"/>
                  <a:pt x="311" y="56"/>
                  <a:pt x="345" y="42"/>
                </a:cubicBezTo>
                <a:cubicBezTo>
                  <a:pt x="378" y="28"/>
                  <a:pt x="413" y="18"/>
                  <a:pt x="449" y="11"/>
                </a:cubicBezTo>
                <a:cubicBezTo>
                  <a:pt x="485" y="4"/>
                  <a:pt x="521" y="0"/>
                  <a:pt x="558" y="0"/>
                </a:cubicBezTo>
                <a:cubicBezTo>
                  <a:pt x="594" y="0"/>
                  <a:pt x="631" y="4"/>
                  <a:pt x="667" y="11"/>
                </a:cubicBezTo>
                <a:cubicBezTo>
                  <a:pt x="702" y="18"/>
                  <a:pt x="737" y="28"/>
                  <a:pt x="771" y="42"/>
                </a:cubicBezTo>
                <a:cubicBezTo>
                  <a:pt x="805" y="56"/>
                  <a:pt x="837" y="74"/>
                  <a:pt x="867" y="94"/>
                </a:cubicBezTo>
                <a:cubicBezTo>
                  <a:pt x="898" y="114"/>
                  <a:pt x="926" y="137"/>
                  <a:pt x="952" y="163"/>
                </a:cubicBezTo>
                <a:cubicBezTo>
                  <a:pt x="978" y="189"/>
                  <a:pt x="1001" y="217"/>
                  <a:pt x="1021" y="248"/>
                </a:cubicBezTo>
                <a:cubicBezTo>
                  <a:pt x="1041" y="278"/>
                  <a:pt x="1059" y="310"/>
                  <a:pt x="1073" y="344"/>
                </a:cubicBezTo>
                <a:cubicBezTo>
                  <a:pt x="1087" y="378"/>
                  <a:pt x="1097" y="413"/>
                  <a:pt x="1104" y="448"/>
                </a:cubicBezTo>
                <a:cubicBezTo>
                  <a:pt x="1111" y="484"/>
                  <a:pt x="1115" y="521"/>
                  <a:pt x="1115" y="557"/>
                </a:cubicBezTo>
                <a:close/>
              </a:path>
            </a:pathLst>
          </a:custGeom>
          <a:solidFill>
            <a:srgbClr val="065F4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310" name="圖片 309"/>
          <p:cNvPicPr/>
          <p:nvPr/>
        </p:nvPicPr>
        <p:blipFill>
          <a:blip r:embed="rId10"/>
          <a:stretch>
            <a:fillRect/>
          </a:stretch>
        </p:blipFill>
        <p:spPr>
          <a:xfrm>
            <a:off x="5866560" y="1571040"/>
            <a:ext cx="225360" cy="200160"/>
          </a:xfrm>
          <a:prstGeom prst="rect">
            <a:avLst/>
          </a:prstGeom>
          <a:noFill/>
          <a:ln w="0">
            <a:noFill/>
          </a:ln>
        </p:spPr>
      </p:pic>
      <p:sp>
        <p:nvSpPr>
          <p:cNvPr id="311" name="文字框 310"/>
          <p:cNvSpPr txBox="1"/>
          <p:nvPr/>
        </p:nvSpPr>
        <p:spPr>
          <a:xfrm>
            <a:off x="1069560" y="3623400"/>
            <a:ext cx="3085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投资于非上市公司，估值不受二级市场每日波动影响</a:t>
            </a:r>
            <a:endParaRPr lang="en-US" sz="1050" b="0" u="none" strike="noStrike">
              <a:solidFill>
                <a:srgbClr val="000000"/>
              </a:solidFill>
              <a:effectLst/>
              <a:uFillTx/>
              <a:latin typeface="Times New Roman" panose="02020603050405020304"/>
            </a:endParaRPr>
          </a:p>
        </p:txBody>
      </p:sp>
      <p:sp>
        <p:nvSpPr>
          <p:cNvPr id="312" name="文字框 311"/>
          <p:cNvSpPr txBox="1"/>
          <p:nvPr/>
        </p:nvSpPr>
        <p:spPr>
          <a:xfrm>
            <a:off x="6309720" y="1545120"/>
            <a:ext cx="805320" cy="253440"/>
          </a:xfrm>
          <a:prstGeom prst="rect">
            <a:avLst/>
          </a:prstGeom>
          <a:noFill/>
          <a:ln w="0">
            <a:noFill/>
          </a:ln>
        </p:spPr>
        <p:txBody>
          <a:bodyPr wrap="none" lIns="0" tIns="0" rIns="0" bIns="0" anchor="t">
            <a:spAutoFit/>
          </a:bodyPr>
          <a:p>
            <a:r>
              <a:rPr lang="zh-CN" sz="1580" b="0" u="none" strike="noStrike">
                <a:solidFill>
                  <a:srgbClr val="34D399"/>
                </a:solidFill>
                <a:effectLst/>
                <a:uFillTx/>
                <a:latin typeface="WenQuanYiZenHei"/>
                <a:ea typeface="WenQuanYiZenHei"/>
              </a:rPr>
              <a:t>对冲基金</a:t>
            </a:r>
            <a:endParaRPr lang="en-US" sz="1580" b="0" u="none" strike="noStrike">
              <a:solidFill>
                <a:srgbClr val="000000"/>
              </a:solidFill>
              <a:effectLst/>
              <a:uFillTx/>
              <a:latin typeface="Times New Roman" panose="02020603050405020304"/>
            </a:endParaRPr>
          </a:p>
        </p:txBody>
      </p:sp>
      <p:pic>
        <p:nvPicPr>
          <p:cNvPr id="313" name="圖片 312"/>
          <p:cNvPicPr/>
          <p:nvPr/>
        </p:nvPicPr>
        <p:blipFill>
          <a:blip r:embed="rId5"/>
          <a:stretch>
            <a:fillRect/>
          </a:stretch>
        </p:blipFill>
        <p:spPr>
          <a:xfrm>
            <a:off x="5774400" y="2039040"/>
            <a:ext cx="166680" cy="166680"/>
          </a:xfrm>
          <a:prstGeom prst="rect">
            <a:avLst/>
          </a:prstGeom>
          <a:noFill/>
          <a:ln w="0">
            <a:noFill/>
          </a:ln>
        </p:spPr>
      </p:pic>
      <p:sp>
        <p:nvSpPr>
          <p:cNvPr id="314" name="文字框 313"/>
          <p:cNvSpPr txBox="1"/>
          <p:nvPr/>
        </p:nvSpPr>
        <p:spPr>
          <a:xfrm>
            <a:off x="7111800" y="1551960"/>
            <a:ext cx="1741320" cy="235080"/>
          </a:xfrm>
          <a:prstGeom prst="rect">
            <a:avLst/>
          </a:prstGeom>
          <a:noFill/>
          <a:ln w="0">
            <a:noFill/>
          </a:ln>
        </p:spPr>
        <p:txBody>
          <a:bodyPr wrap="none" lIns="0" tIns="0" rIns="0" bIns="0" anchor="t">
            <a:spAutoFit/>
          </a:bodyPr>
          <a:p>
            <a:r>
              <a:rPr lang="en-US" sz="1580" b="1" u="none" strike="noStrike">
                <a:solidFill>
                  <a:srgbClr val="34D399"/>
                </a:solidFill>
                <a:effectLst/>
                <a:uFillTx/>
                <a:latin typeface="DejaVuSans"/>
                <a:ea typeface="DejaVuSans"/>
              </a:rPr>
              <a:t> (Hedge Funds)</a:t>
            </a:r>
            <a:endParaRPr lang="en-US" sz="1580" b="0" u="none" strike="noStrike">
              <a:solidFill>
                <a:srgbClr val="000000"/>
              </a:solidFill>
              <a:effectLst/>
              <a:uFillTx/>
              <a:latin typeface="Times New Roman" panose="02020603050405020304"/>
            </a:endParaRPr>
          </a:p>
        </p:txBody>
      </p:sp>
      <p:sp>
        <p:nvSpPr>
          <p:cNvPr id="315" name="文字框 314"/>
          <p:cNvSpPr txBox="1"/>
          <p:nvPr/>
        </p:nvSpPr>
        <p:spPr>
          <a:xfrm>
            <a:off x="6008760" y="2020320"/>
            <a:ext cx="8388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危机中表现</a:t>
            </a:r>
            <a:endParaRPr lang="en-US" sz="1320" b="0" u="none" strike="noStrike">
              <a:solidFill>
                <a:srgbClr val="000000"/>
              </a:solidFill>
              <a:effectLst/>
              <a:uFillTx/>
              <a:latin typeface="Times New Roman" panose="02020603050405020304"/>
            </a:endParaRPr>
          </a:p>
        </p:txBody>
      </p:sp>
      <p:sp>
        <p:nvSpPr>
          <p:cNvPr id="316" name="文字框 315"/>
          <p:cNvSpPr txBox="1"/>
          <p:nvPr/>
        </p:nvSpPr>
        <p:spPr>
          <a:xfrm>
            <a:off x="5774760" y="235332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表现差异巨大。部分策略（如全球宏观策略）可能在市场动荡中获利，</a:t>
            </a:r>
            <a:endParaRPr lang="en-US" sz="1050" b="0" u="none" strike="noStrike">
              <a:solidFill>
                <a:srgbClr val="000000"/>
              </a:solidFill>
              <a:effectLst/>
              <a:uFillTx/>
              <a:latin typeface="Times New Roman" panose="02020603050405020304"/>
            </a:endParaRPr>
          </a:p>
        </p:txBody>
      </p:sp>
      <p:sp>
        <p:nvSpPr>
          <p:cNvPr id="317" name="文字框 316"/>
          <p:cNvSpPr txBox="1"/>
          <p:nvPr/>
        </p:nvSpPr>
        <p:spPr>
          <a:xfrm>
            <a:off x="5774760" y="255384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但许多基金在</a:t>
            </a:r>
            <a:endParaRPr lang="en-US" sz="1050" b="0" u="none" strike="noStrike">
              <a:solidFill>
                <a:srgbClr val="000000"/>
              </a:solidFill>
              <a:effectLst/>
              <a:uFillTx/>
              <a:latin typeface="Times New Roman" panose="02020603050405020304"/>
            </a:endParaRPr>
          </a:p>
        </p:txBody>
      </p:sp>
      <p:sp>
        <p:nvSpPr>
          <p:cNvPr id="318" name="文字框 317"/>
          <p:cNvSpPr txBox="1"/>
          <p:nvPr/>
        </p:nvSpPr>
        <p:spPr>
          <a:xfrm>
            <a:off x="6577200" y="2558520"/>
            <a:ext cx="3420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2008</a:t>
            </a:r>
            <a:endParaRPr lang="en-US" sz="1050" b="0" u="none" strike="noStrike">
              <a:solidFill>
                <a:srgbClr val="000000"/>
              </a:solidFill>
              <a:effectLst/>
              <a:uFillTx/>
              <a:latin typeface="Times New Roman" panose="02020603050405020304"/>
            </a:endParaRPr>
          </a:p>
        </p:txBody>
      </p:sp>
      <p:pic>
        <p:nvPicPr>
          <p:cNvPr id="319" name="圖片 318"/>
          <p:cNvPicPr/>
          <p:nvPr/>
        </p:nvPicPr>
        <p:blipFill>
          <a:blip r:embed="rId6"/>
          <a:stretch>
            <a:fillRect/>
          </a:stretch>
        </p:blipFill>
        <p:spPr>
          <a:xfrm>
            <a:off x="5774400" y="2908080"/>
            <a:ext cx="166680" cy="166680"/>
          </a:xfrm>
          <a:prstGeom prst="rect">
            <a:avLst/>
          </a:prstGeom>
          <a:noFill/>
          <a:ln w="0">
            <a:noFill/>
          </a:ln>
        </p:spPr>
      </p:pic>
      <p:sp>
        <p:nvSpPr>
          <p:cNvPr id="320" name="文字框 319"/>
          <p:cNvSpPr txBox="1"/>
          <p:nvPr/>
        </p:nvSpPr>
        <p:spPr>
          <a:xfrm>
            <a:off x="6917400" y="255384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年危机中遭受重创。</a:t>
            </a:r>
            <a:endParaRPr lang="en-US" sz="1050" b="0" u="none" strike="noStrike">
              <a:solidFill>
                <a:srgbClr val="000000"/>
              </a:solidFill>
              <a:effectLst/>
              <a:uFillTx/>
              <a:latin typeface="Times New Roman" panose="02020603050405020304"/>
            </a:endParaRPr>
          </a:p>
        </p:txBody>
      </p:sp>
      <p:pic>
        <p:nvPicPr>
          <p:cNvPr id="321" name="圖片 320"/>
          <p:cNvPicPr/>
          <p:nvPr/>
        </p:nvPicPr>
        <p:blipFill>
          <a:blip r:embed="rId11"/>
          <a:stretch>
            <a:fillRect/>
          </a:stretch>
        </p:blipFill>
        <p:spPr>
          <a:xfrm>
            <a:off x="5807880" y="3233880"/>
            <a:ext cx="133200" cy="133200"/>
          </a:xfrm>
          <a:prstGeom prst="rect">
            <a:avLst/>
          </a:prstGeom>
          <a:noFill/>
          <a:ln w="0">
            <a:noFill/>
          </a:ln>
        </p:spPr>
      </p:pic>
      <p:sp>
        <p:nvSpPr>
          <p:cNvPr id="322" name="文字框 321"/>
          <p:cNvSpPr txBox="1"/>
          <p:nvPr/>
        </p:nvSpPr>
        <p:spPr>
          <a:xfrm>
            <a:off x="6008760" y="288936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主要特征</a:t>
            </a:r>
            <a:endParaRPr lang="en-US" sz="1320" b="0" u="none" strike="noStrike">
              <a:solidFill>
                <a:srgbClr val="000000"/>
              </a:solidFill>
              <a:effectLst/>
              <a:uFillTx/>
              <a:latin typeface="Times New Roman" panose="02020603050405020304"/>
            </a:endParaRPr>
          </a:p>
        </p:txBody>
      </p:sp>
      <p:pic>
        <p:nvPicPr>
          <p:cNvPr id="323" name="圖片 322"/>
          <p:cNvPicPr/>
          <p:nvPr/>
        </p:nvPicPr>
        <p:blipFill>
          <a:blip r:embed="rId12"/>
          <a:stretch>
            <a:fillRect/>
          </a:stretch>
        </p:blipFill>
        <p:spPr>
          <a:xfrm>
            <a:off x="5791320" y="3534840"/>
            <a:ext cx="166680" cy="133200"/>
          </a:xfrm>
          <a:prstGeom prst="rect">
            <a:avLst/>
          </a:prstGeom>
          <a:noFill/>
          <a:ln w="0">
            <a:noFill/>
          </a:ln>
        </p:spPr>
      </p:pic>
      <p:sp>
        <p:nvSpPr>
          <p:cNvPr id="324" name="文字框 323"/>
          <p:cNvSpPr txBox="1"/>
          <p:nvPr/>
        </p:nvSpPr>
        <p:spPr>
          <a:xfrm>
            <a:off x="6075720" y="3222360"/>
            <a:ext cx="2683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策略灵活多样，可使用做空、杠杆等多种工具</a:t>
            </a:r>
            <a:endParaRPr lang="en-US" sz="1050" b="0" u="none" strike="noStrike">
              <a:solidFill>
                <a:srgbClr val="000000"/>
              </a:solidFill>
              <a:effectLst/>
              <a:uFillTx/>
              <a:latin typeface="Times New Roman" panose="02020603050405020304"/>
            </a:endParaRPr>
          </a:p>
        </p:txBody>
      </p:sp>
      <p:pic>
        <p:nvPicPr>
          <p:cNvPr id="325" name="圖片 324"/>
          <p:cNvPicPr/>
          <p:nvPr/>
        </p:nvPicPr>
        <p:blipFill>
          <a:blip r:embed="rId13"/>
          <a:stretch>
            <a:fillRect/>
          </a:stretch>
        </p:blipFill>
        <p:spPr>
          <a:xfrm>
            <a:off x="5791320" y="3835800"/>
            <a:ext cx="166680" cy="133200"/>
          </a:xfrm>
          <a:prstGeom prst="rect">
            <a:avLst/>
          </a:prstGeom>
          <a:noFill/>
          <a:ln w="0">
            <a:noFill/>
          </a:ln>
        </p:spPr>
      </p:pic>
      <p:sp>
        <p:nvSpPr>
          <p:cNvPr id="326" name="文字框 325"/>
          <p:cNvSpPr txBox="1"/>
          <p:nvPr/>
        </p:nvSpPr>
        <p:spPr>
          <a:xfrm>
            <a:off x="6075720" y="352296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高风险高收益，依赖基金经理的专业能力</a:t>
            </a:r>
            <a:endParaRPr lang="en-US" sz="1050" b="0" u="none" strike="noStrike">
              <a:solidFill>
                <a:srgbClr val="000000"/>
              </a:solidFill>
              <a:effectLst/>
              <a:uFillTx/>
              <a:latin typeface="Times New Roman" panose="02020603050405020304"/>
            </a:endParaRPr>
          </a:p>
        </p:txBody>
      </p:sp>
      <p:sp>
        <p:nvSpPr>
          <p:cNvPr id="327" name="文字框 326"/>
          <p:cNvSpPr txBox="1"/>
          <p:nvPr/>
        </p:nvSpPr>
        <p:spPr>
          <a:xfrm>
            <a:off x="6075720" y="382392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透明度相对较低，流动性受限</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8" name="圖片 327"/>
          <p:cNvPicPr/>
          <p:nvPr/>
        </p:nvPicPr>
        <p:blipFill>
          <a:blip r:embed="rId1"/>
          <a:stretch>
            <a:fillRect/>
          </a:stretch>
        </p:blipFill>
        <p:spPr>
          <a:xfrm>
            <a:off x="0" y="0"/>
            <a:ext cx="10696320" cy="6367320"/>
          </a:xfrm>
          <a:prstGeom prst="rect">
            <a:avLst/>
          </a:prstGeom>
          <a:noFill/>
          <a:ln w="0">
            <a:noFill/>
          </a:ln>
        </p:spPr>
      </p:pic>
      <p:pic>
        <p:nvPicPr>
          <p:cNvPr id="329" name="圖片 328"/>
          <p:cNvPicPr/>
          <p:nvPr/>
        </p:nvPicPr>
        <p:blipFill>
          <a:blip r:embed="rId2"/>
          <a:stretch>
            <a:fillRect/>
          </a:stretch>
        </p:blipFill>
        <p:spPr>
          <a:xfrm>
            <a:off x="534960" y="735480"/>
            <a:ext cx="3208680" cy="33120"/>
          </a:xfrm>
          <a:prstGeom prst="rect">
            <a:avLst/>
          </a:prstGeom>
          <a:noFill/>
          <a:ln w="0">
            <a:noFill/>
          </a:ln>
        </p:spPr>
      </p:pic>
      <p:sp>
        <p:nvSpPr>
          <p:cNvPr id="330" name="文字框 329"/>
          <p:cNvSpPr txBox="1"/>
          <p:nvPr/>
        </p:nvSpPr>
        <p:spPr>
          <a:xfrm>
            <a:off x="534960" y="312120"/>
            <a:ext cx="360360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防御性股票：稳定需求行业</a:t>
            </a:r>
            <a:endParaRPr lang="en-US" sz="2370" b="0" u="none" strike="noStrike">
              <a:solidFill>
                <a:srgbClr val="000000"/>
              </a:solidFill>
              <a:effectLst/>
              <a:uFillTx/>
              <a:latin typeface="Times New Roman" panose="02020603050405020304"/>
            </a:endParaRPr>
          </a:p>
        </p:txBody>
      </p:sp>
      <p:sp>
        <p:nvSpPr>
          <p:cNvPr id="331" name="文字框 330"/>
          <p:cNvSpPr txBox="1"/>
          <p:nvPr/>
        </p:nvSpPr>
        <p:spPr>
          <a:xfrm>
            <a:off x="534960" y="1058400"/>
            <a:ext cx="6639120" cy="189360"/>
          </a:xfrm>
          <a:prstGeom prst="rect">
            <a:avLst/>
          </a:prstGeom>
          <a:noFill/>
          <a:ln w="0">
            <a:noFill/>
          </a:ln>
        </p:spPr>
        <p:txBody>
          <a:bodyPr wrap="none" lIns="0" tIns="0" rIns="0" bIns="0" anchor="t">
            <a:spAutoFit/>
          </a:bodyPr>
          <a:p>
            <a:r>
              <a:rPr lang="zh-CN" sz="1180" b="0" u="none" strike="noStrike">
                <a:solidFill>
                  <a:srgbClr val="E5E7EB"/>
                </a:solidFill>
                <a:effectLst/>
                <a:uFillTx/>
                <a:latin typeface="WenQuanYiZenHei"/>
                <a:ea typeface="WenQuanYiZenHei"/>
              </a:rPr>
              <a:t>防御性股票是指那些在经济周期下行或金融危机期间，其产品和服务需求依然保持稳定的公司股票。</a:t>
            </a:r>
            <a:endParaRPr lang="en-US" sz="1180" b="0" u="none" strike="noStrike">
              <a:solidFill>
                <a:srgbClr val="000000"/>
              </a:solidFill>
              <a:effectLst/>
              <a:uFillTx/>
              <a:latin typeface="Times New Roman" panose="02020603050405020304"/>
            </a:endParaRPr>
          </a:p>
        </p:txBody>
      </p:sp>
      <p:sp>
        <p:nvSpPr>
          <p:cNvPr id="332" name="文字框 331"/>
          <p:cNvSpPr txBox="1"/>
          <p:nvPr/>
        </p:nvSpPr>
        <p:spPr>
          <a:xfrm>
            <a:off x="7153200" y="1063800"/>
            <a:ext cx="150120" cy="175680"/>
          </a:xfrm>
          <a:prstGeom prst="rect">
            <a:avLst/>
          </a:prstGeom>
          <a:noFill/>
          <a:ln w="0">
            <a:noFill/>
          </a:ln>
        </p:spPr>
        <p:txBody>
          <a:bodyPr wrap="none" lIns="0" tIns="0" rIns="0" bIns="0" anchor="t">
            <a:spAutoFit/>
          </a:bodyPr>
          <a:p>
            <a:r>
              <a:rPr lang="en-US" sz="1180" b="0" u="none" strike="noStrike">
                <a:solidFill>
                  <a:srgbClr val="E5E7EB"/>
                </a:solidFill>
                <a:effectLst/>
                <a:uFillTx/>
                <a:latin typeface="DejaVuSans"/>
                <a:ea typeface="DejaVuSans"/>
              </a:rPr>
              <a:t> </a:t>
            </a:r>
            <a:endParaRPr lang="en-US" sz="1180" b="0" u="none" strike="noStrike">
              <a:solidFill>
                <a:srgbClr val="000000"/>
              </a:solidFill>
              <a:effectLst/>
              <a:uFillTx/>
              <a:latin typeface="Times New Roman" panose="02020603050405020304"/>
            </a:endParaRPr>
          </a:p>
        </p:txBody>
      </p:sp>
      <p:sp>
        <p:nvSpPr>
          <p:cNvPr id="333" name="文字框 332"/>
          <p:cNvSpPr txBox="1"/>
          <p:nvPr/>
        </p:nvSpPr>
        <p:spPr>
          <a:xfrm>
            <a:off x="7201080" y="1058400"/>
            <a:ext cx="2867400" cy="189360"/>
          </a:xfrm>
          <a:prstGeom prst="rect">
            <a:avLst/>
          </a:prstGeom>
          <a:noFill/>
          <a:ln w="0">
            <a:noFill/>
          </a:ln>
        </p:spPr>
        <p:txBody>
          <a:bodyPr wrap="none" lIns="0" tIns="0" rIns="0" bIns="0" anchor="t">
            <a:spAutoFit/>
          </a:bodyPr>
          <a:p>
            <a:r>
              <a:rPr lang="zh-CN" sz="1180" b="0" u="none" strike="noStrike">
                <a:solidFill>
                  <a:srgbClr val="E5E7EB"/>
                </a:solidFill>
                <a:effectLst/>
                <a:uFillTx/>
                <a:latin typeface="WenQuanYiZenHei"/>
                <a:ea typeface="WenQuanYiZenHei"/>
              </a:rPr>
              <a:t>这类股票无法完全免疫于市场下跌，但其跌</a:t>
            </a:r>
            <a:endParaRPr lang="en-US" sz="1180" b="0" u="none" strike="noStrike">
              <a:solidFill>
                <a:srgbClr val="000000"/>
              </a:solidFill>
              <a:effectLst/>
              <a:uFillTx/>
              <a:latin typeface="Times New Roman" panose="02020603050405020304"/>
            </a:endParaRPr>
          </a:p>
        </p:txBody>
      </p:sp>
      <p:sp>
        <p:nvSpPr>
          <p:cNvPr id="334" name="任意多邊形 333"/>
          <p:cNvSpPr/>
          <p:nvPr/>
        </p:nvSpPr>
        <p:spPr>
          <a:xfrm>
            <a:off x="534600" y="4896720"/>
            <a:ext cx="9627480" cy="969840"/>
          </a:xfrm>
          <a:custGeom>
            <a:avLst/>
            <a:gdLst/>
            <a:ahLst/>
            <a:cxnLst/>
            <a:rect l="0" t="0" r="r" b="b"/>
            <a:pathLst>
              <a:path w="26743" h="2694">
                <a:moveTo>
                  <a:pt x="0" y="2508"/>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26557" y="0"/>
                </a:lnTo>
                <a:cubicBezTo>
                  <a:pt x="26569" y="0"/>
                  <a:pt x="26581" y="2"/>
                  <a:pt x="26593" y="4"/>
                </a:cubicBezTo>
                <a:cubicBezTo>
                  <a:pt x="26605" y="6"/>
                  <a:pt x="26617" y="10"/>
                  <a:pt x="26628" y="14"/>
                </a:cubicBezTo>
                <a:cubicBezTo>
                  <a:pt x="26639" y="19"/>
                  <a:pt x="26650" y="25"/>
                  <a:pt x="26660" y="32"/>
                </a:cubicBezTo>
                <a:cubicBezTo>
                  <a:pt x="26670" y="38"/>
                  <a:pt x="26680" y="46"/>
                  <a:pt x="26688" y="55"/>
                </a:cubicBezTo>
                <a:cubicBezTo>
                  <a:pt x="26697" y="63"/>
                  <a:pt x="26704" y="73"/>
                  <a:pt x="26711" y="83"/>
                </a:cubicBezTo>
                <a:cubicBezTo>
                  <a:pt x="26718" y="93"/>
                  <a:pt x="26724" y="104"/>
                  <a:pt x="26728" y="115"/>
                </a:cubicBezTo>
                <a:cubicBezTo>
                  <a:pt x="26733" y="126"/>
                  <a:pt x="26737" y="138"/>
                  <a:pt x="26739" y="150"/>
                </a:cubicBezTo>
                <a:cubicBezTo>
                  <a:pt x="26741" y="162"/>
                  <a:pt x="26743" y="174"/>
                  <a:pt x="26743" y="186"/>
                </a:cubicBezTo>
                <a:lnTo>
                  <a:pt x="26743" y="2508"/>
                </a:lnTo>
                <a:cubicBezTo>
                  <a:pt x="26743" y="2521"/>
                  <a:pt x="26741" y="2533"/>
                  <a:pt x="26739" y="2545"/>
                </a:cubicBezTo>
                <a:cubicBezTo>
                  <a:pt x="26737" y="2557"/>
                  <a:pt x="26733" y="2568"/>
                  <a:pt x="26728" y="2579"/>
                </a:cubicBezTo>
                <a:cubicBezTo>
                  <a:pt x="26724" y="2591"/>
                  <a:pt x="26718" y="2601"/>
                  <a:pt x="26711" y="2612"/>
                </a:cubicBezTo>
                <a:cubicBezTo>
                  <a:pt x="26704" y="2622"/>
                  <a:pt x="26697" y="2631"/>
                  <a:pt x="26688" y="2640"/>
                </a:cubicBezTo>
                <a:cubicBezTo>
                  <a:pt x="26680" y="2648"/>
                  <a:pt x="26670" y="2656"/>
                  <a:pt x="26660" y="2663"/>
                </a:cubicBezTo>
                <a:cubicBezTo>
                  <a:pt x="26650" y="2670"/>
                  <a:pt x="26639" y="2675"/>
                  <a:pt x="26628" y="2680"/>
                </a:cubicBezTo>
                <a:cubicBezTo>
                  <a:pt x="26617" y="2685"/>
                  <a:pt x="26605" y="2688"/>
                  <a:pt x="26593" y="2690"/>
                </a:cubicBezTo>
                <a:cubicBezTo>
                  <a:pt x="26581" y="2693"/>
                  <a:pt x="26569" y="2694"/>
                  <a:pt x="26557" y="2694"/>
                </a:cubicBezTo>
                <a:lnTo>
                  <a:pt x="186" y="2694"/>
                </a:lnTo>
                <a:cubicBezTo>
                  <a:pt x="174" y="2694"/>
                  <a:pt x="162" y="2693"/>
                  <a:pt x="150" y="2690"/>
                </a:cubicBezTo>
                <a:cubicBezTo>
                  <a:pt x="138" y="2688"/>
                  <a:pt x="126" y="2685"/>
                  <a:pt x="115" y="2680"/>
                </a:cubicBezTo>
                <a:cubicBezTo>
                  <a:pt x="104" y="2675"/>
                  <a:pt x="93" y="2670"/>
                  <a:pt x="83" y="2663"/>
                </a:cubicBezTo>
                <a:cubicBezTo>
                  <a:pt x="73" y="2656"/>
                  <a:pt x="63" y="2648"/>
                  <a:pt x="55" y="2640"/>
                </a:cubicBezTo>
                <a:cubicBezTo>
                  <a:pt x="46" y="2631"/>
                  <a:pt x="38" y="2622"/>
                  <a:pt x="31" y="2612"/>
                </a:cubicBezTo>
                <a:cubicBezTo>
                  <a:pt x="25" y="2601"/>
                  <a:pt x="19" y="2591"/>
                  <a:pt x="14" y="2579"/>
                </a:cubicBezTo>
                <a:cubicBezTo>
                  <a:pt x="10" y="2568"/>
                  <a:pt x="6" y="2557"/>
                  <a:pt x="4" y="2545"/>
                </a:cubicBezTo>
                <a:cubicBezTo>
                  <a:pt x="1" y="2533"/>
                  <a:pt x="0" y="2521"/>
                  <a:pt x="0" y="250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335" name="圖片 334"/>
          <p:cNvPicPr/>
          <p:nvPr/>
        </p:nvPicPr>
        <p:blipFill>
          <a:blip r:embed="rId3"/>
          <a:stretch>
            <a:fillRect/>
          </a:stretch>
        </p:blipFill>
        <p:spPr>
          <a:xfrm>
            <a:off x="668520" y="5047560"/>
            <a:ext cx="200160" cy="200160"/>
          </a:xfrm>
          <a:prstGeom prst="rect">
            <a:avLst/>
          </a:prstGeom>
          <a:noFill/>
          <a:ln w="0">
            <a:noFill/>
          </a:ln>
        </p:spPr>
      </p:pic>
      <p:sp>
        <p:nvSpPr>
          <p:cNvPr id="336" name="文字框 335"/>
          <p:cNvSpPr txBox="1"/>
          <p:nvPr/>
        </p:nvSpPr>
        <p:spPr>
          <a:xfrm>
            <a:off x="534960" y="1292400"/>
            <a:ext cx="4074480" cy="189360"/>
          </a:xfrm>
          <a:prstGeom prst="rect">
            <a:avLst/>
          </a:prstGeom>
          <a:noFill/>
          <a:ln w="0">
            <a:noFill/>
          </a:ln>
        </p:spPr>
        <p:txBody>
          <a:bodyPr wrap="none" lIns="0" tIns="0" rIns="0" bIns="0" anchor="t">
            <a:spAutoFit/>
          </a:bodyPr>
          <a:p>
            <a:r>
              <a:rPr lang="zh-CN" sz="1180" b="0" u="none" strike="noStrike">
                <a:solidFill>
                  <a:srgbClr val="E5E7EB"/>
                </a:solidFill>
                <a:effectLst/>
                <a:uFillTx/>
                <a:latin typeface="WenQuanYiZenHei"/>
                <a:ea typeface="WenQuanYiZenHei"/>
              </a:rPr>
              <a:t>幅通常小于大盘，因其拥有稳定的现金流和持续的派息能力。</a:t>
            </a:r>
            <a:endParaRPr lang="en-US" sz="1180" b="0" u="none" strike="noStrike">
              <a:solidFill>
                <a:srgbClr val="000000"/>
              </a:solidFill>
              <a:effectLst/>
              <a:uFillTx/>
              <a:latin typeface="Times New Roman" panose="02020603050405020304"/>
            </a:endParaRPr>
          </a:p>
        </p:txBody>
      </p:sp>
      <p:sp>
        <p:nvSpPr>
          <p:cNvPr id="337" name="文字框 336"/>
          <p:cNvSpPr txBox="1"/>
          <p:nvPr/>
        </p:nvSpPr>
        <p:spPr>
          <a:xfrm>
            <a:off x="969480" y="504540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危机期间表现</a:t>
            </a:r>
            <a:endParaRPr lang="en-US" sz="1320" b="0" u="none" strike="noStrike">
              <a:solidFill>
                <a:srgbClr val="000000"/>
              </a:solidFill>
              <a:effectLst/>
              <a:uFillTx/>
              <a:latin typeface="Times New Roman" panose="02020603050405020304"/>
            </a:endParaRPr>
          </a:p>
        </p:txBody>
      </p:sp>
      <p:sp>
        <p:nvSpPr>
          <p:cNvPr id="338" name="文字框 337"/>
          <p:cNvSpPr txBox="1"/>
          <p:nvPr/>
        </p:nvSpPr>
        <p:spPr>
          <a:xfrm>
            <a:off x="668520" y="5344920"/>
            <a:ext cx="751104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在经济衰退期间，由于这些公司拥有稳定的现金流和持续的派息能力，它们的股票往往比周期性或成长型股票表现得更为坚挺。</a:t>
            </a:r>
            <a:endParaRPr lang="en-US" sz="1050" b="0" u="none" strike="noStrike">
              <a:solidFill>
                <a:srgbClr val="000000"/>
              </a:solidFill>
              <a:effectLst/>
              <a:uFillTx/>
              <a:latin typeface="Times New Roman" panose="02020603050405020304"/>
            </a:endParaRPr>
          </a:p>
        </p:txBody>
      </p:sp>
      <p:sp>
        <p:nvSpPr>
          <p:cNvPr id="339" name="文字框 338"/>
          <p:cNvSpPr txBox="1"/>
          <p:nvPr/>
        </p:nvSpPr>
        <p:spPr>
          <a:xfrm>
            <a:off x="8156160" y="534960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a:t>
            </a:r>
            <a:endParaRPr lang="en-US" sz="1050" b="0" u="none" strike="noStrike">
              <a:solidFill>
                <a:srgbClr val="000000"/>
              </a:solidFill>
              <a:effectLst/>
              <a:uFillTx/>
              <a:latin typeface="Times New Roman" panose="02020603050405020304"/>
            </a:endParaRPr>
          </a:p>
        </p:txBody>
      </p:sp>
      <p:sp>
        <p:nvSpPr>
          <p:cNvPr id="340" name="文字框 339"/>
          <p:cNvSpPr txBox="1"/>
          <p:nvPr/>
        </p:nvSpPr>
        <p:spPr>
          <a:xfrm>
            <a:off x="8198640" y="534492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例如，在市场大幅下跌时，防</a:t>
            </a:r>
            <a:endParaRPr lang="en-US" sz="1050" b="0" u="none" strike="noStrike">
              <a:solidFill>
                <a:srgbClr val="000000"/>
              </a:solidFill>
              <a:effectLst/>
              <a:uFillTx/>
              <a:latin typeface="Times New Roman" panose="02020603050405020304"/>
            </a:endParaRPr>
          </a:p>
        </p:txBody>
      </p:sp>
      <p:sp>
        <p:nvSpPr>
          <p:cNvPr id="341" name="文字框 340"/>
          <p:cNvSpPr txBox="1"/>
          <p:nvPr/>
        </p:nvSpPr>
        <p:spPr>
          <a:xfrm>
            <a:off x="668520" y="5545440"/>
            <a:ext cx="3621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御性股票的跌幅通常小于市场平均水平，体现出较强的韧性。</a:t>
            </a:r>
            <a:endParaRPr lang="en-US" sz="1050" b="0" u="none" strike="noStrike">
              <a:solidFill>
                <a:srgbClr val="000000"/>
              </a:solidFill>
              <a:effectLst/>
              <a:uFillTx/>
              <a:latin typeface="Times New Roman" panose="02020603050405020304"/>
            </a:endParaRPr>
          </a:p>
        </p:txBody>
      </p:sp>
      <p:sp>
        <p:nvSpPr>
          <p:cNvPr id="342" name="文字框 341"/>
          <p:cNvSpPr txBox="1"/>
          <p:nvPr/>
        </p:nvSpPr>
        <p:spPr>
          <a:xfrm>
            <a:off x="534960" y="607968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343" name="任意多邊形 342"/>
          <p:cNvSpPr/>
          <p:nvPr/>
        </p:nvSpPr>
        <p:spPr>
          <a:xfrm>
            <a:off x="551520" y="1637640"/>
            <a:ext cx="3058920" cy="2992320"/>
          </a:xfrm>
          <a:custGeom>
            <a:avLst/>
            <a:gdLst/>
            <a:ahLst/>
            <a:cxnLst/>
            <a:rect l="0" t="0" r="r" b="b"/>
            <a:pathLst>
              <a:path w="8497" h="8312">
                <a:moveTo>
                  <a:pt x="0" y="8126"/>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8"/>
                  <a:pt x="61" y="32"/>
                </a:cubicBezTo>
                <a:cubicBezTo>
                  <a:pt x="69" y="25"/>
                  <a:pt x="77" y="19"/>
                  <a:pt x="86" y="14"/>
                </a:cubicBezTo>
                <a:cubicBezTo>
                  <a:pt x="94" y="10"/>
                  <a:pt x="103" y="6"/>
                  <a:pt x="112" y="4"/>
                </a:cubicBezTo>
                <a:cubicBezTo>
                  <a:pt x="121" y="1"/>
                  <a:pt x="130" y="0"/>
                  <a:pt x="139" y="0"/>
                </a:cubicBezTo>
                <a:lnTo>
                  <a:pt x="8311" y="0"/>
                </a:lnTo>
                <a:cubicBezTo>
                  <a:pt x="8323" y="0"/>
                  <a:pt x="8335" y="1"/>
                  <a:pt x="8347" y="4"/>
                </a:cubicBezTo>
                <a:cubicBezTo>
                  <a:pt x="8359" y="6"/>
                  <a:pt x="8371" y="10"/>
                  <a:pt x="8382" y="14"/>
                </a:cubicBezTo>
                <a:cubicBezTo>
                  <a:pt x="8393" y="19"/>
                  <a:pt x="8404" y="25"/>
                  <a:pt x="8414" y="32"/>
                </a:cubicBezTo>
                <a:cubicBezTo>
                  <a:pt x="8424" y="38"/>
                  <a:pt x="8434" y="46"/>
                  <a:pt x="8442" y="55"/>
                </a:cubicBezTo>
                <a:cubicBezTo>
                  <a:pt x="8451" y="63"/>
                  <a:pt x="8458" y="73"/>
                  <a:pt x="8465" y="83"/>
                </a:cubicBezTo>
                <a:cubicBezTo>
                  <a:pt x="8472" y="93"/>
                  <a:pt x="8478" y="104"/>
                  <a:pt x="8482" y="115"/>
                </a:cubicBezTo>
                <a:cubicBezTo>
                  <a:pt x="8487" y="126"/>
                  <a:pt x="8491" y="138"/>
                  <a:pt x="8493" y="150"/>
                </a:cubicBezTo>
                <a:cubicBezTo>
                  <a:pt x="8495" y="162"/>
                  <a:pt x="8497" y="174"/>
                  <a:pt x="8497" y="186"/>
                </a:cubicBezTo>
                <a:lnTo>
                  <a:pt x="8497" y="8126"/>
                </a:lnTo>
                <a:cubicBezTo>
                  <a:pt x="8497" y="8138"/>
                  <a:pt x="8495" y="8150"/>
                  <a:pt x="8493" y="8162"/>
                </a:cubicBezTo>
                <a:cubicBezTo>
                  <a:pt x="8491" y="8174"/>
                  <a:pt x="8487" y="8186"/>
                  <a:pt x="8482" y="8197"/>
                </a:cubicBezTo>
                <a:cubicBezTo>
                  <a:pt x="8478" y="8208"/>
                  <a:pt x="8472" y="8219"/>
                  <a:pt x="8465" y="8229"/>
                </a:cubicBezTo>
                <a:cubicBezTo>
                  <a:pt x="8458" y="8239"/>
                  <a:pt x="8451" y="8249"/>
                  <a:pt x="8442" y="8257"/>
                </a:cubicBezTo>
                <a:cubicBezTo>
                  <a:pt x="8434" y="8266"/>
                  <a:pt x="8424" y="8273"/>
                  <a:pt x="8414" y="8280"/>
                </a:cubicBezTo>
                <a:cubicBezTo>
                  <a:pt x="8404" y="8287"/>
                  <a:pt x="8393" y="8293"/>
                  <a:pt x="8382" y="8297"/>
                </a:cubicBezTo>
                <a:cubicBezTo>
                  <a:pt x="8371" y="8302"/>
                  <a:pt x="8359" y="8306"/>
                  <a:pt x="8347" y="8308"/>
                </a:cubicBezTo>
                <a:cubicBezTo>
                  <a:pt x="8335" y="8310"/>
                  <a:pt x="8323" y="8312"/>
                  <a:pt x="8311" y="8312"/>
                </a:cubicBezTo>
                <a:lnTo>
                  <a:pt x="139" y="8312"/>
                </a:lnTo>
                <a:cubicBezTo>
                  <a:pt x="130" y="8312"/>
                  <a:pt x="121" y="8310"/>
                  <a:pt x="112" y="8308"/>
                </a:cubicBezTo>
                <a:cubicBezTo>
                  <a:pt x="103" y="8306"/>
                  <a:pt x="94" y="8302"/>
                  <a:pt x="86" y="8297"/>
                </a:cubicBezTo>
                <a:cubicBezTo>
                  <a:pt x="77" y="8293"/>
                  <a:pt x="69" y="8287"/>
                  <a:pt x="61" y="8280"/>
                </a:cubicBezTo>
                <a:cubicBezTo>
                  <a:pt x="54" y="8273"/>
                  <a:pt x="47" y="8266"/>
                  <a:pt x="40" y="8257"/>
                </a:cubicBezTo>
                <a:cubicBezTo>
                  <a:pt x="34" y="8249"/>
                  <a:pt x="28" y="8239"/>
                  <a:pt x="23" y="8229"/>
                </a:cubicBezTo>
                <a:cubicBezTo>
                  <a:pt x="18" y="8219"/>
                  <a:pt x="14" y="8208"/>
                  <a:pt x="10" y="8197"/>
                </a:cubicBezTo>
                <a:cubicBezTo>
                  <a:pt x="7" y="8186"/>
                  <a:pt x="4" y="8174"/>
                  <a:pt x="2" y="8162"/>
                </a:cubicBezTo>
                <a:cubicBezTo>
                  <a:pt x="0" y="8150"/>
                  <a:pt x="0" y="8138"/>
                  <a:pt x="0" y="812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44" name="任意多邊形 343"/>
          <p:cNvSpPr/>
          <p:nvPr/>
        </p:nvSpPr>
        <p:spPr>
          <a:xfrm>
            <a:off x="534600" y="1637640"/>
            <a:ext cx="67320" cy="2992320"/>
          </a:xfrm>
          <a:custGeom>
            <a:avLst/>
            <a:gdLst/>
            <a:ahLst/>
            <a:cxnLst/>
            <a:rect l="0" t="0" r="r" b="b"/>
            <a:pathLst>
              <a:path w="187" h="8312">
                <a:moveTo>
                  <a:pt x="151" y="14"/>
                </a:moveTo>
                <a:cubicBezTo>
                  <a:pt x="140" y="24"/>
                  <a:pt x="130" y="37"/>
                  <a:pt x="121" y="55"/>
                </a:cubicBezTo>
                <a:cubicBezTo>
                  <a:pt x="112" y="72"/>
                  <a:pt x="106" y="92"/>
                  <a:pt x="101" y="115"/>
                </a:cubicBezTo>
                <a:cubicBezTo>
                  <a:pt x="96" y="138"/>
                  <a:pt x="94" y="161"/>
                  <a:pt x="94" y="186"/>
                </a:cubicBezTo>
                <a:lnTo>
                  <a:pt x="94" y="8126"/>
                </a:lnTo>
                <a:cubicBezTo>
                  <a:pt x="94" y="8150"/>
                  <a:pt x="96" y="8174"/>
                  <a:pt x="101" y="8197"/>
                </a:cubicBezTo>
                <a:cubicBezTo>
                  <a:pt x="106" y="8220"/>
                  <a:pt x="112" y="8240"/>
                  <a:pt x="121" y="8257"/>
                </a:cubicBezTo>
                <a:cubicBezTo>
                  <a:pt x="130" y="8275"/>
                  <a:pt x="140" y="8288"/>
                  <a:pt x="151" y="8297"/>
                </a:cubicBezTo>
                <a:cubicBezTo>
                  <a:pt x="163" y="8307"/>
                  <a:pt x="175" y="8312"/>
                  <a:pt x="187" y="8312"/>
                </a:cubicBezTo>
                <a:cubicBezTo>
                  <a:pt x="162" y="8312"/>
                  <a:pt x="139" y="8307"/>
                  <a:pt x="116" y="8297"/>
                </a:cubicBezTo>
                <a:cubicBezTo>
                  <a:pt x="93" y="8288"/>
                  <a:pt x="72" y="8275"/>
                  <a:pt x="55" y="8257"/>
                </a:cubicBezTo>
                <a:cubicBezTo>
                  <a:pt x="37" y="8240"/>
                  <a:pt x="24" y="8220"/>
                  <a:pt x="14" y="8197"/>
                </a:cubicBezTo>
                <a:cubicBezTo>
                  <a:pt x="5" y="8174"/>
                  <a:pt x="0" y="8150"/>
                  <a:pt x="0" y="8126"/>
                </a:cubicBezTo>
                <a:lnTo>
                  <a:pt x="0" y="186"/>
                </a:lnTo>
                <a:cubicBezTo>
                  <a:pt x="0" y="161"/>
                  <a:pt x="5" y="138"/>
                  <a:pt x="14" y="115"/>
                </a:cubicBezTo>
                <a:cubicBezTo>
                  <a:pt x="24" y="92"/>
                  <a:pt x="37" y="72"/>
                  <a:pt x="55" y="55"/>
                </a:cubicBezTo>
                <a:cubicBezTo>
                  <a:pt x="72" y="37"/>
                  <a:pt x="93" y="24"/>
                  <a:pt x="116" y="14"/>
                </a:cubicBezTo>
                <a:cubicBezTo>
                  <a:pt x="139" y="5"/>
                  <a:pt x="162" y="0"/>
                  <a:pt x="187" y="0"/>
                </a:cubicBezTo>
                <a:cubicBezTo>
                  <a:pt x="175" y="0"/>
                  <a:pt x="163"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45" name="任意多邊形 344"/>
          <p:cNvSpPr/>
          <p:nvPr/>
        </p:nvSpPr>
        <p:spPr>
          <a:xfrm>
            <a:off x="776880" y="1846800"/>
            <a:ext cx="568800" cy="568440"/>
          </a:xfrm>
          <a:custGeom>
            <a:avLst/>
            <a:gdLst/>
            <a:ahLst/>
            <a:cxnLst/>
            <a:rect l="0" t="0" r="r" b="b"/>
            <a:pathLst>
              <a:path w="1580" h="1579">
                <a:moveTo>
                  <a:pt x="1580" y="790"/>
                </a:moveTo>
                <a:cubicBezTo>
                  <a:pt x="1580" y="816"/>
                  <a:pt x="1579" y="841"/>
                  <a:pt x="1576" y="867"/>
                </a:cubicBezTo>
                <a:cubicBezTo>
                  <a:pt x="1573" y="893"/>
                  <a:pt x="1570" y="918"/>
                  <a:pt x="1565" y="944"/>
                </a:cubicBezTo>
                <a:cubicBezTo>
                  <a:pt x="1560" y="969"/>
                  <a:pt x="1553" y="994"/>
                  <a:pt x="1546" y="1019"/>
                </a:cubicBezTo>
                <a:cubicBezTo>
                  <a:pt x="1538" y="1044"/>
                  <a:pt x="1530" y="1068"/>
                  <a:pt x="1520" y="1092"/>
                </a:cubicBezTo>
                <a:cubicBezTo>
                  <a:pt x="1510" y="1116"/>
                  <a:pt x="1499" y="1139"/>
                  <a:pt x="1487" y="1162"/>
                </a:cubicBezTo>
                <a:cubicBezTo>
                  <a:pt x="1474" y="1185"/>
                  <a:pt x="1461" y="1207"/>
                  <a:pt x="1447" y="1228"/>
                </a:cubicBezTo>
                <a:cubicBezTo>
                  <a:pt x="1432" y="1250"/>
                  <a:pt x="1417" y="1271"/>
                  <a:pt x="1401" y="1291"/>
                </a:cubicBezTo>
                <a:cubicBezTo>
                  <a:pt x="1384" y="1311"/>
                  <a:pt x="1367" y="1330"/>
                  <a:pt x="1349" y="1348"/>
                </a:cubicBezTo>
                <a:cubicBezTo>
                  <a:pt x="1330" y="1366"/>
                  <a:pt x="1311" y="1384"/>
                  <a:pt x="1291" y="1400"/>
                </a:cubicBezTo>
                <a:cubicBezTo>
                  <a:pt x="1271" y="1416"/>
                  <a:pt x="1251" y="1432"/>
                  <a:pt x="1229" y="1446"/>
                </a:cubicBezTo>
                <a:cubicBezTo>
                  <a:pt x="1208" y="1460"/>
                  <a:pt x="1185" y="1474"/>
                  <a:pt x="1163" y="1486"/>
                </a:cubicBezTo>
                <a:cubicBezTo>
                  <a:pt x="1140" y="1498"/>
                  <a:pt x="1116" y="1509"/>
                  <a:pt x="1093" y="1519"/>
                </a:cubicBezTo>
                <a:cubicBezTo>
                  <a:pt x="1069" y="1529"/>
                  <a:pt x="1044" y="1538"/>
                  <a:pt x="1020" y="1545"/>
                </a:cubicBezTo>
                <a:cubicBezTo>
                  <a:pt x="995" y="1553"/>
                  <a:pt x="970" y="1559"/>
                  <a:pt x="945" y="1564"/>
                </a:cubicBezTo>
                <a:cubicBezTo>
                  <a:pt x="919" y="1569"/>
                  <a:pt x="894" y="1573"/>
                  <a:pt x="868" y="1575"/>
                </a:cubicBezTo>
                <a:cubicBezTo>
                  <a:pt x="842" y="1578"/>
                  <a:pt x="816" y="1579"/>
                  <a:pt x="791" y="1579"/>
                </a:cubicBezTo>
                <a:cubicBezTo>
                  <a:pt x="765" y="1579"/>
                  <a:pt x="739" y="1578"/>
                  <a:pt x="713" y="1575"/>
                </a:cubicBezTo>
                <a:cubicBezTo>
                  <a:pt x="687" y="1573"/>
                  <a:pt x="662" y="1569"/>
                  <a:pt x="637" y="1564"/>
                </a:cubicBezTo>
                <a:cubicBezTo>
                  <a:pt x="611" y="1559"/>
                  <a:pt x="586" y="1553"/>
                  <a:pt x="561" y="1545"/>
                </a:cubicBezTo>
                <a:cubicBezTo>
                  <a:pt x="537" y="1538"/>
                  <a:pt x="512" y="1529"/>
                  <a:pt x="489" y="1519"/>
                </a:cubicBezTo>
                <a:cubicBezTo>
                  <a:pt x="465" y="1509"/>
                  <a:pt x="441" y="1498"/>
                  <a:pt x="419" y="1486"/>
                </a:cubicBezTo>
                <a:cubicBezTo>
                  <a:pt x="396" y="1474"/>
                  <a:pt x="374" y="1460"/>
                  <a:pt x="352" y="1446"/>
                </a:cubicBezTo>
                <a:cubicBezTo>
                  <a:pt x="331" y="1432"/>
                  <a:pt x="310" y="1416"/>
                  <a:pt x="290" y="1400"/>
                </a:cubicBezTo>
                <a:cubicBezTo>
                  <a:pt x="270" y="1384"/>
                  <a:pt x="251" y="1366"/>
                  <a:pt x="232" y="1348"/>
                </a:cubicBezTo>
                <a:cubicBezTo>
                  <a:pt x="214" y="1330"/>
                  <a:pt x="196" y="1311"/>
                  <a:pt x="179" y="1291"/>
                </a:cubicBezTo>
                <a:cubicBezTo>
                  <a:pt x="163" y="1271"/>
                  <a:pt x="148" y="1250"/>
                  <a:pt x="133" y="1228"/>
                </a:cubicBezTo>
                <a:cubicBezTo>
                  <a:pt x="119" y="1207"/>
                  <a:pt x="106" y="1185"/>
                  <a:pt x="94" y="1162"/>
                </a:cubicBezTo>
                <a:cubicBezTo>
                  <a:pt x="81" y="1139"/>
                  <a:pt x="70" y="1116"/>
                  <a:pt x="60" y="1092"/>
                </a:cubicBezTo>
                <a:cubicBezTo>
                  <a:pt x="50" y="1068"/>
                  <a:pt x="42" y="1044"/>
                  <a:pt x="34" y="1019"/>
                </a:cubicBezTo>
                <a:cubicBezTo>
                  <a:pt x="27" y="994"/>
                  <a:pt x="21" y="969"/>
                  <a:pt x="15" y="944"/>
                </a:cubicBezTo>
                <a:cubicBezTo>
                  <a:pt x="10" y="918"/>
                  <a:pt x="7" y="893"/>
                  <a:pt x="4" y="867"/>
                </a:cubicBezTo>
                <a:cubicBezTo>
                  <a:pt x="2" y="841"/>
                  <a:pt x="0" y="816"/>
                  <a:pt x="0" y="790"/>
                </a:cubicBezTo>
                <a:cubicBezTo>
                  <a:pt x="0" y="764"/>
                  <a:pt x="2" y="738"/>
                  <a:pt x="4" y="712"/>
                </a:cubicBezTo>
                <a:cubicBezTo>
                  <a:pt x="7" y="687"/>
                  <a:pt x="10" y="661"/>
                  <a:pt x="15" y="636"/>
                </a:cubicBezTo>
                <a:cubicBezTo>
                  <a:pt x="21" y="611"/>
                  <a:pt x="27" y="585"/>
                  <a:pt x="34" y="561"/>
                </a:cubicBezTo>
                <a:cubicBezTo>
                  <a:pt x="42" y="536"/>
                  <a:pt x="50" y="512"/>
                  <a:pt x="60" y="488"/>
                </a:cubicBezTo>
                <a:cubicBezTo>
                  <a:pt x="70" y="464"/>
                  <a:pt x="81" y="441"/>
                  <a:pt x="94" y="418"/>
                </a:cubicBezTo>
                <a:cubicBezTo>
                  <a:pt x="106" y="395"/>
                  <a:pt x="119" y="372"/>
                  <a:pt x="133" y="350"/>
                </a:cubicBezTo>
                <a:cubicBezTo>
                  <a:pt x="148" y="329"/>
                  <a:pt x="163" y="308"/>
                  <a:pt x="179" y="288"/>
                </a:cubicBezTo>
                <a:cubicBezTo>
                  <a:pt x="196" y="268"/>
                  <a:pt x="214" y="249"/>
                  <a:pt x="232" y="231"/>
                </a:cubicBezTo>
                <a:cubicBezTo>
                  <a:pt x="251" y="212"/>
                  <a:pt x="270" y="195"/>
                  <a:pt x="290" y="179"/>
                </a:cubicBezTo>
                <a:cubicBezTo>
                  <a:pt x="310" y="162"/>
                  <a:pt x="331" y="147"/>
                  <a:pt x="352" y="133"/>
                </a:cubicBezTo>
                <a:cubicBezTo>
                  <a:pt x="374" y="118"/>
                  <a:pt x="396" y="105"/>
                  <a:pt x="419" y="93"/>
                </a:cubicBezTo>
                <a:cubicBezTo>
                  <a:pt x="441" y="81"/>
                  <a:pt x="465" y="70"/>
                  <a:pt x="489" y="60"/>
                </a:cubicBezTo>
                <a:cubicBezTo>
                  <a:pt x="512" y="50"/>
                  <a:pt x="537" y="41"/>
                  <a:pt x="561" y="34"/>
                </a:cubicBezTo>
                <a:cubicBezTo>
                  <a:pt x="586" y="26"/>
                  <a:pt x="611" y="20"/>
                  <a:pt x="637" y="15"/>
                </a:cubicBezTo>
                <a:cubicBezTo>
                  <a:pt x="662" y="10"/>
                  <a:pt x="687" y="6"/>
                  <a:pt x="713" y="3"/>
                </a:cubicBezTo>
                <a:cubicBezTo>
                  <a:pt x="739" y="1"/>
                  <a:pt x="765" y="0"/>
                  <a:pt x="791" y="0"/>
                </a:cubicBezTo>
                <a:cubicBezTo>
                  <a:pt x="816" y="0"/>
                  <a:pt x="842" y="1"/>
                  <a:pt x="868" y="3"/>
                </a:cubicBezTo>
                <a:cubicBezTo>
                  <a:pt x="894" y="6"/>
                  <a:pt x="919" y="10"/>
                  <a:pt x="945" y="15"/>
                </a:cubicBezTo>
                <a:cubicBezTo>
                  <a:pt x="970" y="20"/>
                  <a:pt x="995" y="26"/>
                  <a:pt x="1020" y="34"/>
                </a:cubicBezTo>
                <a:cubicBezTo>
                  <a:pt x="1044" y="41"/>
                  <a:pt x="1069" y="50"/>
                  <a:pt x="1093" y="60"/>
                </a:cubicBezTo>
                <a:cubicBezTo>
                  <a:pt x="1116" y="70"/>
                  <a:pt x="1140" y="81"/>
                  <a:pt x="1163" y="93"/>
                </a:cubicBezTo>
                <a:cubicBezTo>
                  <a:pt x="1185" y="105"/>
                  <a:pt x="1208" y="118"/>
                  <a:pt x="1229" y="133"/>
                </a:cubicBezTo>
                <a:cubicBezTo>
                  <a:pt x="1251" y="147"/>
                  <a:pt x="1271" y="162"/>
                  <a:pt x="1291" y="179"/>
                </a:cubicBezTo>
                <a:cubicBezTo>
                  <a:pt x="1311" y="195"/>
                  <a:pt x="1330" y="212"/>
                  <a:pt x="1349" y="231"/>
                </a:cubicBezTo>
                <a:cubicBezTo>
                  <a:pt x="1367" y="249"/>
                  <a:pt x="1384" y="268"/>
                  <a:pt x="1401" y="288"/>
                </a:cubicBezTo>
                <a:cubicBezTo>
                  <a:pt x="1417" y="308"/>
                  <a:pt x="1432" y="329"/>
                  <a:pt x="1447" y="350"/>
                </a:cubicBezTo>
                <a:cubicBezTo>
                  <a:pt x="1461" y="372"/>
                  <a:pt x="1474" y="395"/>
                  <a:pt x="1487" y="418"/>
                </a:cubicBezTo>
                <a:cubicBezTo>
                  <a:pt x="1499" y="441"/>
                  <a:pt x="1510" y="464"/>
                  <a:pt x="1520" y="488"/>
                </a:cubicBezTo>
                <a:cubicBezTo>
                  <a:pt x="1530" y="512"/>
                  <a:pt x="1538" y="536"/>
                  <a:pt x="1546" y="561"/>
                </a:cubicBezTo>
                <a:cubicBezTo>
                  <a:pt x="1553" y="585"/>
                  <a:pt x="1560" y="611"/>
                  <a:pt x="1565" y="636"/>
                </a:cubicBezTo>
                <a:cubicBezTo>
                  <a:pt x="1570" y="661"/>
                  <a:pt x="1573" y="687"/>
                  <a:pt x="1576" y="712"/>
                </a:cubicBezTo>
                <a:cubicBezTo>
                  <a:pt x="1579" y="738"/>
                  <a:pt x="1580" y="764"/>
                  <a:pt x="1580" y="790"/>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46" name="任意多邊形 345"/>
          <p:cNvSpPr/>
          <p:nvPr/>
        </p:nvSpPr>
        <p:spPr>
          <a:xfrm>
            <a:off x="776880" y="1846800"/>
            <a:ext cx="568800" cy="568440"/>
          </a:xfrm>
          <a:custGeom>
            <a:avLst/>
            <a:gdLst/>
            <a:ahLst/>
            <a:cxnLst/>
            <a:rect l="0" t="0" r="r" b="b"/>
            <a:pathLst>
              <a:path w="1580" h="1579" fill="none">
                <a:moveTo>
                  <a:pt x="1580" y="790"/>
                </a:moveTo>
                <a:cubicBezTo>
                  <a:pt x="1580" y="816"/>
                  <a:pt x="1579" y="841"/>
                  <a:pt x="1576" y="867"/>
                </a:cubicBezTo>
                <a:cubicBezTo>
                  <a:pt x="1573" y="893"/>
                  <a:pt x="1570" y="918"/>
                  <a:pt x="1565" y="944"/>
                </a:cubicBezTo>
                <a:cubicBezTo>
                  <a:pt x="1560" y="969"/>
                  <a:pt x="1553" y="994"/>
                  <a:pt x="1546" y="1019"/>
                </a:cubicBezTo>
                <a:cubicBezTo>
                  <a:pt x="1538" y="1044"/>
                  <a:pt x="1530" y="1068"/>
                  <a:pt x="1520" y="1092"/>
                </a:cubicBezTo>
                <a:cubicBezTo>
                  <a:pt x="1510" y="1116"/>
                  <a:pt x="1499" y="1139"/>
                  <a:pt x="1487" y="1162"/>
                </a:cubicBezTo>
                <a:cubicBezTo>
                  <a:pt x="1474" y="1185"/>
                  <a:pt x="1461" y="1207"/>
                  <a:pt x="1447" y="1228"/>
                </a:cubicBezTo>
                <a:cubicBezTo>
                  <a:pt x="1432" y="1250"/>
                  <a:pt x="1417" y="1271"/>
                  <a:pt x="1401" y="1291"/>
                </a:cubicBezTo>
                <a:cubicBezTo>
                  <a:pt x="1384" y="1311"/>
                  <a:pt x="1367" y="1330"/>
                  <a:pt x="1349" y="1348"/>
                </a:cubicBezTo>
                <a:cubicBezTo>
                  <a:pt x="1330" y="1366"/>
                  <a:pt x="1311" y="1384"/>
                  <a:pt x="1291" y="1400"/>
                </a:cubicBezTo>
                <a:cubicBezTo>
                  <a:pt x="1271" y="1416"/>
                  <a:pt x="1251" y="1432"/>
                  <a:pt x="1229" y="1446"/>
                </a:cubicBezTo>
                <a:cubicBezTo>
                  <a:pt x="1208" y="1460"/>
                  <a:pt x="1185" y="1474"/>
                  <a:pt x="1163" y="1486"/>
                </a:cubicBezTo>
                <a:cubicBezTo>
                  <a:pt x="1140" y="1498"/>
                  <a:pt x="1116" y="1509"/>
                  <a:pt x="1093" y="1519"/>
                </a:cubicBezTo>
                <a:cubicBezTo>
                  <a:pt x="1069" y="1529"/>
                  <a:pt x="1044" y="1538"/>
                  <a:pt x="1020" y="1545"/>
                </a:cubicBezTo>
                <a:cubicBezTo>
                  <a:pt x="995" y="1553"/>
                  <a:pt x="970" y="1559"/>
                  <a:pt x="945" y="1564"/>
                </a:cubicBezTo>
                <a:cubicBezTo>
                  <a:pt x="919" y="1569"/>
                  <a:pt x="894" y="1573"/>
                  <a:pt x="868" y="1575"/>
                </a:cubicBezTo>
                <a:cubicBezTo>
                  <a:pt x="842" y="1578"/>
                  <a:pt x="816" y="1579"/>
                  <a:pt x="791" y="1579"/>
                </a:cubicBezTo>
                <a:cubicBezTo>
                  <a:pt x="765" y="1579"/>
                  <a:pt x="739" y="1578"/>
                  <a:pt x="713" y="1575"/>
                </a:cubicBezTo>
                <a:cubicBezTo>
                  <a:pt x="687" y="1573"/>
                  <a:pt x="662" y="1569"/>
                  <a:pt x="637" y="1564"/>
                </a:cubicBezTo>
                <a:cubicBezTo>
                  <a:pt x="611" y="1559"/>
                  <a:pt x="586" y="1553"/>
                  <a:pt x="561" y="1545"/>
                </a:cubicBezTo>
                <a:cubicBezTo>
                  <a:pt x="537" y="1538"/>
                  <a:pt x="512" y="1529"/>
                  <a:pt x="489" y="1519"/>
                </a:cubicBezTo>
                <a:cubicBezTo>
                  <a:pt x="465" y="1509"/>
                  <a:pt x="441" y="1498"/>
                  <a:pt x="419" y="1486"/>
                </a:cubicBezTo>
                <a:cubicBezTo>
                  <a:pt x="396" y="1474"/>
                  <a:pt x="374" y="1460"/>
                  <a:pt x="352" y="1446"/>
                </a:cubicBezTo>
                <a:cubicBezTo>
                  <a:pt x="331" y="1432"/>
                  <a:pt x="310" y="1416"/>
                  <a:pt x="290" y="1400"/>
                </a:cubicBezTo>
                <a:cubicBezTo>
                  <a:pt x="270" y="1384"/>
                  <a:pt x="251" y="1366"/>
                  <a:pt x="232" y="1348"/>
                </a:cubicBezTo>
                <a:cubicBezTo>
                  <a:pt x="214" y="1330"/>
                  <a:pt x="196" y="1311"/>
                  <a:pt x="179" y="1291"/>
                </a:cubicBezTo>
                <a:cubicBezTo>
                  <a:pt x="163" y="1271"/>
                  <a:pt x="148" y="1250"/>
                  <a:pt x="133" y="1228"/>
                </a:cubicBezTo>
                <a:cubicBezTo>
                  <a:pt x="119" y="1207"/>
                  <a:pt x="106" y="1185"/>
                  <a:pt x="94" y="1162"/>
                </a:cubicBezTo>
                <a:cubicBezTo>
                  <a:pt x="81" y="1139"/>
                  <a:pt x="70" y="1116"/>
                  <a:pt x="60" y="1092"/>
                </a:cubicBezTo>
                <a:cubicBezTo>
                  <a:pt x="50" y="1068"/>
                  <a:pt x="42" y="1044"/>
                  <a:pt x="34" y="1019"/>
                </a:cubicBezTo>
                <a:cubicBezTo>
                  <a:pt x="27" y="994"/>
                  <a:pt x="21" y="969"/>
                  <a:pt x="15" y="944"/>
                </a:cubicBezTo>
                <a:cubicBezTo>
                  <a:pt x="10" y="918"/>
                  <a:pt x="7" y="893"/>
                  <a:pt x="4" y="867"/>
                </a:cubicBezTo>
                <a:cubicBezTo>
                  <a:pt x="2" y="841"/>
                  <a:pt x="0" y="816"/>
                  <a:pt x="0" y="790"/>
                </a:cubicBezTo>
                <a:cubicBezTo>
                  <a:pt x="0" y="764"/>
                  <a:pt x="2" y="738"/>
                  <a:pt x="4" y="712"/>
                </a:cubicBezTo>
                <a:cubicBezTo>
                  <a:pt x="7" y="687"/>
                  <a:pt x="10" y="661"/>
                  <a:pt x="15" y="636"/>
                </a:cubicBezTo>
                <a:cubicBezTo>
                  <a:pt x="21" y="611"/>
                  <a:pt x="27" y="585"/>
                  <a:pt x="34" y="561"/>
                </a:cubicBezTo>
                <a:cubicBezTo>
                  <a:pt x="42" y="536"/>
                  <a:pt x="50" y="512"/>
                  <a:pt x="60" y="488"/>
                </a:cubicBezTo>
                <a:cubicBezTo>
                  <a:pt x="70" y="464"/>
                  <a:pt x="81" y="441"/>
                  <a:pt x="94" y="418"/>
                </a:cubicBezTo>
                <a:cubicBezTo>
                  <a:pt x="106" y="395"/>
                  <a:pt x="119" y="372"/>
                  <a:pt x="133" y="350"/>
                </a:cubicBezTo>
                <a:cubicBezTo>
                  <a:pt x="148" y="329"/>
                  <a:pt x="163" y="308"/>
                  <a:pt x="179" y="288"/>
                </a:cubicBezTo>
                <a:cubicBezTo>
                  <a:pt x="196" y="268"/>
                  <a:pt x="214" y="249"/>
                  <a:pt x="232" y="231"/>
                </a:cubicBezTo>
                <a:cubicBezTo>
                  <a:pt x="251" y="212"/>
                  <a:pt x="270" y="195"/>
                  <a:pt x="290" y="179"/>
                </a:cubicBezTo>
                <a:cubicBezTo>
                  <a:pt x="310" y="162"/>
                  <a:pt x="331" y="147"/>
                  <a:pt x="352" y="133"/>
                </a:cubicBezTo>
                <a:cubicBezTo>
                  <a:pt x="374" y="118"/>
                  <a:pt x="396" y="105"/>
                  <a:pt x="419" y="93"/>
                </a:cubicBezTo>
                <a:cubicBezTo>
                  <a:pt x="441" y="81"/>
                  <a:pt x="465" y="70"/>
                  <a:pt x="489" y="60"/>
                </a:cubicBezTo>
                <a:cubicBezTo>
                  <a:pt x="512" y="50"/>
                  <a:pt x="537" y="41"/>
                  <a:pt x="561" y="34"/>
                </a:cubicBezTo>
                <a:cubicBezTo>
                  <a:pt x="586" y="26"/>
                  <a:pt x="611" y="20"/>
                  <a:pt x="637" y="15"/>
                </a:cubicBezTo>
                <a:cubicBezTo>
                  <a:pt x="662" y="10"/>
                  <a:pt x="687" y="6"/>
                  <a:pt x="713" y="3"/>
                </a:cubicBezTo>
                <a:cubicBezTo>
                  <a:pt x="739" y="1"/>
                  <a:pt x="765" y="0"/>
                  <a:pt x="791" y="0"/>
                </a:cubicBezTo>
                <a:cubicBezTo>
                  <a:pt x="816" y="0"/>
                  <a:pt x="842" y="1"/>
                  <a:pt x="868" y="3"/>
                </a:cubicBezTo>
                <a:cubicBezTo>
                  <a:pt x="894" y="6"/>
                  <a:pt x="919" y="10"/>
                  <a:pt x="945" y="15"/>
                </a:cubicBezTo>
                <a:cubicBezTo>
                  <a:pt x="970" y="20"/>
                  <a:pt x="995" y="26"/>
                  <a:pt x="1020" y="34"/>
                </a:cubicBezTo>
                <a:cubicBezTo>
                  <a:pt x="1044" y="41"/>
                  <a:pt x="1069" y="50"/>
                  <a:pt x="1093" y="60"/>
                </a:cubicBezTo>
                <a:cubicBezTo>
                  <a:pt x="1116" y="70"/>
                  <a:pt x="1140" y="81"/>
                  <a:pt x="1163" y="93"/>
                </a:cubicBezTo>
                <a:cubicBezTo>
                  <a:pt x="1185" y="105"/>
                  <a:pt x="1208" y="118"/>
                  <a:pt x="1229" y="133"/>
                </a:cubicBezTo>
                <a:cubicBezTo>
                  <a:pt x="1251" y="147"/>
                  <a:pt x="1271" y="162"/>
                  <a:pt x="1291" y="179"/>
                </a:cubicBezTo>
                <a:cubicBezTo>
                  <a:pt x="1311" y="195"/>
                  <a:pt x="1330" y="212"/>
                  <a:pt x="1349" y="231"/>
                </a:cubicBezTo>
                <a:cubicBezTo>
                  <a:pt x="1367" y="249"/>
                  <a:pt x="1384" y="268"/>
                  <a:pt x="1401" y="288"/>
                </a:cubicBezTo>
                <a:cubicBezTo>
                  <a:pt x="1417" y="308"/>
                  <a:pt x="1432" y="329"/>
                  <a:pt x="1447" y="350"/>
                </a:cubicBezTo>
                <a:cubicBezTo>
                  <a:pt x="1461" y="372"/>
                  <a:pt x="1474" y="395"/>
                  <a:pt x="1487" y="418"/>
                </a:cubicBezTo>
                <a:cubicBezTo>
                  <a:pt x="1499" y="441"/>
                  <a:pt x="1510" y="464"/>
                  <a:pt x="1520" y="488"/>
                </a:cubicBezTo>
                <a:cubicBezTo>
                  <a:pt x="1530" y="512"/>
                  <a:pt x="1538" y="536"/>
                  <a:pt x="1546" y="561"/>
                </a:cubicBezTo>
                <a:cubicBezTo>
                  <a:pt x="1553" y="585"/>
                  <a:pt x="1560" y="611"/>
                  <a:pt x="1565" y="636"/>
                </a:cubicBezTo>
                <a:cubicBezTo>
                  <a:pt x="1570" y="661"/>
                  <a:pt x="1573" y="687"/>
                  <a:pt x="1576" y="712"/>
                </a:cubicBezTo>
                <a:cubicBezTo>
                  <a:pt x="1579" y="738"/>
                  <a:pt x="1580" y="764"/>
                  <a:pt x="1580" y="790"/>
                </a:cubicBezTo>
              </a:path>
            </a:pathLst>
          </a:custGeom>
          <a:ln w="16560">
            <a:solidFill>
              <a:srgbClr val="F6AD55"/>
            </a:solidFill>
            <a:miter/>
          </a:ln>
        </p:spPr>
        <p:txBody>
          <a:bodyPr lIns="8280" tIns="8280" rIns="8280" bIns="8280" anchor="t">
            <a:noAutofit/>
          </a:bodyPr>
          <a:p>
            <a:endParaRPr lang="en-US" sz="2400" b="0" u="none" strike="noStrike">
              <a:solidFill>
                <a:srgbClr val="000000"/>
              </a:solidFill>
              <a:effectLst/>
              <a:uFillTx/>
              <a:latin typeface="Times New Roman" panose="02020603050405020304"/>
            </a:endParaRPr>
          </a:p>
        </p:txBody>
      </p:sp>
      <p:pic>
        <p:nvPicPr>
          <p:cNvPr id="347" name="圖片 346"/>
          <p:cNvPicPr/>
          <p:nvPr/>
        </p:nvPicPr>
        <p:blipFill>
          <a:blip r:embed="rId4"/>
          <a:stretch>
            <a:fillRect/>
          </a:stretch>
        </p:blipFill>
        <p:spPr>
          <a:xfrm>
            <a:off x="919080" y="2005560"/>
            <a:ext cx="283680" cy="250200"/>
          </a:xfrm>
          <a:prstGeom prst="rect">
            <a:avLst/>
          </a:prstGeom>
          <a:noFill/>
          <a:ln w="0">
            <a:noFill/>
          </a:ln>
        </p:spPr>
      </p:pic>
      <p:sp>
        <p:nvSpPr>
          <p:cNvPr id="348" name="文字框 347"/>
          <p:cNvSpPr txBox="1"/>
          <p:nvPr/>
        </p:nvSpPr>
        <p:spPr>
          <a:xfrm>
            <a:off x="9824760" y="6083640"/>
            <a:ext cx="20066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7 / 24</a:t>
            </a:r>
            <a:endParaRPr lang="en-US" sz="920" b="0" u="none" strike="noStrike">
              <a:solidFill>
                <a:srgbClr val="000000"/>
              </a:solidFill>
              <a:effectLst/>
              <a:uFillTx/>
              <a:latin typeface="Times New Roman" panose="02020603050405020304"/>
            </a:endParaRPr>
          </a:p>
        </p:txBody>
      </p:sp>
      <p:sp>
        <p:nvSpPr>
          <p:cNvPr id="349" name="文字框 348"/>
          <p:cNvSpPr txBox="1"/>
          <p:nvPr/>
        </p:nvSpPr>
        <p:spPr>
          <a:xfrm>
            <a:off x="1487520" y="2071440"/>
            <a:ext cx="100656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消费必需品</a:t>
            </a:r>
            <a:endParaRPr lang="en-US" sz="1580" b="0" u="none" strike="noStrike">
              <a:solidFill>
                <a:srgbClr val="000000"/>
              </a:solidFill>
              <a:effectLst/>
              <a:uFillTx/>
              <a:latin typeface="Times New Roman" panose="02020603050405020304"/>
            </a:endParaRPr>
          </a:p>
        </p:txBody>
      </p:sp>
      <p:sp>
        <p:nvSpPr>
          <p:cNvPr id="350" name="文字框 349"/>
          <p:cNvSpPr txBox="1"/>
          <p:nvPr/>
        </p:nvSpPr>
        <p:spPr>
          <a:xfrm>
            <a:off x="768960" y="270432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包括食品、饮料、家庭用品和个人护理产品</a:t>
            </a:r>
            <a:endParaRPr lang="en-US" sz="1050" b="0" u="none" strike="noStrike">
              <a:solidFill>
                <a:srgbClr val="000000"/>
              </a:solidFill>
              <a:effectLst/>
              <a:uFillTx/>
              <a:latin typeface="Times New Roman" panose="02020603050405020304"/>
            </a:endParaRPr>
          </a:p>
        </p:txBody>
      </p:sp>
      <p:sp>
        <p:nvSpPr>
          <p:cNvPr id="351" name="文字框 350"/>
          <p:cNvSpPr txBox="1"/>
          <p:nvPr/>
        </p:nvSpPr>
        <p:spPr>
          <a:xfrm>
            <a:off x="768960" y="290484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等。无论经济状况如何，消费者对这些产品</a:t>
            </a:r>
            <a:endParaRPr lang="en-US" sz="1050" b="0" u="none" strike="noStrike">
              <a:solidFill>
                <a:srgbClr val="000000"/>
              </a:solidFill>
              <a:effectLst/>
              <a:uFillTx/>
              <a:latin typeface="Times New Roman" panose="02020603050405020304"/>
            </a:endParaRPr>
          </a:p>
        </p:txBody>
      </p:sp>
      <p:pic>
        <p:nvPicPr>
          <p:cNvPr id="352" name="圖片 351"/>
          <p:cNvPicPr/>
          <p:nvPr/>
        </p:nvPicPr>
        <p:blipFill>
          <a:blip r:embed="rId5"/>
          <a:stretch>
            <a:fillRect/>
          </a:stretch>
        </p:blipFill>
        <p:spPr>
          <a:xfrm>
            <a:off x="768960" y="3660120"/>
            <a:ext cx="133200" cy="133200"/>
          </a:xfrm>
          <a:prstGeom prst="rect">
            <a:avLst/>
          </a:prstGeom>
          <a:noFill/>
          <a:ln w="0">
            <a:noFill/>
          </a:ln>
        </p:spPr>
      </p:pic>
      <p:sp>
        <p:nvSpPr>
          <p:cNvPr id="353" name="文字框 352"/>
          <p:cNvSpPr txBox="1"/>
          <p:nvPr/>
        </p:nvSpPr>
        <p:spPr>
          <a:xfrm>
            <a:off x="768960" y="310536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的基本需求不会消失。</a:t>
            </a:r>
            <a:endParaRPr lang="en-US" sz="1050" b="0" u="none" strike="noStrike">
              <a:solidFill>
                <a:srgbClr val="000000"/>
              </a:solidFill>
              <a:effectLst/>
              <a:uFillTx/>
              <a:latin typeface="Times New Roman" panose="02020603050405020304"/>
            </a:endParaRPr>
          </a:p>
        </p:txBody>
      </p:sp>
      <p:pic>
        <p:nvPicPr>
          <p:cNvPr id="354" name="圖片 353"/>
          <p:cNvPicPr/>
          <p:nvPr/>
        </p:nvPicPr>
        <p:blipFill>
          <a:blip r:embed="rId5"/>
          <a:stretch>
            <a:fillRect/>
          </a:stretch>
        </p:blipFill>
        <p:spPr>
          <a:xfrm>
            <a:off x="768960" y="3927600"/>
            <a:ext cx="133200" cy="133200"/>
          </a:xfrm>
          <a:prstGeom prst="rect">
            <a:avLst/>
          </a:prstGeom>
          <a:noFill/>
          <a:ln w="0">
            <a:noFill/>
          </a:ln>
        </p:spPr>
      </p:pic>
      <p:sp>
        <p:nvSpPr>
          <p:cNvPr id="355" name="文字框 354"/>
          <p:cNvSpPr txBox="1"/>
          <p:nvPr/>
        </p:nvSpPr>
        <p:spPr>
          <a:xfrm>
            <a:off x="986040" y="363996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刚性需求，销售稳定</a:t>
            </a:r>
            <a:endParaRPr lang="en-US" sz="1050" b="0" u="none" strike="noStrike">
              <a:solidFill>
                <a:srgbClr val="000000"/>
              </a:solidFill>
              <a:effectLst/>
              <a:uFillTx/>
              <a:latin typeface="Times New Roman" panose="02020603050405020304"/>
            </a:endParaRPr>
          </a:p>
        </p:txBody>
      </p:sp>
      <p:pic>
        <p:nvPicPr>
          <p:cNvPr id="356" name="圖片 355"/>
          <p:cNvPicPr/>
          <p:nvPr/>
        </p:nvPicPr>
        <p:blipFill>
          <a:blip r:embed="rId5"/>
          <a:stretch>
            <a:fillRect/>
          </a:stretch>
        </p:blipFill>
        <p:spPr>
          <a:xfrm>
            <a:off x="768960" y="4195080"/>
            <a:ext cx="133200" cy="133200"/>
          </a:xfrm>
          <a:prstGeom prst="rect">
            <a:avLst/>
          </a:prstGeom>
          <a:noFill/>
          <a:ln w="0">
            <a:noFill/>
          </a:ln>
        </p:spPr>
      </p:pic>
      <p:sp>
        <p:nvSpPr>
          <p:cNvPr id="357" name="文字框 356"/>
          <p:cNvSpPr txBox="1"/>
          <p:nvPr/>
        </p:nvSpPr>
        <p:spPr>
          <a:xfrm>
            <a:off x="986040" y="390744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品牌忠诚度高</a:t>
            </a:r>
            <a:endParaRPr lang="en-US" sz="1050" b="0" u="none" strike="noStrike">
              <a:solidFill>
                <a:srgbClr val="000000"/>
              </a:solidFill>
              <a:effectLst/>
              <a:uFillTx/>
              <a:latin typeface="Times New Roman" panose="02020603050405020304"/>
            </a:endParaRPr>
          </a:p>
        </p:txBody>
      </p:sp>
      <p:sp>
        <p:nvSpPr>
          <p:cNvPr id="358" name="任意多邊形 357"/>
          <p:cNvSpPr/>
          <p:nvPr/>
        </p:nvSpPr>
        <p:spPr>
          <a:xfrm>
            <a:off x="3827160" y="1637640"/>
            <a:ext cx="3058920" cy="2992320"/>
          </a:xfrm>
          <a:custGeom>
            <a:avLst/>
            <a:gdLst/>
            <a:ahLst/>
            <a:cxnLst/>
            <a:rect l="0" t="0" r="r" b="b"/>
            <a:pathLst>
              <a:path w="8497" h="8312">
                <a:moveTo>
                  <a:pt x="0" y="8126"/>
                </a:moveTo>
                <a:lnTo>
                  <a:pt x="0" y="186"/>
                </a:lnTo>
                <a:cubicBezTo>
                  <a:pt x="0" y="174"/>
                  <a:pt x="1" y="162"/>
                  <a:pt x="3" y="150"/>
                </a:cubicBezTo>
                <a:cubicBezTo>
                  <a:pt x="5" y="138"/>
                  <a:pt x="7" y="126"/>
                  <a:pt x="11" y="115"/>
                </a:cubicBezTo>
                <a:cubicBezTo>
                  <a:pt x="14" y="104"/>
                  <a:pt x="18" y="93"/>
                  <a:pt x="24" y="83"/>
                </a:cubicBezTo>
                <a:cubicBezTo>
                  <a:pt x="29" y="73"/>
                  <a:pt x="34" y="63"/>
                  <a:pt x="41" y="55"/>
                </a:cubicBezTo>
                <a:cubicBezTo>
                  <a:pt x="47" y="46"/>
                  <a:pt x="54" y="38"/>
                  <a:pt x="62" y="32"/>
                </a:cubicBezTo>
                <a:cubicBezTo>
                  <a:pt x="70" y="25"/>
                  <a:pt x="78" y="19"/>
                  <a:pt x="86" y="14"/>
                </a:cubicBezTo>
                <a:cubicBezTo>
                  <a:pt x="95" y="10"/>
                  <a:pt x="103" y="6"/>
                  <a:pt x="112" y="4"/>
                </a:cubicBezTo>
                <a:cubicBezTo>
                  <a:pt x="121" y="1"/>
                  <a:pt x="130" y="0"/>
                  <a:pt x="139" y="0"/>
                </a:cubicBezTo>
                <a:lnTo>
                  <a:pt x="8311" y="0"/>
                </a:lnTo>
                <a:cubicBezTo>
                  <a:pt x="8324" y="0"/>
                  <a:pt x="8336" y="1"/>
                  <a:pt x="8348" y="4"/>
                </a:cubicBezTo>
                <a:cubicBezTo>
                  <a:pt x="8360" y="6"/>
                  <a:pt x="8371" y="10"/>
                  <a:pt x="8382" y="14"/>
                </a:cubicBezTo>
                <a:cubicBezTo>
                  <a:pt x="8394" y="19"/>
                  <a:pt x="8404" y="25"/>
                  <a:pt x="8415" y="32"/>
                </a:cubicBezTo>
                <a:cubicBezTo>
                  <a:pt x="8425" y="38"/>
                  <a:pt x="8434" y="46"/>
                  <a:pt x="8443" y="55"/>
                </a:cubicBezTo>
                <a:cubicBezTo>
                  <a:pt x="8451" y="63"/>
                  <a:pt x="8459" y="73"/>
                  <a:pt x="8466" y="83"/>
                </a:cubicBezTo>
                <a:cubicBezTo>
                  <a:pt x="8473" y="93"/>
                  <a:pt x="8478" y="104"/>
                  <a:pt x="8483" y="115"/>
                </a:cubicBezTo>
                <a:cubicBezTo>
                  <a:pt x="8488" y="126"/>
                  <a:pt x="8491" y="138"/>
                  <a:pt x="8493" y="150"/>
                </a:cubicBezTo>
                <a:cubicBezTo>
                  <a:pt x="8496" y="162"/>
                  <a:pt x="8497" y="174"/>
                  <a:pt x="8497" y="186"/>
                </a:cubicBezTo>
                <a:lnTo>
                  <a:pt x="8497" y="8126"/>
                </a:lnTo>
                <a:cubicBezTo>
                  <a:pt x="8497" y="8138"/>
                  <a:pt x="8496" y="8150"/>
                  <a:pt x="8493" y="8162"/>
                </a:cubicBezTo>
                <a:cubicBezTo>
                  <a:pt x="8491" y="8174"/>
                  <a:pt x="8488" y="8186"/>
                  <a:pt x="8483" y="8197"/>
                </a:cubicBezTo>
                <a:cubicBezTo>
                  <a:pt x="8478" y="8208"/>
                  <a:pt x="8473" y="8219"/>
                  <a:pt x="8466" y="8229"/>
                </a:cubicBezTo>
                <a:cubicBezTo>
                  <a:pt x="8459" y="8239"/>
                  <a:pt x="8451" y="8249"/>
                  <a:pt x="8443" y="8257"/>
                </a:cubicBezTo>
                <a:cubicBezTo>
                  <a:pt x="8434" y="8266"/>
                  <a:pt x="8425" y="8273"/>
                  <a:pt x="8415" y="8280"/>
                </a:cubicBezTo>
                <a:cubicBezTo>
                  <a:pt x="8404" y="8287"/>
                  <a:pt x="8394" y="8293"/>
                  <a:pt x="8382" y="8297"/>
                </a:cubicBezTo>
                <a:cubicBezTo>
                  <a:pt x="8371" y="8302"/>
                  <a:pt x="8360" y="8306"/>
                  <a:pt x="8348" y="8308"/>
                </a:cubicBezTo>
                <a:cubicBezTo>
                  <a:pt x="8336" y="8310"/>
                  <a:pt x="8324" y="8312"/>
                  <a:pt x="8311" y="8312"/>
                </a:cubicBezTo>
                <a:lnTo>
                  <a:pt x="139" y="8312"/>
                </a:lnTo>
                <a:cubicBezTo>
                  <a:pt x="130" y="8312"/>
                  <a:pt x="121" y="8310"/>
                  <a:pt x="112" y="8308"/>
                </a:cubicBezTo>
                <a:cubicBezTo>
                  <a:pt x="103" y="8306"/>
                  <a:pt x="95" y="8302"/>
                  <a:pt x="86" y="8297"/>
                </a:cubicBezTo>
                <a:cubicBezTo>
                  <a:pt x="78" y="8293"/>
                  <a:pt x="70" y="8287"/>
                  <a:pt x="62" y="8280"/>
                </a:cubicBezTo>
                <a:cubicBezTo>
                  <a:pt x="54" y="8273"/>
                  <a:pt x="47" y="8266"/>
                  <a:pt x="41" y="8257"/>
                </a:cubicBezTo>
                <a:cubicBezTo>
                  <a:pt x="34" y="8249"/>
                  <a:pt x="29" y="8239"/>
                  <a:pt x="24" y="8229"/>
                </a:cubicBezTo>
                <a:cubicBezTo>
                  <a:pt x="18" y="8219"/>
                  <a:pt x="14" y="8208"/>
                  <a:pt x="11" y="8197"/>
                </a:cubicBezTo>
                <a:cubicBezTo>
                  <a:pt x="7" y="8186"/>
                  <a:pt x="5" y="8174"/>
                  <a:pt x="3" y="8162"/>
                </a:cubicBezTo>
                <a:cubicBezTo>
                  <a:pt x="1" y="8150"/>
                  <a:pt x="0" y="8138"/>
                  <a:pt x="0" y="812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59" name="任意多邊形 358"/>
          <p:cNvSpPr/>
          <p:nvPr/>
        </p:nvSpPr>
        <p:spPr>
          <a:xfrm>
            <a:off x="3810600" y="1637640"/>
            <a:ext cx="66960" cy="2992320"/>
          </a:xfrm>
          <a:custGeom>
            <a:avLst/>
            <a:gdLst/>
            <a:ahLst/>
            <a:cxnLst/>
            <a:rect l="0" t="0" r="r" b="b"/>
            <a:pathLst>
              <a:path w="186" h="8312">
                <a:moveTo>
                  <a:pt x="151" y="14"/>
                </a:moveTo>
                <a:cubicBezTo>
                  <a:pt x="139" y="24"/>
                  <a:pt x="129" y="37"/>
                  <a:pt x="121" y="55"/>
                </a:cubicBezTo>
                <a:cubicBezTo>
                  <a:pt x="112" y="72"/>
                  <a:pt x="105" y="92"/>
                  <a:pt x="101" y="115"/>
                </a:cubicBezTo>
                <a:cubicBezTo>
                  <a:pt x="96" y="138"/>
                  <a:pt x="94" y="161"/>
                  <a:pt x="94" y="186"/>
                </a:cubicBezTo>
                <a:lnTo>
                  <a:pt x="94" y="8126"/>
                </a:lnTo>
                <a:cubicBezTo>
                  <a:pt x="94" y="8150"/>
                  <a:pt x="96" y="8174"/>
                  <a:pt x="101" y="8197"/>
                </a:cubicBezTo>
                <a:cubicBezTo>
                  <a:pt x="105" y="8220"/>
                  <a:pt x="112" y="8240"/>
                  <a:pt x="121" y="8257"/>
                </a:cubicBezTo>
                <a:cubicBezTo>
                  <a:pt x="129" y="8275"/>
                  <a:pt x="139" y="8288"/>
                  <a:pt x="151" y="8297"/>
                </a:cubicBezTo>
                <a:cubicBezTo>
                  <a:pt x="162" y="8307"/>
                  <a:pt x="174" y="8312"/>
                  <a:pt x="186" y="8312"/>
                </a:cubicBezTo>
                <a:cubicBezTo>
                  <a:pt x="162" y="8312"/>
                  <a:pt x="138" y="8307"/>
                  <a:pt x="115" y="8297"/>
                </a:cubicBezTo>
                <a:cubicBezTo>
                  <a:pt x="93" y="8288"/>
                  <a:pt x="72" y="8275"/>
                  <a:pt x="55" y="8257"/>
                </a:cubicBezTo>
                <a:cubicBezTo>
                  <a:pt x="37" y="8240"/>
                  <a:pt x="23" y="8220"/>
                  <a:pt x="14" y="8197"/>
                </a:cubicBezTo>
                <a:cubicBezTo>
                  <a:pt x="4" y="8174"/>
                  <a:pt x="0" y="8150"/>
                  <a:pt x="0" y="8126"/>
                </a:cubicBezTo>
                <a:lnTo>
                  <a:pt x="0" y="186"/>
                </a:lnTo>
                <a:cubicBezTo>
                  <a:pt x="0" y="161"/>
                  <a:pt x="4" y="138"/>
                  <a:pt x="14" y="115"/>
                </a:cubicBezTo>
                <a:cubicBezTo>
                  <a:pt x="23" y="92"/>
                  <a:pt x="37" y="72"/>
                  <a:pt x="55" y="55"/>
                </a:cubicBezTo>
                <a:cubicBezTo>
                  <a:pt x="72" y="37"/>
                  <a:pt x="93" y="24"/>
                  <a:pt x="115" y="14"/>
                </a:cubicBezTo>
                <a:cubicBezTo>
                  <a:pt x="138" y="5"/>
                  <a:pt x="162" y="0"/>
                  <a:pt x="186" y="0"/>
                </a:cubicBezTo>
                <a:cubicBezTo>
                  <a:pt x="174" y="0"/>
                  <a:pt x="162"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60" name="任意多邊形 359"/>
          <p:cNvSpPr/>
          <p:nvPr/>
        </p:nvSpPr>
        <p:spPr>
          <a:xfrm>
            <a:off x="4052880" y="1846800"/>
            <a:ext cx="568440" cy="568440"/>
          </a:xfrm>
          <a:custGeom>
            <a:avLst/>
            <a:gdLst/>
            <a:ahLst/>
            <a:cxnLst/>
            <a:rect l="0" t="0" r="r" b="b"/>
            <a:pathLst>
              <a:path w="1579" h="1579">
                <a:moveTo>
                  <a:pt x="1579" y="790"/>
                </a:moveTo>
                <a:cubicBezTo>
                  <a:pt x="1579" y="816"/>
                  <a:pt x="1578" y="841"/>
                  <a:pt x="1576" y="867"/>
                </a:cubicBezTo>
                <a:cubicBezTo>
                  <a:pt x="1573" y="893"/>
                  <a:pt x="1569" y="918"/>
                  <a:pt x="1564" y="944"/>
                </a:cubicBezTo>
                <a:cubicBezTo>
                  <a:pt x="1559" y="969"/>
                  <a:pt x="1553" y="994"/>
                  <a:pt x="1545" y="1019"/>
                </a:cubicBezTo>
                <a:cubicBezTo>
                  <a:pt x="1538" y="1044"/>
                  <a:pt x="1529" y="1068"/>
                  <a:pt x="1519" y="1092"/>
                </a:cubicBezTo>
                <a:cubicBezTo>
                  <a:pt x="1509" y="1116"/>
                  <a:pt x="1498" y="1139"/>
                  <a:pt x="1486" y="1162"/>
                </a:cubicBezTo>
                <a:cubicBezTo>
                  <a:pt x="1474" y="1185"/>
                  <a:pt x="1461" y="1207"/>
                  <a:pt x="1446" y="1228"/>
                </a:cubicBezTo>
                <a:cubicBezTo>
                  <a:pt x="1432" y="1250"/>
                  <a:pt x="1417" y="1271"/>
                  <a:pt x="1400" y="1291"/>
                </a:cubicBezTo>
                <a:cubicBezTo>
                  <a:pt x="1384" y="1311"/>
                  <a:pt x="1366" y="1330"/>
                  <a:pt x="1348" y="1348"/>
                </a:cubicBezTo>
                <a:cubicBezTo>
                  <a:pt x="1330" y="1366"/>
                  <a:pt x="1311" y="1384"/>
                  <a:pt x="1291" y="1400"/>
                </a:cubicBezTo>
                <a:cubicBezTo>
                  <a:pt x="1271" y="1416"/>
                  <a:pt x="1250" y="1432"/>
                  <a:pt x="1229" y="1446"/>
                </a:cubicBezTo>
                <a:cubicBezTo>
                  <a:pt x="1207" y="1460"/>
                  <a:pt x="1185" y="1474"/>
                  <a:pt x="1162" y="1486"/>
                </a:cubicBezTo>
                <a:cubicBezTo>
                  <a:pt x="1139" y="1498"/>
                  <a:pt x="1116" y="1509"/>
                  <a:pt x="1092" y="1519"/>
                </a:cubicBezTo>
                <a:cubicBezTo>
                  <a:pt x="1068" y="1529"/>
                  <a:pt x="1044" y="1538"/>
                  <a:pt x="1019" y="1545"/>
                </a:cubicBezTo>
                <a:cubicBezTo>
                  <a:pt x="994" y="1553"/>
                  <a:pt x="969" y="1559"/>
                  <a:pt x="944" y="1564"/>
                </a:cubicBezTo>
                <a:cubicBezTo>
                  <a:pt x="919" y="1569"/>
                  <a:pt x="893" y="1573"/>
                  <a:pt x="867" y="1575"/>
                </a:cubicBezTo>
                <a:cubicBezTo>
                  <a:pt x="842" y="1578"/>
                  <a:pt x="816" y="1579"/>
                  <a:pt x="790" y="1579"/>
                </a:cubicBezTo>
                <a:cubicBezTo>
                  <a:pt x="764" y="1579"/>
                  <a:pt x="738" y="1578"/>
                  <a:pt x="713" y="1575"/>
                </a:cubicBezTo>
                <a:cubicBezTo>
                  <a:pt x="687" y="1573"/>
                  <a:pt x="661" y="1569"/>
                  <a:pt x="636" y="1564"/>
                </a:cubicBezTo>
                <a:cubicBezTo>
                  <a:pt x="611" y="1559"/>
                  <a:pt x="586" y="1553"/>
                  <a:pt x="560" y="1545"/>
                </a:cubicBezTo>
                <a:cubicBezTo>
                  <a:pt x="535" y="1538"/>
                  <a:pt x="511" y="1529"/>
                  <a:pt x="487" y="1519"/>
                </a:cubicBezTo>
                <a:cubicBezTo>
                  <a:pt x="463" y="1509"/>
                  <a:pt x="440" y="1498"/>
                  <a:pt x="417" y="1486"/>
                </a:cubicBezTo>
                <a:cubicBezTo>
                  <a:pt x="394" y="1474"/>
                  <a:pt x="372" y="1460"/>
                  <a:pt x="351" y="1446"/>
                </a:cubicBezTo>
                <a:cubicBezTo>
                  <a:pt x="329" y="1432"/>
                  <a:pt x="308" y="1416"/>
                  <a:pt x="288" y="1400"/>
                </a:cubicBezTo>
                <a:cubicBezTo>
                  <a:pt x="268" y="1384"/>
                  <a:pt x="249" y="1366"/>
                  <a:pt x="231" y="1348"/>
                </a:cubicBezTo>
                <a:cubicBezTo>
                  <a:pt x="213" y="1330"/>
                  <a:pt x="195" y="1311"/>
                  <a:pt x="179" y="1291"/>
                </a:cubicBezTo>
                <a:cubicBezTo>
                  <a:pt x="163" y="1271"/>
                  <a:pt x="147" y="1250"/>
                  <a:pt x="133" y="1228"/>
                </a:cubicBezTo>
                <a:cubicBezTo>
                  <a:pt x="118" y="1207"/>
                  <a:pt x="105" y="1185"/>
                  <a:pt x="93" y="1162"/>
                </a:cubicBezTo>
                <a:cubicBezTo>
                  <a:pt x="81" y="1139"/>
                  <a:pt x="70" y="1116"/>
                  <a:pt x="60" y="1092"/>
                </a:cubicBezTo>
                <a:cubicBezTo>
                  <a:pt x="50" y="1068"/>
                  <a:pt x="41" y="1044"/>
                  <a:pt x="34" y="1019"/>
                </a:cubicBezTo>
                <a:cubicBezTo>
                  <a:pt x="26" y="994"/>
                  <a:pt x="20" y="969"/>
                  <a:pt x="15" y="944"/>
                </a:cubicBezTo>
                <a:cubicBezTo>
                  <a:pt x="10" y="918"/>
                  <a:pt x="6" y="893"/>
                  <a:pt x="4" y="867"/>
                </a:cubicBezTo>
                <a:cubicBezTo>
                  <a:pt x="1" y="841"/>
                  <a:pt x="0" y="816"/>
                  <a:pt x="0" y="790"/>
                </a:cubicBezTo>
                <a:cubicBezTo>
                  <a:pt x="0" y="764"/>
                  <a:pt x="1" y="738"/>
                  <a:pt x="4" y="712"/>
                </a:cubicBezTo>
                <a:cubicBezTo>
                  <a:pt x="6" y="687"/>
                  <a:pt x="10" y="661"/>
                  <a:pt x="15" y="636"/>
                </a:cubicBezTo>
                <a:cubicBezTo>
                  <a:pt x="20" y="611"/>
                  <a:pt x="26" y="585"/>
                  <a:pt x="34" y="561"/>
                </a:cubicBezTo>
                <a:cubicBezTo>
                  <a:pt x="41" y="536"/>
                  <a:pt x="50" y="512"/>
                  <a:pt x="60" y="488"/>
                </a:cubicBezTo>
                <a:cubicBezTo>
                  <a:pt x="70" y="464"/>
                  <a:pt x="81" y="441"/>
                  <a:pt x="93" y="418"/>
                </a:cubicBezTo>
                <a:cubicBezTo>
                  <a:pt x="105" y="395"/>
                  <a:pt x="118" y="372"/>
                  <a:pt x="133" y="350"/>
                </a:cubicBezTo>
                <a:cubicBezTo>
                  <a:pt x="147" y="329"/>
                  <a:pt x="163" y="308"/>
                  <a:pt x="179" y="288"/>
                </a:cubicBezTo>
                <a:cubicBezTo>
                  <a:pt x="195" y="268"/>
                  <a:pt x="213" y="249"/>
                  <a:pt x="231" y="231"/>
                </a:cubicBezTo>
                <a:cubicBezTo>
                  <a:pt x="249" y="212"/>
                  <a:pt x="268" y="195"/>
                  <a:pt x="288" y="179"/>
                </a:cubicBezTo>
                <a:cubicBezTo>
                  <a:pt x="308" y="162"/>
                  <a:pt x="329" y="147"/>
                  <a:pt x="351" y="133"/>
                </a:cubicBezTo>
                <a:cubicBezTo>
                  <a:pt x="372" y="118"/>
                  <a:pt x="394" y="105"/>
                  <a:pt x="417" y="93"/>
                </a:cubicBezTo>
                <a:cubicBezTo>
                  <a:pt x="440" y="81"/>
                  <a:pt x="463" y="70"/>
                  <a:pt x="487" y="60"/>
                </a:cubicBezTo>
                <a:cubicBezTo>
                  <a:pt x="511" y="50"/>
                  <a:pt x="535" y="41"/>
                  <a:pt x="560" y="34"/>
                </a:cubicBezTo>
                <a:cubicBezTo>
                  <a:pt x="586" y="26"/>
                  <a:pt x="611" y="20"/>
                  <a:pt x="636" y="15"/>
                </a:cubicBezTo>
                <a:cubicBezTo>
                  <a:pt x="661" y="10"/>
                  <a:pt x="687" y="6"/>
                  <a:pt x="713" y="3"/>
                </a:cubicBezTo>
                <a:cubicBezTo>
                  <a:pt x="738" y="1"/>
                  <a:pt x="764" y="0"/>
                  <a:pt x="790" y="0"/>
                </a:cubicBezTo>
                <a:cubicBezTo>
                  <a:pt x="816" y="0"/>
                  <a:pt x="842" y="1"/>
                  <a:pt x="867" y="3"/>
                </a:cubicBezTo>
                <a:cubicBezTo>
                  <a:pt x="893" y="6"/>
                  <a:pt x="919" y="10"/>
                  <a:pt x="944" y="15"/>
                </a:cubicBezTo>
                <a:cubicBezTo>
                  <a:pt x="969" y="20"/>
                  <a:pt x="994" y="26"/>
                  <a:pt x="1019" y="34"/>
                </a:cubicBezTo>
                <a:cubicBezTo>
                  <a:pt x="1044" y="41"/>
                  <a:pt x="1068" y="50"/>
                  <a:pt x="1092" y="60"/>
                </a:cubicBezTo>
                <a:cubicBezTo>
                  <a:pt x="1116" y="70"/>
                  <a:pt x="1139" y="81"/>
                  <a:pt x="1162" y="93"/>
                </a:cubicBezTo>
                <a:cubicBezTo>
                  <a:pt x="1185" y="105"/>
                  <a:pt x="1207" y="118"/>
                  <a:pt x="1229" y="133"/>
                </a:cubicBezTo>
                <a:cubicBezTo>
                  <a:pt x="1250" y="147"/>
                  <a:pt x="1271" y="162"/>
                  <a:pt x="1291" y="179"/>
                </a:cubicBezTo>
                <a:cubicBezTo>
                  <a:pt x="1311" y="195"/>
                  <a:pt x="1330" y="212"/>
                  <a:pt x="1348" y="231"/>
                </a:cubicBezTo>
                <a:cubicBezTo>
                  <a:pt x="1366" y="249"/>
                  <a:pt x="1384" y="268"/>
                  <a:pt x="1400" y="288"/>
                </a:cubicBezTo>
                <a:cubicBezTo>
                  <a:pt x="1417" y="308"/>
                  <a:pt x="1432" y="329"/>
                  <a:pt x="1446" y="350"/>
                </a:cubicBezTo>
                <a:cubicBezTo>
                  <a:pt x="1461" y="372"/>
                  <a:pt x="1474" y="395"/>
                  <a:pt x="1486" y="418"/>
                </a:cubicBezTo>
                <a:cubicBezTo>
                  <a:pt x="1498" y="441"/>
                  <a:pt x="1509" y="464"/>
                  <a:pt x="1519" y="488"/>
                </a:cubicBezTo>
                <a:cubicBezTo>
                  <a:pt x="1529" y="512"/>
                  <a:pt x="1538" y="536"/>
                  <a:pt x="1545" y="561"/>
                </a:cubicBezTo>
                <a:cubicBezTo>
                  <a:pt x="1553" y="585"/>
                  <a:pt x="1559" y="611"/>
                  <a:pt x="1564" y="636"/>
                </a:cubicBezTo>
                <a:cubicBezTo>
                  <a:pt x="1569" y="661"/>
                  <a:pt x="1573" y="687"/>
                  <a:pt x="1576" y="712"/>
                </a:cubicBezTo>
                <a:cubicBezTo>
                  <a:pt x="1578" y="738"/>
                  <a:pt x="1579" y="764"/>
                  <a:pt x="1579" y="790"/>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61" name="任意多邊形 360"/>
          <p:cNvSpPr/>
          <p:nvPr/>
        </p:nvSpPr>
        <p:spPr>
          <a:xfrm>
            <a:off x="4052880" y="1846800"/>
            <a:ext cx="568440" cy="568440"/>
          </a:xfrm>
          <a:custGeom>
            <a:avLst/>
            <a:gdLst/>
            <a:ahLst/>
            <a:cxnLst/>
            <a:rect l="0" t="0" r="r" b="b"/>
            <a:pathLst>
              <a:path w="1579" h="1579" fill="none">
                <a:moveTo>
                  <a:pt x="1579" y="790"/>
                </a:moveTo>
                <a:cubicBezTo>
                  <a:pt x="1579" y="816"/>
                  <a:pt x="1578" y="841"/>
                  <a:pt x="1576" y="867"/>
                </a:cubicBezTo>
                <a:cubicBezTo>
                  <a:pt x="1573" y="893"/>
                  <a:pt x="1569" y="918"/>
                  <a:pt x="1564" y="944"/>
                </a:cubicBezTo>
                <a:cubicBezTo>
                  <a:pt x="1559" y="969"/>
                  <a:pt x="1553" y="994"/>
                  <a:pt x="1545" y="1019"/>
                </a:cubicBezTo>
                <a:cubicBezTo>
                  <a:pt x="1538" y="1044"/>
                  <a:pt x="1529" y="1068"/>
                  <a:pt x="1519" y="1092"/>
                </a:cubicBezTo>
                <a:cubicBezTo>
                  <a:pt x="1509" y="1116"/>
                  <a:pt x="1498" y="1139"/>
                  <a:pt x="1486" y="1162"/>
                </a:cubicBezTo>
                <a:cubicBezTo>
                  <a:pt x="1474" y="1185"/>
                  <a:pt x="1461" y="1207"/>
                  <a:pt x="1446" y="1228"/>
                </a:cubicBezTo>
                <a:cubicBezTo>
                  <a:pt x="1432" y="1250"/>
                  <a:pt x="1417" y="1271"/>
                  <a:pt x="1400" y="1291"/>
                </a:cubicBezTo>
                <a:cubicBezTo>
                  <a:pt x="1384" y="1311"/>
                  <a:pt x="1366" y="1330"/>
                  <a:pt x="1348" y="1348"/>
                </a:cubicBezTo>
                <a:cubicBezTo>
                  <a:pt x="1330" y="1366"/>
                  <a:pt x="1311" y="1384"/>
                  <a:pt x="1291" y="1400"/>
                </a:cubicBezTo>
                <a:cubicBezTo>
                  <a:pt x="1271" y="1416"/>
                  <a:pt x="1250" y="1432"/>
                  <a:pt x="1229" y="1446"/>
                </a:cubicBezTo>
                <a:cubicBezTo>
                  <a:pt x="1207" y="1460"/>
                  <a:pt x="1185" y="1474"/>
                  <a:pt x="1162" y="1486"/>
                </a:cubicBezTo>
                <a:cubicBezTo>
                  <a:pt x="1139" y="1498"/>
                  <a:pt x="1116" y="1509"/>
                  <a:pt x="1092" y="1519"/>
                </a:cubicBezTo>
                <a:cubicBezTo>
                  <a:pt x="1068" y="1529"/>
                  <a:pt x="1044" y="1538"/>
                  <a:pt x="1019" y="1545"/>
                </a:cubicBezTo>
                <a:cubicBezTo>
                  <a:pt x="994" y="1553"/>
                  <a:pt x="969" y="1559"/>
                  <a:pt x="944" y="1564"/>
                </a:cubicBezTo>
                <a:cubicBezTo>
                  <a:pt x="919" y="1569"/>
                  <a:pt x="893" y="1573"/>
                  <a:pt x="867" y="1575"/>
                </a:cubicBezTo>
                <a:cubicBezTo>
                  <a:pt x="842" y="1578"/>
                  <a:pt x="816" y="1579"/>
                  <a:pt x="790" y="1579"/>
                </a:cubicBezTo>
                <a:cubicBezTo>
                  <a:pt x="764" y="1579"/>
                  <a:pt x="738" y="1578"/>
                  <a:pt x="713" y="1575"/>
                </a:cubicBezTo>
                <a:cubicBezTo>
                  <a:pt x="687" y="1573"/>
                  <a:pt x="661" y="1569"/>
                  <a:pt x="636" y="1564"/>
                </a:cubicBezTo>
                <a:cubicBezTo>
                  <a:pt x="611" y="1559"/>
                  <a:pt x="586" y="1553"/>
                  <a:pt x="560" y="1545"/>
                </a:cubicBezTo>
                <a:cubicBezTo>
                  <a:pt x="535" y="1538"/>
                  <a:pt x="511" y="1529"/>
                  <a:pt x="487" y="1519"/>
                </a:cubicBezTo>
                <a:cubicBezTo>
                  <a:pt x="463" y="1509"/>
                  <a:pt x="440" y="1498"/>
                  <a:pt x="417" y="1486"/>
                </a:cubicBezTo>
                <a:cubicBezTo>
                  <a:pt x="394" y="1474"/>
                  <a:pt x="372" y="1460"/>
                  <a:pt x="351" y="1446"/>
                </a:cubicBezTo>
                <a:cubicBezTo>
                  <a:pt x="329" y="1432"/>
                  <a:pt x="308" y="1416"/>
                  <a:pt x="288" y="1400"/>
                </a:cubicBezTo>
                <a:cubicBezTo>
                  <a:pt x="268" y="1384"/>
                  <a:pt x="249" y="1366"/>
                  <a:pt x="231" y="1348"/>
                </a:cubicBezTo>
                <a:cubicBezTo>
                  <a:pt x="213" y="1330"/>
                  <a:pt x="195" y="1311"/>
                  <a:pt x="179" y="1291"/>
                </a:cubicBezTo>
                <a:cubicBezTo>
                  <a:pt x="163" y="1271"/>
                  <a:pt x="147" y="1250"/>
                  <a:pt x="133" y="1228"/>
                </a:cubicBezTo>
                <a:cubicBezTo>
                  <a:pt x="118" y="1207"/>
                  <a:pt x="105" y="1185"/>
                  <a:pt x="93" y="1162"/>
                </a:cubicBezTo>
                <a:cubicBezTo>
                  <a:pt x="81" y="1139"/>
                  <a:pt x="70" y="1116"/>
                  <a:pt x="60" y="1092"/>
                </a:cubicBezTo>
                <a:cubicBezTo>
                  <a:pt x="50" y="1068"/>
                  <a:pt x="41" y="1044"/>
                  <a:pt x="34" y="1019"/>
                </a:cubicBezTo>
                <a:cubicBezTo>
                  <a:pt x="26" y="994"/>
                  <a:pt x="20" y="969"/>
                  <a:pt x="15" y="944"/>
                </a:cubicBezTo>
                <a:cubicBezTo>
                  <a:pt x="10" y="918"/>
                  <a:pt x="6" y="893"/>
                  <a:pt x="4" y="867"/>
                </a:cubicBezTo>
                <a:cubicBezTo>
                  <a:pt x="1" y="841"/>
                  <a:pt x="0" y="816"/>
                  <a:pt x="0" y="790"/>
                </a:cubicBezTo>
                <a:cubicBezTo>
                  <a:pt x="0" y="764"/>
                  <a:pt x="1" y="738"/>
                  <a:pt x="4" y="712"/>
                </a:cubicBezTo>
                <a:cubicBezTo>
                  <a:pt x="6" y="687"/>
                  <a:pt x="10" y="661"/>
                  <a:pt x="15" y="636"/>
                </a:cubicBezTo>
                <a:cubicBezTo>
                  <a:pt x="20" y="611"/>
                  <a:pt x="26" y="585"/>
                  <a:pt x="34" y="561"/>
                </a:cubicBezTo>
                <a:cubicBezTo>
                  <a:pt x="41" y="536"/>
                  <a:pt x="50" y="512"/>
                  <a:pt x="60" y="488"/>
                </a:cubicBezTo>
                <a:cubicBezTo>
                  <a:pt x="70" y="464"/>
                  <a:pt x="81" y="441"/>
                  <a:pt x="93" y="418"/>
                </a:cubicBezTo>
                <a:cubicBezTo>
                  <a:pt x="105" y="395"/>
                  <a:pt x="118" y="372"/>
                  <a:pt x="133" y="350"/>
                </a:cubicBezTo>
                <a:cubicBezTo>
                  <a:pt x="147" y="329"/>
                  <a:pt x="163" y="308"/>
                  <a:pt x="179" y="288"/>
                </a:cubicBezTo>
                <a:cubicBezTo>
                  <a:pt x="195" y="268"/>
                  <a:pt x="213" y="249"/>
                  <a:pt x="231" y="231"/>
                </a:cubicBezTo>
                <a:cubicBezTo>
                  <a:pt x="249" y="212"/>
                  <a:pt x="268" y="195"/>
                  <a:pt x="288" y="179"/>
                </a:cubicBezTo>
                <a:cubicBezTo>
                  <a:pt x="308" y="162"/>
                  <a:pt x="329" y="147"/>
                  <a:pt x="351" y="133"/>
                </a:cubicBezTo>
                <a:cubicBezTo>
                  <a:pt x="372" y="118"/>
                  <a:pt x="394" y="105"/>
                  <a:pt x="417" y="93"/>
                </a:cubicBezTo>
                <a:cubicBezTo>
                  <a:pt x="440" y="81"/>
                  <a:pt x="463" y="70"/>
                  <a:pt x="487" y="60"/>
                </a:cubicBezTo>
                <a:cubicBezTo>
                  <a:pt x="511" y="50"/>
                  <a:pt x="535" y="41"/>
                  <a:pt x="560" y="34"/>
                </a:cubicBezTo>
                <a:cubicBezTo>
                  <a:pt x="586" y="26"/>
                  <a:pt x="611" y="20"/>
                  <a:pt x="636" y="15"/>
                </a:cubicBezTo>
                <a:cubicBezTo>
                  <a:pt x="661" y="10"/>
                  <a:pt x="687" y="6"/>
                  <a:pt x="713" y="3"/>
                </a:cubicBezTo>
                <a:cubicBezTo>
                  <a:pt x="738" y="1"/>
                  <a:pt x="764" y="0"/>
                  <a:pt x="790" y="0"/>
                </a:cubicBezTo>
                <a:cubicBezTo>
                  <a:pt x="816" y="0"/>
                  <a:pt x="842" y="1"/>
                  <a:pt x="867" y="3"/>
                </a:cubicBezTo>
                <a:cubicBezTo>
                  <a:pt x="893" y="6"/>
                  <a:pt x="919" y="10"/>
                  <a:pt x="944" y="15"/>
                </a:cubicBezTo>
                <a:cubicBezTo>
                  <a:pt x="969" y="20"/>
                  <a:pt x="994" y="26"/>
                  <a:pt x="1019" y="34"/>
                </a:cubicBezTo>
                <a:cubicBezTo>
                  <a:pt x="1044" y="41"/>
                  <a:pt x="1068" y="50"/>
                  <a:pt x="1092" y="60"/>
                </a:cubicBezTo>
                <a:cubicBezTo>
                  <a:pt x="1116" y="70"/>
                  <a:pt x="1139" y="81"/>
                  <a:pt x="1162" y="93"/>
                </a:cubicBezTo>
                <a:cubicBezTo>
                  <a:pt x="1185" y="105"/>
                  <a:pt x="1207" y="118"/>
                  <a:pt x="1229" y="133"/>
                </a:cubicBezTo>
                <a:cubicBezTo>
                  <a:pt x="1250" y="147"/>
                  <a:pt x="1271" y="162"/>
                  <a:pt x="1291" y="179"/>
                </a:cubicBezTo>
                <a:cubicBezTo>
                  <a:pt x="1311" y="195"/>
                  <a:pt x="1330" y="212"/>
                  <a:pt x="1348" y="231"/>
                </a:cubicBezTo>
                <a:cubicBezTo>
                  <a:pt x="1366" y="249"/>
                  <a:pt x="1384" y="268"/>
                  <a:pt x="1400" y="288"/>
                </a:cubicBezTo>
                <a:cubicBezTo>
                  <a:pt x="1417" y="308"/>
                  <a:pt x="1432" y="329"/>
                  <a:pt x="1446" y="350"/>
                </a:cubicBezTo>
                <a:cubicBezTo>
                  <a:pt x="1461" y="372"/>
                  <a:pt x="1474" y="395"/>
                  <a:pt x="1486" y="418"/>
                </a:cubicBezTo>
                <a:cubicBezTo>
                  <a:pt x="1498" y="441"/>
                  <a:pt x="1509" y="464"/>
                  <a:pt x="1519" y="488"/>
                </a:cubicBezTo>
                <a:cubicBezTo>
                  <a:pt x="1529" y="512"/>
                  <a:pt x="1538" y="536"/>
                  <a:pt x="1545" y="561"/>
                </a:cubicBezTo>
                <a:cubicBezTo>
                  <a:pt x="1553" y="585"/>
                  <a:pt x="1559" y="611"/>
                  <a:pt x="1564" y="636"/>
                </a:cubicBezTo>
                <a:cubicBezTo>
                  <a:pt x="1569" y="661"/>
                  <a:pt x="1573" y="687"/>
                  <a:pt x="1576" y="712"/>
                </a:cubicBezTo>
                <a:cubicBezTo>
                  <a:pt x="1578" y="738"/>
                  <a:pt x="1579" y="764"/>
                  <a:pt x="1579" y="790"/>
                </a:cubicBezTo>
              </a:path>
            </a:pathLst>
          </a:custGeom>
          <a:ln w="16560">
            <a:solidFill>
              <a:srgbClr val="F6AD55"/>
            </a:solidFill>
            <a:miter/>
          </a:ln>
        </p:spPr>
        <p:txBody>
          <a:bodyPr lIns="8280" tIns="8280" rIns="8280" bIns="8280" anchor="t">
            <a:noAutofit/>
          </a:bodyPr>
          <a:p>
            <a:endParaRPr lang="en-US" sz="2400" b="0" u="none" strike="noStrike">
              <a:solidFill>
                <a:srgbClr val="000000"/>
              </a:solidFill>
              <a:effectLst/>
              <a:uFillTx/>
              <a:latin typeface="Times New Roman" panose="02020603050405020304"/>
            </a:endParaRPr>
          </a:p>
        </p:txBody>
      </p:sp>
      <p:pic>
        <p:nvPicPr>
          <p:cNvPr id="362" name="圖片 361"/>
          <p:cNvPicPr/>
          <p:nvPr/>
        </p:nvPicPr>
        <p:blipFill>
          <a:blip r:embed="rId6"/>
          <a:stretch>
            <a:fillRect/>
          </a:stretch>
        </p:blipFill>
        <p:spPr>
          <a:xfrm>
            <a:off x="4195080" y="2005560"/>
            <a:ext cx="283680" cy="250200"/>
          </a:xfrm>
          <a:prstGeom prst="rect">
            <a:avLst/>
          </a:prstGeom>
          <a:noFill/>
          <a:ln w="0">
            <a:noFill/>
          </a:ln>
        </p:spPr>
      </p:pic>
      <p:sp>
        <p:nvSpPr>
          <p:cNvPr id="363" name="文字框 362"/>
          <p:cNvSpPr txBox="1"/>
          <p:nvPr/>
        </p:nvSpPr>
        <p:spPr>
          <a:xfrm>
            <a:off x="986040" y="417492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现金流稳定，股息可靠</a:t>
            </a:r>
            <a:endParaRPr lang="en-US" sz="1050" b="0" u="none" strike="noStrike">
              <a:solidFill>
                <a:srgbClr val="000000"/>
              </a:solidFill>
              <a:effectLst/>
              <a:uFillTx/>
              <a:latin typeface="Times New Roman" panose="02020603050405020304"/>
            </a:endParaRPr>
          </a:p>
        </p:txBody>
      </p:sp>
      <p:sp>
        <p:nvSpPr>
          <p:cNvPr id="364" name="文字框 363"/>
          <p:cNvSpPr txBox="1"/>
          <p:nvPr/>
        </p:nvSpPr>
        <p:spPr>
          <a:xfrm>
            <a:off x="4763160" y="2071440"/>
            <a:ext cx="80532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医疗保健</a:t>
            </a:r>
            <a:endParaRPr lang="en-US" sz="1580" b="0" u="none" strike="noStrike">
              <a:solidFill>
                <a:srgbClr val="000000"/>
              </a:solidFill>
              <a:effectLst/>
              <a:uFillTx/>
              <a:latin typeface="Times New Roman" panose="02020603050405020304"/>
            </a:endParaRPr>
          </a:p>
        </p:txBody>
      </p:sp>
      <p:sp>
        <p:nvSpPr>
          <p:cNvPr id="365" name="文字框 364"/>
          <p:cNvSpPr txBox="1"/>
          <p:nvPr/>
        </p:nvSpPr>
        <p:spPr>
          <a:xfrm>
            <a:off x="4044600" y="270432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药品、医疗服务和设备的需求通常不受经济</a:t>
            </a:r>
            <a:endParaRPr lang="en-US" sz="1050" b="0" u="none" strike="noStrike">
              <a:solidFill>
                <a:srgbClr val="000000"/>
              </a:solidFill>
              <a:effectLst/>
              <a:uFillTx/>
              <a:latin typeface="Times New Roman" panose="02020603050405020304"/>
            </a:endParaRPr>
          </a:p>
        </p:txBody>
      </p:sp>
      <p:sp>
        <p:nvSpPr>
          <p:cNvPr id="366" name="文字框 365"/>
          <p:cNvSpPr txBox="1"/>
          <p:nvPr/>
        </p:nvSpPr>
        <p:spPr>
          <a:xfrm>
            <a:off x="4044600" y="290484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衰退的严重影响，因为健康是刚性需求，人</a:t>
            </a:r>
            <a:endParaRPr lang="en-US" sz="1050" b="0" u="none" strike="noStrike">
              <a:solidFill>
                <a:srgbClr val="000000"/>
              </a:solidFill>
              <a:effectLst/>
              <a:uFillTx/>
              <a:latin typeface="Times New Roman" panose="02020603050405020304"/>
            </a:endParaRPr>
          </a:p>
        </p:txBody>
      </p:sp>
      <p:pic>
        <p:nvPicPr>
          <p:cNvPr id="367" name="圖片 366"/>
          <p:cNvPicPr/>
          <p:nvPr/>
        </p:nvPicPr>
        <p:blipFill>
          <a:blip r:embed="rId5"/>
          <a:stretch>
            <a:fillRect/>
          </a:stretch>
        </p:blipFill>
        <p:spPr>
          <a:xfrm>
            <a:off x="4044600" y="3660120"/>
            <a:ext cx="133200" cy="133200"/>
          </a:xfrm>
          <a:prstGeom prst="rect">
            <a:avLst/>
          </a:prstGeom>
          <a:noFill/>
          <a:ln w="0">
            <a:noFill/>
          </a:ln>
        </p:spPr>
      </p:pic>
      <p:sp>
        <p:nvSpPr>
          <p:cNvPr id="368" name="文字框 367"/>
          <p:cNvSpPr txBox="1"/>
          <p:nvPr/>
        </p:nvSpPr>
        <p:spPr>
          <a:xfrm>
            <a:off x="4044600" y="31053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们不会因经济下行而放弃必要的医疗服务。</a:t>
            </a:r>
            <a:endParaRPr lang="en-US" sz="1050" b="0" u="none" strike="noStrike">
              <a:solidFill>
                <a:srgbClr val="000000"/>
              </a:solidFill>
              <a:effectLst/>
              <a:uFillTx/>
              <a:latin typeface="Times New Roman" panose="02020603050405020304"/>
            </a:endParaRPr>
          </a:p>
        </p:txBody>
      </p:sp>
      <p:pic>
        <p:nvPicPr>
          <p:cNvPr id="369" name="圖片 368"/>
          <p:cNvPicPr/>
          <p:nvPr/>
        </p:nvPicPr>
        <p:blipFill>
          <a:blip r:embed="rId5"/>
          <a:stretch>
            <a:fillRect/>
          </a:stretch>
        </p:blipFill>
        <p:spPr>
          <a:xfrm>
            <a:off x="4044600" y="3927600"/>
            <a:ext cx="133200" cy="133200"/>
          </a:xfrm>
          <a:prstGeom prst="rect">
            <a:avLst/>
          </a:prstGeom>
          <a:noFill/>
          <a:ln w="0">
            <a:noFill/>
          </a:ln>
        </p:spPr>
      </p:pic>
      <p:sp>
        <p:nvSpPr>
          <p:cNvPr id="370" name="文字框 369"/>
          <p:cNvSpPr txBox="1"/>
          <p:nvPr/>
        </p:nvSpPr>
        <p:spPr>
          <a:xfrm>
            <a:off x="4262040" y="363996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不可推迟的医疗需求</a:t>
            </a:r>
            <a:endParaRPr lang="en-US" sz="1050" b="0" u="none" strike="noStrike">
              <a:solidFill>
                <a:srgbClr val="000000"/>
              </a:solidFill>
              <a:effectLst/>
              <a:uFillTx/>
              <a:latin typeface="Times New Roman" panose="02020603050405020304"/>
            </a:endParaRPr>
          </a:p>
        </p:txBody>
      </p:sp>
      <p:pic>
        <p:nvPicPr>
          <p:cNvPr id="371" name="圖片 370"/>
          <p:cNvPicPr/>
          <p:nvPr/>
        </p:nvPicPr>
        <p:blipFill>
          <a:blip r:embed="rId5"/>
          <a:stretch>
            <a:fillRect/>
          </a:stretch>
        </p:blipFill>
        <p:spPr>
          <a:xfrm>
            <a:off x="4044600" y="4195080"/>
            <a:ext cx="133200" cy="133200"/>
          </a:xfrm>
          <a:prstGeom prst="rect">
            <a:avLst/>
          </a:prstGeom>
          <a:noFill/>
          <a:ln w="0">
            <a:noFill/>
          </a:ln>
        </p:spPr>
      </p:pic>
      <p:sp>
        <p:nvSpPr>
          <p:cNvPr id="372" name="文字框 371"/>
          <p:cNvSpPr txBox="1"/>
          <p:nvPr/>
        </p:nvSpPr>
        <p:spPr>
          <a:xfrm>
            <a:off x="4262040" y="3907440"/>
            <a:ext cx="1609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人口老龄化带来的持续需求</a:t>
            </a:r>
            <a:endParaRPr lang="en-US" sz="1050" b="0" u="none" strike="noStrike">
              <a:solidFill>
                <a:srgbClr val="000000"/>
              </a:solidFill>
              <a:effectLst/>
              <a:uFillTx/>
              <a:latin typeface="Times New Roman" panose="02020603050405020304"/>
            </a:endParaRPr>
          </a:p>
        </p:txBody>
      </p:sp>
      <p:sp>
        <p:nvSpPr>
          <p:cNvPr id="373" name="任意多邊形 372"/>
          <p:cNvSpPr/>
          <p:nvPr/>
        </p:nvSpPr>
        <p:spPr>
          <a:xfrm>
            <a:off x="7103160" y="1637640"/>
            <a:ext cx="3058920" cy="2992320"/>
          </a:xfrm>
          <a:custGeom>
            <a:avLst/>
            <a:gdLst/>
            <a:ahLst/>
            <a:cxnLst/>
            <a:rect l="0" t="0" r="r" b="b"/>
            <a:pathLst>
              <a:path w="8497" h="8312">
                <a:moveTo>
                  <a:pt x="0" y="8126"/>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8"/>
                  <a:pt x="61" y="32"/>
                </a:cubicBezTo>
                <a:cubicBezTo>
                  <a:pt x="69" y="25"/>
                  <a:pt x="77" y="19"/>
                  <a:pt x="86" y="14"/>
                </a:cubicBezTo>
                <a:cubicBezTo>
                  <a:pt x="94" y="10"/>
                  <a:pt x="103" y="6"/>
                  <a:pt x="112" y="4"/>
                </a:cubicBezTo>
                <a:cubicBezTo>
                  <a:pt x="121" y="1"/>
                  <a:pt x="130" y="0"/>
                  <a:pt x="139" y="0"/>
                </a:cubicBezTo>
                <a:lnTo>
                  <a:pt x="8311" y="0"/>
                </a:lnTo>
                <a:cubicBezTo>
                  <a:pt x="8323" y="0"/>
                  <a:pt x="8335" y="1"/>
                  <a:pt x="8347" y="4"/>
                </a:cubicBezTo>
                <a:cubicBezTo>
                  <a:pt x="8359" y="6"/>
                  <a:pt x="8371" y="10"/>
                  <a:pt x="8382" y="14"/>
                </a:cubicBezTo>
                <a:cubicBezTo>
                  <a:pt x="8393" y="19"/>
                  <a:pt x="8404" y="25"/>
                  <a:pt x="8414" y="32"/>
                </a:cubicBezTo>
                <a:cubicBezTo>
                  <a:pt x="8424" y="38"/>
                  <a:pt x="8434" y="46"/>
                  <a:pt x="8442" y="55"/>
                </a:cubicBezTo>
                <a:cubicBezTo>
                  <a:pt x="8451" y="63"/>
                  <a:pt x="8458" y="73"/>
                  <a:pt x="8465" y="83"/>
                </a:cubicBezTo>
                <a:cubicBezTo>
                  <a:pt x="8472" y="93"/>
                  <a:pt x="8478" y="104"/>
                  <a:pt x="8482" y="115"/>
                </a:cubicBezTo>
                <a:cubicBezTo>
                  <a:pt x="8487" y="126"/>
                  <a:pt x="8491" y="138"/>
                  <a:pt x="8493" y="150"/>
                </a:cubicBezTo>
                <a:cubicBezTo>
                  <a:pt x="8495" y="162"/>
                  <a:pt x="8497" y="174"/>
                  <a:pt x="8497" y="186"/>
                </a:cubicBezTo>
                <a:lnTo>
                  <a:pt x="8497" y="8126"/>
                </a:lnTo>
                <a:cubicBezTo>
                  <a:pt x="8497" y="8138"/>
                  <a:pt x="8495" y="8150"/>
                  <a:pt x="8493" y="8162"/>
                </a:cubicBezTo>
                <a:cubicBezTo>
                  <a:pt x="8491" y="8174"/>
                  <a:pt x="8487" y="8186"/>
                  <a:pt x="8482" y="8197"/>
                </a:cubicBezTo>
                <a:cubicBezTo>
                  <a:pt x="8478" y="8208"/>
                  <a:pt x="8472" y="8219"/>
                  <a:pt x="8465" y="8229"/>
                </a:cubicBezTo>
                <a:cubicBezTo>
                  <a:pt x="8458" y="8239"/>
                  <a:pt x="8451" y="8249"/>
                  <a:pt x="8442" y="8257"/>
                </a:cubicBezTo>
                <a:cubicBezTo>
                  <a:pt x="8434" y="8266"/>
                  <a:pt x="8424" y="8273"/>
                  <a:pt x="8414" y="8280"/>
                </a:cubicBezTo>
                <a:cubicBezTo>
                  <a:pt x="8404" y="8287"/>
                  <a:pt x="8393" y="8293"/>
                  <a:pt x="8382" y="8297"/>
                </a:cubicBezTo>
                <a:cubicBezTo>
                  <a:pt x="8371" y="8302"/>
                  <a:pt x="8359" y="8306"/>
                  <a:pt x="8347" y="8308"/>
                </a:cubicBezTo>
                <a:cubicBezTo>
                  <a:pt x="8335" y="8310"/>
                  <a:pt x="8323" y="8312"/>
                  <a:pt x="8311" y="8312"/>
                </a:cubicBezTo>
                <a:lnTo>
                  <a:pt x="139" y="8312"/>
                </a:lnTo>
                <a:cubicBezTo>
                  <a:pt x="130" y="8312"/>
                  <a:pt x="121" y="8310"/>
                  <a:pt x="112" y="8308"/>
                </a:cubicBezTo>
                <a:cubicBezTo>
                  <a:pt x="103" y="8306"/>
                  <a:pt x="94" y="8302"/>
                  <a:pt x="86" y="8297"/>
                </a:cubicBezTo>
                <a:cubicBezTo>
                  <a:pt x="77" y="8293"/>
                  <a:pt x="69" y="8287"/>
                  <a:pt x="61" y="8280"/>
                </a:cubicBezTo>
                <a:cubicBezTo>
                  <a:pt x="54" y="8273"/>
                  <a:pt x="47" y="8266"/>
                  <a:pt x="40" y="8257"/>
                </a:cubicBezTo>
                <a:cubicBezTo>
                  <a:pt x="34" y="8249"/>
                  <a:pt x="28" y="8239"/>
                  <a:pt x="23" y="8229"/>
                </a:cubicBezTo>
                <a:cubicBezTo>
                  <a:pt x="18" y="8219"/>
                  <a:pt x="14" y="8208"/>
                  <a:pt x="10" y="8197"/>
                </a:cubicBezTo>
                <a:cubicBezTo>
                  <a:pt x="7" y="8186"/>
                  <a:pt x="4" y="8174"/>
                  <a:pt x="2" y="8162"/>
                </a:cubicBezTo>
                <a:cubicBezTo>
                  <a:pt x="0" y="8150"/>
                  <a:pt x="0" y="8138"/>
                  <a:pt x="0" y="812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74" name="任意多邊形 373"/>
          <p:cNvSpPr/>
          <p:nvPr/>
        </p:nvSpPr>
        <p:spPr>
          <a:xfrm>
            <a:off x="7086240" y="1637640"/>
            <a:ext cx="67320" cy="2992320"/>
          </a:xfrm>
          <a:custGeom>
            <a:avLst/>
            <a:gdLst/>
            <a:ahLst/>
            <a:cxnLst/>
            <a:rect l="0" t="0" r="r" b="b"/>
            <a:pathLst>
              <a:path w="187" h="8312">
                <a:moveTo>
                  <a:pt x="151" y="14"/>
                </a:moveTo>
                <a:cubicBezTo>
                  <a:pt x="140" y="24"/>
                  <a:pt x="130" y="37"/>
                  <a:pt x="121" y="55"/>
                </a:cubicBezTo>
                <a:cubicBezTo>
                  <a:pt x="113" y="72"/>
                  <a:pt x="106" y="92"/>
                  <a:pt x="101" y="115"/>
                </a:cubicBezTo>
                <a:cubicBezTo>
                  <a:pt x="96" y="138"/>
                  <a:pt x="94" y="161"/>
                  <a:pt x="94" y="186"/>
                </a:cubicBezTo>
                <a:lnTo>
                  <a:pt x="94" y="8126"/>
                </a:lnTo>
                <a:cubicBezTo>
                  <a:pt x="94" y="8150"/>
                  <a:pt x="96" y="8174"/>
                  <a:pt x="101" y="8197"/>
                </a:cubicBezTo>
                <a:cubicBezTo>
                  <a:pt x="106" y="8220"/>
                  <a:pt x="113" y="8240"/>
                  <a:pt x="121" y="8257"/>
                </a:cubicBezTo>
                <a:cubicBezTo>
                  <a:pt x="130" y="8275"/>
                  <a:pt x="140" y="8288"/>
                  <a:pt x="151" y="8297"/>
                </a:cubicBezTo>
                <a:cubicBezTo>
                  <a:pt x="163" y="8307"/>
                  <a:pt x="175" y="8312"/>
                  <a:pt x="187" y="8312"/>
                </a:cubicBezTo>
                <a:cubicBezTo>
                  <a:pt x="162" y="8312"/>
                  <a:pt x="139" y="8307"/>
                  <a:pt x="116" y="8297"/>
                </a:cubicBezTo>
                <a:cubicBezTo>
                  <a:pt x="93" y="8288"/>
                  <a:pt x="73" y="8275"/>
                  <a:pt x="56" y="8257"/>
                </a:cubicBezTo>
                <a:cubicBezTo>
                  <a:pt x="38" y="8240"/>
                  <a:pt x="25" y="8220"/>
                  <a:pt x="14" y="8197"/>
                </a:cubicBezTo>
                <a:cubicBezTo>
                  <a:pt x="5" y="8174"/>
                  <a:pt x="0" y="8150"/>
                  <a:pt x="0" y="8126"/>
                </a:cubicBezTo>
                <a:lnTo>
                  <a:pt x="0" y="186"/>
                </a:lnTo>
                <a:cubicBezTo>
                  <a:pt x="0" y="161"/>
                  <a:pt x="5" y="138"/>
                  <a:pt x="14" y="115"/>
                </a:cubicBezTo>
                <a:cubicBezTo>
                  <a:pt x="25" y="92"/>
                  <a:pt x="38" y="72"/>
                  <a:pt x="56" y="55"/>
                </a:cubicBezTo>
                <a:cubicBezTo>
                  <a:pt x="73" y="37"/>
                  <a:pt x="93" y="24"/>
                  <a:pt x="116" y="14"/>
                </a:cubicBezTo>
                <a:cubicBezTo>
                  <a:pt x="139" y="5"/>
                  <a:pt x="162" y="0"/>
                  <a:pt x="187" y="0"/>
                </a:cubicBezTo>
                <a:cubicBezTo>
                  <a:pt x="175" y="0"/>
                  <a:pt x="163"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75" name="任意多邊形 374"/>
          <p:cNvSpPr/>
          <p:nvPr/>
        </p:nvSpPr>
        <p:spPr>
          <a:xfrm>
            <a:off x="7328520" y="1846800"/>
            <a:ext cx="568800" cy="568440"/>
          </a:xfrm>
          <a:custGeom>
            <a:avLst/>
            <a:gdLst/>
            <a:ahLst/>
            <a:cxnLst/>
            <a:rect l="0" t="0" r="r" b="b"/>
            <a:pathLst>
              <a:path w="1580" h="1579">
                <a:moveTo>
                  <a:pt x="1580" y="790"/>
                </a:moveTo>
                <a:cubicBezTo>
                  <a:pt x="1580" y="816"/>
                  <a:pt x="1579" y="841"/>
                  <a:pt x="1576" y="867"/>
                </a:cubicBezTo>
                <a:cubicBezTo>
                  <a:pt x="1574" y="893"/>
                  <a:pt x="1570" y="918"/>
                  <a:pt x="1565" y="944"/>
                </a:cubicBezTo>
                <a:cubicBezTo>
                  <a:pt x="1560" y="969"/>
                  <a:pt x="1553" y="994"/>
                  <a:pt x="1546" y="1019"/>
                </a:cubicBezTo>
                <a:cubicBezTo>
                  <a:pt x="1538" y="1044"/>
                  <a:pt x="1530" y="1068"/>
                  <a:pt x="1520" y="1092"/>
                </a:cubicBezTo>
                <a:cubicBezTo>
                  <a:pt x="1510" y="1116"/>
                  <a:pt x="1499" y="1139"/>
                  <a:pt x="1487" y="1162"/>
                </a:cubicBezTo>
                <a:cubicBezTo>
                  <a:pt x="1474" y="1185"/>
                  <a:pt x="1461" y="1207"/>
                  <a:pt x="1447" y="1228"/>
                </a:cubicBezTo>
                <a:cubicBezTo>
                  <a:pt x="1432" y="1250"/>
                  <a:pt x="1417" y="1271"/>
                  <a:pt x="1401" y="1291"/>
                </a:cubicBezTo>
                <a:cubicBezTo>
                  <a:pt x="1384" y="1311"/>
                  <a:pt x="1367" y="1330"/>
                  <a:pt x="1349" y="1348"/>
                </a:cubicBezTo>
                <a:cubicBezTo>
                  <a:pt x="1330" y="1366"/>
                  <a:pt x="1311" y="1384"/>
                  <a:pt x="1291" y="1400"/>
                </a:cubicBezTo>
                <a:cubicBezTo>
                  <a:pt x="1271" y="1416"/>
                  <a:pt x="1251" y="1432"/>
                  <a:pt x="1229" y="1446"/>
                </a:cubicBezTo>
                <a:cubicBezTo>
                  <a:pt x="1208" y="1460"/>
                  <a:pt x="1185" y="1474"/>
                  <a:pt x="1163" y="1486"/>
                </a:cubicBezTo>
                <a:cubicBezTo>
                  <a:pt x="1140" y="1498"/>
                  <a:pt x="1117" y="1509"/>
                  <a:pt x="1093" y="1519"/>
                </a:cubicBezTo>
                <a:cubicBezTo>
                  <a:pt x="1069" y="1529"/>
                  <a:pt x="1044" y="1538"/>
                  <a:pt x="1020" y="1545"/>
                </a:cubicBezTo>
                <a:cubicBezTo>
                  <a:pt x="995" y="1553"/>
                  <a:pt x="970" y="1559"/>
                  <a:pt x="944" y="1564"/>
                </a:cubicBezTo>
                <a:cubicBezTo>
                  <a:pt x="918" y="1569"/>
                  <a:pt x="893" y="1573"/>
                  <a:pt x="867" y="1575"/>
                </a:cubicBezTo>
                <a:cubicBezTo>
                  <a:pt x="841" y="1578"/>
                  <a:pt x="815" y="1579"/>
                  <a:pt x="790" y="1579"/>
                </a:cubicBezTo>
                <a:cubicBezTo>
                  <a:pt x="764" y="1579"/>
                  <a:pt x="738" y="1578"/>
                  <a:pt x="712" y="1575"/>
                </a:cubicBezTo>
                <a:cubicBezTo>
                  <a:pt x="687" y="1573"/>
                  <a:pt x="661" y="1569"/>
                  <a:pt x="636" y="1564"/>
                </a:cubicBezTo>
                <a:cubicBezTo>
                  <a:pt x="610" y="1559"/>
                  <a:pt x="585" y="1553"/>
                  <a:pt x="560" y="1545"/>
                </a:cubicBezTo>
                <a:cubicBezTo>
                  <a:pt x="536" y="1538"/>
                  <a:pt x="511" y="1529"/>
                  <a:pt x="488" y="1519"/>
                </a:cubicBezTo>
                <a:cubicBezTo>
                  <a:pt x="464" y="1509"/>
                  <a:pt x="440" y="1498"/>
                  <a:pt x="418" y="1486"/>
                </a:cubicBezTo>
                <a:cubicBezTo>
                  <a:pt x="395" y="1474"/>
                  <a:pt x="373" y="1460"/>
                  <a:pt x="351" y="1446"/>
                </a:cubicBezTo>
                <a:cubicBezTo>
                  <a:pt x="330" y="1432"/>
                  <a:pt x="309" y="1416"/>
                  <a:pt x="289" y="1400"/>
                </a:cubicBezTo>
                <a:cubicBezTo>
                  <a:pt x="269" y="1384"/>
                  <a:pt x="250" y="1366"/>
                  <a:pt x="232" y="1348"/>
                </a:cubicBezTo>
                <a:cubicBezTo>
                  <a:pt x="213" y="1330"/>
                  <a:pt x="196" y="1311"/>
                  <a:pt x="179" y="1291"/>
                </a:cubicBezTo>
                <a:cubicBezTo>
                  <a:pt x="163" y="1271"/>
                  <a:pt x="148" y="1250"/>
                  <a:pt x="133" y="1228"/>
                </a:cubicBezTo>
                <a:cubicBezTo>
                  <a:pt x="119" y="1207"/>
                  <a:pt x="106" y="1185"/>
                  <a:pt x="94" y="1162"/>
                </a:cubicBezTo>
                <a:cubicBezTo>
                  <a:pt x="81" y="1139"/>
                  <a:pt x="70" y="1116"/>
                  <a:pt x="60" y="1092"/>
                </a:cubicBezTo>
                <a:cubicBezTo>
                  <a:pt x="51" y="1068"/>
                  <a:pt x="42" y="1044"/>
                  <a:pt x="34" y="1019"/>
                </a:cubicBezTo>
                <a:cubicBezTo>
                  <a:pt x="27" y="994"/>
                  <a:pt x="21" y="969"/>
                  <a:pt x="16" y="944"/>
                </a:cubicBezTo>
                <a:cubicBezTo>
                  <a:pt x="10" y="918"/>
                  <a:pt x="7" y="893"/>
                  <a:pt x="4" y="867"/>
                </a:cubicBezTo>
                <a:cubicBezTo>
                  <a:pt x="2" y="841"/>
                  <a:pt x="0" y="816"/>
                  <a:pt x="0" y="790"/>
                </a:cubicBezTo>
                <a:cubicBezTo>
                  <a:pt x="0" y="764"/>
                  <a:pt x="2" y="738"/>
                  <a:pt x="4" y="712"/>
                </a:cubicBezTo>
                <a:cubicBezTo>
                  <a:pt x="7" y="687"/>
                  <a:pt x="10" y="661"/>
                  <a:pt x="16" y="636"/>
                </a:cubicBezTo>
                <a:cubicBezTo>
                  <a:pt x="21" y="611"/>
                  <a:pt x="27" y="585"/>
                  <a:pt x="34" y="561"/>
                </a:cubicBezTo>
                <a:cubicBezTo>
                  <a:pt x="42" y="536"/>
                  <a:pt x="51" y="512"/>
                  <a:pt x="60" y="488"/>
                </a:cubicBezTo>
                <a:cubicBezTo>
                  <a:pt x="70" y="464"/>
                  <a:pt x="81" y="441"/>
                  <a:pt x="94" y="418"/>
                </a:cubicBezTo>
                <a:cubicBezTo>
                  <a:pt x="106" y="395"/>
                  <a:pt x="119" y="372"/>
                  <a:pt x="133" y="350"/>
                </a:cubicBezTo>
                <a:cubicBezTo>
                  <a:pt x="148" y="329"/>
                  <a:pt x="163" y="308"/>
                  <a:pt x="179" y="288"/>
                </a:cubicBezTo>
                <a:cubicBezTo>
                  <a:pt x="196" y="268"/>
                  <a:pt x="213" y="249"/>
                  <a:pt x="232" y="231"/>
                </a:cubicBezTo>
                <a:cubicBezTo>
                  <a:pt x="250" y="212"/>
                  <a:pt x="269" y="195"/>
                  <a:pt x="289" y="179"/>
                </a:cubicBezTo>
                <a:cubicBezTo>
                  <a:pt x="309" y="162"/>
                  <a:pt x="330" y="147"/>
                  <a:pt x="351" y="133"/>
                </a:cubicBezTo>
                <a:cubicBezTo>
                  <a:pt x="373" y="118"/>
                  <a:pt x="395" y="105"/>
                  <a:pt x="418" y="93"/>
                </a:cubicBezTo>
                <a:cubicBezTo>
                  <a:pt x="440" y="81"/>
                  <a:pt x="464" y="70"/>
                  <a:pt x="488" y="60"/>
                </a:cubicBezTo>
                <a:cubicBezTo>
                  <a:pt x="511" y="50"/>
                  <a:pt x="536" y="41"/>
                  <a:pt x="560" y="34"/>
                </a:cubicBezTo>
                <a:cubicBezTo>
                  <a:pt x="585" y="26"/>
                  <a:pt x="610" y="20"/>
                  <a:pt x="636" y="15"/>
                </a:cubicBezTo>
                <a:cubicBezTo>
                  <a:pt x="661" y="10"/>
                  <a:pt x="687" y="6"/>
                  <a:pt x="712" y="3"/>
                </a:cubicBezTo>
                <a:cubicBezTo>
                  <a:pt x="738" y="1"/>
                  <a:pt x="764" y="0"/>
                  <a:pt x="790" y="0"/>
                </a:cubicBezTo>
                <a:cubicBezTo>
                  <a:pt x="815" y="0"/>
                  <a:pt x="841" y="1"/>
                  <a:pt x="867" y="3"/>
                </a:cubicBezTo>
                <a:cubicBezTo>
                  <a:pt x="893" y="6"/>
                  <a:pt x="918" y="10"/>
                  <a:pt x="944" y="15"/>
                </a:cubicBezTo>
                <a:cubicBezTo>
                  <a:pt x="970" y="20"/>
                  <a:pt x="995" y="26"/>
                  <a:pt x="1020" y="34"/>
                </a:cubicBezTo>
                <a:cubicBezTo>
                  <a:pt x="1044" y="41"/>
                  <a:pt x="1069" y="50"/>
                  <a:pt x="1093" y="60"/>
                </a:cubicBezTo>
                <a:cubicBezTo>
                  <a:pt x="1117" y="70"/>
                  <a:pt x="1140" y="81"/>
                  <a:pt x="1163" y="93"/>
                </a:cubicBezTo>
                <a:cubicBezTo>
                  <a:pt x="1185" y="105"/>
                  <a:pt x="1208" y="118"/>
                  <a:pt x="1229" y="133"/>
                </a:cubicBezTo>
                <a:cubicBezTo>
                  <a:pt x="1251" y="147"/>
                  <a:pt x="1271" y="162"/>
                  <a:pt x="1291" y="179"/>
                </a:cubicBezTo>
                <a:cubicBezTo>
                  <a:pt x="1311" y="195"/>
                  <a:pt x="1330" y="212"/>
                  <a:pt x="1349" y="231"/>
                </a:cubicBezTo>
                <a:cubicBezTo>
                  <a:pt x="1367" y="249"/>
                  <a:pt x="1384" y="268"/>
                  <a:pt x="1401" y="288"/>
                </a:cubicBezTo>
                <a:cubicBezTo>
                  <a:pt x="1417" y="308"/>
                  <a:pt x="1432" y="329"/>
                  <a:pt x="1447" y="350"/>
                </a:cubicBezTo>
                <a:cubicBezTo>
                  <a:pt x="1461" y="372"/>
                  <a:pt x="1474" y="395"/>
                  <a:pt x="1487" y="418"/>
                </a:cubicBezTo>
                <a:cubicBezTo>
                  <a:pt x="1499" y="441"/>
                  <a:pt x="1510" y="464"/>
                  <a:pt x="1520" y="488"/>
                </a:cubicBezTo>
                <a:cubicBezTo>
                  <a:pt x="1530" y="512"/>
                  <a:pt x="1538" y="536"/>
                  <a:pt x="1546" y="561"/>
                </a:cubicBezTo>
                <a:cubicBezTo>
                  <a:pt x="1553" y="585"/>
                  <a:pt x="1560" y="611"/>
                  <a:pt x="1565" y="636"/>
                </a:cubicBezTo>
                <a:cubicBezTo>
                  <a:pt x="1570" y="661"/>
                  <a:pt x="1574" y="687"/>
                  <a:pt x="1576" y="712"/>
                </a:cubicBezTo>
                <a:cubicBezTo>
                  <a:pt x="1579" y="738"/>
                  <a:pt x="1580" y="764"/>
                  <a:pt x="1580" y="790"/>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76" name="任意多邊形 375"/>
          <p:cNvSpPr/>
          <p:nvPr/>
        </p:nvSpPr>
        <p:spPr>
          <a:xfrm>
            <a:off x="7328520" y="1846800"/>
            <a:ext cx="568800" cy="568440"/>
          </a:xfrm>
          <a:custGeom>
            <a:avLst/>
            <a:gdLst/>
            <a:ahLst/>
            <a:cxnLst/>
            <a:rect l="0" t="0" r="r" b="b"/>
            <a:pathLst>
              <a:path w="1580" h="1579" fill="none">
                <a:moveTo>
                  <a:pt x="1580" y="790"/>
                </a:moveTo>
                <a:cubicBezTo>
                  <a:pt x="1580" y="816"/>
                  <a:pt x="1579" y="841"/>
                  <a:pt x="1576" y="867"/>
                </a:cubicBezTo>
                <a:cubicBezTo>
                  <a:pt x="1574" y="893"/>
                  <a:pt x="1570" y="918"/>
                  <a:pt x="1565" y="944"/>
                </a:cubicBezTo>
                <a:cubicBezTo>
                  <a:pt x="1560" y="969"/>
                  <a:pt x="1553" y="994"/>
                  <a:pt x="1546" y="1019"/>
                </a:cubicBezTo>
                <a:cubicBezTo>
                  <a:pt x="1538" y="1044"/>
                  <a:pt x="1530" y="1068"/>
                  <a:pt x="1520" y="1092"/>
                </a:cubicBezTo>
                <a:cubicBezTo>
                  <a:pt x="1510" y="1116"/>
                  <a:pt x="1499" y="1139"/>
                  <a:pt x="1487" y="1162"/>
                </a:cubicBezTo>
                <a:cubicBezTo>
                  <a:pt x="1474" y="1185"/>
                  <a:pt x="1461" y="1207"/>
                  <a:pt x="1447" y="1228"/>
                </a:cubicBezTo>
                <a:cubicBezTo>
                  <a:pt x="1432" y="1250"/>
                  <a:pt x="1417" y="1271"/>
                  <a:pt x="1401" y="1291"/>
                </a:cubicBezTo>
                <a:cubicBezTo>
                  <a:pt x="1384" y="1311"/>
                  <a:pt x="1367" y="1330"/>
                  <a:pt x="1349" y="1348"/>
                </a:cubicBezTo>
                <a:cubicBezTo>
                  <a:pt x="1330" y="1366"/>
                  <a:pt x="1311" y="1384"/>
                  <a:pt x="1291" y="1400"/>
                </a:cubicBezTo>
                <a:cubicBezTo>
                  <a:pt x="1271" y="1416"/>
                  <a:pt x="1251" y="1432"/>
                  <a:pt x="1229" y="1446"/>
                </a:cubicBezTo>
                <a:cubicBezTo>
                  <a:pt x="1208" y="1460"/>
                  <a:pt x="1185" y="1474"/>
                  <a:pt x="1163" y="1486"/>
                </a:cubicBezTo>
                <a:cubicBezTo>
                  <a:pt x="1140" y="1498"/>
                  <a:pt x="1117" y="1509"/>
                  <a:pt x="1093" y="1519"/>
                </a:cubicBezTo>
                <a:cubicBezTo>
                  <a:pt x="1069" y="1529"/>
                  <a:pt x="1044" y="1538"/>
                  <a:pt x="1020" y="1545"/>
                </a:cubicBezTo>
                <a:cubicBezTo>
                  <a:pt x="995" y="1553"/>
                  <a:pt x="970" y="1559"/>
                  <a:pt x="944" y="1564"/>
                </a:cubicBezTo>
                <a:cubicBezTo>
                  <a:pt x="918" y="1569"/>
                  <a:pt x="893" y="1573"/>
                  <a:pt x="867" y="1575"/>
                </a:cubicBezTo>
                <a:cubicBezTo>
                  <a:pt x="841" y="1578"/>
                  <a:pt x="815" y="1579"/>
                  <a:pt x="790" y="1579"/>
                </a:cubicBezTo>
                <a:cubicBezTo>
                  <a:pt x="764" y="1579"/>
                  <a:pt x="738" y="1578"/>
                  <a:pt x="712" y="1575"/>
                </a:cubicBezTo>
                <a:cubicBezTo>
                  <a:pt x="687" y="1573"/>
                  <a:pt x="661" y="1569"/>
                  <a:pt x="636" y="1564"/>
                </a:cubicBezTo>
                <a:cubicBezTo>
                  <a:pt x="610" y="1559"/>
                  <a:pt x="585" y="1553"/>
                  <a:pt x="560" y="1545"/>
                </a:cubicBezTo>
                <a:cubicBezTo>
                  <a:pt x="536" y="1538"/>
                  <a:pt x="511" y="1529"/>
                  <a:pt x="488" y="1519"/>
                </a:cubicBezTo>
                <a:cubicBezTo>
                  <a:pt x="464" y="1509"/>
                  <a:pt x="440" y="1498"/>
                  <a:pt x="418" y="1486"/>
                </a:cubicBezTo>
                <a:cubicBezTo>
                  <a:pt x="395" y="1474"/>
                  <a:pt x="373" y="1460"/>
                  <a:pt x="351" y="1446"/>
                </a:cubicBezTo>
                <a:cubicBezTo>
                  <a:pt x="330" y="1432"/>
                  <a:pt x="309" y="1416"/>
                  <a:pt x="289" y="1400"/>
                </a:cubicBezTo>
                <a:cubicBezTo>
                  <a:pt x="269" y="1384"/>
                  <a:pt x="250" y="1366"/>
                  <a:pt x="232" y="1348"/>
                </a:cubicBezTo>
                <a:cubicBezTo>
                  <a:pt x="213" y="1330"/>
                  <a:pt x="196" y="1311"/>
                  <a:pt x="179" y="1291"/>
                </a:cubicBezTo>
                <a:cubicBezTo>
                  <a:pt x="163" y="1271"/>
                  <a:pt x="148" y="1250"/>
                  <a:pt x="133" y="1228"/>
                </a:cubicBezTo>
                <a:cubicBezTo>
                  <a:pt x="119" y="1207"/>
                  <a:pt x="106" y="1185"/>
                  <a:pt x="94" y="1162"/>
                </a:cubicBezTo>
                <a:cubicBezTo>
                  <a:pt x="81" y="1139"/>
                  <a:pt x="70" y="1116"/>
                  <a:pt x="60" y="1092"/>
                </a:cubicBezTo>
                <a:cubicBezTo>
                  <a:pt x="51" y="1068"/>
                  <a:pt x="42" y="1044"/>
                  <a:pt x="34" y="1019"/>
                </a:cubicBezTo>
                <a:cubicBezTo>
                  <a:pt x="27" y="994"/>
                  <a:pt x="21" y="969"/>
                  <a:pt x="16" y="944"/>
                </a:cubicBezTo>
                <a:cubicBezTo>
                  <a:pt x="10" y="918"/>
                  <a:pt x="7" y="893"/>
                  <a:pt x="4" y="867"/>
                </a:cubicBezTo>
                <a:cubicBezTo>
                  <a:pt x="2" y="841"/>
                  <a:pt x="0" y="816"/>
                  <a:pt x="0" y="790"/>
                </a:cubicBezTo>
                <a:cubicBezTo>
                  <a:pt x="0" y="764"/>
                  <a:pt x="2" y="738"/>
                  <a:pt x="4" y="712"/>
                </a:cubicBezTo>
                <a:cubicBezTo>
                  <a:pt x="7" y="687"/>
                  <a:pt x="10" y="661"/>
                  <a:pt x="16" y="636"/>
                </a:cubicBezTo>
                <a:cubicBezTo>
                  <a:pt x="21" y="611"/>
                  <a:pt x="27" y="585"/>
                  <a:pt x="34" y="561"/>
                </a:cubicBezTo>
                <a:cubicBezTo>
                  <a:pt x="42" y="536"/>
                  <a:pt x="51" y="512"/>
                  <a:pt x="60" y="488"/>
                </a:cubicBezTo>
                <a:cubicBezTo>
                  <a:pt x="70" y="464"/>
                  <a:pt x="81" y="441"/>
                  <a:pt x="94" y="418"/>
                </a:cubicBezTo>
                <a:cubicBezTo>
                  <a:pt x="106" y="395"/>
                  <a:pt x="119" y="372"/>
                  <a:pt x="133" y="350"/>
                </a:cubicBezTo>
                <a:cubicBezTo>
                  <a:pt x="148" y="329"/>
                  <a:pt x="163" y="308"/>
                  <a:pt x="179" y="288"/>
                </a:cubicBezTo>
                <a:cubicBezTo>
                  <a:pt x="196" y="268"/>
                  <a:pt x="213" y="249"/>
                  <a:pt x="232" y="231"/>
                </a:cubicBezTo>
                <a:cubicBezTo>
                  <a:pt x="250" y="212"/>
                  <a:pt x="269" y="195"/>
                  <a:pt x="289" y="179"/>
                </a:cubicBezTo>
                <a:cubicBezTo>
                  <a:pt x="309" y="162"/>
                  <a:pt x="330" y="147"/>
                  <a:pt x="351" y="133"/>
                </a:cubicBezTo>
                <a:cubicBezTo>
                  <a:pt x="373" y="118"/>
                  <a:pt x="395" y="105"/>
                  <a:pt x="418" y="93"/>
                </a:cubicBezTo>
                <a:cubicBezTo>
                  <a:pt x="440" y="81"/>
                  <a:pt x="464" y="70"/>
                  <a:pt x="488" y="60"/>
                </a:cubicBezTo>
                <a:cubicBezTo>
                  <a:pt x="511" y="50"/>
                  <a:pt x="536" y="41"/>
                  <a:pt x="560" y="34"/>
                </a:cubicBezTo>
                <a:cubicBezTo>
                  <a:pt x="585" y="26"/>
                  <a:pt x="610" y="20"/>
                  <a:pt x="636" y="15"/>
                </a:cubicBezTo>
                <a:cubicBezTo>
                  <a:pt x="661" y="10"/>
                  <a:pt x="687" y="6"/>
                  <a:pt x="712" y="3"/>
                </a:cubicBezTo>
                <a:cubicBezTo>
                  <a:pt x="738" y="1"/>
                  <a:pt x="764" y="0"/>
                  <a:pt x="790" y="0"/>
                </a:cubicBezTo>
                <a:cubicBezTo>
                  <a:pt x="815" y="0"/>
                  <a:pt x="841" y="1"/>
                  <a:pt x="867" y="3"/>
                </a:cubicBezTo>
                <a:cubicBezTo>
                  <a:pt x="893" y="6"/>
                  <a:pt x="918" y="10"/>
                  <a:pt x="944" y="15"/>
                </a:cubicBezTo>
                <a:cubicBezTo>
                  <a:pt x="970" y="20"/>
                  <a:pt x="995" y="26"/>
                  <a:pt x="1020" y="34"/>
                </a:cubicBezTo>
                <a:cubicBezTo>
                  <a:pt x="1044" y="41"/>
                  <a:pt x="1069" y="50"/>
                  <a:pt x="1093" y="60"/>
                </a:cubicBezTo>
                <a:cubicBezTo>
                  <a:pt x="1117" y="70"/>
                  <a:pt x="1140" y="81"/>
                  <a:pt x="1163" y="93"/>
                </a:cubicBezTo>
                <a:cubicBezTo>
                  <a:pt x="1185" y="105"/>
                  <a:pt x="1208" y="118"/>
                  <a:pt x="1229" y="133"/>
                </a:cubicBezTo>
                <a:cubicBezTo>
                  <a:pt x="1251" y="147"/>
                  <a:pt x="1271" y="162"/>
                  <a:pt x="1291" y="179"/>
                </a:cubicBezTo>
                <a:cubicBezTo>
                  <a:pt x="1311" y="195"/>
                  <a:pt x="1330" y="212"/>
                  <a:pt x="1349" y="231"/>
                </a:cubicBezTo>
                <a:cubicBezTo>
                  <a:pt x="1367" y="249"/>
                  <a:pt x="1384" y="268"/>
                  <a:pt x="1401" y="288"/>
                </a:cubicBezTo>
                <a:cubicBezTo>
                  <a:pt x="1417" y="308"/>
                  <a:pt x="1432" y="329"/>
                  <a:pt x="1447" y="350"/>
                </a:cubicBezTo>
                <a:cubicBezTo>
                  <a:pt x="1461" y="372"/>
                  <a:pt x="1474" y="395"/>
                  <a:pt x="1487" y="418"/>
                </a:cubicBezTo>
                <a:cubicBezTo>
                  <a:pt x="1499" y="441"/>
                  <a:pt x="1510" y="464"/>
                  <a:pt x="1520" y="488"/>
                </a:cubicBezTo>
                <a:cubicBezTo>
                  <a:pt x="1530" y="512"/>
                  <a:pt x="1538" y="536"/>
                  <a:pt x="1546" y="561"/>
                </a:cubicBezTo>
                <a:cubicBezTo>
                  <a:pt x="1553" y="585"/>
                  <a:pt x="1560" y="611"/>
                  <a:pt x="1565" y="636"/>
                </a:cubicBezTo>
                <a:cubicBezTo>
                  <a:pt x="1570" y="661"/>
                  <a:pt x="1574" y="687"/>
                  <a:pt x="1576" y="712"/>
                </a:cubicBezTo>
                <a:cubicBezTo>
                  <a:pt x="1579" y="738"/>
                  <a:pt x="1580" y="764"/>
                  <a:pt x="1580" y="790"/>
                </a:cubicBezTo>
              </a:path>
            </a:pathLst>
          </a:custGeom>
          <a:ln w="16560">
            <a:solidFill>
              <a:srgbClr val="F6AD55"/>
            </a:solidFill>
            <a:miter/>
          </a:ln>
        </p:spPr>
        <p:txBody>
          <a:bodyPr lIns="8280" tIns="8280" rIns="8280" bIns="8280" anchor="t">
            <a:noAutofit/>
          </a:bodyPr>
          <a:p>
            <a:endParaRPr lang="en-US" sz="2400" b="0" u="none" strike="noStrike">
              <a:solidFill>
                <a:srgbClr val="000000"/>
              </a:solidFill>
              <a:effectLst/>
              <a:uFillTx/>
              <a:latin typeface="Times New Roman" panose="02020603050405020304"/>
            </a:endParaRPr>
          </a:p>
        </p:txBody>
      </p:sp>
      <p:pic>
        <p:nvPicPr>
          <p:cNvPr id="377" name="圖片 376"/>
          <p:cNvPicPr/>
          <p:nvPr/>
        </p:nvPicPr>
        <p:blipFill>
          <a:blip r:embed="rId7"/>
          <a:stretch>
            <a:fillRect/>
          </a:stretch>
        </p:blipFill>
        <p:spPr>
          <a:xfrm>
            <a:off x="7521120" y="2005560"/>
            <a:ext cx="191880" cy="250200"/>
          </a:xfrm>
          <a:prstGeom prst="rect">
            <a:avLst/>
          </a:prstGeom>
          <a:noFill/>
          <a:ln w="0">
            <a:noFill/>
          </a:ln>
        </p:spPr>
      </p:pic>
      <p:sp>
        <p:nvSpPr>
          <p:cNvPr id="378" name="文字框 377"/>
          <p:cNvSpPr txBox="1"/>
          <p:nvPr/>
        </p:nvSpPr>
        <p:spPr>
          <a:xfrm>
            <a:off x="4262040" y="4174920"/>
            <a:ext cx="1609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政府和保险支持的稳定收入</a:t>
            </a:r>
            <a:endParaRPr lang="en-US" sz="1050" b="0" u="none" strike="noStrike">
              <a:solidFill>
                <a:srgbClr val="000000"/>
              </a:solidFill>
              <a:effectLst/>
              <a:uFillTx/>
              <a:latin typeface="Times New Roman" panose="02020603050405020304"/>
            </a:endParaRPr>
          </a:p>
        </p:txBody>
      </p:sp>
      <p:sp>
        <p:nvSpPr>
          <p:cNvPr id="379" name="文字框 378"/>
          <p:cNvSpPr txBox="1"/>
          <p:nvPr/>
        </p:nvSpPr>
        <p:spPr>
          <a:xfrm>
            <a:off x="8039160" y="2071440"/>
            <a:ext cx="80532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公用事业</a:t>
            </a:r>
            <a:endParaRPr lang="en-US" sz="1580" b="0" u="none" strike="noStrike">
              <a:solidFill>
                <a:srgbClr val="000000"/>
              </a:solidFill>
              <a:effectLst/>
              <a:uFillTx/>
              <a:latin typeface="Times New Roman" panose="02020603050405020304"/>
            </a:endParaRPr>
          </a:p>
        </p:txBody>
      </p:sp>
      <p:sp>
        <p:nvSpPr>
          <p:cNvPr id="380" name="文字框 379"/>
          <p:cNvSpPr txBox="1"/>
          <p:nvPr/>
        </p:nvSpPr>
        <p:spPr>
          <a:xfrm>
            <a:off x="7320600" y="270432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电力、天然气和水等是现代生活的基础，其</a:t>
            </a:r>
            <a:endParaRPr lang="en-US" sz="1050" b="0" u="none" strike="noStrike">
              <a:solidFill>
                <a:srgbClr val="000000"/>
              </a:solidFill>
              <a:effectLst/>
              <a:uFillTx/>
              <a:latin typeface="Times New Roman" panose="02020603050405020304"/>
            </a:endParaRPr>
          </a:p>
        </p:txBody>
      </p:sp>
      <p:sp>
        <p:nvSpPr>
          <p:cNvPr id="381" name="文字框 380"/>
          <p:cNvSpPr txBox="1"/>
          <p:nvPr/>
        </p:nvSpPr>
        <p:spPr>
          <a:xfrm>
            <a:off x="7320600" y="290484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需求和收入来源相对稳定。无论经济状况如</a:t>
            </a:r>
            <a:endParaRPr lang="en-US" sz="1050" b="0" u="none" strike="noStrike">
              <a:solidFill>
                <a:srgbClr val="000000"/>
              </a:solidFill>
              <a:effectLst/>
              <a:uFillTx/>
              <a:latin typeface="Times New Roman" panose="02020603050405020304"/>
            </a:endParaRPr>
          </a:p>
        </p:txBody>
      </p:sp>
      <p:sp>
        <p:nvSpPr>
          <p:cNvPr id="382" name="文字框 381"/>
          <p:cNvSpPr txBox="1"/>
          <p:nvPr/>
        </p:nvSpPr>
        <p:spPr>
          <a:xfrm>
            <a:off x="7320600" y="310536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何，这些基本服务的消费很少出现大幅波</a:t>
            </a:r>
            <a:endParaRPr lang="en-US" sz="1050" b="0" u="none" strike="noStrike">
              <a:solidFill>
                <a:srgbClr val="000000"/>
              </a:solidFill>
              <a:effectLst/>
              <a:uFillTx/>
              <a:latin typeface="Times New Roman" panose="02020603050405020304"/>
            </a:endParaRPr>
          </a:p>
        </p:txBody>
      </p:sp>
      <p:pic>
        <p:nvPicPr>
          <p:cNvPr id="383" name="圖片 382"/>
          <p:cNvPicPr/>
          <p:nvPr/>
        </p:nvPicPr>
        <p:blipFill>
          <a:blip r:embed="rId8"/>
          <a:stretch>
            <a:fillRect/>
          </a:stretch>
        </p:blipFill>
        <p:spPr>
          <a:xfrm>
            <a:off x="7320600" y="3660120"/>
            <a:ext cx="133200" cy="133200"/>
          </a:xfrm>
          <a:prstGeom prst="rect">
            <a:avLst/>
          </a:prstGeom>
          <a:noFill/>
          <a:ln w="0">
            <a:noFill/>
          </a:ln>
        </p:spPr>
      </p:pic>
      <p:sp>
        <p:nvSpPr>
          <p:cNvPr id="384" name="文字框 383"/>
          <p:cNvSpPr txBox="1"/>
          <p:nvPr/>
        </p:nvSpPr>
        <p:spPr>
          <a:xfrm>
            <a:off x="7320600" y="330588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动。</a:t>
            </a:r>
            <a:endParaRPr lang="en-US" sz="1050" b="0" u="none" strike="noStrike">
              <a:solidFill>
                <a:srgbClr val="000000"/>
              </a:solidFill>
              <a:effectLst/>
              <a:uFillTx/>
              <a:latin typeface="Times New Roman" panose="02020603050405020304"/>
            </a:endParaRPr>
          </a:p>
        </p:txBody>
      </p:sp>
      <p:pic>
        <p:nvPicPr>
          <p:cNvPr id="385" name="圖片 384"/>
          <p:cNvPicPr/>
          <p:nvPr/>
        </p:nvPicPr>
        <p:blipFill>
          <a:blip r:embed="rId8"/>
          <a:stretch>
            <a:fillRect/>
          </a:stretch>
        </p:blipFill>
        <p:spPr>
          <a:xfrm>
            <a:off x="7320600" y="3927600"/>
            <a:ext cx="133200" cy="133200"/>
          </a:xfrm>
          <a:prstGeom prst="rect">
            <a:avLst/>
          </a:prstGeom>
          <a:noFill/>
          <a:ln w="0">
            <a:noFill/>
          </a:ln>
        </p:spPr>
      </p:pic>
      <p:sp>
        <p:nvSpPr>
          <p:cNvPr id="386" name="文字框 385"/>
          <p:cNvSpPr txBox="1"/>
          <p:nvPr/>
        </p:nvSpPr>
        <p:spPr>
          <a:xfrm>
            <a:off x="7537680" y="363996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必要的基础设施服务</a:t>
            </a:r>
            <a:endParaRPr lang="en-US" sz="1050" b="0" u="none" strike="noStrike">
              <a:solidFill>
                <a:srgbClr val="000000"/>
              </a:solidFill>
              <a:effectLst/>
              <a:uFillTx/>
              <a:latin typeface="Times New Roman" panose="02020603050405020304"/>
            </a:endParaRPr>
          </a:p>
        </p:txBody>
      </p:sp>
      <p:pic>
        <p:nvPicPr>
          <p:cNvPr id="387" name="圖片 386"/>
          <p:cNvPicPr/>
          <p:nvPr/>
        </p:nvPicPr>
        <p:blipFill>
          <a:blip r:embed="rId8"/>
          <a:stretch>
            <a:fillRect/>
          </a:stretch>
        </p:blipFill>
        <p:spPr>
          <a:xfrm>
            <a:off x="7320600" y="4195080"/>
            <a:ext cx="133200" cy="133200"/>
          </a:xfrm>
          <a:prstGeom prst="rect">
            <a:avLst/>
          </a:prstGeom>
          <a:noFill/>
          <a:ln w="0">
            <a:noFill/>
          </a:ln>
        </p:spPr>
      </p:pic>
      <p:sp>
        <p:nvSpPr>
          <p:cNvPr id="388" name="文字框 387"/>
          <p:cNvSpPr txBox="1"/>
          <p:nvPr/>
        </p:nvSpPr>
        <p:spPr>
          <a:xfrm>
            <a:off x="7537680" y="390744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受监管的稳定定价模式</a:t>
            </a:r>
            <a:endParaRPr lang="en-US" sz="1050" b="0" u="none" strike="noStrike">
              <a:solidFill>
                <a:srgbClr val="000000"/>
              </a:solidFill>
              <a:effectLst/>
              <a:uFillTx/>
              <a:latin typeface="Times New Roman" panose="02020603050405020304"/>
            </a:endParaRPr>
          </a:p>
        </p:txBody>
      </p:sp>
      <p:sp>
        <p:nvSpPr>
          <p:cNvPr id="389" name="文字框 388"/>
          <p:cNvSpPr txBox="1"/>
          <p:nvPr/>
        </p:nvSpPr>
        <p:spPr>
          <a:xfrm>
            <a:off x="7537680" y="417492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高股息收益率和稳定派息</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0" name="圖片 389"/>
          <p:cNvPicPr/>
          <p:nvPr/>
        </p:nvPicPr>
        <p:blipFill>
          <a:blip r:embed="rId1"/>
          <a:stretch>
            <a:fillRect/>
          </a:stretch>
        </p:blipFill>
        <p:spPr>
          <a:xfrm>
            <a:off x="0" y="0"/>
            <a:ext cx="10696320" cy="7796520"/>
          </a:xfrm>
          <a:prstGeom prst="rect">
            <a:avLst/>
          </a:prstGeom>
          <a:noFill/>
          <a:ln w="0">
            <a:noFill/>
          </a:ln>
        </p:spPr>
      </p:pic>
      <p:pic>
        <p:nvPicPr>
          <p:cNvPr id="391" name="圖片 390"/>
          <p:cNvPicPr/>
          <p:nvPr/>
        </p:nvPicPr>
        <p:blipFill>
          <a:blip r:embed="rId2"/>
          <a:stretch>
            <a:fillRect/>
          </a:stretch>
        </p:blipFill>
        <p:spPr>
          <a:xfrm>
            <a:off x="534960" y="735480"/>
            <a:ext cx="3208680" cy="33120"/>
          </a:xfrm>
          <a:prstGeom prst="rect">
            <a:avLst/>
          </a:prstGeom>
          <a:noFill/>
          <a:ln w="0">
            <a:noFill/>
          </a:ln>
        </p:spPr>
      </p:pic>
      <p:sp>
        <p:nvSpPr>
          <p:cNvPr id="392" name="文字框 391"/>
          <p:cNvSpPr txBox="1"/>
          <p:nvPr/>
        </p:nvSpPr>
        <p:spPr>
          <a:xfrm>
            <a:off x="534960" y="312120"/>
            <a:ext cx="330336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资产可接触性：投资门槛</a:t>
            </a:r>
            <a:endParaRPr lang="en-US" sz="2370" b="0" u="none" strike="noStrike">
              <a:solidFill>
                <a:srgbClr val="000000"/>
              </a:solidFill>
              <a:effectLst/>
              <a:uFillTx/>
              <a:latin typeface="Times New Roman" panose="02020603050405020304"/>
            </a:endParaRPr>
          </a:p>
        </p:txBody>
      </p:sp>
      <p:sp>
        <p:nvSpPr>
          <p:cNvPr id="393" name="文字框 392"/>
          <p:cNvSpPr txBox="1"/>
          <p:nvPr/>
        </p:nvSpPr>
        <p:spPr>
          <a:xfrm>
            <a:off x="563040" y="7207920"/>
            <a:ext cx="5538960" cy="151200"/>
          </a:xfrm>
          <a:prstGeom prst="rect">
            <a:avLst/>
          </a:prstGeom>
          <a:noFill/>
          <a:ln w="0">
            <a:noFill/>
          </a:ln>
        </p:spPr>
        <p:txBody>
          <a:bodyPr wrap="none" lIns="0" tIns="0" rIns="0" bIns="0" anchor="t">
            <a:spAutoFit/>
          </a:bodyPr>
          <a:p>
            <a:r>
              <a:rPr lang="zh-CN" sz="950" b="0" u="none" strike="noStrike">
                <a:solidFill>
                  <a:srgbClr val="9CA3AF"/>
                </a:solidFill>
                <a:effectLst/>
                <a:uFillTx/>
                <a:latin typeface="WenQuanYiZenHei"/>
                <a:ea typeface="WenQuanYiZenHei"/>
              </a:rPr>
              <a:t>注：近年来，部分金融科技平台正试图通过产品创新降低另类投资的门槛，让更多富裕投资者能够参与。</a:t>
            </a:r>
            <a:endParaRPr lang="en-US" sz="950" b="0" u="none" strike="noStrike">
              <a:solidFill>
                <a:srgbClr val="000000"/>
              </a:solidFill>
              <a:effectLst/>
              <a:uFillTx/>
              <a:latin typeface="Times New Roman" panose="02020603050405020304"/>
            </a:endParaRPr>
          </a:p>
        </p:txBody>
      </p:sp>
      <p:sp>
        <p:nvSpPr>
          <p:cNvPr id="394" name="文字框 393"/>
          <p:cNvSpPr txBox="1"/>
          <p:nvPr/>
        </p:nvSpPr>
        <p:spPr>
          <a:xfrm>
            <a:off x="534960" y="750852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395" name="任意多邊形 394"/>
          <p:cNvSpPr/>
          <p:nvPr/>
        </p:nvSpPr>
        <p:spPr>
          <a:xfrm>
            <a:off x="534600" y="902520"/>
            <a:ext cx="9627480" cy="6025320"/>
          </a:xfrm>
          <a:custGeom>
            <a:avLst/>
            <a:gdLst/>
            <a:ahLst/>
            <a:cxnLst/>
            <a:rect l="0" t="0" r="r" b="b"/>
            <a:pathLst>
              <a:path w="26743" h="16737">
                <a:moveTo>
                  <a:pt x="0" y="16551"/>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26557" y="0"/>
                </a:lnTo>
                <a:cubicBezTo>
                  <a:pt x="26569" y="0"/>
                  <a:pt x="26581" y="1"/>
                  <a:pt x="26593" y="3"/>
                </a:cubicBezTo>
                <a:cubicBezTo>
                  <a:pt x="26605" y="5"/>
                  <a:pt x="26617" y="9"/>
                  <a:pt x="26628" y="14"/>
                </a:cubicBezTo>
                <a:cubicBezTo>
                  <a:pt x="26639" y="18"/>
                  <a:pt x="26650" y="24"/>
                  <a:pt x="26660" y="31"/>
                </a:cubicBezTo>
                <a:cubicBezTo>
                  <a:pt x="26670" y="38"/>
                  <a:pt x="26680" y="45"/>
                  <a:pt x="26688" y="54"/>
                </a:cubicBezTo>
                <a:cubicBezTo>
                  <a:pt x="26697" y="63"/>
                  <a:pt x="26704" y="72"/>
                  <a:pt x="26711" y="82"/>
                </a:cubicBezTo>
                <a:cubicBezTo>
                  <a:pt x="26718" y="92"/>
                  <a:pt x="26724" y="103"/>
                  <a:pt x="26728" y="114"/>
                </a:cubicBezTo>
                <a:cubicBezTo>
                  <a:pt x="26733" y="125"/>
                  <a:pt x="26737" y="137"/>
                  <a:pt x="26739" y="149"/>
                </a:cubicBezTo>
                <a:cubicBezTo>
                  <a:pt x="26741" y="161"/>
                  <a:pt x="26743" y="173"/>
                  <a:pt x="26743" y="185"/>
                </a:cubicBezTo>
                <a:lnTo>
                  <a:pt x="26743" y="16551"/>
                </a:lnTo>
                <a:cubicBezTo>
                  <a:pt x="26743" y="16564"/>
                  <a:pt x="26741" y="16576"/>
                  <a:pt x="26739" y="16588"/>
                </a:cubicBezTo>
                <a:cubicBezTo>
                  <a:pt x="26737" y="16600"/>
                  <a:pt x="26733" y="16611"/>
                  <a:pt x="26728" y="16622"/>
                </a:cubicBezTo>
                <a:cubicBezTo>
                  <a:pt x="26724" y="16634"/>
                  <a:pt x="26718" y="16644"/>
                  <a:pt x="26711" y="16655"/>
                </a:cubicBezTo>
                <a:cubicBezTo>
                  <a:pt x="26704" y="16665"/>
                  <a:pt x="26697" y="16674"/>
                  <a:pt x="26688" y="16683"/>
                </a:cubicBezTo>
                <a:cubicBezTo>
                  <a:pt x="26680" y="16691"/>
                  <a:pt x="26670" y="16699"/>
                  <a:pt x="26660" y="16706"/>
                </a:cubicBezTo>
                <a:cubicBezTo>
                  <a:pt x="26650" y="16713"/>
                  <a:pt x="26639" y="16718"/>
                  <a:pt x="26628" y="16723"/>
                </a:cubicBezTo>
                <a:cubicBezTo>
                  <a:pt x="26617" y="16728"/>
                  <a:pt x="26605" y="16731"/>
                  <a:pt x="26593" y="16734"/>
                </a:cubicBezTo>
                <a:cubicBezTo>
                  <a:pt x="26581" y="16736"/>
                  <a:pt x="26569" y="16737"/>
                  <a:pt x="26557" y="16737"/>
                </a:cubicBezTo>
                <a:lnTo>
                  <a:pt x="186" y="16737"/>
                </a:lnTo>
                <a:cubicBezTo>
                  <a:pt x="174" y="16737"/>
                  <a:pt x="162" y="16736"/>
                  <a:pt x="150" y="16734"/>
                </a:cubicBezTo>
                <a:cubicBezTo>
                  <a:pt x="138" y="16731"/>
                  <a:pt x="126" y="16728"/>
                  <a:pt x="115" y="16723"/>
                </a:cubicBezTo>
                <a:cubicBezTo>
                  <a:pt x="104" y="16718"/>
                  <a:pt x="93" y="16713"/>
                  <a:pt x="83" y="16706"/>
                </a:cubicBezTo>
                <a:cubicBezTo>
                  <a:pt x="73" y="16699"/>
                  <a:pt x="63" y="16691"/>
                  <a:pt x="55" y="16683"/>
                </a:cubicBezTo>
                <a:cubicBezTo>
                  <a:pt x="46" y="16674"/>
                  <a:pt x="38" y="16665"/>
                  <a:pt x="31" y="16655"/>
                </a:cubicBezTo>
                <a:cubicBezTo>
                  <a:pt x="25" y="16644"/>
                  <a:pt x="19" y="16634"/>
                  <a:pt x="14" y="16622"/>
                </a:cubicBezTo>
                <a:cubicBezTo>
                  <a:pt x="10" y="16611"/>
                  <a:pt x="6" y="16600"/>
                  <a:pt x="4" y="16588"/>
                </a:cubicBezTo>
                <a:cubicBezTo>
                  <a:pt x="1" y="16576"/>
                  <a:pt x="0" y="16564"/>
                  <a:pt x="0" y="16551"/>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396" name="任意多邊形 395"/>
          <p:cNvSpPr/>
          <p:nvPr/>
        </p:nvSpPr>
        <p:spPr>
          <a:xfrm>
            <a:off x="735120" y="2172600"/>
            <a:ext cx="9226080" cy="8640"/>
          </a:xfrm>
          <a:custGeom>
            <a:avLst/>
            <a:gdLst/>
            <a:ahLst/>
            <a:cxnLst/>
            <a:rect l="0" t="0" r="r" b="b"/>
            <a:pathLst>
              <a:path w="25628" h="24">
                <a:moveTo>
                  <a:pt x="0" y="0"/>
                </a:moveTo>
                <a:lnTo>
                  <a:pt x="25628" y="0"/>
                </a:lnTo>
                <a:lnTo>
                  <a:pt x="25628" y="24"/>
                </a:lnTo>
                <a:lnTo>
                  <a:pt x="0" y="24"/>
                </a:lnTo>
                <a:lnTo>
                  <a:pt x="0" y="0"/>
                </a:lnTo>
                <a:close/>
              </a:path>
            </a:pathLst>
          </a:custGeom>
          <a:solidFill>
            <a:srgbClr val="37415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397" name="任意多邊形 396"/>
          <p:cNvSpPr/>
          <p:nvPr/>
        </p:nvSpPr>
        <p:spPr>
          <a:xfrm>
            <a:off x="735120" y="3083400"/>
            <a:ext cx="9226080" cy="8640"/>
          </a:xfrm>
          <a:custGeom>
            <a:avLst/>
            <a:gdLst/>
            <a:ahLst/>
            <a:cxnLst/>
            <a:rect l="0" t="0" r="r" b="b"/>
            <a:pathLst>
              <a:path w="25628" h="24">
                <a:moveTo>
                  <a:pt x="0" y="0"/>
                </a:moveTo>
                <a:lnTo>
                  <a:pt x="25628" y="0"/>
                </a:lnTo>
                <a:lnTo>
                  <a:pt x="25628" y="24"/>
                </a:lnTo>
                <a:lnTo>
                  <a:pt x="0" y="24"/>
                </a:lnTo>
                <a:lnTo>
                  <a:pt x="0" y="0"/>
                </a:lnTo>
                <a:close/>
              </a:path>
            </a:pathLst>
          </a:custGeom>
          <a:solidFill>
            <a:srgbClr val="37415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398" name="任意多邊形 397"/>
          <p:cNvSpPr/>
          <p:nvPr/>
        </p:nvSpPr>
        <p:spPr>
          <a:xfrm>
            <a:off x="735120" y="3994200"/>
            <a:ext cx="9226080" cy="9000"/>
          </a:xfrm>
          <a:custGeom>
            <a:avLst/>
            <a:gdLst/>
            <a:ahLst/>
            <a:cxnLst/>
            <a:rect l="0" t="0" r="r" b="b"/>
            <a:pathLst>
              <a:path w="25628" h="25">
                <a:moveTo>
                  <a:pt x="0" y="0"/>
                </a:moveTo>
                <a:lnTo>
                  <a:pt x="25628" y="0"/>
                </a:lnTo>
                <a:lnTo>
                  <a:pt x="25628" y="25"/>
                </a:lnTo>
                <a:lnTo>
                  <a:pt x="0" y="25"/>
                </a:lnTo>
                <a:lnTo>
                  <a:pt x="0" y="0"/>
                </a:lnTo>
                <a:close/>
              </a:path>
            </a:pathLst>
          </a:custGeom>
          <a:solidFill>
            <a:srgbClr val="37415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399" name="任意多邊形 398"/>
          <p:cNvSpPr/>
          <p:nvPr/>
        </p:nvSpPr>
        <p:spPr>
          <a:xfrm>
            <a:off x="735120" y="4905360"/>
            <a:ext cx="9226080" cy="8640"/>
          </a:xfrm>
          <a:custGeom>
            <a:avLst/>
            <a:gdLst/>
            <a:ahLst/>
            <a:cxnLst/>
            <a:rect l="0" t="0" r="r" b="b"/>
            <a:pathLst>
              <a:path w="25628" h="24">
                <a:moveTo>
                  <a:pt x="0" y="0"/>
                </a:moveTo>
                <a:lnTo>
                  <a:pt x="25628" y="0"/>
                </a:lnTo>
                <a:lnTo>
                  <a:pt x="25628" y="24"/>
                </a:lnTo>
                <a:lnTo>
                  <a:pt x="0" y="24"/>
                </a:lnTo>
                <a:lnTo>
                  <a:pt x="0" y="0"/>
                </a:lnTo>
                <a:close/>
              </a:path>
            </a:pathLst>
          </a:custGeom>
          <a:solidFill>
            <a:srgbClr val="37415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400" name="任意多邊形 399"/>
          <p:cNvSpPr/>
          <p:nvPr/>
        </p:nvSpPr>
        <p:spPr>
          <a:xfrm>
            <a:off x="735120" y="5816160"/>
            <a:ext cx="9226080" cy="8640"/>
          </a:xfrm>
          <a:custGeom>
            <a:avLst/>
            <a:gdLst/>
            <a:ahLst/>
            <a:cxnLst/>
            <a:rect l="0" t="0" r="r" b="b"/>
            <a:pathLst>
              <a:path w="25628" h="24">
                <a:moveTo>
                  <a:pt x="0" y="0"/>
                </a:moveTo>
                <a:lnTo>
                  <a:pt x="25628" y="0"/>
                </a:lnTo>
                <a:lnTo>
                  <a:pt x="25628" y="24"/>
                </a:lnTo>
                <a:lnTo>
                  <a:pt x="0" y="24"/>
                </a:lnTo>
                <a:lnTo>
                  <a:pt x="0" y="0"/>
                </a:lnTo>
                <a:close/>
              </a:path>
            </a:pathLst>
          </a:custGeom>
          <a:solidFill>
            <a:srgbClr val="37415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401" name="任意多邊形 400"/>
          <p:cNvSpPr/>
          <p:nvPr/>
        </p:nvSpPr>
        <p:spPr>
          <a:xfrm>
            <a:off x="7788240" y="1119600"/>
            <a:ext cx="133920" cy="133920"/>
          </a:xfrm>
          <a:custGeom>
            <a:avLst/>
            <a:gdLst/>
            <a:ahLst/>
            <a:cxnLst/>
            <a:rect l="0" t="0" r="r" b="b"/>
            <a:pathLst>
              <a:path w="372" h="372">
                <a:moveTo>
                  <a:pt x="372" y="187"/>
                </a:moveTo>
                <a:cubicBezTo>
                  <a:pt x="372" y="199"/>
                  <a:pt x="371" y="211"/>
                  <a:pt x="369" y="223"/>
                </a:cubicBezTo>
                <a:cubicBezTo>
                  <a:pt x="367" y="235"/>
                  <a:pt x="363" y="247"/>
                  <a:pt x="358" y="258"/>
                </a:cubicBezTo>
                <a:cubicBezTo>
                  <a:pt x="354" y="269"/>
                  <a:pt x="348" y="280"/>
                  <a:pt x="341" y="290"/>
                </a:cubicBezTo>
                <a:cubicBezTo>
                  <a:pt x="334" y="300"/>
                  <a:pt x="327" y="309"/>
                  <a:pt x="318" y="318"/>
                </a:cubicBezTo>
                <a:cubicBezTo>
                  <a:pt x="309" y="327"/>
                  <a:pt x="300" y="334"/>
                  <a:pt x="290" y="341"/>
                </a:cubicBezTo>
                <a:cubicBezTo>
                  <a:pt x="280" y="348"/>
                  <a:pt x="269" y="354"/>
                  <a:pt x="258" y="358"/>
                </a:cubicBezTo>
                <a:cubicBezTo>
                  <a:pt x="247" y="363"/>
                  <a:pt x="235" y="367"/>
                  <a:pt x="223" y="369"/>
                </a:cubicBezTo>
                <a:cubicBezTo>
                  <a:pt x="211" y="371"/>
                  <a:pt x="199" y="372"/>
                  <a:pt x="187" y="372"/>
                </a:cubicBezTo>
                <a:cubicBezTo>
                  <a:pt x="175" y="372"/>
                  <a:pt x="163" y="371"/>
                  <a:pt x="151" y="369"/>
                </a:cubicBezTo>
                <a:cubicBezTo>
                  <a:pt x="139" y="367"/>
                  <a:pt x="127" y="363"/>
                  <a:pt x="116" y="358"/>
                </a:cubicBezTo>
                <a:cubicBezTo>
                  <a:pt x="104" y="354"/>
                  <a:pt x="94" y="348"/>
                  <a:pt x="84" y="341"/>
                </a:cubicBezTo>
                <a:cubicBezTo>
                  <a:pt x="73" y="334"/>
                  <a:pt x="63" y="327"/>
                  <a:pt x="54" y="318"/>
                </a:cubicBezTo>
                <a:cubicBezTo>
                  <a:pt x="46" y="309"/>
                  <a:pt x="38" y="300"/>
                  <a:pt x="31" y="290"/>
                </a:cubicBezTo>
                <a:cubicBezTo>
                  <a:pt x="25" y="280"/>
                  <a:pt x="19" y="269"/>
                  <a:pt x="14" y="258"/>
                </a:cubicBezTo>
                <a:cubicBezTo>
                  <a:pt x="10" y="247"/>
                  <a:pt x="6" y="235"/>
                  <a:pt x="4" y="223"/>
                </a:cubicBezTo>
                <a:cubicBezTo>
                  <a:pt x="1" y="211"/>
                  <a:pt x="0" y="199"/>
                  <a:pt x="0" y="187"/>
                </a:cubicBezTo>
                <a:cubicBezTo>
                  <a:pt x="0" y="175"/>
                  <a:pt x="1" y="162"/>
                  <a:pt x="4" y="151"/>
                </a:cubicBezTo>
                <a:cubicBezTo>
                  <a:pt x="6" y="139"/>
                  <a:pt x="10" y="127"/>
                  <a:pt x="14" y="116"/>
                </a:cubicBezTo>
                <a:cubicBezTo>
                  <a:pt x="19" y="104"/>
                  <a:pt x="25" y="94"/>
                  <a:pt x="31" y="84"/>
                </a:cubicBezTo>
                <a:cubicBezTo>
                  <a:pt x="38" y="73"/>
                  <a:pt x="46" y="64"/>
                  <a:pt x="54" y="55"/>
                </a:cubicBezTo>
                <a:cubicBezTo>
                  <a:pt x="63" y="47"/>
                  <a:pt x="73" y="38"/>
                  <a:pt x="84" y="31"/>
                </a:cubicBezTo>
                <a:cubicBezTo>
                  <a:pt x="94" y="25"/>
                  <a:pt x="104" y="19"/>
                  <a:pt x="116" y="14"/>
                </a:cubicBezTo>
                <a:cubicBezTo>
                  <a:pt x="127" y="10"/>
                  <a:pt x="139" y="6"/>
                  <a:pt x="151" y="4"/>
                </a:cubicBezTo>
                <a:cubicBezTo>
                  <a:pt x="162" y="1"/>
                  <a:pt x="175" y="0"/>
                  <a:pt x="187" y="0"/>
                </a:cubicBezTo>
                <a:cubicBezTo>
                  <a:pt x="199" y="0"/>
                  <a:pt x="211" y="1"/>
                  <a:pt x="223" y="4"/>
                </a:cubicBezTo>
                <a:cubicBezTo>
                  <a:pt x="235" y="6"/>
                  <a:pt x="247" y="10"/>
                  <a:pt x="258" y="14"/>
                </a:cubicBezTo>
                <a:cubicBezTo>
                  <a:pt x="269" y="19"/>
                  <a:pt x="280" y="25"/>
                  <a:pt x="290" y="31"/>
                </a:cubicBezTo>
                <a:cubicBezTo>
                  <a:pt x="300" y="38"/>
                  <a:pt x="309" y="47"/>
                  <a:pt x="318" y="55"/>
                </a:cubicBezTo>
                <a:cubicBezTo>
                  <a:pt x="327" y="64"/>
                  <a:pt x="334" y="73"/>
                  <a:pt x="341" y="84"/>
                </a:cubicBezTo>
                <a:cubicBezTo>
                  <a:pt x="348" y="94"/>
                  <a:pt x="354" y="104"/>
                  <a:pt x="358" y="116"/>
                </a:cubicBezTo>
                <a:cubicBezTo>
                  <a:pt x="363" y="127"/>
                  <a:pt x="367" y="139"/>
                  <a:pt x="369" y="151"/>
                </a:cubicBezTo>
                <a:cubicBezTo>
                  <a:pt x="371" y="162"/>
                  <a:pt x="372" y="175"/>
                  <a:pt x="372" y="187"/>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402" name="文字框 401"/>
          <p:cNvSpPr txBox="1"/>
          <p:nvPr/>
        </p:nvSpPr>
        <p:spPr>
          <a:xfrm>
            <a:off x="9824760" y="7512840"/>
            <a:ext cx="20701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8 / 24</a:t>
            </a:r>
            <a:endParaRPr lang="en-US" sz="920" b="0" u="none" strike="noStrike">
              <a:solidFill>
                <a:srgbClr val="000000"/>
              </a:solidFill>
              <a:effectLst/>
              <a:uFillTx/>
              <a:latin typeface="Times New Roman" panose="02020603050405020304"/>
            </a:endParaRPr>
          </a:p>
        </p:txBody>
      </p:sp>
      <p:sp>
        <p:nvSpPr>
          <p:cNvPr id="403" name="任意多邊形 402"/>
          <p:cNvSpPr/>
          <p:nvPr/>
        </p:nvSpPr>
        <p:spPr>
          <a:xfrm>
            <a:off x="8540280" y="1119600"/>
            <a:ext cx="134280" cy="133920"/>
          </a:xfrm>
          <a:custGeom>
            <a:avLst/>
            <a:gdLst/>
            <a:ahLst/>
            <a:cxnLst/>
            <a:rect l="0" t="0" r="r" b="b"/>
            <a:pathLst>
              <a:path w="373" h="372">
                <a:moveTo>
                  <a:pt x="373" y="187"/>
                </a:moveTo>
                <a:cubicBezTo>
                  <a:pt x="373" y="199"/>
                  <a:pt x="371" y="211"/>
                  <a:pt x="369" y="223"/>
                </a:cubicBezTo>
                <a:cubicBezTo>
                  <a:pt x="367" y="235"/>
                  <a:pt x="363" y="247"/>
                  <a:pt x="359" y="258"/>
                </a:cubicBezTo>
                <a:cubicBezTo>
                  <a:pt x="354" y="269"/>
                  <a:pt x="348" y="280"/>
                  <a:pt x="341" y="290"/>
                </a:cubicBezTo>
                <a:cubicBezTo>
                  <a:pt x="335" y="300"/>
                  <a:pt x="327" y="309"/>
                  <a:pt x="318" y="318"/>
                </a:cubicBezTo>
                <a:cubicBezTo>
                  <a:pt x="310" y="327"/>
                  <a:pt x="300" y="334"/>
                  <a:pt x="290" y="341"/>
                </a:cubicBezTo>
                <a:cubicBezTo>
                  <a:pt x="280" y="348"/>
                  <a:pt x="269" y="354"/>
                  <a:pt x="258" y="358"/>
                </a:cubicBezTo>
                <a:cubicBezTo>
                  <a:pt x="247" y="363"/>
                  <a:pt x="235" y="367"/>
                  <a:pt x="223" y="369"/>
                </a:cubicBezTo>
                <a:cubicBezTo>
                  <a:pt x="211" y="371"/>
                  <a:pt x="198" y="372"/>
                  <a:pt x="186" y="372"/>
                </a:cubicBezTo>
                <a:cubicBezTo>
                  <a:pt x="174" y="372"/>
                  <a:pt x="162" y="371"/>
                  <a:pt x="150" y="369"/>
                </a:cubicBezTo>
                <a:cubicBezTo>
                  <a:pt x="138" y="367"/>
                  <a:pt x="126" y="363"/>
                  <a:pt x="115" y="358"/>
                </a:cubicBezTo>
                <a:cubicBezTo>
                  <a:pt x="104" y="354"/>
                  <a:pt x="93" y="348"/>
                  <a:pt x="83" y="341"/>
                </a:cubicBezTo>
                <a:cubicBezTo>
                  <a:pt x="73" y="334"/>
                  <a:pt x="63" y="327"/>
                  <a:pt x="55" y="318"/>
                </a:cubicBezTo>
                <a:cubicBezTo>
                  <a:pt x="46" y="309"/>
                  <a:pt x="38" y="300"/>
                  <a:pt x="32" y="290"/>
                </a:cubicBezTo>
                <a:cubicBezTo>
                  <a:pt x="25" y="280"/>
                  <a:pt x="19" y="269"/>
                  <a:pt x="14" y="258"/>
                </a:cubicBezTo>
                <a:cubicBezTo>
                  <a:pt x="10" y="247"/>
                  <a:pt x="6" y="235"/>
                  <a:pt x="4" y="223"/>
                </a:cubicBezTo>
                <a:cubicBezTo>
                  <a:pt x="1" y="211"/>
                  <a:pt x="0" y="199"/>
                  <a:pt x="0" y="187"/>
                </a:cubicBezTo>
                <a:cubicBezTo>
                  <a:pt x="0" y="175"/>
                  <a:pt x="1" y="162"/>
                  <a:pt x="4" y="151"/>
                </a:cubicBezTo>
                <a:cubicBezTo>
                  <a:pt x="6" y="139"/>
                  <a:pt x="10" y="127"/>
                  <a:pt x="14" y="116"/>
                </a:cubicBezTo>
                <a:cubicBezTo>
                  <a:pt x="19" y="104"/>
                  <a:pt x="25" y="94"/>
                  <a:pt x="32" y="84"/>
                </a:cubicBezTo>
                <a:cubicBezTo>
                  <a:pt x="38" y="73"/>
                  <a:pt x="46" y="64"/>
                  <a:pt x="55" y="55"/>
                </a:cubicBezTo>
                <a:cubicBezTo>
                  <a:pt x="63" y="47"/>
                  <a:pt x="73" y="38"/>
                  <a:pt x="83" y="31"/>
                </a:cubicBezTo>
                <a:cubicBezTo>
                  <a:pt x="93" y="25"/>
                  <a:pt x="104" y="19"/>
                  <a:pt x="115" y="14"/>
                </a:cubicBezTo>
                <a:cubicBezTo>
                  <a:pt x="126" y="10"/>
                  <a:pt x="138" y="6"/>
                  <a:pt x="150" y="4"/>
                </a:cubicBezTo>
                <a:cubicBezTo>
                  <a:pt x="162" y="1"/>
                  <a:pt x="174" y="0"/>
                  <a:pt x="186" y="0"/>
                </a:cubicBezTo>
                <a:cubicBezTo>
                  <a:pt x="198" y="0"/>
                  <a:pt x="211" y="1"/>
                  <a:pt x="223" y="4"/>
                </a:cubicBezTo>
                <a:cubicBezTo>
                  <a:pt x="235" y="6"/>
                  <a:pt x="247" y="10"/>
                  <a:pt x="258" y="14"/>
                </a:cubicBezTo>
                <a:cubicBezTo>
                  <a:pt x="269" y="19"/>
                  <a:pt x="280" y="25"/>
                  <a:pt x="290" y="31"/>
                </a:cubicBezTo>
                <a:cubicBezTo>
                  <a:pt x="300" y="38"/>
                  <a:pt x="310" y="47"/>
                  <a:pt x="318" y="55"/>
                </a:cubicBezTo>
                <a:cubicBezTo>
                  <a:pt x="327" y="64"/>
                  <a:pt x="335" y="73"/>
                  <a:pt x="341" y="84"/>
                </a:cubicBezTo>
                <a:cubicBezTo>
                  <a:pt x="348" y="94"/>
                  <a:pt x="354" y="104"/>
                  <a:pt x="359" y="116"/>
                </a:cubicBezTo>
                <a:cubicBezTo>
                  <a:pt x="363" y="127"/>
                  <a:pt x="367" y="139"/>
                  <a:pt x="369" y="151"/>
                </a:cubicBezTo>
                <a:cubicBezTo>
                  <a:pt x="371" y="162"/>
                  <a:pt x="373" y="175"/>
                  <a:pt x="373" y="187"/>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404" name="文字框 403"/>
          <p:cNvSpPr txBox="1"/>
          <p:nvPr/>
        </p:nvSpPr>
        <p:spPr>
          <a:xfrm>
            <a:off x="7989120" y="1115640"/>
            <a:ext cx="352800" cy="148320"/>
          </a:xfrm>
          <a:prstGeom prst="rect">
            <a:avLst/>
          </a:prstGeom>
          <a:noFill/>
          <a:ln w="0">
            <a:noFill/>
          </a:ln>
        </p:spPr>
        <p:txBody>
          <a:bodyPr wrap="none" lIns="0" tIns="0" rIns="0" bIns="0" anchor="t">
            <a:spAutoFit/>
          </a:bodyPr>
          <a:p>
            <a:r>
              <a:rPr lang="zh-CN" sz="920" b="0" u="none" strike="noStrike">
                <a:solidFill>
                  <a:srgbClr val="FFFFFF"/>
                </a:solidFill>
                <a:effectLst/>
                <a:uFillTx/>
                <a:latin typeface="WenQuanYiZenHei"/>
                <a:ea typeface="WenQuanYiZenHei"/>
              </a:rPr>
              <a:t>低门槛</a:t>
            </a:r>
            <a:endParaRPr lang="en-US" sz="920" b="0" u="none" strike="noStrike">
              <a:solidFill>
                <a:srgbClr val="000000"/>
              </a:solidFill>
              <a:effectLst/>
              <a:uFillTx/>
              <a:latin typeface="Times New Roman" panose="02020603050405020304"/>
            </a:endParaRPr>
          </a:p>
        </p:txBody>
      </p:sp>
      <p:sp>
        <p:nvSpPr>
          <p:cNvPr id="405" name="任意多邊形 404"/>
          <p:cNvSpPr/>
          <p:nvPr/>
        </p:nvSpPr>
        <p:spPr>
          <a:xfrm>
            <a:off x="9409320" y="1119600"/>
            <a:ext cx="134280" cy="133920"/>
          </a:xfrm>
          <a:custGeom>
            <a:avLst/>
            <a:gdLst/>
            <a:ahLst/>
            <a:cxnLst/>
            <a:rect l="0" t="0" r="r" b="b"/>
            <a:pathLst>
              <a:path w="373" h="372">
                <a:moveTo>
                  <a:pt x="373" y="187"/>
                </a:moveTo>
                <a:cubicBezTo>
                  <a:pt x="373" y="199"/>
                  <a:pt x="372" y="211"/>
                  <a:pt x="369" y="223"/>
                </a:cubicBezTo>
                <a:cubicBezTo>
                  <a:pt x="367" y="235"/>
                  <a:pt x="363" y="247"/>
                  <a:pt x="359" y="258"/>
                </a:cubicBezTo>
                <a:cubicBezTo>
                  <a:pt x="354" y="269"/>
                  <a:pt x="348" y="280"/>
                  <a:pt x="342" y="290"/>
                </a:cubicBezTo>
                <a:cubicBezTo>
                  <a:pt x="335" y="300"/>
                  <a:pt x="327" y="309"/>
                  <a:pt x="318" y="318"/>
                </a:cubicBezTo>
                <a:cubicBezTo>
                  <a:pt x="310" y="327"/>
                  <a:pt x="300" y="334"/>
                  <a:pt x="290" y="341"/>
                </a:cubicBezTo>
                <a:cubicBezTo>
                  <a:pt x="280" y="348"/>
                  <a:pt x="269" y="354"/>
                  <a:pt x="258" y="358"/>
                </a:cubicBezTo>
                <a:cubicBezTo>
                  <a:pt x="247" y="363"/>
                  <a:pt x="235" y="367"/>
                  <a:pt x="223" y="369"/>
                </a:cubicBezTo>
                <a:cubicBezTo>
                  <a:pt x="211" y="371"/>
                  <a:pt x="199" y="372"/>
                  <a:pt x="187" y="372"/>
                </a:cubicBezTo>
                <a:cubicBezTo>
                  <a:pt x="175" y="372"/>
                  <a:pt x="163" y="371"/>
                  <a:pt x="151" y="369"/>
                </a:cubicBezTo>
                <a:cubicBezTo>
                  <a:pt x="139" y="367"/>
                  <a:pt x="127" y="363"/>
                  <a:pt x="116" y="358"/>
                </a:cubicBezTo>
                <a:cubicBezTo>
                  <a:pt x="105" y="354"/>
                  <a:pt x="94" y="348"/>
                  <a:pt x="84" y="341"/>
                </a:cubicBezTo>
                <a:cubicBezTo>
                  <a:pt x="74" y="334"/>
                  <a:pt x="64" y="327"/>
                  <a:pt x="56" y="318"/>
                </a:cubicBezTo>
                <a:cubicBezTo>
                  <a:pt x="47" y="309"/>
                  <a:pt x="39" y="300"/>
                  <a:pt x="33" y="290"/>
                </a:cubicBezTo>
                <a:cubicBezTo>
                  <a:pt x="26" y="280"/>
                  <a:pt x="20" y="269"/>
                  <a:pt x="15" y="258"/>
                </a:cubicBezTo>
                <a:cubicBezTo>
                  <a:pt x="10" y="247"/>
                  <a:pt x="6" y="235"/>
                  <a:pt x="4" y="223"/>
                </a:cubicBezTo>
                <a:cubicBezTo>
                  <a:pt x="2" y="211"/>
                  <a:pt x="0" y="199"/>
                  <a:pt x="0" y="187"/>
                </a:cubicBezTo>
                <a:cubicBezTo>
                  <a:pt x="0" y="175"/>
                  <a:pt x="2" y="162"/>
                  <a:pt x="4" y="151"/>
                </a:cubicBezTo>
                <a:cubicBezTo>
                  <a:pt x="6" y="139"/>
                  <a:pt x="10" y="127"/>
                  <a:pt x="15" y="116"/>
                </a:cubicBezTo>
                <a:cubicBezTo>
                  <a:pt x="20" y="104"/>
                  <a:pt x="26" y="94"/>
                  <a:pt x="33" y="84"/>
                </a:cubicBezTo>
                <a:cubicBezTo>
                  <a:pt x="39" y="73"/>
                  <a:pt x="47" y="64"/>
                  <a:pt x="56" y="55"/>
                </a:cubicBezTo>
                <a:cubicBezTo>
                  <a:pt x="64" y="47"/>
                  <a:pt x="74" y="38"/>
                  <a:pt x="84" y="31"/>
                </a:cubicBezTo>
                <a:cubicBezTo>
                  <a:pt x="94" y="25"/>
                  <a:pt x="105" y="19"/>
                  <a:pt x="116" y="14"/>
                </a:cubicBezTo>
                <a:cubicBezTo>
                  <a:pt x="127" y="10"/>
                  <a:pt x="139" y="6"/>
                  <a:pt x="151" y="4"/>
                </a:cubicBezTo>
                <a:cubicBezTo>
                  <a:pt x="163" y="1"/>
                  <a:pt x="175" y="0"/>
                  <a:pt x="187" y="0"/>
                </a:cubicBezTo>
                <a:cubicBezTo>
                  <a:pt x="199" y="0"/>
                  <a:pt x="211" y="1"/>
                  <a:pt x="223" y="4"/>
                </a:cubicBezTo>
                <a:cubicBezTo>
                  <a:pt x="235" y="6"/>
                  <a:pt x="247" y="10"/>
                  <a:pt x="258" y="14"/>
                </a:cubicBezTo>
                <a:cubicBezTo>
                  <a:pt x="269" y="19"/>
                  <a:pt x="280" y="25"/>
                  <a:pt x="290" y="31"/>
                </a:cubicBezTo>
                <a:cubicBezTo>
                  <a:pt x="300" y="38"/>
                  <a:pt x="310" y="47"/>
                  <a:pt x="318" y="55"/>
                </a:cubicBezTo>
                <a:cubicBezTo>
                  <a:pt x="327" y="64"/>
                  <a:pt x="335" y="73"/>
                  <a:pt x="342" y="84"/>
                </a:cubicBezTo>
                <a:cubicBezTo>
                  <a:pt x="348" y="94"/>
                  <a:pt x="354" y="104"/>
                  <a:pt x="359" y="116"/>
                </a:cubicBezTo>
                <a:cubicBezTo>
                  <a:pt x="363" y="127"/>
                  <a:pt x="367" y="139"/>
                  <a:pt x="369" y="151"/>
                </a:cubicBezTo>
                <a:cubicBezTo>
                  <a:pt x="372" y="162"/>
                  <a:pt x="373" y="175"/>
                  <a:pt x="373" y="187"/>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406" name="文字框 405"/>
          <p:cNvSpPr txBox="1"/>
          <p:nvPr/>
        </p:nvSpPr>
        <p:spPr>
          <a:xfrm>
            <a:off x="8741160" y="1115640"/>
            <a:ext cx="470160" cy="148320"/>
          </a:xfrm>
          <a:prstGeom prst="rect">
            <a:avLst/>
          </a:prstGeom>
          <a:noFill/>
          <a:ln w="0">
            <a:noFill/>
          </a:ln>
        </p:spPr>
        <p:txBody>
          <a:bodyPr wrap="none" lIns="0" tIns="0" rIns="0" bIns="0" anchor="t">
            <a:spAutoFit/>
          </a:bodyPr>
          <a:p>
            <a:r>
              <a:rPr lang="zh-CN" sz="920" b="0" u="none" strike="noStrike">
                <a:solidFill>
                  <a:srgbClr val="FFFFFF"/>
                </a:solidFill>
                <a:effectLst/>
                <a:uFillTx/>
                <a:latin typeface="WenQuanYiZenHei"/>
                <a:ea typeface="WenQuanYiZenHei"/>
              </a:rPr>
              <a:t>中等门槛</a:t>
            </a:r>
            <a:endParaRPr lang="en-US" sz="920" b="0" u="none" strike="noStrike">
              <a:solidFill>
                <a:srgbClr val="000000"/>
              </a:solidFill>
              <a:effectLst/>
              <a:uFillTx/>
              <a:latin typeface="Times New Roman" panose="02020603050405020304"/>
            </a:endParaRPr>
          </a:p>
        </p:txBody>
      </p:sp>
      <p:sp>
        <p:nvSpPr>
          <p:cNvPr id="407" name="任意多邊形 406"/>
          <p:cNvSpPr/>
          <p:nvPr/>
        </p:nvSpPr>
        <p:spPr>
          <a:xfrm>
            <a:off x="869040" y="1738080"/>
            <a:ext cx="167400" cy="167400"/>
          </a:xfrm>
          <a:custGeom>
            <a:avLst/>
            <a:gdLst/>
            <a:ahLst/>
            <a:cxnLst/>
            <a:rect l="0" t="0" r="r" b="b"/>
            <a:pathLst>
              <a:path w="465" h="465">
                <a:moveTo>
                  <a:pt x="465" y="233"/>
                </a:moveTo>
                <a:cubicBezTo>
                  <a:pt x="465" y="248"/>
                  <a:pt x="463" y="263"/>
                  <a:pt x="460" y="278"/>
                </a:cubicBezTo>
                <a:cubicBezTo>
                  <a:pt x="457" y="293"/>
                  <a:pt x="453" y="308"/>
                  <a:pt x="447" y="322"/>
                </a:cubicBezTo>
                <a:cubicBezTo>
                  <a:pt x="441" y="336"/>
                  <a:pt x="434" y="349"/>
                  <a:pt x="426" y="362"/>
                </a:cubicBezTo>
                <a:cubicBezTo>
                  <a:pt x="417" y="375"/>
                  <a:pt x="408" y="386"/>
                  <a:pt x="397" y="397"/>
                </a:cubicBezTo>
                <a:cubicBezTo>
                  <a:pt x="386" y="408"/>
                  <a:pt x="374" y="417"/>
                  <a:pt x="362" y="426"/>
                </a:cubicBezTo>
                <a:cubicBezTo>
                  <a:pt x="349" y="434"/>
                  <a:pt x="336" y="442"/>
                  <a:pt x="322" y="447"/>
                </a:cubicBezTo>
                <a:cubicBezTo>
                  <a:pt x="308" y="453"/>
                  <a:pt x="293" y="458"/>
                  <a:pt x="278" y="461"/>
                </a:cubicBezTo>
                <a:cubicBezTo>
                  <a:pt x="263" y="464"/>
                  <a:pt x="248" y="465"/>
                  <a:pt x="233" y="465"/>
                </a:cubicBezTo>
                <a:cubicBezTo>
                  <a:pt x="218" y="465"/>
                  <a:pt x="202" y="464"/>
                  <a:pt x="188" y="461"/>
                </a:cubicBezTo>
                <a:cubicBezTo>
                  <a:pt x="173" y="458"/>
                  <a:pt x="158" y="453"/>
                  <a:pt x="144" y="447"/>
                </a:cubicBezTo>
                <a:cubicBezTo>
                  <a:pt x="129" y="442"/>
                  <a:pt x="115" y="434"/>
                  <a:pt x="103" y="426"/>
                </a:cubicBezTo>
                <a:cubicBezTo>
                  <a:pt x="90" y="417"/>
                  <a:pt x="78" y="408"/>
                  <a:pt x="68" y="397"/>
                </a:cubicBezTo>
                <a:cubicBezTo>
                  <a:pt x="57" y="386"/>
                  <a:pt x="47" y="375"/>
                  <a:pt x="39" y="362"/>
                </a:cubicBezTo>
                <a:cubicBezTo>
                  <a:pt x="30" y="349"/>
                  <a:pt x="23" y="336"/>
                  <a:pt x="17" y="322"/>
                </a:cubicBezTo>
                <a:cubicBezTo>
                  <a:pt x="11" y="308"/>
                  <a:pt x="7" y="293"/>
                  <a:pt x="4" y="278"/>
                </a:cubicBezTo>
                <a:cubicBezTo>
                  <a:pt x="1" y="263"/>
                  <a:pt x="0" y="248"/>
                  <a:pt x="0" y="233"/>
                </a:cubicBezTo>
                <a:cubicBezTo>
                  <a:pt x="0" y="218"/>
                  <a:pt x="1" y="203"/>
                  <a:pt x="4" y="188"/>
                </a:cubicBezTo>
                <a:cubicBezTo>
                  <a:pt x="7" y="173"/>
                  <a:pt x="11" y="158"/>
                  <a:pt x="17" y="144"/>
                </a:cubicBezTo>
                <a:cubicBezTo>
                  <a:pt x="23" y="130"/>
                  <a:pt x="30" y="117"/>
                  <a:pt x="39" y="104"/>
                </a:cubicBezTo>
                <a:cubicBezTo>
                  <a:pt x="47" y="91"/>
                  <a:pt x="57" y="80"/>
                  <a:pt x="68" y="69"/>
                </a:cubicBezTo>
                <a:cubicBezTo>
                  <a:pt x="78" y="58"/>
                  <a:pt x="90" y="48"/>
                  <a:pt x="103" y="39"/>
                </a:cubicBezTo>
                <a:cubicBezTo>
                  <a:pt x="115" y="30"/>
                  <a:pt x="129" y="23"/>
                  <a:pt x="144" y="17"/>
                </a:cubicBezTo>
                <a:cubicBezTo>
                  <a:pt x="158" y="12"/>
                  <a:pt x="173" y="7"/>
                  <a:pt x="188" y="4"/>
                </a:cubicBezTo>
                <a:cubicBezTo>
                  <a:pt x="202" y="1"/>
                  <a:pt x="218" y="0"/>
                  <a:pt x="233" y="0"/>
                </a:cubicBezTo>
                <a:cubicBezTo>
                  <a:pt x="248" y="0"/>
                  <a:pt x="263" y="1"/>
                  <a:pt x="278" y="4"/>
                </a:cubicBezTo>
                <a:cubicBezTo>
                  <a:pt x="293" y="7"/>
                  <a:pt x="308" y="12"/>
                  <a:pt x="322" y="17"/>
                </a:cubicBezTo>
                <a:cubicBezTo>
                  <a:pt x="336" y="23"/>
                  <a:pt x="349" y="30"/>
                  <a:pt x="362" y="39"/>
                </a:cubicBezTo>
                <a:cubicBezTo>
                  <a:pt x="374" y="48"/>
                  <a:pt x="386" y="58"/>
                  <a:pt x="397" y="69"/>
                </a:cubicBezTo>
                <a:cubicBezTo>
                  <a:pt x="408" y="80"/>
                  <a:pt x="417" y="91"/>
                  <a:pt x="426" y="104"/>
                </a:cubicBezTo>
                <a:cubicBezTo>
                  <a:pt x="434" y="117"/>
                  <a:pt x="441" y="130"/>
                  <a:pt x="447" y="144"/>
                </a:cubicBezTo>
                <a:cubicBezTo>
                  <a:pt x="453" y="158"/>
                  <a:pt x="457" y="173"/>
                  <a:pt x="460" y="188"/>
                </a:cubicBezTo>
                <a:cubicBezTo>
                  <a:pt x="463" y="203"/>
                  <a:pt x="465" y="218"/>
                  <a:pt x="465" y="233"/>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408" name="圖片 407"/>
          <p:cNvPicPr/>
          <p:nvPr/>
        </p:nvPicPr>
        <p:blipFill>
          <a:blip r:embed="rId3"/>
          <a:stretch>
            <a:fillRect/>
          </a:stretch>
        </p:blipFill>
        <p:spPr>
          <a:xfrm>
            <a:off x="902520" y="1771560"/>
            <a:ext cx="100080" cy="100080"/>
          </a:xfrm>
          <a:prstGeom prst="rect">
            <a:avLst/>
          </a:prstGeom>
          <a:noFill/>
          <a:ln w="0">
            <a:noFill/>
          </a:ln>
        </p:spPr>
      </p:pic>
      <p:pic>
        <p:nvPicPr>
          <p:cNvPr id="409" name="圖片 408"/>
          <p:cNvPicPr/>
          <p:nvPr/>
        </p:nvPicPr>
        <p:blipFill>
          <a:blip r:embed="rId4"/>
          <a:stretch>
            <a:fillRect/>
          </a:stretch>
        </p:blipFill>
        <p:spPr>
          <a:xfrm>
            <a:off x="1119960" y="1738080"/>
            <a:ext cx="166680" cy="166680"/>
          </a:xfrm>
          <a:prstGeom prst="rect">
            <a:avLst/>
          </a:prstGeom>
          <a:noFill/>
          <a:ln w="0">
            <a:noFill/>
          </a:ln>
        </p:spPr>
      </p:pic>
      <p:sp>
        <p:nvSpPr>
          <p:cNvPr id="410" name="文字框 409"/>
          <p:cNvSpPr txBox="1"/>
          <p:nvPr/>
        </p:nvSpPr>
        <p:spPr>
          <a:xfrm>
            <a:off x="9610200" y="1115640"/>
            <a:ext cx="352800" cy="148320"/>
          </a:xfrm>
          <a:prstGeom prst="rect">
            <a:avLst/>
          </a:prstGeom>
          <a:noFill/>
          <a:ln w="0">
            <a:noFill/>
          </a:ln>
        </p:spPr>
        <p:txBody>
          <a:bodyPr wrap="none" lIns="0" tIns="0" rIns="0" bIns="0" anchor="t">
            <a:spAutoFit/>
          </a:bodyPr>
          <a:p>
            <a:r>
              <a:rPr lang="zh-CN" sz="920" b="0" u="none" strike="noStrike">
                <a:solidFill>
                  <a:srgbClr val="FFFFFF"/>
                </a:solidFill>
                <a:effectLst/>
                <a:uFillTx/>
                <a:latin typeface="WenQuanYiZenHei"/>
                <a:ea typeface="WenQuanYiZenHei"/>
              </a:rPr>
              <a:t>高门槛</a:t>
            </a:r>
            <a:endParaRPr lang="en-US" sz="920" b="0" u="none" strike="noStrike">
              <a:solidFill>
                <a:srgbClr val="000000"/>
              </a:solidFill>
              <a:effectLst/>
              <a:uFillTx/>
              <a:latin typeface="Times New Roman" panose="02020603050405020304"/>
            </a:endParaRPr>
          </a:p>
        </p:txBody>
      </p:sp>
      <p:sp>
        <p:nvSpPr>
          <p:cNvPr id="411" name="文字框 410"/>
          <p:cNvSpPr txBox="1"/>
          <p:nvPr/>
        </p:nvSpPr>
        <p:spPr>
          <a:xfrm>
            <a:off x="1353960" y="1719360"/>
            <a:ext cx="33588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股票</a:t>
            </a:r>
            <a:endParaRPr lang="en-US" sz="1320" b="0" u="none" strike="noStrike">
              <a:solidFill>
                <a:srgbClr val="000000"/>
              </a:solidFill>
              <a:effectLst/>
              <a:uFillTx/>
              <a:latin typeface="Times New Roman" panose="02020603050405020304"/>
            </a:endParaRPr>
          </a:p>
        </p:txBody>
      </p:sp>
      <p:sp>
        <p:nvSpPr>
          <p:cNvPr id="412" name="文字框 411"/>
          <p:cNvSpPr txBox="1"/>
          <p:nvPr/>
        </p:nvSpPr>
        <p:spPr>
          <a:xfrm>
            <a:off x="2361960" y="1617840"/>
            <a:ext cx="671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最低投资额</a:t>
            </a:r>
            <a:endParaRPr lang="en-US" sz="1050" b="0" u="none" strike="noStrike">
              <a:solidFill>
                <a:srgbClr val="000000"/>
              </a:solidFill>
              <a:effectLst/>
              <a:uFillTx/>
              <a:latin typeface="Times New Roman" panose="02020603050405020304"/>
            </a:endParaRPr>
          </a:p>
        </p:txBody>
      </p:sp>
      <p:sp>
        <p:nvSpPr>
          <p:cNvPr id="413" name="文字框 412"/>
          <p:cNvSpPr txBox="1"/>
          <p:nvPr/>
        </p:nvSpPr>
        <p:spPr>
          <a:xfrm>
            <a:off x="2361960" y="185184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较低，可低至购买一手（</a:t>
            </a:r>
            <a:endParaRPr lang="en-US" sz="1050" b="0" u="none" strike="noStrike">
              <a:solidFill>
                <a:srgbClr val="000000"/>
              </a:solidFill>
              <a:effectLst/>
              <a:uFillTx/>
              <a:latin typeface="Times New Roman" panose="02020603050405020304"/>
            </a:endParaRPr>
          </a:p>
        </p:txBody>
      </p:sp>
      <p:sp>
        <p:nvSpPr>
          <p:cNvPr id="414" name="文字框 413"/>
          <p:cNvSpPr txBox="1"/>
          <p:nvPr/>
        </p:nvSpPr>
        <p:spPr>
          <a:xfrm>
            <a:off x="3832920" y="1856520"/>
            <a:ext cx="256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100</a:t>
            </a:r>
            <a:endParaRPr lang="en-US" sz="1050" b="0" u="none" strike="noStrike">
              <a:solidFill>
                <a:srgbClr val="000000"/>
              </a:solidFill>
              <a:effectLst/>
              <a:uFillTx/>
              <a:latin typeface="Times New Roman" panose="02020603050405020304"/>
            </a:endParaRPr>
          </a:p>
        </p:txBody>
      </p:sp>
      <p:sp>
        <p:nvSpPr>
          <p:cNvPr id="415" name="文字框 414"/>
          <p:cNvSpPr txBox="1"/>
          <p:nvPr/>
        </p:nvSpPr>
        <p:spPr>
          <a:xfrm>
            <a:off x="4088160" y="185184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股）的资金</a:t>
            </a:r>
            <a:endParaRPr lang="en-US" sz="1050" b="0" u="none" strike="noStrike">
              <a:solidFill>
                <a:srgbClr val="000000"/>
              </a:solidFill>
              <a:effectLst/>
              <a:uFillTx/>
              <a:latin typeface="Times New Roman" panose="02020603050405020304"/>
            </a:endParaRPr>
          </a:p>
        </p:txBody>
      </p:sp>
      <p:sp>
        <p:nvSpPr>
          <p:cNvPr id="416" name="文字框 415"/>
          <p:cNvSpPr txBox="1"/>
          <p:nvPr/>
        </p:nvSpPr>
        <p:spPr>
          <a:xfrm>
            <a:off x="5348160" y="161784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准入条件</a:t>
            </a:r>
            <a:endParaRPr lang="en-US" sz="1050" b="0" u="none" strike="noStrike">
              <a:solidFill>
                <a:srgbClr val="000000"/>
              </a:solidFill>
              <a:effectLst/>
              <a:uFillTx/>
              <a:latin typeface="Times New Roman" panose="02020603050405020304"/>
            </a:endParaRPr>
          </a:p>
        </p:txBody>
      </p:sp>
      <p:sp>
        <p:nvSpPr>
          <p:cNvPr id="417" name="任意多邊形 416"/>
          <p:cNvSpPr/>
          <p:nvPr/>
        </p:nvSpPr>
        <p:spPr>
          <a:xfrm>
            <a:off x="869040" y="2548440"/>
            <a:ext cx="167400" cy="167760"/>
          </a:xfrm>
          <a:custGeom>
            <a:avLst/>
            <a:gdLst/>
            <a:ahLst/>
            <a:cxnLst/>
            <a:rect l="0" t="0" r="r" b="b"/>
            <a:pathLst>
              <a:path w="465" h="466">
                <a:moveTo>
                  <a:pt x="465" y="234"/>
                </a:moveTo>
                <a:cubicBezTo>
                  <a:pt x="465" y="249"/>
                  <a:pt x="463" y="264"/>
                  <a:pt x="460" y="279"/>
                </a:cubicBezTo>
                <a:cubicBezTo>
                  <a:pt x="457" y="294"/>
                  <a:pt x="453" y="308"/>
                  <a:pt x="447" y="322"/>
                </a:cubicBezTo>
                <a:cubicBezTo>
                  <a:pt x="441" y="337"/>
                  <a:pt x="434" y="350"/>
                  <a:pt x="426" y="363"/>
                </a:cubicBezTo>
                <a:cubicBezTo>
                  <a:pt x="417" y="375"/>
                  <a:pt x="408" y="387"/>
                  <a:pt x="397" y="398"/>
                </a:cubicBezTo>
                <a:cubicBezTo>
                  <a:pt x="386" y="409"/>
                  <a:pt x="374" y="418"/>
                  <a:pt x="362" y="427"/>
                </a:cubicBezTo>
                <a:cubicBezTo>
                  <a:pt x="349" y="435"/>
                  <a:pt x="336" y="442"/>
                  <a:pt x="322" y="448"/>
                </a:cubicBezTo>
                <a:cubicBezTo>
                  <a:pt x="308" y="454"/>
                  <a:pt x="293" y="458"/>
                  <a:pt x="278" y="461"/>
                </a:cubicBezTo>
                <a:cubicBezTo>
                  <a:pt x="263" y="464"/>
                  <a:pt x="248" y="466"/>
                  <a:pt x="233" y="466"/>
                </a:cubicBezTo>
                <a:cubicBezTo>
                  <a:pt x="218" y="466"/>
                  <a:pt x="202" y="464"/>
                  <a:pt x="188" y="461"/>
                </a:cubicBezTo>
                <a:cubicBezTo>
                  <a:pt x="173" y="458"/>
                  <a:pt x="158" y="454"/>
                  <a:pt x="144" y="448"/>
                </a:cubicBezTo>
                <a:cubicBezTo>
                  <a:pt x="129" y="442"/>
                  <a:pt x="115" y="435"/>
                  <a:pt x="103" y="427"/>
                </a:cubicBezTo>
                <a:cubicBezTo>
                  <a:pt x="90" y="418"/>
                  <a:pt x="78" y="409"/>
                  <a:pt x="68" y="398"/>
                </a:cubicBezTo>
                <a:cubicBezTo>
                  <a:pt x="57" y="387"/>
                  <a:pt x="47" y="375"/>
                  <a:pt x="39" y="363"/>
                </a:cubicBezTo>
                <a:cubicBezTo>
                  <a:pt x="30" y="350"/>
                  <a:pt x="23" y="337"/>
                  <a:pt x="17" y="322"/>
                </a:cubicBezTo>
                <a:cubicBezTo>
                  <a:pt x="11" y="308"/>
                  <a:pt x="7" y="294"/>
                  <a:pt x="4" y="279"/>
                </a:cubicBezTo>
                <a:cubicBezTo>
                  <a:pt x="1" y="264"/>
                  <a:pt x="0" y="249"/>
                  <a:pt x="0" y="234"/>
                </a:cubicBezTo>
                <a:cubicBezTo>
                  <a:pt x="0" y="218"/>
                  <a:pt x="1" y="203"/>
                  <a:pt x="4" y="188"/>
                </a:cubicBezTo>
                <a:cubicBezTo>
                  <a:pt x="7" y="173"/>
                  <a:pt x="11" y="159"/>
                  <a:pt x="17" y="145"/>
                </a:cubicBezTo>
                <a:cubicBezTo>
                  <a:pt x="23" y="131"/>
                  <a:pt x="30" y="117"/>
                  <a:pt x="39" y="104"/>
                </a:cubicBezTo>
                <a:cubicBezTo>
                  <a:pt x="47" y="91"/>
                  <a:pt x="57" y="79"/>
                  <a:pt x="68" y="68"/>
                </a:cubicBezTo>
                <a:cubicBezTo>
                  <a:pt x="78" y="58"/>
                  <a:pt x="90" y="48"/>
                  <a:pt x="103" y="40"/>
                </a:cubicBezTo>
                <a:cubicBezTo>
                  <a:pt x="115" y="31"/>
                  <a:pt x="129" y="24"/>
                  <a:pt x="144" y="18"/>
                </a:cubicBezTo>
                <a:cubicBezTo>
                  <a:pt x="158" y="12"/>
                  <a:pt x="173" y="8"/>
                  <a:pt x="188" y="5"/>
                </a:cubicBezTo>
                <a:cubicBezTo>
                  <a:pt x="202" y="2"/>
                  <a:pt x="218" y="0"/>
                  <a:pt x="233" y="0"/>
                </a:cubicBezTo>
                <a:cubicBezTo>
                  <a:pt x="248" y="0"/>
                  <a:pt x="263" y="2"/>
                  <a:pt x="278" y="5"/>
                </a:cubicBezTo>
                <a:cubicBezTo>
                  <a:pt x="293" y="8"/>
                  <a:pt x="308" y="12"/>
                  <a:pt x="322" y="18"/>
                </a:cubicBezTo>
                <a:cubicBezTo>
                  <a:pt x="336" y="24"/>
                  <a:pt x="349" y="31"/>
                  <a:pt x="362" y="40"/>
                </a:cubicBezTo>
                <a:cubicBezTo>
                  <a:pt x="374" y="48"/>
                  <a:pt x="386" y="58"/>
                  <a:pt x="397" y="68"/>
                </a:cubicBezTo>
                <a:cubicBezTo>
                  <a:pt x="408" y="79"/>
                  <a:pt x="417" y="91"/>
                  <a:pt x="426" y="104"/>
                </a:cubicBezTo>
                <a:cubicBezTo>
                  <a:pt x="434" y="117"/>
                  <a:pt x="441" y="131"/>
                  <a:pt x="447" y="145"/>
                </a:cubicBezTo>
                <a:cubicBezTo>
                  <a:pt x="453" y="159"/>
                  <a:pt x="457" y="173"/>
                  <a:pt x="460" y="188"/>
                </a:cubicBezTo>
                <a:cubicBezTo>
                  <a:pt x="463" y="203"/>
                  <a:pt x="465" y="218"/>
                  <a:pt x="465" y="234"/>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418" name="圖片 417"/>
          <p:cNvPicPr/>
          <p:nvPr/>
        </p:nvPicPr>
        <p:blipFill>
          <a:blip r:embed="rId3"/>
          <a:stretch>
            <a:fillRect/>
          </a:stretch>
        </p:blipFill>
        <p:spPr>
          <a:xfrm>
            <a:off x="902520" y="2582280"/>
            <a:ext cx="100080" cy="100080"/>
          </a:xfrm>
          <a:prstGeom prst="rect">
            <a:avLst/>
          </a:prstGeom>
          <a:noFill/>
          <a:ln w="0">
            <a:noFill/>
          </a:ln>
        </p:spPr>
      </p:pic>
      <p:pic>
        <p:nvPicPr>
          <p:cNvPr id="419" name="圖片 418"/>
          <p:cNvPicPr/>
          <p:nvPr/>
        </p:nvPicPr>
        <p:blipFill>
          <a:blip r:embed="rId5"/>
          <a:stretch>
            <a:fillRect/>
          </a:stretch>
        </p:blipFill>
        <p:spPr>
          <a:xfrm>
            <a:off x="1119960" y="2548800"/>
            <a:ext cx="124920" cy="166680"/>
          </a:xfrm>
          <a:prstGeom prst="rect">
            <a:avLst/>
          </a:prstGeom>
          <a:noFill/>
          <a:ln w="0">
            <a:noFill/>
          </a:ln>
        </p:spPr>
      </p:pic>
      <p:sp>
        <p:nvSpPr>
          <p:cNvPr id="420" name="文字框 419"/>
          <p:cNvSpPr txBox="1"/>
          <p:nvPr/>
        </p:nvSpPr>
        <p:spPr>
          <a:xfrm>
            <a:off x="5348160" y="1851840"/>
            <a:ext cx="2951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开设证券账户即可，对个人投资者无特殊资产要求</a:t>
            </a:r>
            <a:endParaRPr lang="en-US" sz="1050" b="0" u="none" strike="noStrike">
              <a:solidFill>
                <a:srgbClr val="000000"/>
              </a:solidFill>
              <a:effectLst/>
              <a:uFillTx/>
              <a:latin typeface="Times New Roman" panose="02020603050405020304"/>
            </a:endParaRPr>
          </a:p>
        </p:txBody>
      </p:sp>
      <p:sp>
        <p:nvSpPr>
          <p:cNvPr id="421" name="文字框 420"/>
          <p:cNvSpPr txBox="1"/>
          <p:nvPr/>
        </p:nvSpPr>
        <p:spPr>
          <a:xfrm>
            <a:off x="1311840" y="2530080"/>
            <a:ext cx="33588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债券</a:t>
            </a:r>
            <a:endParaRPr lang="en-US" sz="1320" b="0" u="none" strike="noStrike">
              <a:solidFill>
                <a:srgbClr val="000000"/>
              </a:solidFill>
              <a:effectLst/>
              <a:uFillTx/>
              <a:latin typeface="Times New Roman" panose="02020603050405020304"/>
            </a:endParaRPr>
          </a:p>
        </p:txBody>
      </p:sp>
      <p:sp>
        <p:nvSpPr>
          <p:cNvPr id="422" name="文字框 421"/>
          <p:cNvSpPr txBox="1"/>
          <p:nvPr/>
        </p:nvSpPr>
        <p:spPr>
          <a:xfrm>
            <a:off x="2361960" y="2328120"/>
            <a:ext cx="671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最低投资额</a:t>
            </a:r>
            <a:endParaRPr lang="en-US" sz="1050" b="0" u="none" strike="noStrike">
              <a:solidFill>
                <a:srgbClr val="000000"/>
              </a:solidFill>
              <a:effectLst/>
              <a:uFillTx/>
              <a:latin typeface="Times New Roman" panose="02020603050405020304"/>
            </a:endParaRPr>
          </a:p>
        </p:txBody>
      </p:sp>
      <p:sp>
        <p:nvSpPr>
          <p:cNvPr id="423" name="文字框 422"/>
          <p:cNvSpPr txBox="1"/>
          <p:nvPr/>
        </p:nvSpPr>
        <p:spPr>
          <a:xfrm>
            <a:off x="2361960" y="2562120"/>
            <a:ext cx="2951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较低，个人投资者可通过银行或券商购买，门槛通</a:t>
            </a:r>
            <a:endParaRPr lang="en-US" sz="1050" b="0" u="none" strike="noStrike">
              <a:solidFill>
                <a:srgbClr val="000000"/>
              </a:solidFill>
              <a:effectLst/>
              <a:uFillTx/>
              <a:latin typeface="Times New Roman" panose="02020603050405020304"/>
            </a:endParaRPr>
          </a:p>
        </p:txBody>
      </p:sp>
      <p:sp>
        <p:nvSpPr>
          <p:cNvPr id="424" name="文字框 423"/>
          <p:cNvSpPr txBox="1"/>
          <p:nvPr/>
        </p:nvSpPr>
        <p:spPr>
          <a:xfrm>
            <a:off x="2361960" y="276264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常在千元级别</a:t>
            </a:r>
            <a:endParaRPr lang="en-US" sz="1050" b="0" u="none" strike="noStrike">
              <a:solidFill>
                <a:srgbClr val="000000"/>
              </a:solidFill>
              <a:effectLst/>
              <a:uFillTx/>
              <a:latin typeface="Times New Roman" panose="02020603050405020304"/>
            </a:endParaRPr>
          </a:p>
        </p:txBody>
      </p:sp>
      <p:sp>
        <p:nvSpPr>
          <p:cNvPr id="425" name="文字框 424"/>
          <p:cNvSpPr txBox="1"/>
          <p:nvPr/>
        </p:nvSpPr>
        <p:spPr>
          <a:xfrm>
            <a:off x="5348160" y="232812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准入条件</a:t>
            </a:r>
            <a:endParaRPr lang="en-US" sz="1050" b="0" u="none" strike="noStrike">
              <a:solidFill>
                <a:srgbClr val="000000"/>
              </a:solidFill>
              <a:effectLst/>
              <a:uFillTx/>
              <a:latin typeface="Times New Roman" panose="02020603050405020304"/>
            </a:endParaRPr>
          </a:p>
        </p:txBody>
      </p:sp>
      <p:sp>
        <p:nvSpPr>
          <p:cNvPr id="426" name="文字框 425"/>
          <p:cNvSpPr txBox="1"/>
          <p:nvPr/>
        </p:nvSpPr>
        <p:spPr>
          <a:xfrm>
            <a:off x="5348160" y="256212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个人投资者可通过银行柜台、网上银行或证券账户购买国债、地方政府债和</a:t>
            </a:r>
            <a:endParaRPr lang="en-US" sz="1050" b="0" u="none" strike="noStrike">
              <a:solidFill>
                <a:srgbClr val="000000"/>
              </a:solidFill>
              <a:effectLst/>
              <a:uFillTx/>
              <a:latin typeface="Times New Roman" panose="02020603050405020304"/>
            </a:endParaRPr>
          </a:p>
        </p:txBody>
      </p:sp>
      <p:sp>
        <p:nvSpPr>
          <p:cNvPr id="427" name="任意多邊形 426"/>
          <p:cNvSpPr/>
          <p:nvPr/>
        </p:nvSpPr>
        <p:spPr>
          <a:xfrm>
            <a:off x="869040" y="3459600"/>
            <a:ext cx="167400" cy="167400"/>
          </a:xfrm>
          <a:custGeom>
            <a:avLst/>
            <a:gdLst/>
            <a:ahLst/>
            <a:cxnLst/>
            <a:rect l="0" t="0" r="r" b="b"/>
            <a:pathLst>
              <a:path w="465" h="465">
                <a:moveTo>
                  <a:pt x="465" y="232"/>
                </a:moveTo>
                <a:cubicBezTo>
                  <a:pt x="465" y="247"/>
                  <a:pt x="463" y="262"/>
                  <a:pt x="460" y="277"/>
                </a:cubicBezTo>
                <a:cubicBezTo>
                  <a:pt x="457" y="292"/>
                  <a:pt x="453" y="307"/>
                  <a:pt x="447" y="321"/>
                </a:cubicBezTo>
                <a:cubicBezTo>
                  <a:pt x="441" y="335"/>
                  <a:pt x="434" y="348"/>
                  <a:pt x="426" y="361"/>
                </a:cubicBezTo>
                <a:cubicBezTo>
                  <a:pt x="417" y="374"/>
                  <a:pt x="408" y="386"/>
                  <a:pt x="397" y="397"/>
                </a:cubicBezTo>
                <a:cubicBezTo>
                  <a:pt x="386" y="408"/>
                  <a:pt x="374" y="417"/>
                  <a:pt x="362" y="426"/>
                </a:cubicBezTo>
                <a:cubicBezTo>
                  <a:pt x="349" y="434"/>
                  <a:pt x="336" y="441"/>
                  <a:pt x="322" y="447"/>
                </a:cubicBezTo>
                <a:cubicBezTo>
                  <a:pt x="308" y="453"/>
                  <a:pt x="293" y="458"/>
                  <a:pt x="278" y="461"/>
                </a:cubicBezTo>
                <a:cubicBezTo>
                  <a:pt x="263" y="463"/>
                  <a:pt x="248" y="465"/>
                  <a:pt x="233" y="465"/>
                </a:cubicBezTo>
                <a:cubicBezTo>
                  <a:pt x="218" y="465"/>
                  <a:pt x="202" y="463"/>
                  <a:pt x="188" y="461"/>
                </a:cubicBezTo>
                <a:cubicBezTo>
                  <a:pt x="173" y="458"/>
                  <a:pt x="158" y="453"/>
                  <a:pt x="144" y="447"/>
                </a:cubicBezTo>
                <a:cubicBezTo>
                  <a:pt x="129" y="441"/>
                  <a:pt x="115" y="434"/>
                  <a:pt x="103" y="426"/>
                </a:cubicBezTo>
                <a:cubicBezTo>
                  <a:pt x="90" y="417"/>
                  <a:pt x="78" y="408"/>
                  <a:pt x="68" y="397"/>
                </a:cubicBezTo>
                <a:cubicBezTo>
                  <a:pt x="57" y="386"/>
                  <a:pt x="47" y="374"/>
                  <a:pt x="39" y="361"/>
                </a:cubicBezTo>
                <a:cubicBezTo>
                  <a:pt x="30" y="348"/>
                  <a:pt x="23" y="335"/>
                  <a:pt x="17" y="321"/>
                </a:cubicBezTo>
                <a:cubicBezTo>
                  <a:pt x="11" y="307"/>
                  <a:pt x="7" y="292"/>
                  <a:pt x="4" y="277"/>
                </a:cubicBezTo>
                <a:cubicBezTo>
                  <a:pt x="1" y="262"/>
                  <a:pt x="0" y="247"/>
                  <a:pt x="0" y="232"/>
                </a:cubicBezTo>
                <a:cubicBezTo>
                  <a:pt x="0" y="217"/>
                  <a:pt x="1" y="201"/>
                  <a:pt x="4" y="187"/>
                </a:cubicBezTo>
                <a:cubicBezTo>
                  <a:pt x="7" y="172"/>
                  <a:pt x="11" y="157"/>
                  <a:pt x="17" y="143"/>
                </a:cubicBezTo>
                <a:cubicBezTo>
                  <a:pt x="23" y="129"/>
                  <a:pt x="30" y="116"/>
                  <a:pt x="39" y="103"/>
                </a:cubicBezTo>
                <a:cubicBezTo>
                  <a:pt x="47" y="90"/>
                  <a:pt x="57" y="78"/>
                  <a:pt x="68" y="68"/>
                </a:cubicBezTo>
                <a:cubicBezTo>
                  <a:pt x="78" y="57"/>
                  <a:pt x="90" y="47"/>
                  <a:pt x="103" y="39"/>
                </a:cubicBezTo>
                <a:cubicBezTo>
                  <a:pt x="115" y="30"/>
                  <a:pt x="129" y="23"/>
                  <a:pt x="144" y="17"/>
                </a:cubicBezTo>
                <a:cubicBezTo>
                  <a:pt x="158" y="12"/>
                  <a:pt x="173" y="7"/>
                  <a:pt x="188" y="4"/>
                </a:cubicBezTo>
                <a:cubicBezTo>
                  <a:pt x="202" y="1"/>
                  <a:pt x="218" y="0"/>
                  <a:pt x="233" y="0"/>
                </a:cubicBezTo>
                <a:cubicBezTo>
                  <a:pt x="248" y="0"/>
                  <a:pt x="263" y="1"/>
                  <a:pt x="278" y="4"/>
                </a:cubicBezTo>
                <a:cubicBezTo>
                  <a:pt x="293" y="7"/>
                  <a:pt x="308" y="12"/>
                  <a:pt x="322" y="17"/>
                </a:cubicBezTo>
                <a:cubicBezTo>
                  <a:pt x="336" y="23"/>
                  <a:pt x="349" y="30"/>
                  <a:pt x="362" y="39"/>
                </a:cubicBezTo>
                <a:cubicBezTo>
                  <a:pt x="374" y="47"/>
                  <a:pt x="386" y="57"/>
                  <a:pt x="397" y="68"/>
                </a:cubicBezTo>
                <a:cubicBezTo>
                  <a:pt x="408" y="78"/>
                  <a:pt x="417" y="90"/>
                  <a:pt x="426" y="103"/>
                </a:cubicBezTo>
                <a:cubicBezTo>
                  <a:pt x="434" y="116"/>
                  <a:pt x="441" y="129"/>
                  <a:pt x="447" y="143"/>
                </a:cubicBezTo>
                <a:cubicBezTo>
                  <a:pt x="453" y="157"/>
                  <a:pt x="457" y="172"/>
                  <a:pt x="460" y="187"/>
                </a:cubicBezTo>
                <a:cubicBezTo>
                  <a:pt x="463" y="201"/>
                  <a:pt x="465" y="217"/>
                  <a:pt x="465" y="232"/>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28" name="圖片 427"/>
          <p:cNvPicPr/>
          <p:nvPr/>
        </p:nvPicPr>
        <p:blipFill>
          <a:blip r:embed="rId6"/>
          <a:stretch>
            <a:fillRect/>
          </a:stretch>
        </p:blipFill>
        <p:spPr>
          <a:xfrm>
            <a:off x="919080" y="3493080"/>
            <a:ext cx="66600" cy="100080"/>
          </a:xfrm>
          <a:prstGeom prst="rect">
            <a:avLst/>
          </a:prstGeom>
          <a:noFill/>
          <a:ln w="0">
            <a:noFill/>
          </a:ln>
        </p:spPr>
      </p:pic>
      <p:pic>
        <p:nvPicPr>
          <p:cNvPr id="429" name="圖片 428"/>
          <p:cNvPicPr/>
          <p:nvPr/>
        </p:nvPicPr>
        <p:blipFill>
          <a:blip r:embed="rId7"/>
          <a:stretch>
            <a:fillRect/>
          </a:stretch>
        </p:blipFill>
        <p:spPr>
          <a:xfrm>
            <a:off x="1119960" y="3459600"/>
            <a:ext cx="191880" cy="166680"/>
          </a:xfrm>
          <a:prstGeom prst="rect">
            <a:avLst/>
          </a:prstGeom>
          <a:noFill/>
          <a:ln w="0">
            <a:noFill/>
          </a:ln>
        </p:spPr>
      </p:pic>
      <p:sp>
        <p:nvSpPr>
          <p:cNvPr id="430" name="文字框 429"/>
          <p:cNvSpPr txBox="1"/>
          <p:nvPr/>
        </p:nvSpPr>
        <p:spPr>
          <a:xfrm>
            <a:off x="5348160" y="276264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部分公司债</a:t>
            </a:r>
            <a:endParaRPr lang="en-US" sz="1050" b="0" u="none" strike="noStrike">
              <a:solidFill>
                <a:srgbClr val="000000"/>
              </a:solidFill>
              <a:effectLst/>
              <a:uFillTx/>
              <a:latin typeface="Times New Roman" panose="02020603050405020304"/>
            </a:endParaRPr>
          </a:p>
        </p:txBody>
      </p:sp>
      <p:sp>
        <p:nvSpPr>
          <p:cNvPr id="431" name="文字框 430"/>
          <p:cNvSpPr txBox="1"/>
          <p:nvPr/>
        </p:nvSpPr>
        <p:spPr>
          <a:xfrm>
            <a:off x="1378800" y="3440880"/>
            <a:ext cx="50364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房地产</a:t>
            </a:r>
            <a:endParaRPr lang="en-US" sz="1320" b="0" u="none" strike="noStrike">
              <a:solidFill>
                <a:srgbClr val="000000"/>
              </a:solidFill>
              <a:effectLst/>
              <a:uFillTx/>
              <a:latin typeface="Times New Roman" panose="02020603050405020304"/>
            </a:endParaRPr>
          </a:p>
        </p:txBody>
      </p:sp>
      <p:sp>
        <p:nvSpPr>
          <p:cNvPr id="432" name="文字框 431"/>
          <p:cNvSpPr txBox="1"/>
          <p:nvPr/>
        </p:nvSpPr>
        <p:spPr>
          <a:xfrm>
            <a:off x="2361960" y="3339360"/>
            <a:ext cx="671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最低投资额</a:t>
            </a:r>
            <a:endParaRPr lang="en-US" sz="1050" b="0" u="none" strike="noStrike">
              <a:solidFill>
                <a:srgbClr val="000000"/>
              </a:solidFill>
              <a:effectLst/>
              <a:uFillTx/>
              <a:latin typeface="Times New Roman" panose="02020603050405020304"/>
            </a:endParaRPr>
          </a:p>
        </p:txBody>
      </p:sp>
      <p:sp>
        <p:nvSpPr>
          <p:cNvPr id="433" name="文字框 432"/>
          <p:cNvSpPr txBox="1"/>
          <p:nvPr/>
        </p:nvSpPr>
        <p:spPr>
          <a:xfrm>
            <a:off x="2361960" y="3573360"/>
            <a:ext cx="2683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极高。直接投资需要支付大额首付和相关税费</a:t>
            </a:r>
            <a:endParaRPr lang="en-US" sz="1050" b="0" u="none" strike="noStrike">
              <a:solidFill>
                <a:srgbClr val="000000"/>
              </a:solidFill>
              <a:effectLst/>
              <a:uFillTx/>
              <a:latin typeface="Times New Roman" panose="02020603050405020304"/>
            </a:endParaRPr>
          </a:p>
        </p:txBody>
      </p:sp>
      <p:sp>
        <p:nvSpPr>
          <p:cNvPr id="434" name="文字框 433"/>
          <p:cNvSpPr txBox="1"/>
          <p:nvPr/>
        </p:nvSpPr>
        <p:spPr>
          <a:xfrm>
            <a:off x="5348160" y="323892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准入条件</a:t>
            </a:r>
            <a:endParaRPr lang="en-US" sz="1050" b="0" u="none" strike="noStrike">
              <a:solidFill>
                <a:srgbClr val="000000"/>
              </a:solidFill>
              <a:effectLst/>
              <a:uFillTx/>
              <a:latin typeface="Times New Roman" panose="02020603050405020304"/>
            </a:endParaRPr>
          </a:p>
        </p:txBody>
      </p:sp>
      <p:sp>
        <p:nvSpPr>
          <p:cNvPr id="435" name="文字框 434"/>
          <p:cNvSpPr txBox="1"/>
          <p:nvPr/>
        </p:nvSpPr>
        <p:spPr>
          <a:xfrm>
            <a:off x="5348160" y="347292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涉及大额资金，并受限于贷款政策和地区限购政策。外商投资房地产企业有</a:t>
            </a:r>
            <a:endParaRPr lang="en-US" sz="1050" b="0" u="none" strike="noStrike">
              <a:solidFill>
                <a:srgbClr val="000000"/>
              </a:solidFill>
              <a:effectLst/>
              <a:uFillTx/>
              <a:latin typeface="Times New Roman" panose="02020603050405020304"/>
            </a:endParaRPr>
          </a:p>
        </p:txBody>
      </p:sp>
      <p:sp>
        <p:nvSpPr>
          <p:cNvPr id="436" name="任意多邊形 435"/>
          <p:cNvSpPr/>
          <p:nvPr/>
        </p:nvSpPr>
        <p:spPr>
          <a:xfrm>
            <a:off x="869040" y="4370400"/>
            <a:ext cx="167400" cy="167400"/>
          </a:xfrm>
          <a:custGeom>
            <a:avLst/>
            <a:gdLst/>
            <a:ahLst/>
            <a:cxnLst/>
            <a:rect l="0" t="0" r="r" b="b"/>
            <a:pathLst>
              <a:path w="465" h="465">
                <a:moveTo>
                  <a:pt x="465" y="233"/>
                </a:moveTo>
                <a:cubicBezTo>
                  <a:pt x="465" y="248"/>
                  <a:pt x="463" y="263"/>
                  <a:pt x="460" y="278"/>
                </a:cubicBezTo>
                <a:cubicBezTo>
                  <a:pt x="457" y="293"/>
                  <a:pt x="453" y="308"/>
                  <a:pt x="447" y="322"/>
                </a:cubicBezTo>
                <a:cubicBezTo>
                  <a:pt x="441" y="336"/>
                  <a:pt x="434" y="349"/>
                  <a:pt x="426" y="362"/>
                </a:cubicBezTo>
                <a:cubicBezTo>
                  <a:pt x="417" y="375"/>
                  <a:pt x="408" y="386"/>
                  <a:pt x="397" y="397"/>
                </a:cubicBezTo>
                <a:cubicBezTo>
                  <a:pt x="386" y="408"/>
                  <a:pt x="374" y="418"/>
                  <a:pt x="362" y="426"/>
                </a:cubicBezTo>
                <a:cubicBezTo>
                  <a:pt x="349" y="435"/>
                  <a:pt x="336" y="442"/>
                  <a:pt x="322" y="448"/>
                </a:cubicBezTo>
                <a:cubicBezTo>
                  <a:pt x="308" y="453"/>
                  <a:pt x="293" y="458"/>
                  <a:pt x="278" y="461"/>
                </a:cubicBezTo>
                <a:cubicBezTo>
                  <a:pt x="263" y="464"/>
                  <a:pt x="248" y="465"/>
                  <a:pt x="233" y="465"/>
                </a:cubicBezTo>
                <a:cubicBezTo>
                  <a:pt x="218" y="465"/>
                  <a:pt x="202" y="464"/>
                  <a:pt x="188" y="461"/>
                </a:cubicBezTo>
                <a:cubicBezTo>
                  <a:pt x="173" y="458"/>
                  <a:pt x="158" y="453"/>
                  <a:pt x="144" y="448"/>
                </a:cubicBezTo>
                <a:cubicBezTo>
                  <a:pt x="129" y="442"/>
                  <a:pt x="115" y="435"/>
                  <a:pt x="103" y="426"/>
                </a:cubicBezTo>
                <a:cubicBezTo>
                  <a:pt x="90" y="418"/>
                  <a:pt x="78" y="408"/>
                  <a:pt x="68" y="397"/>
                </a:cubicBezTo>
                <a:cubicBezTo>
                  <a:pt x="57" y="386"/>
                  <a:pt x="47" y="375"/>
                  <a:pt x="39" y="362"/>
                </a:cubicBezTo>
                <a:cubicBezTo>
                  <a:pt x="30" y="349"/>
                  <a:pt x="23" y="336"/>
                  <a:pt x="17" y="322"/>
                </a:cubicBezTo>
                <a:cubicBezTo>
                  <a:pt x="11" y="308"/>
                  <a:pt x="7" y="293"/>
                  <a:pt x="4" y="278"/>
                </a:cubicBezTo>
                <a:cubicBezTo>
                  <a:pt x="1" y="263"/>
                  <a:pt x="0" y="248"/>
                  <a:pt x="0" y="233"/>
                </a:cubicBezTo>
                <a:cubicBezTo>
                  <a:pt x="0" y="218"/>
                  <a:pt x="1" y="203"/>
                  <a:pt x="4" y="188"/>
                </a:cubicBezTo>
                <a:cubicBezTo>
                  <a:pt x="7" y="173"/>
                  <a:pt x="11" y="158"/>
                  <a:pt x="17" y="143"/>
                </a:cubicBezTo>
                <a:cubicBezTo>
                  <a:pt x="23" y="129"/>
                  <a:pt x="30" y="116"/>
                  <a:pt x="39" y="103"/>
                </a:cubicBezTo>
                <a:cubicBezTo>
                  <a:pt x="47" y="90"/>
                  <a:pt x="57" y="79"/>
                  <a:pt x="68" y="68"/>
                </a:cubicBezTo>
                <a:cubicBezTo>
                  <a:pt x="78" y="57"/>
                  <a:pt x="90" y="48"/>
                  <a:pt x="103" y="39"/>
                </a:cubicBezTo>
                <a:cubicBezTo>
                  <a:pt x="115" y="31"/>
                  <a:pt x="129" y="23"/>
                  <a:pt x="144" y="18"/>
                </a:cubicBezTo>
                <a:cubicBezTo>
                  <a:pt x="158" y="12"/>
                  <a:pt x="173" y="7"/>
                  <a:pt x="188" y="4"/>
                </a:cubicBezTo>
                <a:cubicBezTo>
                  <a:pt x="202" y="1"/>
                  <a:pt x="218" y="0"/>
                  <a:pt x="233" y="0"/>
                </a:cubicBezTo>
                <a:cubicBezTo>
                  <a:pt x="248" y="0"/>
                  <a:pt x="263" y="1"/>
                  <a:pt x="278" y="4"/>
                </a:cubicBezTo>
                <a:cubicBezTo>
                  <a:pt x="293" y="7"/>
                  <a:pt x="308" y="12"/>
                  <a:pt x="322" y="18"/>
                </a:cubicBezTo>
                <a:cubicBezTo>
                  <a:pt x="336" y="23"/>
                  <a:pt x="349" y="31"/>
                  <a:pt x="362" y="39"/>
                </a:cubicBezTo>
                <a:cubicBezTo>
                  <a:pt x="374" y="48"/>
                  <a:pt x="386" y="57"/>
                  <a:pt x="397" y="68"/>
                </a:cubicBezTo>
                <a:cubicBezTo>
                  <a:pt x="408" y="79"/>
                  <a:pt x="417" y="90"/>
                  <a:pt x="426" y="103"/>
                </a:cubicBezTo>
                <a:cubicBezTo>
                  <a:pt x="434" y="116"/>
                  <a:pt x="441" y="129"/>
                  <a:pt x="447" y="143"/>
                </a:cubicBezTo>
                <a:cubicBezTo>
                  <a:pt x="453" y="158"/>
                  <a:pt x="457" y="173"/>
                  <a:pt x="460" y="188"/>
                </a:cubicBezTo>
                <a:cubicBezTo>
                  <a:pt x="463" y="203"/>
                  <a:pt x="465" y="218"/>
                  <a:pt x="465" y="233"/>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37" name="圖片 436"/>
          <p:cNvPicPr/>
          <p:nvPr/>
        </p:nvPicPr>
        <p:blipFill>
          <a:blip r:embed="rId6"/>
          <a:stretch>
            <a:fillRect/>
          </a:stretch>
        </p:blipFill>
        <p:spPr>
          <a:xfrm>
            <a:off x="919080" y="4403880"/>
            <a:ext cx="66600" cy="100080"/>
          </a:xfrm>
          <a:prstGeom prst="rect">
            <a:avLst/>
          </a:prstGeom>
          <a:noFill/>
          <a:ln w="0">
            <a:noFill/>
          </a:ln>
        </p:spPr>
      </p:pic>
      <p:pic>
        <p:nvPicPr>
          <p:cNvPr id="438" name="圖片 437"/>
          <p:cNvPicPr/>
          <p:nvPr/>
        </p:nvPicPr>
        <p:blipFill>
          <a:blip r:embed="rId8"/>
          <a:stretch>
            <a:fillRect/>
          </a:stretch>
        </p:blipFill>
        <p:spPr>
          <a:xfrm>
            <a:off x="1119960" y="4370400"/>
            <a:ext cx="191880" cy="166680"/>
          </a:xfrm>
          <a:prstGeom prst="rect">
            <a:avLst/>
          </a:prstGeom>
          <a:noFill/>
          <a:ln w="0">
            <a:noFill/>
          </a:ln>
        </p:spPr>
      </p:pic>
      <p:sp>
        <p:nvSpPr>
          <p:cNvPr id="439" name="文字框 438"/>
          <p:cNvSpPr txBox="1"/>
          <p:nvPr/>
        </p:nvSpPr>
        <p:spPr>
          <a:xfrm>
            <a:off x="5348160" y="367344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严格的注册资本金要求</a:t>
            </a:r>
            <a:endParaRPr lang="en-US" sz="1050" b="0" u="none" strike="noStrike">
              <a:solidFill>
                <a:srgbClr val="000000"/>
              </a:solidFill>
              <a:effectLst/>
              <a:uFillTx/>
              <a:latin typeface="Times New Roman" panose="02020603050405020304"/>
            </a:endParaRPr>
          </a:p>
        </p:txBody>
      </p:sp>
      <p:sp>
        <p:nvSpPr>
          <p:cNvPr id="440" name="文字框 439"/>
          <p:cNvSpPr txBox="1"/>
          <p:nvPr/>
        </p:nvSpPr>
        <p:spPr>
          <a:xfrm>
            <a:off x="1378800" y="4351680"/>
            <a:ext cx="67140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基础设施</a:t>
            </a:r>
            <a:endParaRPr lang="en-US" sz="1320" b="0" u="none" strike="noStrike">
              <a:solidFill>
                <a:srgbClr val="000000"/>
              </a:solidFill>
              <a:effectLst/>
              <a:uFillTx/>
              <a:latin typeface="Times New Roman" panose="02020603050405020304"/>
            </a:endParaRPr>
          </a:p>
        </p:txBody>
      </p:sp>
      <p:sp>
        <p:nvSpPr>
          <p:cNvPr id="441" name="文字框 440"/>
          <p:cNvSpPr txBox="1"/>
          <p:nvPr/>
        </p:nvSpPr>
        <p:spPr>
          <a:xfrm>
            <a:off x="2361960" y="4149720"/>
            <a:ext cx="671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最低投资额</a:t>
            </a:r>
            <a:endParaRPr lang="en-US" sz="1050" b="0" u="none" strike="noStrike">
              <a:solidFill>
                <a:srgbClr val="000000"/>
              </a:solidFill>
              <a:effectLst/>
              <a:uFillTx/>
              <a:latin typeface="Times New Roman" panose="02020603050405020304"/>
            </a:endParaRPr>
          </a:p>
        </p:txBody>
      </p:sp>
      <p:sp>
        <p:nvSpPr>
          <p:cNvPr id="442" name="文字框 441"/>
          <p:cNvSpPr txBox="1"/>
          <p:nvPr/>
        </p:nvSpPr>
        <p:spPr>
          <a:xfrm>
            <a:off x="2361960" y="4383720"/>
            <a:ext cx="2817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极高。传统上，基础设施投资通过封闭式基金进</a:t>
            </a:r>
            <a:endParaRPr lang="en-US" sz="1050" b="0" u="none" strike="noStrike">
              <a:solidFill>
                <a:srgbClr val="000000"/>
              </a:solidFill>
              <a:effectLst/>
              <a:uFillTx/>
              <a:latin typeface="Times New Roman" panose="02020603050405020304"/>
            </a:endParaRPr>
          </a:p>
        </p:txBody>
      </p:sp>
      <p:sp>
        <p:nvSpPr>
          <p:cNvPr id="443" name="文字框 442"/>
          <p:cNvSpPr txBox="1"/>
          <p:nvPr/>
        </p:nvSpPr>
        <p:spPr>
          <a:xfrm>
            <a:off x="2361960" y="458424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行，最低投资额高，只有大型机构才能参与</a:t>
            </a:r>
            <a:endParaRPr lang="en-US" sz="1050" b="0" u="none" strike="noStrike">
              <a:solidFill>
                <a:srgbClr val="000000"/>
              </a:solidFill>
              <a:effectLst/>
              <a:uFillTx/>
              <a:latin typeface="Times New Roman" panose="02020603050405020304"/>
            </a:endParaRPr>
          </a:p>
        </p:txBody>
      </p:sp>
      <p:sp>
        <p:nvSpPr>
          <p:cNvPr id="444" name="文字框 443"/>
          <p:cNvSpPr txBox="1"/>
          <p:nvPr/>
        </p:nvSpPr>
        <p:spPr>
          <a:xfrm>
            <a:off x="5348160" y="414972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准入条件</a:t>
            </a:r>
            <a:endParaRPr lang="en-US" sz="1050" b="0" u="none" strike="noStrike">
              <a:solidFill>
                <a:srgbClr val="000000"/>
              </a:solidFill>
              <a:effectLst/>
              <a:uFillTx/>
              <a:latin typeface="Times New Roman" panose="02020603050405020304"/>
            </a:endParaRPr>
          </a:p>
        </p:txBody>
      </p:sp>
      <p:sp>
        <p:nvSpPr>
          <p:cNvPr id="445" name="文字框 444"/>
          <p:cNvSpPr txBox="1"/>
          <p:nvPr/>
        </p:nvSpPr>
        <p:spPr>
          <a:xfrm>
            <a:off x="5348160" y="438372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主要面向机构投资者。近年来，公募</a:t>
            </a:r>
            <a:endParaRPr lang="en-US" sz="1050" b="0" u="none" strike="noStrike">
              <a:solidFill>
                <a:srgbClr val="000000"/>
              </a:solidFill>
              <a:effectLst/>
              <a:uFillTx/>
              <a:latin typeface="Times New Roman" panose="02020603050405020304"/>
            </a:endParaRPr>
          </a:p>
        </p:txBody>
      </p:sp>
      <p:sp>
        <p:nvSpPr>
          <p:cNvPr id="446" name="文字框 445"/>
          <p:cNvSpPr txBox="1"/>
          <p:nvPr/>
        </p:nvSpPr>
        <p:spPr>
          <a:xfrm>
            <a:off x="7487640" y="4388400"/>
            <a:ext cx="3700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REITs</a:t>
            </a:r>
            <a:endParaRPr lang="en-US" sz="1050" b="0" u="none" strike="noStrike">
              <a:solidFill>
                <a:srgbClr val="000000"/>
              </a:solidFill>
              <a:effectLst/>
              <a:uFillTx/>
              <a:latin typeface="Times New Roman" panose="02020603050405020304"/>
            </a:endParaRPr>
          </a:p>
        </p:txBody>
      </p:sp>
      <p:sp>
        <p:nvSpPr>
          <p:cNvPr id="447" name="文字框 446"/>
          <p:cNvSpPr txBox="1"/>
          <p:nvPr/>
        </p:nvSpPr>
        <p:spPr>
          <a:xfrm>
            <a:off x="7833600" y="438372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等产品的出现降低了个人投资者</a:t>
            </a:r>
            <a:endParaRPr lang="en-US" sz="1050" b="0" u="none" strike="noStrike">
              <a:solidFill>
                <a:srgbClr val="000000"/>
              </a:solidFill>
              <a:effectLst/>
              <a:uFillTx/>
              <a:latin typeface="Times New Roman" panose="02020603050405020304"/>
            </a:endParaRPr>
          </a:p>
        </p:txBody>
      </p:sp>
      <p:sp>
        <p:nvSpPr>
          <p:cNvPr id="448" name="任意多邊形 447"/>
          <p:cNvSpPr/>
          <p:nvPr/>
        </p:nvSpPr>
        <p:spPr>
          <a:xfrm>
            <a:off x="869040" y="5281200"/>
            <a:ext cx="167400" cy="167400"/>
          </a:xfrm>
          <a:custGeom>
            <a:avLst/>
            <a:gdLst/>
            <a:ahLst/>
            <a:cxnLst/>
            <a:rect l="0" t="0" r="r" b="b"/>
            <a:pathLst>
              <a:path w="465" h="465">
                <a:moveTo>
                  <a:pt x="465" y="232"/>
                </a:moveTo>
                <a:cubicBezTo>
                  <a:pt x="465" y="248"/>
                  <a:pt x="463" y="263"/>
                  <a:pt x="460" y="278"/>
                </a:cubicBezTo>
                <a:cubicBezTo>
                  <a:pt x="457" y="293"/>
                  <a:pt x="453" y="307"/>
                  <a:pt x="447" y="321"/>
                </a:cubicBezTo>
                <a:cubicBezTo>
                  <a:pt x="441" y="335"/>
                  <a:pt x="434" y="349"/>
                  <a:pt x="426" y="361"/>
                </a:cubicBezTo>
                <a:cubicBezTo>
                  <a:pt x="417" y="374"/>
                  <a:pt x="408" y="386"/>
                  <a:pt x="397" y="396"/>
                </a:cubicBezTo>
                <a:cubicBezTo>
                  <a:pt x="386" y="407"/>
                  <a:pt x="374" y="418"/>
                  <a:pt x="362" y="426"/>
                </a:cubicBezTo>
                <a:cubicBezTo>
                  <a:pt x="349" y="435"/>
                  <a:pt x="336" y="442"/>
                  <a:pt x="322" y="448"/>
                </a:cubicBezTo>
                <a:cubicBezTo>
                  <a:pt x="308" y="454"/>
                  <a:pt x="293" y="458"/>
                  <a:pt x="278" y="461"/>
                </a:cubicBezTo>
                <a:cubicBezTo>
                  <a:pt x="263" y="464"/>
                  <a:pt x="248" y="465"/>
                  <a:pt x="233" y="465"/>
                </a:cubicBezTo>
                <a:cubicBezTo>
                  <a:pt x="218" y="465"/>
                  <a:pt x="202" y="464"/>
                  <a:pt x="188" y="461"/>
                </a:cubicBezTo>
                <a:cubicBezTo>
                  <a:pt x="173" y="458"/>
                  <a:pt x="158" y="454"/>
                  <a:pt x="144" y="448"/>
                </a:cubicBezTo>
                <a:cubicBezTo>
                  <a:pt x="129" y="442"/>
                  <a:pt x="115" y="435"/>
                  <a:pt x="103" y="426"/>
                </a:cubicBezTo>
                <a:cubicBezTo>
                  <a:pt x="90" y="418"/>
                  <a:pt x="78" y="407"/>
                  <a:pt x="68" y="396"/>
                </a:cubicBezTo>
                <a:cubicBezTo>
                  <a:pt x="57" y="386"/>
                  <a:pt x="47" y="374"/>
                  <a:pt x="39" y="361"/>
                </a:cubicBezTo>
                <a:cubicBezTo>
                  <a:pt x="30" y="349"/>
                  <a:pt x="23" y="335"/>
                  <a:pt x="17" y="321"/>
                </a:cubicBezTo>
                <a:cubicBezTo>
                  <a:pt x="11" y="307"/>
                  <a:pt x="7" y="293"/>
                  <a:pt x="4" y="278"/>
                </a:cubicBezTo>
                <a:cubicBezTo>
                  <a:pt x="1" y="263"/>
                  <a:pt x="0" y="248"/>
                  <a:pt x="0" y="232"/>
                </a:cubicBezTo>
                <a:cubicBezTo>
                  <a:pt x="0" y="217"/>
                  <a:pt x="1" y="202"/>
                  <a:pt x="4" y="187"/>
                </a:cubicBezTo>
                <a:cubicBezTo>
                  <a:pt x="7" y="172"/>
                  <a:pt x="11" y="158"/>
                  <a:pt x="17" y="143"/>
                </a:cubicBezTo>
                <a:cubicBezTo>
                  <a:pt x="23" y="129"/>
                  <a:pt x="30" y="116"/>
                  <a:pt x="39" y="103"/>
                </a:cubicBezTo>
                <a:cubicBezTo>
                  <a:pt x="47" y="91"/>
                  <a:pt x="57" y="79"/>
                  <a:pt x="68" y="68"/>
                </a:cubicBezTo>
                <a:cubicBezTo>
                  <a:pt x="78" y="57"/>
                  <a:pt x="90" y="48"/>
                  <a:pt x="103" y="39"/>
                </a:cubicBezTo>
                <a:cubicBezTo>
                  <a:pt x="115" y="31"/>
                  <a:pt x="129" y="24"/>
                  <a:pt x="144" y="18"/>
                </a:cubicBezTo>
                <a:cubicBezTo>
                  <a:pt x="158" y="12"/>
                  <a:pt x="173" y="8"/>
                  <a:pt x="188" y="5"/>
                </a:cubicBezTo>
                <a:cubicBezTo>
                  <a:pt x="202" y="2"/>
                  <a:pt x="218" y="0"/>
                  <a:pt x="233" y="0"/>
                </a:cubicBezTo>
                <a:cubicBezTo>
                  <a:pt x="248" y="0"/>
                  <a:pt x="263" y="2"/>
                  <a:pt x="278" y="5"/>
                </a:cubicBezTo>
                <a:cubicBezTo>
                  <a:pt x="293" y="8"/>
                  <a:pt x="308" y="12"/>
                  <a:pt x="322" y="18"/>
                </a:cubicBezTo>
                <a:cubicBezTo>
                  <a:pt x="336" y="24"/>
                  <a:pt x="349" y="31"/>
                  <a:pt x="362" y="39"/>
                </a:cubicBezTo>
                <a:cubicBezTo>
                  <a:pt x="374" y="48"/>
                  <a:pt x="386" y="57"/>
                  <a:pt x="397" y="68"/>
                </a:cubicBezTo>
                <a:cubicBezTo>
                  <a:pt x="408" y="79"/>
                  <a:pt x="417" y="91"/>
                  <a:pt x="426" y="103"/>
                </a:cubicBezTo>
                <a:cubicBezTo>
                  <a:pt x="434" y="116"/>
                  <a:pt x="441" y="129"/>
                  <a:pt x="447" y="143"/>
                </a:cubicBezTo>
                <a:cubicBezTo>
                  <a:pt x="453" y="158"/>
                  <a:pt x="457" y="172"/>
                  <a:pt x="460" y="187"/>
                </a:cubicBezTo>
                <a:cubicBezTo>
                  <a:pt x="463" y="202"/>
                  <a:pt x="465" y="217"/>
                  <a:pt x="465" y="232"/>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449" name="圖片 448"/>
          <p:cNvPicPr/>
          <p:nvPr/>
        </p:nvPicPr>
        <p:blipFill>
          <a:blip r:embed="rId9"/>
          <a:stretch>
            <a:fillRect/>
          </a:stretch>
        </p:blipFill>
        <p:spPr>
          <a:xfrm>
            <a:off x="910800" y="5315040"/>
            <a:ext cx="91440" cy="100080"/>
          </a:xfrm>
          <a:prstGeom prst="rect">
            <a:avLst/>
          </a:prstGeom>
          <a:noFill/>
          <a:ln w="0">
            <a:noFill/>
          </a:ln>
        </p:spPr>
      </p:pic>
      <p:pic>
        <p:nvPicPr>
          <p:cNvPr id="450" name="圖片 449"/>
          <p:cNvPicPr/>
          <p:nvPr/>
        </p:nvPicPr>
        <p:blipFill>
          <a:blip r:embed="rId10"/>
          <a:stretch>
            <a:fillRect/>
          </a:stretch>
        </p:blipFill>
        <p:spPr>
          <a:xfrm>
            <a:off x="1119960" y="5281560"/>
            <a:ext cx="166680" cy="166680"/>
          </a:xfrm>
          <a:prstGeom prst="rect">
            <a:avLst/>
          </a:prstGeom>
          <a:noFill/>
          <a:ln w="0">
            <a:noFill/>
          </a:ln>
        </p:spPr>
      </p:pic>
      <p:sp>
        <p:nvSpPr>
          <p:cNvPr id="451" name="文字框 450"/>
          <p:cNvSpPr txBox="1"/>
          <p:nvPr/>
        </p:nvSpPr>
        <p:spPr>
          <a:xfrm>
            <a:off x="5348160" y="4584240"/>
            <a:ext cx="2280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的参与门槛，但仍需通过证券账户购买</a:t>
            </a:r>
            <a:endParaRPr lang="en-US" sz="1050" b="0" u="none" strike="noStrike">
              <a:solidFill>
                <a:srgbClr val="000000"/>
              </a:solidFill>
              <a:effectLst/>
              <a:uFillTx/>
              <a:latin typeface="Times New Roman" panose="02020603050405020304"/>
            </a:endParaRPr>
          </a:p>
        </p:txBody>
      </p:sp>
      <p:sp>
        <p:nvSpPr>
          <p:cNvPr id="452" name="文字框 451"/>
          <p:cNvSpPr txBox="1"/>
          <p:nvPr/>
        </p:nvSpPr>
        <p:spPr>
          <a:xfrm>
            <a:off x="1353960" y="5262480"/>
            <a:ext cx="67140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大宗商品</a:t>
            </a:r>
            <a:endParaRPr lang="en-US" sz="1320" b="0" u="none" strike="noStrike">
              <a:solidFill>
                <a:srgbClr val="000000"/>
              </a:solidFill>
              <a:effectLst/>
              <a:uFillTx/>
              <a:latin typeface="Times New Roman" panose="02020603050405020304"/>
            </a:endParaRPr>
          </a:p>
        </p:txBody>
      </p:sp>
      <p:sp>
        <p:nvSpPr>
          <p:cNvPr id="453" name="文字框 452"/>
          <p:cNvSpPr txBox="1"/>
          <p:nvPr/>
        </p:nvSpPr>
        <p:spPr>
          <a:xfrm>
            <a:off x="2361960" y="5060880"/>
            <a:ext cx="671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最低投资额</a:t>
            </a:r>
            <a:endParaRPr lang="en-US" sz="1050" b="0" u="none" strike="noStrike">
              <a:solidFill>
                <a:srgbClr val="000000"/>
              </a:solidFill>
              <a:effectLst/>
              <a:uFillTx/>
              <a:latin typeface="Times New Roman" panose="02020603050405020304"/>
            </a:endParaRPr>
          </a:p>
        </p:txBody>
      </p:sp>
      <p:sp>
        <p:nvSpPr>
          <p:cNvPr id="454" name="文字框 453"/>
          <p:cNvSpPr txBox="1"/>
          <p:nvPr/>
        </p:nvSpPr>
        <p:spPr>
          <a:xfrm>
            <a:off x="2361960" y="529488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相对较低。投资者可通过商品期货、相关</a:t>
            </a:r>
            <a:endParaRPr lang="en-US" sz="1050" b="0" u="none" strike="noStrike">
              <a:solidFill>
                <a:srgbClr val="000000"/>
              </a:solidFill>
              <a:effectLst/>
              <a:uFillTx/>
              <a:latin typeface="Times New Roman" panose="02020603050405020304"/>
            </a:endParaRPr>
          </a:p>
        </p:txBody>
      </p:sp>
      <p:sp>
        <p:nvSpPr>
          <p:cNvPr id="455" name="文字框 454"/>
          <p:cNvSpPr txBox="1"/>
          <p:nvPr/>
        </p:nvSpPr>
        <p:spPr>
          <a:xfrm>
            <a:off x="4768920" y="5299560"/>
            <a:ext cx="24444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ETF</a:t>
            </a:r>
            <a:endParaRPr lang="en-US" sz="1050" b="0" u="none" strike="noStrike">
              <a:solidFill>
                <a:srgbClr val="000000"/>
              </a:solidFill>
              <a:effectLst/>
              <a:uFillTx/>
              <a:latin typeface="Times New Roman" panose="02020603050405020304"/>
            </a:endParaRPr>
          </a:p>
        </p:txBody>
      </p:sp>
      <p:sp>
        <p:nvSpPr>
          <p:cNvPr id="456" name="文字框 455"/>
          <p:cNvSpPr txBox="1"/>
          <p:nvPr/>
        </p:nvSpPr>
        <p:spPr>
          <a:xfrm>
            <a:off x="5011920" y="529488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或基</a:t>
            </a:r>
            <a:endParaRPr lang="en-US" sz="1050" b="0" u="none" strike="noStrike">
              <a:solidFill>
                <a:srgbClr val="000000"/>
              </a:solidFill>
              <a:effectLst/>
              <a:uFillTx/>
              <a:latin typeface="Times New Roman" panose="02020603050405020304"/>
            </a:endParaRPr>
          </a:p>
        </p:txBody>
      </p:sp>
      <p:sp>
        <p:nvSpPr>
          <p:cNvPr id="457" name="文字框 456"/>
          <p:cNvSpPr txBox="1"/>
          <p:nvPr/>
        </p:nvSpPr>
        <p:spPr>
          <a:xfrm>
            <a:off x="2361960" y="549540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金进行投资</a:t>
            </a:r>
            <a:endParaRPr lang="en-US" sz="1050" b="0" u="none" strike="noStrike">
              <a:solidFill>
                <a:srgbClr val="000000"/>
              </a:solidFill>
              <a:effectLst/>
              <a:uFillTx/>
              <a:latin typeface="Times New Roman" panose="02020603050405020304"/>
            </a:endParaRPr>
          </a:p>
        </p:txBody>
      </p:sp>
      <p:sp>
        <p:nvSpPr>
          <p:cNvPr id="458" name="文字框 457"/>
          <p:cNvSpPr txBox="1"/>
          <p:nvPr/>
        </p:nvSpPr>
        <p:spPr>
          <a:xfrm>
            <a:off x="5348160" y="516096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准入条件</a:t>
            </a:r>
            <a:endParaRPr lang="en-US" sz="1050" b="0" u="none" strike="noStrike">
              <a:solidFill>
                <a:srgbClr val="000000"/>
              </a:solidFill>
              <a:effectLst/>
              <a:uFillTx/>
              <a:latin typeface="Times New Roman" panose="02020603050405020304"/>
            </a:endParaRPr>
          </a:p>
        </p:txBody>
      </p:sp>
      <p:sp>
        <p:nvSpPr>
          <p:cNvPr id="459" name="任意多邊形 458"/>
          <p:cNvSpPr/>
          <p:nvPr/>
        </p:nvSpPr>
        <p:spPr>
          <a:xfrm>
            <a:off x="869040" y="6192000"/>
            <a:ext cx="167400" cy="167760"/>
          </a:xfrm>
          <a:custGeom>
            <a:avLst/>
            <a:gdLst/>
            <a:ahLst/>
            <a:cxnLst/>
            <a:rect l="0" t="0" r="r" b="b"/>
            <a:pathLst>
              <a:path w="465" h="466">
                <a:moveTo>
                  <a:pt x="465" y="234"/>
                </a:moveTo>
                <a:cubicBezTo>
                  <a:pt x="465" y="249"/>
                  <a:pt x="463" y="264"/>
                  <a:pt x="460" y="279"/>
                </a:cubicBezTo>
                <a:cubicBezTo>
                  <a:pt x="457" y="294"/>
                  <a:pt x="453" y="308"/>
                  <a:pt x="447" y="322"/>
                </a:cubicBezTo>
                <a:cubicBezTo>
                  <a:pt x="441" y="336"/>
                  <a:pt x="434" y="350"/>
                  <a:pt x="426" y="362"/>
                </a:cubicBezTo>
                <a:cubicBezTo>
                  <a:pt x="417" y="375"/>
                  <a:pt x="408" y="387"/>
                  <a:pt x="397" y="398"/>
                </a:cubicBezTo>
                <a:cubicBezTo>
                  <a:pt x="386" y="408"/>
                  <a:pt x="374" y="418"/>
                  <a:pt x="362" y="427"/>
                </a:cubicBezTo>
                <a:cubicBezTo>
                  <a:pt x="349" y="435"/>
                  <a:pt x="336" y="442"/>
                  <a:pt x="322" y="448"/>
                </a:cubicBezTo>
                <a:cubicBezTo>
                  <a:pt x="308" y="454"/>
                  <a:pt x="293" y="458"/>
                  <a:pt x="278" y="461"/>
                </a:cubicBezTo>
                <a:cubicBezTo>
                  <a:pt x="263" y="464"/>
                  <a:pt x="248" y="466"/>
                  <a:pt x="233" y="466"/>
                </a:cubicBezTo>
                <a:cubicBezTo>
                  <a:pt x="218" y="466"/>
                  <a:pt x="202" y="464"/>
                  <a:pt x="188" y="461"/>
                </a:cubicBezTo>
                <a:cubicBezTo>
                  <a:pt x="173" y="458"/>
                  <a:pt x="158" y="454"/>
                  <a:pt x="144" y="448"/>
                </a:cubicBezTo>
                <a:cubicBezTo>
                  <a:pt x="129" y="442"/>
                  <a:pt x="115" y="435"/>
                  <a:pt x="103" y="427"/>
                </a:cubicBezTo>
                <a:cubicBezTo>
                  <a:pt x="90" y="418"/>
                  <a:pt x="78" y="408"/>
                  <a:pt x="68" y="398"/>
                </a:cubicBezTo>
                <a:cubicBezTo>
                  <a:pt x="57" y="387"/>
                  <a:pt x="47" y="375"/>
                  <a:pt x="39" y="362"/>
                </a:cubicBezTo>
                <a:cubicBezTo>
                  <a:pt x="30" y="350"/>
                  <a:pt x="23" y="336"/>
                  <a:pt x="17" y="322"/>
                </a:cubicBezTo>
                <a:cubicBezTo>
                  <a:pt x="11" y="308"/>
                  <a:pt x="7" y="294"/>
                  <a:pt x="4" y="279"/>
                </a:cubicBezTo>
                <a:cubicBezTo>
                  <a:pt x="1" y="264"/>
                  <a:pt x="0" y="249"/>
                  <a:pt x="0" y="234"/>
                </a:cubicBezTo>
                <a:cubicBezTo>
                  <a:pt x="0" y="218"/>
                  <a:pt x="1" y="203"/>
                  <a:pt x="4" y="187"/>
                </a:cubicBezTo>
                <a:cubicBezTo>
                  <a:pt x="7" y="172"/>
                  <a:pt x="11" y="158"/>
                  <a:pt x="17" y="144"/>
                </a:cubicBezTo>
                <a:cubicBezTo>
                  <a:pt x="23" y="130"/>
                  <a:pt x="30" y="116"/>
                  <a:pt x="39" y="104"/>
                </a:cubicBezTo>
                <a:cubicBezTo>
                  <a:pt x="47" y="91"/>
                  <a:pt x="57" y="79"/>
                  <a:pt x="68" y="68"/>
                </a:cubicBezTo>
                <a:cubicBezTo>
                  <a:pt x="78" y="58"/>
                  <a:pt x="90" y="48"/>
                  <a:pt x="103" y="39"/>
                </a:cubicBezTo>
                <a:cubicBezTo>
                  <a:pt x="115" y="31"/>
                  <a:pt x="129" y="24"/>
                  <a:pt x="144" y="18"/>
                </a:cubicBezTo>
                <a:cubicBezTo>
                  <a:pt x="158" y="12"/>
                  <a:pt x="173" y="8"/>
                  <a:pt x="188" y="5"/>
                </a:cubicBezTo>
                <a:cubicBezTo>
                  <a:pt x="202" y="2"/>
                  <a:pt x="218" y="0"/>
                  <a:pt x="233" y="0"/>
                </a:cubicBezTo>
                <a:cubicBezTo>
                  <a:pt x="248" y="0"/>
                  <a:pt x="263" y="2"/>
                  <a:pt x="278" y="5"/>
                </a:cubicBezTo>
                <a:cubicBezTo>
                  <a:pt x="293" y="8"/>
                  <a:pt x="308" y="12"/>
                  <a:pt x="322" y="18"/>
                </a:cubicBezTo>
                <a:cubicBezTo>
                  <a:pt x="336" y="24"/>
                  <a:pt x="349" y="31"/>
                  <a:pt x="362" y="39"/>
                </a:cubicBezTo>
                <a:cubicBezTo>
                  <a:pt x="374" y="48"/>
                  <a:pt x="386" y="58"/>
                  <a:pt x="397" y="68"/>
                </a:cubicBezTo>
                <a:cubicBezTo>
                  <a:pt x="408" y="79"/>
                  <a:pt x="417" y="91"/>
                  <a:pt x="426" y="104"/>
                </a:cubicBezTo>
                <a:cubicBezTo>
                  <a:pt x="434" y="116"/>
                  <a:pt x="441" y="130"/>
                  <a:pt x="447" y="144"/>
                </a:cubicBezTo>
                <a:cubicBezTo>
                  <a:pt x="453" y="158"/>
                  <a:pt x="457" y="172"/>
                  <a:pt x="460" y="187"/>
                </a:cubicBezTo>
                <a:cubicBezTo>
                  <a:pt x="463" y="203"/>
                  <a:pt x="465" y="218"/>
                  <a:pt x="465" y="234"/>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60" name="圖片 459"/>
          <p:cNvPicPr/>
          <p:nvPr/>
        </p:nvPicPr>
        <p:blipFill>
          <a:blip r:embed="rId6"/>
          <a:stretch>
            <a:fillRect/>
          </a:stretch>
        </p:blipFill>
        <p:spPr>
          <a:xfrm>
            <a:off x="919080" y="6225840"/>
            <a:ext cx="66600" cy="100080"/>
          </a:xfrm>
          <a:prstGeom prst="rect">
            <a:avLst/>
          </a:prstGeom>
          <a:noFill/>
          <a:ln w="0">
            <a:noFill/>
          </a:ln>
        </p:spPr>
      </p:pic>
      <p:pic>
        <p:nvPicPr>
          <p:cNvPr id="461" name="圖片 460"/>
          <p:cNvPicPr/>
          <p:nvPr/>
        </p:nvPicPr>
        <p:blipFill>
          <a:blip r:embed="rId11"/>
          <a:stretch>
            <a:fillRect/>
          </a:stretch>
        </p:blipFill>
        <p:spPr>
          <a:xfrm>
            <a:off x="1119960" y="6192360"/>
            <a:ext cx="166680" cy="166680"/>
          </a:xfrm>
          <a:prstGeom prst="rect">
            <a:avLst/>
          </a:prstGeom>
          <a:noFill/>
          <a:ln w="0">
            <a:noFill/>
          </a:ln>
        </p:spPr>
      </p:pic>
      <p:sp>
        <p:nvSpPr>
          <p:cNvPr id="462" name="文字框 461"/>
          <p:cNvSpPr txBox="1"/>
          <p:nvPr/>
        </p:nvSpPr>
        <p:spPr>
          <a:xfrm>
            <a:off x="5348160" y="5394960"/>
            <a:ext cx="4024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投资期货需要开设专门的期货账户，并满足一定的风险承受能力要求</a:t>
            </a:r>
            <a:endParaRPr lang="en-US" sz="1050" b="0" u="none" strike="noStrike">
              <a:solidFill>
                <a:srgbClr val="000000"/>
              </a:solidFill>
              <a:effectLst/>
              <a:uFillTx/>
              <a:latin typeface="Times New Roman" panose="02020603050405020304"/>
            </a:endParaRPr>
          </a:p>
        </p:txBody>
      </p:sp>
      <p:sp>
        <p:nvSpPr>
          <p:cNvPr id="463" name="文字框 462"/>
          <p:cNvSpPr txBox="1"/>
          <p:nvPr/>
        </p:nvSpPr>
        <p:spPr>
          <a:xfrm>
            <a:off x="1353960" y="6173280"/>
            <a:ext cx="67140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另类投资</a:t>
            </a:r>
            <a:endParaRPr lang="en-US" sz="1320" b="0" u="none" strike="noStrike">
              <a:solidFill>
                <a:srgbClr val="000000"/>
              </a:solidFill>
              <a:effectLst/>
              <a:uFillTx/>
              <a:latin typeface="Times New Roman" panose="02020603050405020304"/>
            </a:endParaRPr>
          </a:p>
        </p:txBody>
      </p:sp>
      <p:sp>
        <p:nvSpPr>
          <p:cNvPr id="464" name="文字框 463"/>
          <p:cNvSpPr txBox="1"/>
          <p:nvPr/>
        </p:nvSpPr>
        <p:spPr>
          <a:xfrm>
            <a:off x="2361960" y="5971680"/>
            <a:ext cx="671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最低投资额</a:t>
            </a:r>
            <a:endParaRPr lang="en-US" sz="1050" b="0" u="none" strike="noStrike">
              <a:solidFill>
                <a:srgbClr val="000000"/>
              </a:solidFill>
              <a:effectLst/>
              <a:uFillTx/>
              <a:latin typeface="Times New Roman" panose="02020603050405020304"/>
            </a:endParaRPr>
          </a:p>
        </p:txBody>
      </p:sp>
      <p:sp>
        <p:nvSpPr>
          <p:cNvPr id="465" name="文字框 464"/>
          <p:cNvSpPr txBox="1"/>
          <p:nvPr/>
        </p:nvSpPr>
        <p:spPr>
          <a:xfrm>
            <a:off x="2361960" y="6205680"/>
            <a:ext cx="2951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极高。优质的私募股权、对冲基金的初始投资额通</a:t>
            </a:r>
            <a:endParaRPr lang="en-US" sz="1050" b="0" u="none" strike="noStrike">
              <a:solidFill>
                <a:srgbClr val="000000"/>
              </a:solidFill>
              <a:effectLst/>
              <a:uFillTx/>
              <a:latin typeface="Times New Roman" panose="02020603050405020304"/>
            </a:endParaRPr>
          </a:p>
        </p:txBody>
      </p:sp>
      <p:sp>
        <p:nvSpPr>
          <p:cNvPr id="466" name="文字框 465"/>
          <p:cNvSpPr txBox="1"/>
          <p:nvPr/>
        </p:nvSpPr>
        <p:spPr>
          <a:xfrm>
            <a:off x="2361960" y="640620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常高达数百万甚至上千万美元</a:t>
            </a:r>
            <a:endParaRPr lang="en-US" sz="1050" b="0" u="none" strike="noStrike">
              <a:solidFill>
                <a:srgbClr val="000000"/>
              </a:solidFill>
              <a:effectLst/>
              <a:uFillTx/>
              <a:latin typeface="Times New Roman" panose="02020603050405020304"/>
            </a:endParaRPr>
          </a:p>
        </p:txBody>
      </p:sp>
      <p:sp>
        <p:nvSpPr>
          <p:cNvPr id="467" name="文字框 466"/>
          <p:cNvSpPr txBox="1"/>
          <p:nvPr/>
        </p:nvSpPr>
        <p:spPr>
          <a:xfrm>
            <a:off x="5348160" y="5971680"/>
            <a:ext cx="5371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准入条件</a:t>
            </a:r>
            <a:endParaRPr lang="en-US" sz="1050" b="0" u="none" strike="noStrike">
              <a:solidFill>
                <a:srgbClr val="000000"/>
              </a:solidFill>
              <a:effectLst/>
              <a:uFillTx/>
              <a:latin typeface="Times New Roman" panose="02020603050405020304"/>
            </a:endParaRPr>
          </a:p>
        </p:txBody>
      </p:sp>
      <p:sp>
        <p:nvSpPr>
          <p:cNvPr id="468" name="文字框 467"/>
          <p:cNvSpPr txBox="1"/>
          <p:nvPr/>
        </p:nvSpPr>
        <p:spPr>
          <a:xfrm>
            <a:off x="5348160" y="620568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严格限制于合格投资者，如在中国，个人投资者需满足金融资产不低于</a:t>
            </a:r>
            <a:endParaRPr lang="en-US" sz="1050" b="0" u="none" strike="noStrike">
              <a:solidFill>
                <a:srgbClr val="000000"/>
              </a:solidFill>
              <a:effectLst/>
              <a:uFillTx/>
              <a:latin typeface="Times New Roman" panose="02020603050405020304"/>
            </a:endParaRPr>
          </a:p>
        </p:txBody>
      </p:sp>
      <p:sp>
        <p:nvSpPr>
          <p:cNvPr id="469" name="文字框 468"/>
          <p:cNvSpPr txBox="1"/>
          <p:nvPr/>
        </p:nvSpPr>
        <p:spPr>
          <a:xfrm>
            <a:off x="9493200" y="6210360"/>
            <a:ext cx="256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300</a:t>
            </a:r>
            <a:endParaRPr lang="en-US" sz="1050" b="0" u="none" strike="noStrike">
              <a:solidFill>
                <a:srgbClr val="000000"/>
              </a:solidFill>
              <a:effectLst/>
              <a:uFillTx/>
              <a:latin typeface="Times New Roman" panose="02020603050405020304"/>
            </a:endParaRPr>
          </a:p>
        </p:txBody>
      </p:sp>
      <p:sp>
        <p:nvSpPr>
          <p:cNvPr id="470" name="文字框 469"/>
          <p:cNvSpPr txBox="1"/>
          <p:nvPr/>
        </p:nvSpPr>
        <p:spPr>
          <a:xfrm>
            <a:off x="5348160" y="640620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万元或近</a:t>
            </a:r>
            <a:endParaRPr lang="en-US" sz="1050" b="0" u="none" strike="noStrike">
              <a:solidFill>
                <a:srgbClr val="000000"/>
              </a:solidFill>
              <a:effectLst/>
              <a:uFillTx/>
              <a:latin typeface="Times New Roman" panose="02020603050405020304"/>
            </a:endParaRPr>
          </a:p>
        </p:txBody>
      </p:sp>
      <p:sp>
        <p:nvSpPr>
          <p:cNvPr id="471" name="文字框 470"/>
          <p:cNvSpPr txBox="1"/>
          <p:nvPr/>
        </p:nvSpPr>
        <p:spPr>
          <a:xfrm>
            <a:off x="5883120" y="641088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a:t>
            </a:r>
            <a:endParaRPr lang="en-US" sz="1050" b="0" u="none" strike="noStrike">
              <a:solidFill>
                <a:srgbClr val="000000"/>
              </a:solidFill>
              <a:effectLst/>
              <a:uFillTx/>
              <a:latin typeface="Times New Roman" panose="02020603050405020304"/>
            </a:endParaRPr>
          </a:p>
        </p:txBody>
      </p:sp>
      <p:sp>
        <p:nvSpPr>
          <p:cNvPr id="472" name="文字框 471"/>
          <p:cNvSpPr txBox="1"/>
          <p:nvPr/>
        </p:nvSpPr>
        <p:spPr>
          <a:xfrm>
            <a:off x="5968080" y="6406200"/>
            <a:ext cx="10735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年年均收入不低于</a:t>
            </a:r>
            <a:endParaRPr lang="en-US" sz="1050" b="0" u="none" strike="noStrike">
              <a:solidFill>
                <a:srgbClr val="000000"/>
              </a:solidFill>
              <a:effectLst/>
              <a:uFillTx/>
              <a:latin typeface="Times New Roman" panose="02020603050405020304"/>
            </a:endParaRPr>
          </a:p>
        </p:txBody>
      </p:sp>
      <p:sp>
        <p:nvSpPr>
          <p:cNvPr id="473" name="文字框 472"/>
          <p:cNvSpPr txBox="1"/>
          <p:nvPr/>
        </p:nvSpPr>
        <p:spPr>
          <a:xfrm>
            <a:off x="7037640" y="641088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30</a:t>
            </a:r>
            <a:endParaRPr lang="en-US" sz="1050" b="0" u="none" strike="noStrike">
              <a:solidFill>
                <a:srgbClr val="000000"/>
              </a:solidFill>
              <a:effectLst/>
              <a:uFillTx/>
              <a:latin typeface="Times New Roman" panose="02020603050405020304"/>
            </a:endParaRPr>
          </a:p>
        </p:txBody>
      </p:sp>
      <p:pic>
        <p:nvPicPr>
          <p:cNvPr id="474" name="圖片 473"/>
          <p:cNvPicPr/>
          <p:nvPr/>
        </p:nvPicPr>
        <p:blipFill>
          <a:blip r:embed="rId12"/>
          <a:stretch>
            <a:fillRect/>
          </a:stretch>
        </p:blipFill>
        <p:spPr>
          <a:xfrm>
            <a:off x="8490240" y="5456880"/>
            <a:ext cx="1671120" cy="1671120"/>
          </a:xfrm>
          <a:prstGeom prst="rect">
            <a:avLst/>
          </a:prstGeom>
          <a:noFill/>
          <a:ln w="0">
            <a:noFill/>
          </a:ln>
        </p:spPr>
      </p:pic>
      <p:sp>
        <p:nvSpPr>
          <p:cNvPr id="475" name="文字框 474"/>
          <p:cNvSpPr txBox="1"/>
          <p:nvPr/>
        </p:nvSpPr>
        <p:spPr>
          <a:xfrm>
            <a:off x="7207920" y="640620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万元等条件</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6" name="圖片 475"/>
          <p:cNvPicPr/>
          <p:nvPr/>
        </p:nvPicPr>
        <p:blipFill>
          <a:blip r:embed="rId1"/>
          <a:stretch>
            <a:fillRect/>
          </a:stretch>
        </p:blipFill>
        <p:spPr>
          <a:xfrm>
            <a:off x="0" y="0"/>
            <a:ext cx="10696320" cy="6016320"/>
          </a:xfrm>
          <a:prstGeom prst="rect">
            <a:avLst/>
          </a:prstGeom>
          <a:noFill/>
          <a:ln w="0">
            <a:noFill/>
          </a:ln>
        </p:spPr>
      </p:pic>
      <p:pic>
        <p:nvPicPr>
          <p:cNvPr id="477" name="圖片 476"/>
          <p:cNvPicPr/>
          <p:nvPr/>
        </p:nvPicPr>
        <p:blipFill>
          <a:blip r:embed="rId2"/>
          <a:stretch>
            <a:fillRect/>
          </a:stretch>
        </p:blipFill>
        <p:spPr>
          <a:xfrm>
            <a:off x="534960" y="735480"/>
            <a:ext cx="3208680" cy="33120"/>
          </a:xfrm>
          <a:prstGeom prst="rect">
            <a:avLst/>
          </a:prstGeom>
          <a:noFill/>
          <a:ln w="0">
            <a:noFill/>
          </a:ln>
        </p:spPr>
      </p:pic>
      <p:sp>
        <p:nvSpPr>
          <p:cNvPr id="478" name="文字框 477"/>
          <p:cNvSpPr txBox="1"/>
          <p:nvPr/>
        </p:nvSpPr>
        <p:spPr>
          <a:xfrm>
            <a:off x="534960" y="312120"/>
            <a:ext cx="330336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资产可接触性：市场准入</a:t>
            </a:r>
            <a:endParaRPr lang="en-US" sz="2370" b="0" u="none" strike="noStrike">
              <a:solidFill>
                <a:srgbClr val="000000"/>
              </a:solidFill>
              <a:effectLst/>
              <a:uFillTx/>
              <a:latin typeface="Times New Roman" panose="02020603050405020304"/>
            </a:endParaRPr>
          </a:p>
        </p:txBody>
      </p:sp>
      <p:sp>
        <p:nvSpPr>
          <p:cNvPr id="479" name="任意多邊形 478"/>
          <p:cNvSpPr/>
          <p:nvPr/>
        </p:nvSpPr>
        <p:spPr>
          <a:xfrm>
            <a:off x="534600" y="4646160"/>
            <a:ext cx="9627480" cy="936360"/>
          </a:xfrm>
          <a:custGeom>
            <a:avLst/>
            <a:gdLst/>
            <a:ahLst/>
            <a:cxnLst/>
            <a:rect l="0" t="0" r="r" b="b"/>
            <a:pathLst>
              <a:path w="26743" h="2601">
                <a:moveTo>
                  <a:pt x="0" y="2415"/>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26557" y="0"/>
                </a:lnTo>
                <a:cubicBezTo>
                  <a:pt x="26569" y="0"/>
                  <a:pt x="26581" y="1"/>
                  <a:pt x="26593" y="4"/>
                </a:cubicBezTo>
                <a:cubicBezTo>
                  <a:pt x="26605" y="6"/>
                  <a:pt x="26617" y="9"/>
                  <a:pt x="26628" y="14"/>
                </a:cubicBezTo>
                <a:cubicBezTo>
                  <a:pt x="26639" y="19"/>
                  <a:pt x="26650" y="24"/>
                  <a:pt x="26660" y="31"/>
                </a:cubicBezTo>
                <a:cubicBezTo>
                  <a:pt x="26670" y="38"/>
                  <a:pt x="26680" y="46"/>
                  <a:pt x="26688" y="54"/>
                </a:cubicBezTo>
                <a:cubicBezTo>
                  <a:pt x="26697" y="63"/>
                  <a:pt x="26704" y="72"/>
                  <a:pt x="26711" y="82"/>
                </a:cubicBezTo>
                <a:cubicBezTo>
                  <a:pt x="26718" y="93"/>
                  <a:pt x="26724" y="103"/>
                  <a:pt x="26728" y="115"/>
                </a:cubicBezTo>
                <a:cubicBezTo>
                  <a:pt x="26733" y="126"/>
                  <a:pt x="26737" y="137"/>
                  <a:pt x="26739" y="149"/>
                </a:cubicBezTo>
                <a:cubicBezTo>
                  <a:pt x="26741" y="161"/>
                  <a:pt x="26743" y="173"/>
                  <a:pt x="26743" y="186"/>
                </a:cubicBezTo>
                <a:lnTo>
                  <a:pt x="26743" y="2415"/>
                </a:lnTo>
                <a:cubicBezTo>
                  <a:pt x="26743" y="2427"/>
                  <a:pt x="26741" y="2439"/>
                  <a:pt x="26739" y="2451"/>
                </a:cubicBezTo>
                <a:cubicBezTo>
                  <a:pt x="26737" y="2463"/>
                  <a:pt x="26733" y="2475"/>
                  <a:pt x="26728" y="2486"/>
                </a:cubicBezTo>
                <a:cubicBezTo>
                  <a:pt x="26724" y="2497"/>
                  <a:pt x="26718" y="2508"/>
                  <a:pt x="26711" y="2518"/>
                </a:cubicBezTo>
                <a:cubicBezTo>
                  <a:pt x="26704" y="2528"/>
                  <a:pt x="26697" y="2538"/>
                  <a:pt x="26688" y="2546"/>
                </a:cubicBezTo>
                <a:cubicBezTo>
                  <a:pt x="26680" y="2555"/>
                  <a:pt x="26670" y="2563"/>
                  <a:pt x="26660" y="2570"/>
                </a:cubicBezTo>
                <a:cubicBezTo>
                  <a:pt x="26650" y="2576"/>
                  <a:pt x="26639" y="2582"/>
                  <a:pt x="26628" y="2587"/>
                </a:cubicBezTo>
                <a:cubicBezTo>
                  <a:pt x="26617" y="2591"/>
                  <a:pt x="26605" y="2595"/>
                  <a:pt x="26593" y="2597"/>
                </a:cubicBezTo>
                <a:cubicBezTo>
                  <a:pt x="26581" y="2600"/>
                  <a:pt x="26569" y="2601"/>
                  <a:pt x="26557" y="2601"/>
                </a:cubicBezTo>
                <a:lnTo>
                  <a:pt x="186" y="2601"/>
                </a:lnTo>
                <a:cubicBezTo>
                  <a:pt x="174" y="2601"/>
                  <a:pt x="162" y="2600"/>
                  <a:pt x="150" y="2597"/>
                </a:cubicBezTo>
                <a:cubicBezTo>
                  <a:pt x="138" y="2595"/>
                  <a:pt x="126" y="2591"/>
                  <a:pt x="115" y="2587"/>
                </a:cubicBezTo>
                <a:cubicBezTo>
                  <a:pt x="104" y="2582"/>
                  <a:pt x="93" y="2576"/>
                  <a:pt x="83" y="2570"/>
                </a:cubicBezTo>
                <a:cubicBezTo>
                  <a:pt x="73" y="2563"/>
                  <a:pt x="63" y="2555"/>
                  <a:pt x="55" y="2546"/>
                </a:cubicBezTo>
                <a:cubicBezTo>
                  <a:pt x="46" y="2538"/>
                  <a:pt x="38" y="2528"/>
                  <a:pt x="31" y="2518"/>
                </a:cubicBezTo>
                <a:cubicBezTo>
                  <a:pt x="25" y="2508"/>
                  <a:pt x="19" y="2497"/>
                  <a:pt x="14" y="2486"/>
                </a:cubicBezTo>
                <a:cubicBezTo>
                  <a:pt x="10" y="2475"/>
                  <a:pt x="6" y="2463"/>
                  <a:pt x="4" y="2451"/>
                </a:cubicBezTo>
                <a:cubicBezTo>
                  <a:pt x="1" y="2439"/>
                  <a:pt x="0" y="2427"/>
                  <a:pt x="0" y="24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480" name="文字框 479"/>
          <p:cNvSpPr txBox="1"/>
          <p:nvPr/>
        </p:nvSpPr>
        <p:spPr>
          <a:xfrm>
            <a:off x="534960" y="982800"/>
            <a:ext cx="697464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市场准入指的是投资者进入特定资产市场的便捷程度，包括交易渠道的广泛性、相关法规的复杂性以及市场开放程度。</a:t>
            </a:r>
            <a:endParaRPr lang="en-US" sz="1050" b="0" u="none" strike="noStrike">
              <a:solidFill>
                <a:srgbClr val="000000"/>
              </a:solidFill>
              <a:effectLst/>
              <a:uFillTx/>
              <a:latin typeface="Times New Roman" panose="02020603050405020304"/>
            </a:endParaRPr>
          </a:p>
        </p:txBody>
      </p:sp>
      <p:sp>
        <p:nvSpPr>
          <p:cNvPr id="481" name="任意多邊形 480"/>
          <p:cNvSpPr/>
          <p:nvPr/>
        </p:nvSpPr>
        <p:spPr>
          <a:xfrm>
            <a:off x="668520" y="5080680"/>
            <a:ext cx="267480" cy="267840"/>
          </a:xfrm>
          <a:custGeom>
            <a:avLst/>
            <a:gdLst/>
            <a:ahLst/>
            <a:cxnLst/>
            <a:rect l="0" t="0" r="r" b="b"/>
            <a:pathLst>
              <a:path w="743" h="744">
                <a:moveTo>
                  <a:pt x="743" y="372"/>
                </a:moveTo>
                <a:cubicBezTo>
                  <a:pt x="743" y="397"/>
                  <a:pt x="741" y="421"/>
                  <a:pt x="735" y="445"/>
                </a:cubicBezTo>
                <a:cubicBezTo>
                  <a:pt x="730" y="469"/>
                  <a:pt x="723" y="492"/>
                  <a:pt x="714" y="515"/>
                </a:cubicBezTo>
                <a:cubicBezTo>
                  <a:pt x="705" y="537"/>
                  <a:pt x="693" y="559"/>
                  <a:pt x="680" y="579"/>
                </a:cubicBezTo>
                <a:cubicBezTo>
                  <a:pt x="666" y="599"/>
                  <a:pt x="651" y="618"/>
                  <a:pt x="634" y="635"/>
                </a:cubicBezTo>
                <a:cubicBezTo>
                  <a:pt x="616" y="652"/>
                  <a:pt x="598" y="668"/>
                  <a:pt x="577" y="681"/>
                </a:cubicBezTo>
                <a:cubicBezTo>
                  <a:pt x="557" y="695"/>
                  <a:pt x="536" y="706"/>
                  <a:pt x="513" y="716"/>
                </a:cubicBezTo>
                <a:cubicBezTo>
                  <a:pt x="491" y="725"/>
                  <a:pt x="467" y="732"/>
                  <a:pt x="443" y="737"/>
                </a:cubicBezTo>
                <a:cubicBezTo>
                  <a:pt x="419" y="741"/>
                  <a:pt x="395" y="744"/>
                  <a:pt x="371" y="744"/>
                </a:cubicBezTo>
                <a:cubicBezTo>
                  <a:pt x="347" y="744"/>
                  <a:pt x="322" y="741"/>
                  <a:pt x="298" y="737"/>
                </a:cubicBezTo>
                <a:cubicBezTo>
                  <a:pt x="275" y="732"/>
                  <a:pt x="251" y="725"/>
                  <a:pt x="229" y="716"/>
                </a:cubicBezTo>
                <a:cubicBezTo>
                  <a:pt x="206" y="706"/>
                  <a:pt x="185" y="695"/>
                  <a:pt x="165" y="681"/>
                </a:cubicBezTo>
                <a:cubicBezTo>
                  <a:pt x="144" y="668"/>
                  <a:pt x="126" y="652"/>
                  <a:pt x="108" y="635"/>
                </a:cubicBezTo>
                <a:cubicBezTo>
                  <a:pt x="91" y="618"/>
                  <a:pt x="76" y="599"/>
                  <a:pt x="62" y="579"/>
                </a:cubicBezTo>
                <a:cubicBezTo>
                  <a:pt x="49" y="559"/>
                  <a:pt x="37" y="537"/>
                  <a:pt x="28" y="515"/>
                </a:cubicBezTo>
                <a:cubicBezTo>
                  <a:pt x="18" y="492"/>
                  <a:pt x="11" y="469"/>
                  <a:pt x="7" y="445"/>
                </a:cubicBezTo>
                <a:cubicBezTo>
                  <a:pt x="2" y="421"/>
                  <a:pt x="0" y="397"/>
                  <a:pt x="0" y="372"/>
                </a:cubicBezTo>
                <a:cubicBezTo>
                  <a:pt x="0" y="347"/>
                  <a:pt x="2" y="323"/>
                  <a:pt x="7" y="299"/>
                </a:cubicBezTo>
                <a:cubicBezTo>
                  <a:pt x="11" y="275"/>
                  <a:pt x="18" y="252"/>
                  <a:pt x="28" y="229"/>
                </a:cubicBezTo>
                <a:cubicBezTo>
                  <a:pt x="37" y="207"/>
                  <a:pt x="49" y="185"/>
                  <a:pt x="62" y="165"/>
                </a:cubicBezTo>
                <a:cubicBezTo>
                  <a:pt x="76" y="145"/>
                  <a:pt x="91" y="126"/>
                  <a:pt x="108" y="109"/>
                </a:cubicBezTo>
                <a:cubicBezTo>
                  <a:pt x="126" y="92"/>
                  <a:pt x="144" y="76"/>
                  <a:pt x="165" y="63"/>
                </a:cubicBezTo>
                <a:cubicBezTo>
                  <a:pt x="185" y="49"/>
                  <a:pt x="206" y="38"/>
                  <a:pt x="229" y="28"/>
                </a:cubicBezTo>
                <a:cubicBezTo>
                  <a:pt x="251" y="19"/>
                  <a:pt x="275" y="12"/>
                  <a:pt x="298" y="7"/>
                </a:cubicBezTo>
                <a:cubicBezTo>
                  <a:pt x="322" y="2"/>
                  <a:pt x="347" y="0"/>
                  <a:pt x="371" y="0"/>
                </a:cubicBezTo>
                <a:cubicBezTo>
                  <a:pt x="395" y="0"/>
                  <a:pt x="419" y="2"/>
                  <a:pt x="443" y="7"/>
                </a:cubicBezTo>
                <a:cubicBezTo>
                  <a:pt x="467" y="12"/>
                  <a:pt x="491" y="19"/>
                  <a:pt x="513" y="28"/>
                </a:cubicBezTo>
                <a:cubicBezTo>
                  <a:pt x="536" y="38"/>
                  <a:pt x="557" y="49"/>
                  <a:pt x="577" y="63"/>
                </a:cubicBezTo>
                <a:cubicBezTo>
                  <a:pt x="598" y="76"/>
                  <a:pt x="616" y="92"/>
                  <a:pt x="634" y="109"/>
                </a:cubicBezTo>
                <a:cubicBezTo>
                  <a:pt x="651" y="126"/>
                  <a:pt x="666" y="145"/>
                  <a:pt x="680" y="165"/>
                </a:cubicBezTo>
                <a:cubicBezTo>
                  <a:pt x="693" y="185"/>
                  <a:pt x="705" y="207"/>
                  <a:pt x="714" y="229"/>
                </a:cubicBezTo>
                <a:cubicBezTo>
                  <a:pt x="723" y="252"/>
                  <a:pt x="730" y="275"/>
                  <a:pt x="735" y="299"/>
                </a:cubicBezTo>
                <a:cubicBezTo>
                  <a:pt x="741" y="323"/>
                  <a:pt x="743" y="347"/>
                  <a:pt x="743" y="372"/>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82" name="圖片 481"/>
          <p:cNvPicPr/>
          <p:nvPr/>
        </p:nvPicPr>
        <p:blipFill>
          <a:blip r:embed="rId3"/>
          <a:stretch>
            <a:fillRect/>
          </a:stretch>
        </p:blipFill>
        <p:spPr>
          <a:xfrm>
            <a:off x="735480" y="5147640"/>
            <a:ext cx="133200" cy="133200"/>
          </a:xfrm>
          <a:prstGeom prst="rect">
            <a:avLst/>
          </a:prstGeom>
          <a:noFill/>
          <a:ln w="0">
            <a:noFill/>
          </a:ln>
        </p:spPr>
      </p:pic>
      <p:sp>
        <p:nvSpPr>
          <p:cNvPr id="483" name="文字框 482"/>
          <p:cNvSpPr txBox="1"/>
          <p:nvPr/>
        </p:nvSpPr>
        <p:spPr>
          <a:xfrm>
            <a:off x="668520" y="4794480"/>
            <a:ext cx="184464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市场准入的关键影响因素</a:t>
            </a:r>
            <a:endParaRPr lang="en-US" sz="1320" b="0" u="none" strike="noStrike">
              <a:solidFill>
                <a:srgbClr val="000000"/>
              </a:solidFill>
              <a:effectLst/>
              <a:uFillTx/>
              <a:latin typeface="Times New Roman" panose="02020603050405020304"/>
            </a:endParaRPr>
          </a:p>
        </p:txBody>
      </p:sp>
      <p:sp>
        <p:nvSpPr>
          <p:cNvPr id="484" name="文字框 483"/>
          <p:cNvSpPr txBox="1"/>
          <p:nvPr/>
        </p:nvSpPr>
        <p:spPr>
          <a:xfrm>
            <a:off x="1036080" y="5094000"/>
            <a:ext cx="5371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交易渠道</a:t>
            </a:r>
            <a:endParaRPr lang="en-US" sz="1050" b="0" u="none" strike="noStrike">
              <a:solidFill>
                <a:srgbClr val="000000"/>
              </a:solidFill>
              <a:effectLst/>
              <a:uFillTx/>
              <a:latin typeface="Times New Roman" panose="02020603050405020304"/>
            </a:endParaRPr>
          </a:p>
        </p:txBody>
      </p:sp>
      <p:sp>
        <p:nvSpPr>
          <p:cNvPr id="485" name="任意多邊形 484"/>
          <p:cNvSpPr/>
          <p:nvPr/>
        </p:nvSpPr>
        <p:spPr>
          <a:xfrm>
            <a:off x="3835440" y="5080680"/>
            <a:ext cx="267840" cy="267840"/>
          </a:xfrm>
          <a:custGeom>
            <a:avLst/>
            <a:gdLst/>
            <a:ahLst/>
            <a:cxnLst/>
            <a:rect l="0" t="0" r="r" b="b"/>
            <a:pathLst>
              <a:path w="744" h="744">
                <a:moveTo>
                  <a:pt x="744" y="372"/>
                </a:moveTo>
                <a:cubicBezTo>
                  <a:pt x="744" y="397"/>
                  <a:pt x="742" y="421"/>
                  <a:pt x="737" y="445"/>
                </a:cubicBezTo>
                <a:cubicBezTo>
                  <a:pt x="732" y="469"/>
                  <a:pt x="725" y="492"/>
                  <a:pt x="716" y="515"/>
                </a:cubicBezTo>
                <a:cubicBezTo>
                  <a:pt x="707" y="537"/>
                  <a:pt x="695" y="559"/>
                  <a:pt x="682" y="579"/>
                </a:cubicBezTo>
                <a:cubicBezTo>
                  <a:pt x="668" y="599"/>
                  <a:pt x="653" y="618"/>
                  <a:pt x="635" y="635"/>
                </a:cubicBezTo>
                <a:cubicBezTo>
                  <a:pt x="618" y="652"/>
                  <a:pt x="599" y="668"/>
                  <a:pt x="579" y="681"/>
                </a:cubicBezTo>
                <a:cubicBezTo>
                  <a:pt x="559" y="695"/>
                  <a:pt x="537" y="706"/>
                  <a:pt x="515" y="716"/>
                </a:cubicBezTo>
                <a:cubicBezTo>
                  <a:pt x="492" y="725"/>
                  <a:pt x="469" y="732"/>
                  <a:pt x="445" y="737"/>
                </a:cubicBezTo>
                <a:cubicBezTo>
                  <a:pt x="421" y="741"/>
                  <a:pt x="397" y="744"/>
                  <a:pt x="373" y="744"/>
                </a:cubicBezTo>
                <a:cubicBezTo>
                  <a:pt x="348" y="744"/>
                  <a:pt x="324" y="741"/>
                  <a:pt x="300" y="737"/>
                </a:cubicBezTo>
                <a:cubicBezTo>
                  <a:pt x="276" y="732"/>
                  <a:pt x="253" y="725"/>
                  <a:pt x="231" y="716"/>
                </a:cubicBezTo>
                <a:cubicBezTo>
                  <a:pt x="208" y="706"/>
                  <a:pt x="187" y="695"/>
                  <a:pt x="166" y="681"/>
                </a:cubicBezTo>
                <a:cubicBezTo>
                  <a:pt x="146" y="668"/>
                  <a:pt x="127" y="652"/>
                  <a:pt x="110" y="635"/>
                </a:cubicBezTo>
                <a:cubicBezTo>
                  <a:pt x="92" y="618"/>
                  <a:pt x="76" y="599"/>
                  <a:pt x="63" y="579"/>
                </a:cubicBezTo>
                <a:cubicBezTo>
                  <a:pt x="49" y="559"/>
                  <a:pt x="38" y="537"/>
                  <a:pt x="29" y="515"/>
                </a:cubicBezTo>
                <a:cubicBezTo>
                  <a:pt x="19" y="492"/>
                  <a:pt x="12" y="469"/>
                  <a:pt x="7" y="445"/>
                </a:cubicBezTo>
                <a:cubicBezTo>
                  <a:pt x="3" y="421"/>
                  <a:pt x="0" y="397"/>
                  <a:pt x="0" y="372"/>
                </a:cubicBezTo>
                <a:cubicBezTo>
                  <a:pt x="0" y="347"/>
                  <a:pt x="3" y="323"/>
                  <a:pt x="7" y="299"/>
                </a:cubicBezTo>
                <a:cubicBezTo>
                  <a:pt x="12" y="275"/>
                  <a:pt x="19" y="252"/>
                  <a:pt x="29" y="229"/>
                </a:cubicBezTo>
                <a:cubicBezTo>
                  <a:pt x="38" y="207"/>
                  <a:pt x="49" y="185"/>
                  <a:pt x="63" y="165"/>
                </a:cubicBezTo>
                <a:cubicBezTo>
                  <a:pt x="76" y="145"/>
                  <a:pt x="92" y="126"/>
                  <a:pt x="110" y="109"/>
                </a:cubicBezTo>
                <a:cubicBezTo>
                  <a:pt x="127" y="92"/>
                  <a:pt x="146" y="76"/>
                  <a:pt x="166" y="63"/>
                </a:cubicBezTo>
                <a:cubicBezTo>
                  <a:pt x="187" y="49"/>
                  <a:pt x="208" y="38"/>
                  <a:pt x="231" y="28"/>
                </a:cubicBezTo>
                <a:cubicBezTo>
                  <a:pt x="253" y="19"/>
                  <a:pt x="276" y="12"/>
                  <a:pt x="300" y="7"/>
                </a:cubicBezTo>
                <a:cubicBezTo>
                  <a:pt x="324" y="2"/>
                  <a:pt x="348" y="0"/>
                  <a:pt x="373" y="0"/>
                </a:cubicBezTo>
                <a:cubicBezTo>
                  <a:pt x="397" y="0"/>
                  <a:pt x="421" y="2"/>
                  <a:pt x="445" y="7"/>
                </a:cubicBezTo>
                <a:cubicBezTo>
                  <a:pt x="469" y="12"/>
                  <a:pt x="492" y="19"/>
                  <a:pt x="515" y="28"/>
                </a:cubicBezTo>
                <a:cubicBezTo>
                  <a:pt x="537" y="38"/>
                  <a:pt x="559" y="49"/>
                  <a:pt x="579" y="63"/>
                </a:cubicBezTo>
                <a:cubicBezTo>
                  <a:pt x="599" y="76"/>
                  <a:pt x="618" y="92"/>
                  <a:pt x="635" y="109"/>
                </a:cubicBezTo>
                <a:cubicBezTo>
                  <a:pt x="653" y="126"/>
                  <a:pt x="668" y="145"/>
                  <a:pt x="682" y="165"/>
                </a:cubicBezTo>
                <a:cubicBezTo>
                  <a:pt x="695" y="185"/>
                  <a:pt x="707" y="207"/>
                  <a:pt x="716" y="229"/>
                </a:cubicBezTo>
                <a:cubicBezTo>
                  <a:pt x="725" y="252"/>
                  <a:pt x="732" y="275"/>
                  <a:pt x="737" y="299"/>
                </a:cubicBezTo>
                <a:cubicBezTo>
                  <a:pt x="742" y="323"/>
                  <a:pt x="744" y="347"/>
                  <a:pt x="744" y="372"/>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86" name="圖片 485"/>
          <p:cNvPicPr/>
          <p:nvPr/>
        </p:nvPicPr>
        <p:blipFill>
          <a:blip r:embed="rId4"/>
          <a:stretch>
            <a:fillRect/>
          </a:stretch>
        </p:blipFill>
        <p:spPr>
          <a:xfrm>
            <a:off x="3885840" y="5147640"/>
            <a:ext cx="166680" cy="133200"/>
          </a:xfrm>
          <a:prstGeom prst="rect">
            <a:avLst/>
          </a:prstGeom>
          <a:noFill/>
          <a:ln w="0">
            <a:noFill/>
          </a:ln>
        </p:spPr>
      </p:pic>
      <p:sp>
        <p:nvSpPr>
          <p:cNvPr id="487" name="文字框 486"/>
          <p:cNvSpPr txBox="1"/>
          <p:nvPr/>
        </p:nvSpPr>
        <p:spPr>
          <a:xfrm>
            <a:off x="1036080" y="5294160"/>
            <a:ext cx="25822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可获得性和便利性决定了投资者能否顺利进入市场</a:t>
            </a:r>
            <a:endParaRPr lang="en-US" sz="920" b="0" u="none" strike="noStrike">
              <a:solidFill>
                <a:srgbClr val="000000"/>
              </a:solidFill>
              <a:effectLst/>
              <a:uFillTx/>
              <a:latin typeface="Times New Roman" panose="02020603050405020304"/>
            </a:endParaRPr>
          </a:p>
        </p:txBody>
      </p:sp>
      <p:sp>
        <p:nvSpPr>
          <p:cNvPr id="488" name="文字框 487"/>
          <p:cNvSpPr txBox="1"/>
          <p:nvPr/>
        </p:nvSpPr>
        <p:spPr>
          <a:xfrm>
            <a:off x="4200480" y="509400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监管复杂性</a:t>
            </a:r>
            <a:endParaRPr lang="en-US" sz="1050" b="0" u="none" strike="noStrike">
              <a:solidFill>
                <a:srgbClr val="000000"/>
              </a:solidFill>
              <a:effectLst/>
              <a:uFillTx/>
              <a:latin typeface="Times New Roman" panose="02020603050405020304"/>
            </a:endParaRPr>
          </a:p>
        </p:txBody>
      </p:sp>
      <p:sp>
        <p:nvSpPr>
          <p:cNvPr id="489" name="任意多邊形 488"/>
          <p:cNvSpPr/>
          <p:nvPr/>
        </p:nvSpPr>
        <p:spPr>
          <a:xfrm>
            <a:off x="6994440" y="5080680"/>
            <a:ext cx="267840" cy="267840"/>
          </a:xfrm>
          <a:custGeom>
            <a:avLst/>
            <a:gdLst/>
            <a:ahLst/>
            <a:cxnLst/>
            <a:rect l="0" t="0" r="r" b="b"/>
            <a:pathLst>
              <a:path w="744" h="744">
                <a:moveTo>
                  <a:pt x="744" y="372"/>
                </a:moveTo>
                <a:cubicBezTo>
                  <a:pt x="744" y="397"/>
                  <a:pt x="741" y="421"/>
                  <a:pt x="737" y="445"/>
                </a:cubicBezTo>
                <a:cubicBezTo>
                  <a:pt x="732" y="469"/>
                  <a:pt x="725" y="492"/>
                  <a:pt x="715" y="515"/>
                </a:cubicBezTo>
                <a:cubicBezTo>
                  <a:pt x="706" y="537"/>
                  <a:pt x="695" y="559"/>
                  <a:pt x="681" y="579"/>
                </a:cubicBezTo>
                <a:cubicBezTo>
                  <a:pt x="667" y="599"/>
                  <a:pt x="652" y="618"/>
                  <a:pt x="635" y="635"/>
                </a:cubicBezTo>
                <a:cubicBezTo>
                  <a:pt x="618" y="652"/>
                  <a:pt x="599" y="668"/>
                  <a:pt x="579" y="681"/>
                </a:cubicBezTo>
                <a:cubicBezTo>
                  <a:pt x="558" y="695"/>
                  <a:pt x="537" y="706"/>
                  <a:pt x="514" y="716"/>
                </a:cubicBezTo>
                <a:cubicBezTo>
                  <a:pt x="492" y="725"/>
                  <a:pt x="469" y="732"/>
                  <a:pt x="445" y="737"/>
                </a:cubicBezTo>
                <a:cubicBezTo>
                  <a:pt x="421" y="741"/>
                  <a:pt x="397" y="744"/>
                  <a:pt x="372" y="744"/>
                </a:cubicBezTo>
                <a:cubicBezTo>
                  <a:pt x="348" y="744"/>
                  <a:pt x="324" y="741"/>
                  <a:pt x="300" y="737"/>
                </a:cubicBezTo>
                <a:cubicBezTo>
                  <a:pt x="276" y="732"/>
                  <a:pt x="253" y="725"/>
                  <a:pt x="229" y="716"/>
                </a:cubicBezTo>
                <a:cubicBezTo>
                  <a:pt x="207" y="706"/>
                  <a:pt x="185" y="695"/>
                  <a:pt x="165" y="681"/>
                </a:cubicBezTo>
                <a:cubicBezTo>
                  <a:pt x="145" y="668"/>
                  <a:pt x="126" y="652"/>
                  <a:pt x="109" y="635"/>
                </a:cubicBezTo>
                <a:cubicBezTo>
                  <a:pt x="91" y="618"/>
                  <a:pt x="76" y="599"/>
                  <a:pt x="62" y="579"/>
                </a:cubicBezTo>
                <a:cubicBezTo>
                  <a:pt x="49" y="559"/>
                  <a:pt x="37" y="537"/>
                  <a:pt x="28" y="515"/>
                </a:cubicBezTo>
                <a:cubicBezTo>
                  <a:pt x="19" y="492"/>
                  <a:pt x="12" y="469"/>
                  <a:pt x="7" y="445"/>
                </a:cubicBezTo>
                <a:cubicBezTo>
                  <a:pt x="2" y="421"/>
                  <a:pt x="0" y="397"/>
                  <a:pt x="0" y="372"/>
                </a:cubicBezTo>
                <a:cubicBezTo>
                  <a:pt x="0" y="347"/>
                  <a:pt x="2" y="323"/>
                  <a:pt x="7" y="299"/>
                </a:cubicBezTo>
                <a:cubicBezTo>
                  <a:pt x="12" y="275"/>
                  <a:pt x="19" y="252"/>
                  <a:pt x="28" y="229"/>
                </a:cubicBezTo>
                <a:cubicBezTo>
                  <a:pt x="37" y="207"/>
                  <a:pt x="49" y="185"/>
                  <a:pt x="62" y="165"/>
                </a:cubicBezTo>
                <a:cubicBezTo>
                  <a:pt x="76" y="145"/>
                  <a:pt x="91" y="126"/>
                  <a:pt x="109" y="109"/>
                </a:cubicBezTo>
                <a:cubicBezTo>
                  <a:pt x="126" y="92"/>
                  <a:pt x="145" y="76"/>
                  <a:pt x="165" y="63"/>
                </a:cubicBezTo>
                <a:cubicBezTo>
                  <a:pt x="185" y="49"/>
                  <a:pt x="207" y="38"/>
                  <a:pt x="229" y="28"/>
                </a:cubicBezTo>
                <a:cubicBezTo>
                  <a:pt x="253" y="19"/>
                  <a:pt x="276" y="12"/>
                  <a:pt x="300" y="7"/>
                </a:cubicBezTo>
                <a:cubicBezTo>
                  <a:pt x="324" y="2"/>
                  <a:pt x="348" y="0"/>
                  <a:pt x="372" y="0"/>
                </a:cubicBezTo>
                <a:cubicBezTo>
                  <a:pt x="397" y="0"/>
                  <a:pt x="421" y="2"/>
                  <a:pt x="445" y="7"/>
                </a:cubicBezTo>
                <a:cubicBezTo>
                  <a:pt x="469" y="12"/>
                  <a:pt x="492" y="19"/>
                  <a:pt x="514" y="28"/>
                </a:cubicBezTo>
                <a:cubicBezTo>
                  <a:pt x="537" y="38"/>
                  <a:pt x="558" y="49"/>
                  <a:pt x="579" y="63"/>
                </a:cubicBezTo>
                <a:cubicBezTo>
                  <a:pt x="599" y="76"/>
                  <a:pt x="618" y="92"/>
                  <a:pt x="635" y="109"/>
                </a:cubicBezTo>
                <a:cubicBezTo>
                  <a:pt x="652" y="126"/>
                  <a:pt x="667" y="145"/>
                  <a:pt x="681" y="165"/>
                </a:cubicBezTo>
                <a:cubicBezTo>
                  <a:pt x="695" y="185"/>
                  <a:pt x="706" y="207"/>
                  <a:pt x="715" y="229"/>
                </a:cubicBezTo>
                <a:cubicBezTo>
                  <a:pt x="725" y="252"/>
                  <a:pt x="732" y="275"/>
                  <a:pt x="737" y="299"/>
                </a:cubicBezTo>
                <a:cubicBezTo>
                  <a:pt x="741" y="323"/>
                  <a:pt x="744" y="347"/>
                  <a:pt x="744" y="372"/>
                </a:cubicBezTo>
                <a:close/>
              </a:path>
            </a:pathLst>
          </a:custGeom>
          <a:solidFill>
            <a:srgbClr val="2563EB"/>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90" name="圖片 489"/>
          <p:cNvPicPr/>
          <p:nvPr/>
        </p:nvPicPr>
        <p:blipFill>
          <a:blip r:embed="rId5"/>
          <a:stretch>
            <a:fillRect/>
          </a:stretch>
        </p:blipFill>
        <p:spPr>
          <a:xfrm>
            <a:off x="7061400" y="5147640"/>
            <a:ext cx="133200" cy="133200"/>
          </a:xfrm>
          <a:prstGeom prst="rect">
            <a:avLst/>
          </a:prstGeom>
          <a:noFill/>
          <a:ln w="0">
            <a:noFill/>
          </a:ln>
        </p:spPr>
      </p:pic>
      <p:sp>
        <p:nvSpPr>
          <p:cNvPr id="491" name="文字框 490"/>
          <p:cNvSpPr txBox="1"/>
          <p:nvPr/>
        </p:nvSpPr>
        <p:spPr>
          <a:xfrm>
            <a:off x="4200480" y="5294160"/>
            <a:ext cx="234756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各类资产面临不同程度的法规限制和合规要求</a:t>
            </a:r>
            <a:endParaRPr lang="en-US" sz="920" b="0" u="none" strike="noStrike">
              <a:solidFill>
                <a:srgbClr val="000000"/>
              </a:solidFill>
              <a:effectLst/>
              <a:uFillTx/>
              <a:latin typeface="Times New Roman" panose="02020603050405020304"/>
            </a:endParaRPr>
          </a:p>
        </p:txBody>
      </p:sp>
      <p:sp>
        <p:nvSpPr>
          <p:cNvPr id="492" name="文字框 491"/>
          <p:cNvSpPr txBox="1"/>
          <p:nvPr/>
        </p:nvSpPr>
        <p:spPr>
          <a:xfrm>
            <a:off x="7364880" y="509400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市场开放度</a:t>
            </a:r>
            <a:endParaRPr lang="en-US" sz="1050" b="0" u="none" strike="noStrike">
              <a:solidFill>
                <a:srgbClr val="000000"/>
              </a:solidFill>
              <a:effectLst/>
              <a:uFillTx/>
              <a:latin typeface="Times New Roman" panose="02020603050405020304"/>
            </a:endParaRPr>
          </a:p>
        </p:txBody>
      </p:sp>
      <p:sp>
        <p:nvSpPr>
          <p:cNvPr id="493" name="文字框 492"/>
          <p:cNvSpPr txBox="1"/>
          <p:nvPr/>
        </p:nvSpPr>
        <p:spPr>
          <a:xfrm>
            <a:off x="7364880" y="5294160"/>
            <a:ext cx="223020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市场对不同类型投资者的包容性和准入门槛</a:t>
            </a:r>
            <a:endParaRPr lang="en-US" sz="920" b="0" u="none" strike="noStrike">
              <a:solidFill>
                <a:srgbClr val="000000"/>
              </a:solidFill>
              <a:effectLst/>
              <a:uFillTx/>
              <a:latin typeface="Times New Roman" panose="02020603050405020304"/>
            </a:endParaRPr>
          </a:p>
        </p:txBody>
      </p:sp>
      <p:sp>
        <p:nvSpPr>
          <p:cNvPr id="494" name="文字框 493"/>
          <p:cNvSpPr txBox="1"/>
          <p:nvPr/>
        </p:nvSpPr>
        <p:spPr>
          <a:xfrm>
            <a:off x="534960" y="572868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495" name="任意多邊形 494"/>
          <p:cNvSpPr/>
          <p:nvPr/>
        </p:nvSpPr>
        <p:spPr>
          <a:xfrm>
            <a:off x="534600" y="1370160"/>
            <a:ext cx="1822320" cy="3075840"/>
          </a:xfrm>
          <a:custGeom>
            <a:avLst/>
            <a:gdLst/>
            <a:ahLst/>
            <a:cxnLst/>
            <a:rect l="0" t="0" r="r" b="b"/>
            <a:pathLst>
              <a:path w="5062" h="8544">
                <a:moveTo>
                  <a:pt x="0" y="8358"/>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4876" y="0"/>
                </a:lnTo>
                <a:cubicBezTo>
                  <a:pt x="4888" y="0"/>
                  <a:pt x="4900" y="2"/>
                  <a:pt x="4912" y="4"/>
                </a:cubicBezTo>
                <a:cubicBezTo>
                  <a:pt x="4924" y="6"/>
                  <a:pt x="4936" y="10"/>
                  <a:pt x="4947" y="15"/>
                </a:cubicBezTo>
                <a:cubicBezTo>
                  <a:pt x="4958" y="19"/>
                  <a:pt x="4969" y="25"/>
                  <a:pt x="4979" y="32"/>
                </a:cubicBezTo>
                <a:cubicBezTo>
                  <a:pt x="4989" y="39"/>
                  <a:pt x="4999" y="46"/>
                  <a:pt x="5007" y="55"/>
                </a:cubicBezTo>
                <a:cubicBezTo>
                  <a:pt x="5016" y="63"/>
                  <a:pt x="5024" y="73"/>
                  <a:pt x="5030" y="83"/>
                </a:cubicBezTo>
                <a:cubicBezTo>
                  <a:pt x="5037" y="93"/>
                  <a:pt x="5043" y="104"/>
                  <a:pt x="5047" y="115"/>
                </a:cubicBezTo>
                <a:cubicBezTo>
                  <a:pt x="5052" y="126"/>
                  <a:pt x="5056" y="138"/>
                  <a:pt x="5058" y="150"/>
                </a:cubicBezTo>
                <a:cubicBezTo>
                  <a:pt x="5060" y="162"/>
                  <a:pt x="5062" y="174"/>
                  <a:pt x="5062" y="186"/>
                </a:cubicBezTo>
                <a:lnTo>
                  <a:pt x="5062" y="8358"/>
                </a:lnTo>
                <a:cubicBezTo>
                  <a:pt x="5062" y="8370"/>
                  <a:pt x="5060" y="8382"/>
                  <a:pt x="5058" y="8394"/>
                </a:cubicBezTo>
                <a:cubicBezTo>
                  <a:pt x="5056" y="8406"/>
                  <a:pt x="5052" y="8418"/>
                  <a:pt x="5047" y="8429"/>
                </a:cubicBezTo>
                <a:cubicBezTo>
                  <a:pt x="5043" y="8440"/>
                  <a:pt x="5037" y="8451"/>
                  <a:pt x="5030" y="8461"/>
                </a:cubicBezTo>
                <a:cubicBezTo>
                  <a:pt x="5024" y="8471"/>
                  <a:pt x="5016" y="8481"/>
                  <a:pt x="5007" y="8489"/>
                </a:cubicBezTo>
                <a:cubicBezTo>
                  <a:pt x="4999" y="8498"/>
                  <a:pt x="4989" y="8506"/>
                  <a:pt x="4979" y="8513"/>
                </a:cubicBezTo>
                <a:cubicBezTo>
                  <a:pt x="4969" y="8519"/>
                  <a:pt x="4958" y="8525"/>
                  <a:pt x="4947" y="8530"/>
                </a:cubicBezTo>
                <a:cubicBezTo>
                  <a:pt x="4936" y="8534"/>
                  <a:pt x="4924" y="8538"/>
                  <a:pt x="4912" y="8540"/>
                </a:cubicBezTo>
                <a:cubicBezTo>
                  <a:pt x="4900" y="8543"/>
                  <a:pt x="4888" y="8544"/>
                  <a:pt x="4876" y="8544"/>
                </a:cubicBezTo>
                <a:lnTo>
                  <a:pt x="186" y="8544"/>
                </a:lnTo>
                <a:cubicBezTo>
                  <a:pt x="174" y="8544"/>
                  <a:pt x="162" y="8543"/>
                  <a:pt x="150" y="8540"/>
                </a:cubicBezTo>
                <a:cubicBezTo>
                  <a:pt x="138" y="8538"/>
                  <a:pt x="126" y="8534"/>
                  <a:pt x="115" y="8530"/>
                </a:cubicBezTo>
                <a:cubicBezTo>
                  <a:pt x="104" y="8525"/>
                  <a:pt x="93" y="8519"/>
                  <a:pt x="83" y="8513"/>
                </a:cubicBezTo>
                <a:cubicBezTo>
                  <a:pt x="73" y="8506"/>
                  <a:pt x="63" y="8498"/>
                  <a:pt x="55" y="8489"/>
                </a:cubicBezTo>
                <a:cubicBezTo>
                  <a:pt x="46" y="8481"/>
                  <a:pt x="38" y="8471"/>
                  <a:pt x="31" y="8461"/>
                </a:cubicBezTo>
                <a:cubicBezTo>
                  <a:pt x="25" y="8451"/>
                  <a:pt x="19" y="8440"/>
                  <a:pt x="14" y="8429"/>
                </a:cubicBezTo>
                <a:cubicBezTo>
                  <a:pt x="10" y="8418"/>
                  <a:pt x="6" y="8406"/>
                  <a:pt x="4" y="8394"/>
                </a:cubicBezTo>
                <a:cubicBezTo>
                  <a:pt x="1" y="8382"/>
                  <a:pt x="0" y="8370"/>
                  <a:pt x="0" y="835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496" name="任意多邊形 495"/>
          <p:cNvSpPr/>
          <p:nvPr/>
        </p:nvSpPr>
        <p:spPr>
          <a:xfrm>
            <a:off x="668520" y="1504080"/>
            <a:ext cx="334440" cy="334440"/>
          </a:xfrm>
          <a:custGeom>
            <a:avLst/>
            <a:gdLst/>
            <a:ahLst/>
            <a:cxnLst/>
            <a:rect l="0" t="0" r="r" b="b"/>
            <a:pathLst>
              <a:path w="929" h="929">
                <a:moveTo>
                  <a:pt x="929" y="464"/>
                </a:moveTo>
                <a:cubicBezTo>
                  <a:pt x="929" y="495"/>
                  <a:pt x="926" y="525"/>
                  <a:pt x="920" y="555"/>
                </a:cubicBezTo>
                <a:cubicBezTo>
                  <a:pt x="914" y="585"/>
                  <a:pt x="905" y="614"/>
                  <a:pt x="894" y="642"/>
                </a:cubicBezTo>
                <a:cubicBezTo>
                  <a:pt x="882" y="670"/>
                  <a:pt x="868" y="697"/>
                  <a:pt x="851" y="722"/>
                </a:cubicBezTo>
                <a:cubicBezTo>
                  <a:pt x="834" y="747"/>
                  <a:pt x="815" y="771"/>
                  <a:pt x="793" y="792"/>
                </a:cubicBezTo>
                <a:cubicBezTo>
                  <a:pt x="772" y="814"/>
                  <a:pt x="748" y="833"/>
                  <a:pt x="723" y="850"/>
                </a:cubicBezTo>
                <a:cubicBezTo>
                  <a:pt x="697" y="867"/>
                  <a:pt x="671" y="881"/>
                  <a:pt x="642" y="893"/>
                </a:cubicBezTo>
                <a:cubicBezTo>
                  <a:pt x="614" y="905"/>
                  <a:pt x="585" y="914"/>
                  <a:pt x="555" y="919"/>
                </a:cubicBezTo>
                <a:cubicBezTo>
                  <a:pt x="525" y="925"/>
                  <a:pt x="495" y="929"/>
                  <a:pt x="465" y="929"/>
                </a:cubicBezTo>
                <a:cubicBezTo>
                  <a:pt x="433" y="929"/>
                  <a:pt x="403" y="925"/>
                  <a:pt x="373" y="919"/>
                </a:cubicBezTo>
                <a:cubicBezTo>
                  <a:pt x="343" y="914"/>
                  <a:pt x="314" y="905"/>
                  <a:pt x="286" y="893"/>
                </a:cubicBezTo>
                <a:cubicBezTo>
                  <a:pt x="258" y="881"/>
                  <a:pt x="231" y="867"/>
                  <a:pt x="206" y="850"/>
                </a:cubicBezTo>
                <a:cubicBezTo>
                  <a:pt x="181" y="833"/>
                  <a:pt x="157" y="814"/>
                  <a:pt x="136" y="792"/>
                </a:cubicBezTo>
                <a:cubicBezTo>
                  <a:pt x="114" y="771"/>
                  <a:pt x="95" y="747"/>
                  <a:pt x="78" y="722"/>
                </a:cubicBezTo>
                <a:cubicBezTo>
                  <a:pt x="61" y="697"/>
                  <a:pt x="47" y="670"/>
                  <a:pt x="35" y="642"/>
                </a:cubicBezTo>
                <a:cubicBezTo>
                  <a:pt x="23" y="614"/>
                  <a:pt x="14" y="585"/>
                  <a:pt x="8" y="555"/>
                </a:cubicBezTo>
                <a:cubicBezTo>
                  <a:pt x="3" y="525"/>
                  <a:pt x="0" y="495"/>
                  <a:pt x="0" y="464"/>
                </a:cubicBezTo>
                <a:cubicBezTo>
                  <a:pt x="0" y="434"/>
                  <a:pt x="3" y="403"/>
                  <a:pt x="8" y="374"/>
                </a:cubicBezTo>
                <a:cubicBezTo>
                  <a:pt x="14" y="344"/>
                  <a:pt x="23" y="315"/>
                  <a:pt x="35" y="286"/>
                </a:cubicBezTo>
                <a:cubicBezTo>
                  <a:pt x="47" y="258"/>
                  <a:pt x="61" y="232"/>
                  <a:pt x="78" y="206"/>
                </a:cubicBezTo>
                <a:cubicBezTo>
                  <a:pt x="95" y="181"/>
                  <a:pt x="114" y="157"/>
                  <a:pt x="136" y="136"/>
                </a:cubicBezTo>
                <a:cubicBezTo>
                  <a:pt x="157" y="114"/>
                  <a:pt x="181" y="95"/>
                  <a:pt x="206" y="78"/>
                </a:cubicBezTo>
                <a:cubicBezTo>
                  <a:pt x="231" y="61"/>
                  <a:pt x="258" y="47"/>
                  <a:pt x="286" y="35"/>
                </a:cubicBezTo>
                <a:cubicBezTo>
                  <a:pt x="314" y="24"/>
                  <a:pt x="343" y="15"/>
                  <a:pt x="373" y="9"/>
                </a:cubicBezTo>
                <a:cubicBezTo>
                  <a:pt x="403" y="3"/>
                  <a:pt x="433" y="0"/>
                  <a:pt x="465" y="0"/>
                </a:cubicBezTo>
                <a:cubicBezTo>
                  <a:pt x="495" y="0"/>
                  <a:pt x="525" y="3"/>
                  <a:pt x="555" y="9"/>
                </a:cubicBezTo>
                <a:cubicBezTo>
                  <a:pt x="585" y="15"/>
                  <a:pt x="614" y="24"/>
                  <a:pt x="642" y="35"/>
                </a:cubicBezTo>
                <a:cubicBezTo>
                  <a:pt x="671" y="47"/>
                  <a:pt x="697" y="61"/>
                  <a:pt x="723" y="78"/>
                </a:cubicBezTo>
                <a:cubicBezTo>
                  <a:pt x="748" y="95"/>
                  <a:pt x="772" y="114"/>
                  <a:pt x="793" y="136"/>
                </a:cubicBezTo>
                <a:cubicBezTo>
                  <a:pt x="815" y="157"/>
                  <a:pt x="834" y="181"/>
                  <a:pt x="851" y="206"/>
                </a:cubicBezTo>
                <a:cubicBezTo>
                  <a:pt x="868" y="232"/>
                  <a:pt x="882" y="258"/>
                  <a:pt x="894" y="286"/>
                </a:cubicBezTo>
                <a:cubicBezTo>
                  <a:pt x="905" y="315"/>
                  <a:pt x="914" y="344"/>
                  <a:pt x="920" y="374"/>
                </a:cubicBezTo>
                <a:cubicBezTo>
                  <a:pt x="926" y="403"/>
                  <a:pt x="929" y="434"/>
                  <a:pt x="929" y="464"/>
                </a:cubicBezTo>
                <a:close/>
              </a:path>
            </a:pathLst>
          </a:custGeom>
          <a:solidFill>
            <a:srgbClr val="3B82F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497" name="圖片 496"/>
          <p:cNvPicPr/>
          <p:nvPr/>
        </p:nvPicPr>
        <p:blipFill>
          <a:blip r:embed="rId6"/>
          <a:stretch>
            <a:fillRect/>
          </a:stretch>
        </p:blipFill>
        <p:spPr>
          <a:xfrm>
            <a:off x="760320" y="1596240"/>
            <a:ext cx="150120" cy="150120"/>
          </a:xfrm>
          <a:prstGeom prst="rect">
            <a:avLst/>
          </a:prstGeom>
          <a:noFill/>
          <a:ln w="0">
            <a:noFill/>
          </a:ln>
        </p:spPr>
      </p:pic>
      <p:sp>
        <p:nvSpPr>
          <p:cNvPr id="498" name="文字框 497"/>
          <p:cNvSpPr txBox="1"/>
          <p:nvPr/>
        </p:nvSpPr>
        <p:spPr>
          <a:xfrm>
            <a:off x="9824760" y="5732640"/>
            <a:ext cx="20574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9 / 24</a:t>
            </a:r>
            <a:endParaRPr lang="en-US" sz="920" b="0" u="none" strike="noStrike">
              <a:solidFill>
                <a:srgbClr val="000000"/>
              </a:solidFill>
              <a:effectLst/>
              <a:uFillTx/>
              <a:latin typeface="Times New Roman" panose="02020603050405020304"/>
            </a:endParaRPr>
          </a:p>
        </p:txBody>
      </p:sp>
      <p:sp>
        <p:nvSpPr>
          <p:cNvPr id="499" name="任意多邊形 498"/>
          <p:cNvSpPr/>
          <p:nvPr/>
        </p:nvSpPr>
        <p:spPr>
          <a:xfrm>
            <a:off x="668520" y="2172600"/>
            <a:ext cx="1554480" cy="67320"/>
          </a:xfrm>
          <a:custGeom>
            <a:avLst/>
            <a:gdLst/>
            <a:ahLst/>
            <a:cxnLst/>
            <a:rect l="0" t="0" r="r" b="b"/>
            <a:pathLst>
              <a:path w="4318" h="187">
                <a:moveTo>
                  <a:pt x="0" y="93"/>
                </a:moveTo>
                <a:cubicBezTo>
                  <a:pt x="0" y="80"/>
                  <a:pt x="2" y="69"/>
                  <a:pt x="7" y="57"/>
                </a:cubicBezTo>
                <a:cubicBezTo>
                  <a:pt x="11" y="46"/>
                  <a:pt x="18" y="36"/>
                  <a:pt x="27" y="27"/>
                </a:cubicBezTo>
                <a:cubicBezTo>
                  <a:pt x="35" y="18"/>
                  <a:pt x="45" y="12"/>
                  <a:pt x="57" y="7"/>
                </a:cubicBezTo>
                <a:cubicBezTo>
                  <a:pt x="68" y="2"/>
                  <a:pt x="80" y="0"/>
                  <a:pt x="92" y="0"/>
                </a:cubicBezTo>
                <a:lnTo>
                  <a:pt x="4225" y="0"/>
                </a:lnTo>
                <a:cubicBezTo>
                  <a:pt x="4238" y="0"/>
                  <a:pt x="4249" y="2"/>
                  <a:pt x="4261" y="7"/>
                </a:cubicBezTo>
                <a:cubicBezTo>
                  <a:pt x="4272" y="12"/>
                  <a:pt x="4282" y="18"/>
                  <a:pt x="4291" y="27"/>
                </a:cubicBezTo>
                <a:cubicBezTo>
                  <a:pt x="4300" y="36"/>
                  <a:pt x="4306" y="46"/>
                  <a:pt x="4311" y="57"/>
                </a:cubicBezTo>
                <a:cubicBezTo>
                  <a:pt x="4316" y="69"/>
                  <a:pt x="4318" y="80"/>
                  <a:pt x="4318" y="93"/>
                </a:cubicBezTo>
                <a:cubicBezTo>
                  <a:pt x="4318" y="105"/>
                  <a:pt x="4316" y="117"/>
                  <a:pt x="4311" y="128"/>
                </a:cubicBezTo>
                <a:cubicBezTo>
                  <a:pt x="4306" y="140"/>
                  <a:pt x="4300" y="150"/>
                  <a:pt x="4291" y="158"/>
                </a:cubicBezTo>
                <a:cubicBezTo>
                  <a:pt x="4282" y="168"/>
                  <a:pt x="4272" y="175"/>
                  <a:pt x="4261" y="180"/>
                </a:cubicBezTo>
                <a:cubicBezTo>
                  <a:pt x="4249" y="184"/>
                  <a:pt x="4238" y="187"/>
                  <a:pt x="4225" y="187"/>
                </a:cubicBezTo>
                <a:lnTo>
                  <a:pt x="92" y="187"/>
                </a:lnTo>
                <a:cubicBezTo>
                  <a:pt x="80" y="187"/>
                  <a:pt x="68" y="184"/>
                  <a:pt x="57" y="180"/>
                </a:cubicBezTo>
                <a:cubicBezTo>
                  <a:pt x="45" y="175"/>
                  <a:pt x="35" y="168"/>
                  <a:pt x="27" y="158"/>
                </a:cubicBezTo>
                <a:cubicBezTo>
                  <a:pt x="18" y="150"/>
                  <a:pt x="11" y="140"/>
                  <a:pt x="7" y="128"/>
                </a:cubicBezTo>
                <a:cubicBezTo>
                  <a:pt x="2" y="117"/>
                  <a:pt x="0" y="105"/>
                  <a:pt x="0" y="93"/>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00" name="任意多邊形 499"/>
          <p:cNvSpPr/>
          <p:nvPr/>
        </p:nvSpPr>
        <p:spPr>
          <a:xfrm>
            <a:off x="668520" y="2172600"/>
            <a:ext cx="1470960" cy="67320"/>
          </a:xfrm>
          <a:custGeom>
            <a:avLst/>
            <a:gdLst/>
            <a:ahLst/>
            <a:cxnLst/>
            <a:rect l="0" t="0" r="r" b="b"/>
            <a:pathLst>
              <a:path w="4086" h="187">
                <a:moveTo>
                  <a:pt x="0" y="93"/>
                </a:moveTo>
                <a:cubicBezTo>
                  <a:pt x="0" y="80"/>
                  <a:pt x="2" y="69"/>
                  <a:pt x="7" y="57"/>
                </a:cubicBezTo>
                <a:cubicBezTo>
                  <a:pt x="11" y="46"/>
                  <a:pt x="18" y="36"/>
                  <a:pt x="27" y="27"/>
                </a:cubicBezTo>
                <a:cubicBezTo>
                  <a:pt x="35" y="18"/>
                  <a:pt x="45" y="12"/>
                  <a:pt x="57" y="7"/>
                </a:cubicBezTo>
                <a:cubicBezTo>
                  <a:pt x="68" y="2"/>
                  <a:pt x="80" y="0"/>
                  <a:pt x="92" y="0"/>
                </a:cubicBezTo>
                <a:lnTo>
                  <a:pt x="3993" y="0"/>
                </a:lnTo>
                <a:cubicBezTo>
                  <a:pt x="4006" y="0"/>
                  <a:pt x="4017" y="2"/>
                  <a:pt x="4029" y="7"/>
                </a:cubicBezTo>
                <a:cubicBezTo>
                  <a:pt x="4040" y="12"/>
                  <a:pt x="4050" y="18"/>
                  <a:pt x="4059" y="27"/>
                </a:cubicBezTo>
                <a:cubicBezTo>
                  <a:pt x="4068" y="36"/>
                  <a:pt x="4074" y="46"/>
                  <a:pt x="4079" y="57"/>
                </a:cubicBezTo>
                <a:cubicBezTo>
                  <a:pt x="4084" y="69"/>
                  <a:pt x="4086" y="80"/>
                  <a:pt x="4086" y="93"/>
                </a:cubicBezTo>
                <a:cubicBezTo>
                  <a:pt x="4086" y="105"/>
                  <a:pt x="4084" y="117"/>
                  <a:pt x="4079" y="128"/>
                </a:cubicBezTo>
                <a:cubicBezTo>
                  <a:pt x="4074" y="140"/>
                  <a:pt x="4068" y="150"/>
                  <a:pt x="4059" y="158"/>
                </a:cubicBezTo>
                <a:cubicBezTo>
                  <a:pt x="4050" y="168"/>
                  <a:pt x="4040" y="175"/>
                  <a:pt x="4029" y="180"/>
                </a:cubicBezTo>
                <a:cubicBezTo>
                  <a:pt x="4017" y="184"/>
                  <a:pt x="4006" y="187"/>
                  <a:pt x="3993" y="187"/>
                </a:cubicBezTo>
                <a:lnTo>
                  <a:pt x="92" y="187"/>
                </a:lnTo>
                <a:cubicBezTo>
                  <a:pt x="80" y="187"/>
                  <a:pt x="68" y="184"/>
                  <a:pt x="57" y="180"/>
                </a:cubicBezTo>
                <a:cubicBezTo>
                  <a:pt x="45" y="175"/>
                  <a:pt x="35" y="168"/>
                  <a:pt x="27" y="158"/>
                </a:cubicBezTo>
                <a:cubicBezTo>
                  <a:pt x="18" y="150"/>
                  <a:pt x="11" y="140"/>
                  <a:pt x="7" y="128"/>
                </a:cubicBezTo>
                <a:cubicBezTo>
                  <a:pt x="2" y="117"/>
                  <a:pt x="0" y="105"/>
                  <a:pt x="0" y="93"/>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01" name="文字框 500"/>
          <p:cNvSpPr txBox="1"/>
          <p:nvPr/>
        </p:nvSpPr>
        <p:spPr>
          <a:xfrm>
            <a:off x="1103040" y="1576800"/>
            <a:ext cx="7552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股票与债券</a:t>
            </a:r>
            <a:endParaRPr lang="en-US" sz="1180" b="0" u="none" strike="noStrike">
              <a:solidFill>
                <a:srgbClr val="000000"/>
              </a:solidFill>
              <a:effectLst/>
              <a:uFillTx/>
              <a:latin typeface="Times New Roman" panose="02020603050405020304"/>
            </a:endParaRPr>
          </a:p>
        </p:txBody>
      </p:sp>
      <p:sp>
        <p:nvSpPr>
          <p:cNvPr id="502" name="文字框 501"/>
          <p:cNvSpPr txBox="1"/>
          <p:nvPr/>
        </p:nvSpPr>
        <p:spPr>
          <a:xfrm>
            <a:off x="668520" y="1968120"/>
            <a:ext cx="5875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市场准入度</a:t>
            </a:r>
            <a:endParaRPr lang="en-US" sz="920" b="0" u="none" strike="noStrike">
              <a:solidFill>
                <a:srgbClr val="000000"/>
              </a:solidFill>
              <a:effectLst/>
              <a:uFillTx/>
              <a:latin typeface="Times New Roman" panose="02020603050405020304"/>
            </a:endParaRPr>
          </a:p>
        </p:txBody>
      </p:sp>
      <p:pic>
        <p:nvPicPr>
          <p:cNvPr id="503" name="圖片 502"/>
          <p:cNvPicPr/>
          <p:nvPr/>
        </p:nvPicPr>
        <p:blipFill>
          <a:blip r:embed="rId7"/>
          <a:stretch>
            <a:fillRect/>
          </a:stretch>
        </p:blipFill>
        <p:spPr>
          <a:xfrm>
            <a:off x="668520" y="2406600"/>
            <a:ext cx="116640" cy="116640"/>
          </a:xfrm>
          <a:prstGeom prst="rect">
            <a:avLst/>
          </a:prstGeom>
          <a:noFill/>
          <a:ln w="0">
            <a:noFill/>
          </a:ln>
        </p:spPr>
      </p:pic>
      <p:sp>
        <p:nvSpPr>
          <p:cNvPr id="504" name="文字框 503"/>
          <p:cNvSpPr txBox="1"/>
          <p:nvPr/>
        </p:nvSpPr>
        <p:spPr>
          <a:xfrm>
            <a:off x="1951920" y="1951920"/>
            <a:ext cx="2689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最高</a:t>
            </a:r>
            <a:endParaRPr lang="en-US" sz="1050" b="0" u="none" strike="noStrike">
              <a:solidFill>
                <a:srgbClr val="000000"/>
              </a:solidFill>
              <a:effectLst/>
              <a:uFillTx/>
              <a:latin typeface="Times New Roman" panose="02020603050405020304"/>
            </a:endParaRPr>
          </a:p>
        </p:txBody>
      </p:sp>
      <p:sp>
        <p:nvSpPr>
          <p:cNvPr id="505" name="文字框 504"/>
          <p:cNvSpPr txBox="1"/>
          <p:nvPr/>
        </p:nvSpPr>
        <p:spPr>
          <a:xfrm>
            <a:off x="852480" y="238608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成熟的证券交易所和银行</a:t>
            </a:r>
            <a:endParaRPr lang="en-US" sz="920" b="0" u="none" strike="noStrike">
              <a:solidFill>
                <a:srgbClr val="000000"/>
              </a:solidFill>
              <a:effectLst/>
              <a:uFillTx/>
              <a:latin typeface="Times New Roman" panose="02020603050405020304"/>
            </a:endParaRPr>
          </a:p>
        </p:txBody>
      </p:sp>
      <p:pic>
        <p:nvPicPr>
          <p:cNvPr id="506" name="圖片 505"/>
          <p:cNvPicPr/>
          <p:nvPr/>
        </p:nvPicPr>
        <p:blipFill>
          <a:blip r:embed="rId7"/>
          <a:stretch>
            <a:fillRect/>
          </a:stretch>
        </p:blipFill>
        <p:spPr>
          <a:xfrm>
            <a:off x="668520" y="2808000"/>
            <a:ext cx="116640" cy="116640"/>
          </a:xfrm>
          <a:prstGeom prst="rect">
            <a:avLst/>
          </a:prstGeom>
          <a:noFill/>
          <a:ln w="0">
            <a:noFill/>
          </a:ln>
        </p:spPr>
      </p:pic>
      <p:sp>
        <p:nvSpPr>
          <p:cNvPr id="507" name="文字框 506"/>
          <p:cNvSpPr txBox="1"/>
          <p:nvPr/>
        </p:nvSpPr>
        <p:spPr>
          <a:xfrm>
            <a:off x="852480" y="2553120"/>
            <a:ext cx="3528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间市场</a:t>
            </a:r>
            <a:endParaRPr lang="en-US" sz="920" b="0" u="none" strike="noStrike">
              <a:solidFill>
                <a:srgbClr val="000000"/>
              </a:solidFill>
              <a:effectLst/>
              <a:uFillTx/>
              <a:latin typeface="Times New Roman" panose="02020603050405020304"/>
            </a:endParaRPr>
          </a:p>
        </p:txBody>
      </p:sp>
      <p:sp>
        <p:nvSpPr>
          <p:cNvPr id="508" name="文字框 507"/>
          <p:cNvSpPr txBox="1"/>
          <p:nvPr/>
        </p:nvSpPr>
        <p:spPr>
          <a:xfrm>
            <a:off x="852480" y="278712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监管体系完善，交易渠道</a:t>
            </a:r>
            <a:endParaRPr lang="en-US" sz="920" b="0" u="none" strike="noStrike">
              <a:solidFill>
                <a:srgbClr val="000000"/>
              </a:solidFill>
              <a:effectLst/>
              <a:uFillTx/>
              <a:latin typeface="Times New Roman" panose="02020603050405020304"/>
            </a:endParaRPr>
          </a:p>
        </p:txBody>
      </p:sp>
      <p:pic>
        <p:nvPicPr>
          <p:cNvPr id="509" name="圖片 508"/>
          <p:cNvPicPr/>
          <p:nvPr/>
        </p:nvPicPr>
        <p:blipFill>
          <a:blip r:embed="rId7"/>
          <a:stretch>
            <a:fillRect/>
          </a:stretch>
        </p:blipFill>
        <p:spPr>
          <a:xfrm>
            <a:off x="668520" y="3209040"/>
            <a:ext cx="116640" cy="116640"/>
          </a:xfrm>
          <a:prstGeom prst="rect">
            <a:avLst/>
          </a:prstGeom>
          <a:noFill/>
          <a:ln w="0">
            <a:noFill/>
          </a:ln>
        </p:spPr>
      </p:pic>
      <p:sp>
        <p:nvSpPr>
          <p:cNvPr id="510" name="文字框 509"/>
          <p:cNvSpPr txBox="1"/>
          <p:nvPr/>
        </p:nvSpPr>
        <p:spPr>
          <a:xfrm>
            <a:off x="852480" y="2954160"/>
            <a:ext cx="2354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多样</a:t>
            </a:r>
            <a:endParaRPr lang="en-US" sz="920" b="0" u="none" strike="noStrike">
              <a:solidFill>
                <a:srgbClr val="000000"/>
              </a:solidFill>
              <a:effectLst/>
              <a:uFillTx/>
              <a:latin typeface="Times New Roman" panose="02020603050405020304"/>
            </a:endParaRPr>
          </a:p>
        </p:txBody>
      </p:sp>
      <p:sp>
        <p:nvSpPr>
          <p:cNvPr id="511" name="文字框 510"/>
          <p:cNvSpPr txBox="1"/>
          <p:nvPr/>
        </p:nvSpPr>
        <p:spPr>
          <a:xfrm>
            <a:off x="852480" y="318816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中国债券市场持续对外开</a:t>
            </a:r>
            <a:endParaRPr lang="en-US" sz="920" b="0" u="none" strike="noStrike">
              <a:solidFill>
                <a:srgbClr val="000000"/>
              </a:solidFill>
              <a:effectLst/>
              <a:uFillTx/>
              <a:latin typeface="Times New Roman" panose="02020603050405020304"/>
            </a:endParaRPr>
          </a:p>
        </p:txBody>
      </p:sp>
      <p:sp>
        <p:nvSpPr>
          <p:cNvPr id="512" name="任意多邊形 511"/>
          <p:cNvSpPr/>
          <p:nvPr/>
        </p:nvSpPr>
        <p:spPr>
          <a:xfrm>
            <a:off x="2490120" y="1370160"/>
            <a:ext cx="1813680" cy="3075840"/>
          </a:xfrm>
          <a:custGeom>
            <a:avLst/>
            <a:gdLst/>
            <a:ahLst/>
            <a:cxnLst/>
            <a:rect l="0" t="0" r="r" b="b"/>
            <a:pathLst>
              <a:path w="5038" h="8544">
                <a:moveTo>
                  <a:pt x="0" y="8358"/>
                </a:moveTo>
                <a:lnTo>
                  <a:pt x="0" y="186"/>
                </a:lnTo>
                <a:cubicBezTo>
                  <a:pt x="0" y="174"/>
                  <a:pt x="1" y="162"/>
                  <a:pt x="4" y="150"/>
                </a:cubicBezTo>
                <a:cubicBezTo>
                  <a:pt x="6" y="138"/>
                  <a:pt x="9" y="126"/>
                  <a:pt x="14" y="115"/>
                </a:cubicBezTo>
                <a:cubicBezTo>
                  <a:pt x="19" y="104"/>
                  <a:pt x="25" y="93"/>
                  <a:pt x="31" y="83"/>
                </a:cubicBezTo>
                <a:cubicBezTo>
                  <a:pt x="38" y="73"/>
                  <a:pt x="46" y="63"/>
                  <a:pt x="54" y="55"/>
                </a:cubicBezTo>
                <a:cubicBezTo>
                  <a:pt x="63" y="46"/>
                  <a:pt x="72" y="39"/>
                  <a:pt x="83" y="32"/>
                </a:cubicBezTo>
                <a:cubicBezTo>
                  <a:pt x="93" y="25"/>
                  <a:pt x="103" y="19"/>
                  <a:pt x="115" y="15"/>
                </a:cubicBezTo>
                <a:cubicBezTo>
                  <a:pt x="126" y="10"/>
                  <a:pt x="138" y="6"/>
                  <a:pt x="149" y="4"/>
                </a:cubicBezTo>
                <a:cubicBezTo>
                  <a:pt x="161" y="2"/>
                  <a:pt x="174" y="0"/>
                  <a:pt x="186" y="0"/>
                </a:cubicBezTo>
                <a:lnTo>
                  <a:pt x="4853" y="0"/>
                </a:lnTo>
                <a:cubicBezTo>
                  <a:pt x="4865" y="0"/>
                  <a:pt x="4877" y="2"/>
                  <a:pt x="4889" y="4"/>
                </a:cubicBezTo>
                <a:cubicBezTo>
                  <a:pt x="4901" y="6"/>
                  <a:pt x="4912" y="10"/>
                  <a:pt x="4924" y="15"/>
                </a:cubicBezTo>
                <a:cubicBezTo>
                  <a:pt x="4935" y="19"/>
                  <a:pt x="4946" y="25"/>
                  <a:pt x="4956" y="32"/>
                </a:cubicBezTo>
                <a:cubicBezTo>
                  <a:pt x="4966" y="39"/>
                  <a:pt x="4975" y="46"/>
                  <a:pt x="4984" y="55"/>
                </a:cubicBezTo>
                <a:cubicBezTo>
                  <a:pt x="4992" y="63"/>
                  <a:pt x="5000" y="73"/>
                  <a:pt x="5007" y="83"/>
                </a:cubicBezTo>
                <a:cubicBezTo>
                  <a:pt x="5014" y="93"/>
                  <a:pt x="5019" y="104"/>
                  <a:pt x="5024" y="115"/>
                </a:cubicBezTo>
                <a:cubicBezTo>
                  <a:pt x="5029" y="126"/>
                  <a:pt x="5032" y="138"/>
                  <a:pt x="5035" y="150"/>
                </a:cubicBezTo>
                <a:cubicBezTo>
                  <a:pt x="5037" y="162"/>
                  <a:pt x="5038" y="174"/>
                  <a:pt x="5038" y="186"/>
                </a:cubicBezTo>
                <a:lnTo>
                  <a:pt x="5038" y="8358"/>
                </a:lnTo>
                <a:cubicBezTo>
                  <a:pt x="5038" y="8370"/>
                  <a:pt x="5037" y="8382"/>
                  <a:pt x="5035" y="8394"/>
                </a:cubicBezTo>
                <a:cubicBezTo>
                  <a:pt x="5032" y="8406"/>
                  <a:pt x="5029" y="8418"/>
                  <a:pt x="5024" y="8429"/>
                </a:cubicBezTo>
                <a:cubicBezTo>
                  <a:pt x="5019" y="8440"/>
                  <a:pt x="5014" y="8451"/>
                  <a:pt x="5007" y="8461"/>
                </a:cubicBezTo>
                <a:cubicBezTo>
                  <a:pt x="5000" y="8471"/>
                  <a:pt x="4992" y="8481"/>
                  <a:pt x="4984" y="8489"/>
                </a:cubicBezTo>
                <a:cubicBezTo>
                  <a:pt x="4975" y="8498"/>
                  <a:pt x="4966" y="8506"/>
                  <a:pt x="4956" y="8513"/>
                </a:cubicBezTo>
                <a:cubicBezTo>
                  <a:pt x="4946" y="8519"/>
                  <a:pt x="4935" y="8525"/>
                  <a:pt x="4924" y="8530"/>
                </a:cubicBezTo>
                <a:cubicBezTo>
                  <a:pt x="4912" y="8534"/>
                  <a:pt x="4901" y="8538"/>
                  <a:pt x="4889" y="8540"/>
                </a:cubicBezTo>
                <a:cubicBezTo>
                  <a:pt x="4877" y="8543"/>
                  <a:pt x="4865" y="8544"/>
                  <a:pt x="4853" y="8544"/>
                </a:cubicBezTo>
                <a:lnTo>
                  <a:pt x="186" y="8544"/>
                </a:lnTo>
                <a:cubicBezTo>
                  <a:pt x="174" y="8544"/>
                  <a:pt x="161" y="8543"/>
                  <a:pt x="149" y="8540"/>
                </a:cubicBezTo>
                <a:cubicBezTo>
                  <a:pt x="138" y="8538"/>
                  <a:pt x="126" y="8534"/>
                  <a:pt x="115" y="8530"/>
                </a:cubicBezTo>
                <a:cubicBezTo>
                  <a:pt x="103" y="8525"/>
                  <a:pt x="93" y="8519"/>
                  <a:pt x="83" y="8513"/>
                </a:cubicBezTo>
                <a:cubicBezTo>
                  <a:pt x="72" y="8506"/>
                  <a:pt x="63" y="8498"/>
                  <a:pt x="54" y="8489"/>
                </a:cubicBezTo>
                <a:cubicBezTo>
                  <a:pt x="46" y="8481"/>
                  <a:pt x="38" y="8471"/>
                  <a:pt x="31" y="8461"/>
                </a:cubicBezTo>
                <a:cubicBezTo>
                  <a:pt x="25" y="8451"/>
                  <a:pt x="19" y="8440"/>
                  <a:pt x="14" y="8429"/>
                </a:cubicBezTo>
                <a:cubicBezTo>
                  <a:pt x="9" y="8418"/>
                  <a:pt x="6" y="8406"/>
                  <a:pt x="4" y="8394"/>
                </a:cubicBezTo>
                <a:cubicBezTo>
                  <a:pt x="1" y="8382"/>
                  <a:pt x="0" y="8370"/>
                  <a:pt x="0" y="835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13" name="任意多邊形 512"/>
          <p:cNvSpPr/>
          <p:nvPr/>
        </p:nvSpPr>
        <p:spPr>
          <a:xfrm>
            <a:off x="2623680" y="1504080"/>
            <a:ext cx="334800" cy="334440"/>
          </a:xfrm>
          <a:custGeom>
            <a:avLst/>
            <a:gdLst/>
            <a:ahLst/>
            <a:cxnLst/>
            <a:rect l="0" t="0" r="r" b="b"/>
            <a:pathLst>
              <a:path w="930" h="929">
                <a:moveTo>
                  <a:pt x="930" y="464"/>
                </a:moveTo>
                <a:cubicBezTo>
                  <a:pt x="930" y="495"/>
                  <a:pt x="927" y="525"/>
                  <a:pt x="921" y="555"/>
                </a:cubicBezTo>
                <a:cubicBezTo>
                  <a:pt x="915" y="585"/>
                  <a:pt x="906" y="614"/>
                  <a:pt x="895" y="642"/>
                </a:cubicBezTo>
                <a:cubicBezTo>
                  <a:pt x="883" y="670"/>
                  <a:pt x="869" y="697"/>
                  <a:pt x="852" y="722"/>
                </a:cubicBezTo>
                <a:cubicBezTo>
                  <a:pt x="835" y="747"/>
                  <a:pt x="815" y="771"/>
                  <a:pt x="794" y="792"/>
                </a:cubicBezTo>
                <a:cubicBezTo>
                  <a:pt x="772" y="814"/>
                  <a:pt x="749" y="833"/>
                  <a:pt x="724" y="850"/>
                </a:cubicBezTo>
                <a:cubicBezTo>
                  <a:pt x="698" y="867"/>
                  <a:pt x="671" y="881"/>
                  <a:pt x="643" y="893"/>
                </a:cubicBezTo>
                <a:cubicBezTo>
                  <a:pt x="615" y="905"/>
                  <a:pt x="585" y="914"/>
                  <a:pt x="555" y="919"/>
                </a:cubicBezTo>
                <a:cubicBezTo>
                  <a:pt x="525" y="925"/>
                  <a:pt x="495" y="929"/>
                  <a:pt x="465" y="929"/>
                </a:cubicBezTo>
                <a:cubicBezTo>
                  <a:pt x="434" y="929"/>
                  <a:pt x="404" y="925"/>
                  <a:pt x="374" y="919"/>
                </a:cubicBezTo>
                <a:cubicBezTo>
                  <a:pt x="344" y="914"/>
                  <a:pt x="315" y="905"/>
                  <a:pt x="287" y="893"/>
                </a:cubicBezTo>
                <a:cubicBezTo>
                  <a:pt x="259" y="881"/>
                  <a:pt x="232" y="867"/>
                  <a:pt x="207" y="850"/>
                </a:cubicBezTo>
                <a:cubicBezTo>
                  <a:pt x="181" y="833"/>
                  <a:pt x="158" y="814"/>
                  <a:pt x="136" y="792"/>
                </a:cubicBezTo>
                <a:cubicBezTo>
                  <a:pt x="115" y="771"/>
                  <a:pt x="96" y="747"/>
                  <a:pt x="79" y="722"/>
                </a:cubicBezTo>
                <a:cubicBezTo>
                  <a:pt x="62" y="697"/>
                  <a:pt x="47" y="670"/>
                  <a:pt x="36" y="642"/>
                </a:cubicBezTo>
                <a:cubicBezTo>
                  <a:pt x="24" y="614"/>
                  <a:pt x="15" y="585"/>
                  <a:pt x="9" y="555"/>
                </a:cubicBezTo>
                <a:cubicBezTo>
                  <a:pt x="3" y="525"/>
                  <a:pt x="0" y="495"/>
                  <a:pt x="0" y="464"/>
                </a:cubicBezTo>
                <a:cubicBezTo>
                  <a:pt x="0" y="434"/>
                  <a:pt x="3" y="403"/>
                  <a:pt x="9" y="374"/>
                </a:cubicBezTo>
                <a:cubicBezTo>
                  <a:pt x="15" y="344"/>
                  <a:pt x="24" y="315"/>
                  <a:pt x="36" y="286"/>
                </a:cubicBezTo>
                <a:cubicBezTo>
                  <a:pt x="47" y="258"/>
                  <a:pt x="62" y="232"/>
                  <a:pt x="79" y="206"/>
                </a:cubicBezTo>
                <a:cubicBezTo>
                  <a:pt x="96" y="181"/>
                  <a:pt x="115" y="157"/>
                  <a:pt x="136" y="136"/>
                </a:cubicBezTo>
                <a:cubicBezTo>
                  <a:pt x="158" y="114"/>
                  <a:pt x="181" y="95"/>
                  <a:pt x="207" y="78"/>
                </a:cubicBezTo>
                <a:cubicBezTo>
                  <a:pt x="232" y="61"/>
                  <a:pt x="259" y="47"/>
                  <a:pt x="287" y="35"/>
                </a:cubicBezTo>
                <a:cubicBezTo>
                  <a:pt x="315" y="24"/>
                  <a:pt x="344" y="15"/>
                  <a:pt x="374" y="9"/>
                </a:cubicBezTo>
                <a:cubicBezTo>
                  <a:pt x="404" y="3"/>
                  <a:pt x="434" y="0"/>
                  <a:pt x="465" y="0"/>
                </a:cubicBezTo>
                <a:cubicBezTo>
                  <a:pt x="495" y="0"/>
                  <a:pt x="525" y="3"/>
                  <a:pt x="555" y="9"/>
                </a:cubicBezTo>
                <a:cubicBezTo>
                  <a:pt x="585" y="15"/>
                  <a:pt x="615" y="24"/>
                  <a:pt x="643" y="35"/>
                </a:cubicBezTo>
                <a:cubicBezTo>
                  <a:pt x="671" y="47"/>
                  <a:pt x="698" y="61"/>
                  <a:pt x="724" y="78"/>
                </a:cubicBezTo>
                <a:cubicBezTo>
                  <a:pt x="749" y="95"/>
                  <a:pt x="772" y="114"/>
                  <a:pt x="794" y="136"/>
                </a:cubicBezTo>
                <a:cubicBezTo>
                  <a:pt x="815" y="157"/>
                  <a:pt x="835" y="181"/>
                  <a:pt x="852" y="206"/>
                </a:cubicBezTo>
                <a:cubicBezTo>
                  <a:pt x="869" y="232"/>
                  <a:pt x="883" y="258"/>
                  <a:pt x="895" y="286"/>
                </a:cubicBezTo>
                <a:cubicBezTo>
                  <a:pt x="906" y="315"/>
                  <a:pt x="915" y="344"/>
                  <a:pt x="921" y="374"/>
                </a:cubicBezTo>
                <a:cubicBezTo>
                  <a:pt x="927" y="403"/>
                  <a:pt x="930" y="434"/>
                  <a:pt x="930" y="464"/>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514" name="圖片 513"/>
          <p:cNvPicPr/>
          <p:nvPr/>
        </p:nvPicPr>
        <p:blipFill>
          <a:blip r:embed="rId8"/>
          <a:stretch>
            <a:fillRect/>
          </a:stretch>
        </p:blipFill>
        <p:spPr>
          <a:xfrm>
            <a:off x="2707560" y="1596240"/>
            <a:ext cx="166680" cy="150120"/>
          </a:xfrm>
          <a:prstGeom prst="rect">
            <a:avLst/>
          </a:prstGeom>
          <a:noFill/>
          <a:ln w="0">
            <a:noFill/>
          </a:ln>
        </p:spPr>
      </p:pic>
      <p:sp>
        <p:nvSpPr>
          <p:cNvPr id="515" name="文字框 514"/>
          <p:cNvSpPr txBox="1"/>
          <p:nvPr/>
        </p:nvSpPr>
        <p:spPr>
          <a:xfrm>
            <a:off x="852480" y="3355200"/>
            <a:ext cx="1180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放</a:t>
            </a:r>
            <a:endParaRPr lang="en-US" sz="920" b="0" u="none" strike="noStrike">
              <a:solidFill>
                <a:srgbClr val="000000"/>
              </a:solidFill>
              <a:effectLst/>
              <a:uFillTx/>
              <a:latin typeface="Times New Roman" panose="02020603050405020304"/>
            </a:endParaRPr>
          </a:p>
        </p:txBody>
      </p:sp>
      <p:sp>
        <p:nvSpPr>
          <p:cNvPr id="516" name="任意多邊形 515"/>
          <p:cNvSpPr/>
          <p:nvPr/>
        </p:nvSpPr>
        <p:spPr>
          <a:xfrm>
            <a:off x="2623680" y="2172600"/>
            <a:ext cx="1546560" cy="67320"/>
          </a:xfrm>
          <a:custGeom>
            <a:avLst/>
            <a:gdLst/>
            <a:ahLst/>
            <a:cxnLst/>
            <a:rect l="0" t="0" r="r" b="b"/>
            <a:pathLst>
              <a:path w="4296" h="187">
                <a:moveTo>
                  <a:pt x="0" y="93"/>
                </a:moveTo>
                <a:cubicBezTo>
                  <a:pt x="0" y="80"/>
                  <a:pt x="3" y="69"/>
                  <a:pt x="7" y="57"/>
                </a:cubicBezTo>
                <a:cubicBezTo>
                  <a:pt x="12" y="46"/>
                  <a:pt x="19" y="36"/>
                  <a:pt x="28" y="27"/>
                </a:cubicBezTo>
                <a:cubicBezTo>
                  <a:pt x="36" y="18"/>
                  <a:pt x="46" y="12"/>
                  <a:pt x="58" y="7"/>
                </a:cubicBezTo>
                <a:cubicBezTo>
                  <a:pt x="69" y="2"/>
                  <a:pt x="81" y="0"/>
                  <a:pt x="93" y="0"/>
                </a:cubicBezTo>
                <a:lnTo>
                  <a:pt x="4203" y="0"/>
                </a:lnTo>
                <a:cubicBezTo>
                  <a:pt x="4215" y="0"/>
                  <a:pt x="4227" y="2"/>
                  <a:pt x="4238" y="7"/>
                </a:cubicBezTo>
                <a:cubicBezTo>
                  <a:pt x="4250" y="12"/>
                  <a:pt x="4260" y="18"/>
                  <a:pt x="4269" y="27"/>
                </a:cubicBezTo>
                <a:cubicBezTo>
                  <a:pt x="4277" y="36"/>
                  <a:pt x="4284" y="46"/>
                  <a:pt x="4289" y="57"/>
                </a:cubicBezTo>
                <a:cubicBezTo>
                  <a:pt x="4293" y="69"/>
                  <a:pt x="4296" y="80"/>
                  <a:pt x="4296" y="93"/>
                </a:cubicBezTo>
                <a:cubicBezTo>
                  <a:pt x="4296" y="105"/>
                  <a:pt x="4293" y="117"/>
                  <a:pt x="4289" y="128"/>
                </a:cubicBezTo>
                <a:cubicBezTo>
                  <a:pt x="4284" y="140"/>
                  <a:pt x="4277" y="150"/>
                  <a:pt x="4269" y="158"/>
                </a:cubicBezTo>
                <a:cubicBezTo>
                  <a:pt x="4260" y="168"/>
                  <a:pt x="4250" y="175"/>
                  <a:pt x="4238" y="180"/>
                </a:cubicBezTo>
                <a:cubicBezTo>
                  <a:pt x="4227" y="184"/>
                  <a:pt x="4215" y="187"/>
                  <a:pt x="4203" y="187"/>
                </a:cubicBezTo>
                <a:lnTo>
                  <a:pt x="93" y="187"/>
                </a:lnTo>
                <a:cubicBezTo>
                  <a:pt x="81" y="187"/>
                  <a:pt x="69" y="184"/>
                  <a:pt x="58" y="180"/>
                </a:cubicBezTo>
                <a:cubicBezTo>
                  <a:pt x="46" y="175"/>
                  <a:pt x="36" y="168"/>
                  <a:pt x="28" y="158"/>
                </a:cubicBezTo>
                <a:cubicBezTo>
                  <a:pt x="19" y="150"/>
                  <a:pt x="12" y="140"/>
                  <a:pt x="7" y="128"/>
                </a:cubicBezTo>
                <a:cubicBezTo>
                  <a:pt x="3" y="117"/>
                  <a:pt x="0" y="105"/>
                  <a:pt x="0" y="93"/>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17" name="任意多邊形 516"/>
          <p:cNvSpPr/>
          <p:nvPr/>
        </p:nvSpPr>
        <p:spPr>
          <a:xfrm>
            <a:off x="2623680" y="2172600"/>
            <a:ext cx="460080" cy="67320"/>
          </a:xfrm>
          <a:custGeom>
            <a:avLst/>
            <a:gdLst/>
            <a:ahLst/>
            <a:cxnLst/>
            <a:rect l="0" t="0" r="r" b="b"/>
            <a:pathLst>
              <a:path w="1278" h="187">
                <a:moveTo>
                  <a:pt x="0" y="93"/>
                </a:moveTo>
                <a:cubicBezTo>
                  <a:pt x="0" y="80"/>
                  <a:pt x="3" y="69"/>
                  <a:pt x="7" y="57"/>
                </a:cubicBezTo>
                <a:cubicBezTo>
                  <a:pt x="12" y="46"/>
                  <a:pt x="19" y="36"/>
                  <a:pt x="28" y="27"/>
                </a:cubicBezTo>
                <a:cubicBezTo>
                  <a:pt x="36" y="18"/>
                  <a:pt x="46" y="12"/>
                  <a:pt x="58" y="7"/>
                </a:cubicBezTo>
                <a:cubicBezTo>
                  <a:pt x="69" y="2"/>
                  <a:pt x="81" y="0"/>
                  <a:pt x="93" y="0"/>
                </a:cubicBezTo>
                <a:lnTo>
                  <a:pt x="1185" y="0"/>
                </a:lnTo>
                <a:cubicBezTo>
                  <a:pt x="1198" y="0"/>
                  <a:pt x="1209" y="2"/>
                  <a:pt x="1221" y="7"/>
                </a:cubicBezTo>
                <a:cubicBezTo>
                  <a:pt x="1232" y="12"/>
                  <a:pt x="1242" y="18"/>
                  <a:pt x="1251" y="27"/>
                </a:cubicBezTo>
                <a:cubicBezTo>
                  <a:pt x="1260" y="36"/>
                  <a:pt x="1266" y="46"/>
                  <a:pt x="1271" y="57"/>
                </a:cubicBezTo>
                <a:cubicBezTo>
                  <a:pt x="1276" y="69"/>
                  <a:pt x="1278" y="80"/>
                  <a:pt x="1278" y="93"/>
                </a:cubicBezTo>
                <a:cubicBezTo>
                  <a:pt x="1278" y="105"/>
                  <a:pt x="1276" y="117"/>
                  <a:pt x="1271" y="128"/>
                </a:cubicBezTo>
                <a:cubicBezTo>
                  <a:pt x="1266" y="140"/>
                  <a:pt x="1260" y="150"/>
                  <a:pt x="1251" y="158"/>
                </a:cubicBezTo>
                <a:cubicBezTo>
                  <a:pt x="1242" y="168"/>
                  <a:pt x="1232" y="175"/>
                  <a:pt x="1221" y="180"/>
                </a:cubicBezTo>
                <a:cubicBezTo>
                  <a:pt x="1209" y="184"/>
                  <a:pt x="1198" y="187"/>
                  <a:pt x="1185" y="187"/>
                </a:cubicBezTo>
                <a:lnTo>
                  <a:pt x="93" y="187"/>
                </a:lnTo>
                <a:cubicBezTo>
                  <a:pt x="81" y="187"/>
                  <a:pt x="69" y="184"/>
                  <a:pt x="58" y="180"/>
                </a:cubicBezTo>
                <a:cubicBezTo>
                  <a:pt x="46" y="175"/>
                  <a:pt x="36" y="168"/>
                  <a:pt x="28" y="158"/>
                </a:cubicBezTo>
                <a:cubicBezTo>
                  <a:pt x="19" y="150"/>
                  <a:pt x="12" y="140"/>
                  <a:pt x="7" y="128"/>
                </a:cubicBezTo>
                <a:cubicBezTo>
                  <a:pt x="3" y="117"/>
                  <a:pt x="0" y="105"/>
                  <a:pt x="0" y="93"/>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518" name="文字框 517"/>
          <p:cNvSpPr txBox="1"/>
          <p:nvPr/>
        </p:nvSpPr>
        <p:spPr>
          <a:xfrm>
            <a:off x="3055320" y="1576800"/>
            <a:ext cx="45324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房地产</a:t>
            </a:r>
            <a:endParaRPr lang="en-US" sz="1180" b="0" u="none" strike="noStrike">
              <a:solidFill>
                <a:srgbClr val="000000"/>
              </a:solidFill>
              <a:effectLst/>
              <a:uFillTx/>
              <a:latin typeface="Times New Roman" panose="02020603050405020304"/>
            </a:endParaRPr>
          </a:p>
        </p:txBody>
      </p:sp>
      <p:sp>
        <p:nvSpPr>
          <p:cNvPr id="519" name="文字框 518"/>
          <p:cNvSpPr txBox="1"/>
          <p:nvPr/>
        </p:nvSpPr>
        <p:spPr>
          <a:xfrm>
            <a:off x="2620440" y="1968120"/>
            <a:ext cx="5875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市场准入度</a:t>
            </a:r>
            <a:endParaRPr lang="en-US" sz="920" b="0" u="none" strike="noStrike">
              <a:solidFill>
                <a:srgbClr val="000000"/>
              </a:solidFill>
              <a:effectLst/>
              <a:uFillTx/>
              <a:latin typeface="Times New Roman" panose="02020603050405020304"/>
            </a:endParaRPr>
          </a:p>
        </p:txBody>
      </p:sp>
      <p:pic>
        <p:nvPicPr>
          <p:cNvPr id="520" name="圖片 519"/>
          <p:cNvPicPr/>
          <p:nvPr/>
        </p:nvPicPr>
        <p:blipFill>
          <a:blip r:embed="rId9"/>
          <a:stretch>
            <a:fillRect/>
          </a:stretch>
        </p:blipFill>
        <p:spPr>
          <a:xfrm>
            <a:off x="2624040" y="2406600"/>
            <a:ext cx="116640" cy="116640"/>
          </a:xfrm>
          <a:prstGeom prst="rect">
            <a:avLst/>
          </a:prstGeom>
          <a:noFill/>
          <a:ln w="0">
            <a:noFill/>
          </a:ln>
        </p:spPr>
      </p:pic>
      <p:sp>
        <p:nvSpPr>
          <p:cNvPr id="521" name="文字框 520"/>
          <p:cNvSpPr txBox="1"/>
          <p:nvPr/>
        </p:nvSpPr>
        <p:spPr>
          <a:xfrm>
            <a:off x="4037760" y="1951920"/>
            <a:ext cx="1350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低</a:t>
            </a:r>
            <a:endParaRPr lang="en-US" sz="1050" b="0" u="none" strike="noStrike">
              <a:solidFill>
                <a:srgbClr val="000000"/>
              </a:solidFill>
              <a:effectLst/>
              <a:uFillTx/>
              <a:latin typeface="Times New Roman" panose="02020603050405020304"/>
            </a:endParaRPr>
          </a:p>
        </p:txBody>
      </p:sp>
      <p:pic>
        <p:nvPicPr>
          <p:cNvPr id="522" name="圖片 521"/>
          <p:cNvPicPr/>
          <p:nvPr/>
        </p:nvPicPr>
        <p:blipFill>
          <a:blip r:embed="rId9"/>
          <a:stretch>
            <a:fillRect/>
          </a:stretch>
        </p:blipFill>
        <p:spPr>
          <a:xfrm>
            <a:off x="2624040" y="2640600"/>
            <a:ext cx="116640" cy="116640"/>
          </a:xfrm>
          <a:prstGeom prst="rect">
            <a:avLst/>
          </a:prstGeom>
          <a:noFill/>
          <a:ln w="0">
            <a:noFill/>
          </a:ln>
        </p:spPr>
      </p:pic>
      <p:sp>
        <p:nvSpPr>
          <p:cNvPr id="523" name="文字框 522"/>
          <p:cNvSpPr txBox="1"/>
          <p:nvPr/>
        </p:nvSpPr>
        <p:spPr>
          <a:xfrm>
            <a:off x="2804400" y="238608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市场准入受政策影响极大</a:t>
            </a:r>
            <a:endParaRPr lang="en-US" sz="920" b="0" u="none" strike="noStrike">
              <a:solidFill>
                <a:srgbClr val="000000"/>
              </a:solidFill>
              <a:effectLst/>
              <a:uFillTx/>
              <a:latin typeface="Times New Roman" panose="02020603050405020304"/>
            </a:endParaRPr>
          </a:p>
        </p:txBody>
      </p:sp>
      <p:sp>
        <p:nvSpPr>
          <p:cNvPr id="524" name="文字框 523"/>
          <p:cNvSpPr txBox="1"/>
          <p:nvPr/>
        </p:nvSpPr>
        <p:spPr>
          <a:xfrm>
            <a:off x="2804400" y="262008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各国对外资有严格的准入</a:t>
            </a:r>
            <a:endParaRPr lang="en-US" sz="920" b="0" u="none" strike="noStrike">
              <a:solidFill>
                <a:srgbClr val="000000"/>
              </a:solidFill>
              <a:effectLst/>
              <a:uFillTx/>
              <a:latin typeface="Times New Roman" panose="02020603050405020304"/>
            </a:endParaRPr>
          </a:p>
        </p:txBody>
      </p:sp>
      <p:pic>
        <p:nvPicPr>
          <p:cNvPr id="525" name="圖片 524"/>
          <p:cNvPicPr/>
          <p:nvPr/>
        </p:nvPicPr>
        <p:blipFill>
          <a:blip r:embed="rId9"/>
          <a:stretch>
            <a:fillRect/>
          </a:stretch>
        </p:blipFill>
        <p:spPr>
          <a:xfrm>
            <a:off x="2624040" y="3042000"/>
            <a:ext cx="116640" cy="116640"/>
          </a:xfrm>
          <a:prstGeom prst="rect">
            <a:avLst/>
          </a:prstGeom>
          <a:noFill/>
          <a:ln w="0">
            <a:noFill/>
          </a:ln>
        </p:spPr>
      </p:pic>
      <p:sp>
        <p:nvSpPr>
          <p:cNvPr id="526" name="文字框 525"/>
          <p:cNvSpPr txBox="1"/>
          <p:nvPr/>
        </p:nvSpPr>
        <p:spPr>
          <a:xfrm>
            <a:off x="2804400" y="2787120"/>
            <a:ext cx="2354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管理</a:t>
            </a:r>
            <a:endParaRPr lang="en-US" sz="920" b="0" u="none" strike="noStrike">
              <a:solidFill>
                <a:srgbClr val="000000"/>
              </a:solidFill>
              <a:effectLst/>
              <a:uFillTx/>
              <a:latin typeface="Times New Roman" panose="02020603050405020304"/>
            </a:endParaRPr>
          </a:p>
        </p:txBody>
      </p:sp>
      <p:sp>
        <p:nvSpPr>
          <p:cNvPr id="527" name="文字框 526"/>
          <p:cNvSpPr txBox="1"/>
          <p:nvPr/>
        </p:nvSpPr>
        <p:spPr>
          <a:xfrm>
            <a:off x="2804400" y="302112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交易过程复杂，涉及多个</a:t>
            </a:r>
            <a:endParaRPr lang="en-US" sz="920" b="0" u="none" strike="noStrike">
              <a:solidFill>
                <a:srgbClr val="000000"/>
              </a:solidFill>
              <a:effectLst/>
              <a:uFillTx/>
              <a:latin typeface="Times New Roman" panose="02020603050405020304"/>
            </a:endParaRPr>
          </a:p>
        </p:txBody>
      </p:sp>
      <p:sp>
        <p:nvSpPr>
          <p:cNvPr id="528" name="任意多邊形 527"/>
          <p:cNvSpPr/>
          <p:nvPr/>
        </p:nvSpPr>
        <p:spPr>
          <a:xfrm>
            <a:off x="4437360" y="1370160"/>
            <a:ext cx="1821960" cy="3075840"/>
          </a:xfrm>
          <a:custGeom>
            <a:avLst/>
            <a:gdLst/>
            <a:ahLst/>
            <a:cxnLst/>
            <a:rect l="0" t="0" r="r" b="b"/>
            <a:pathLst>
              <a:path w="5061" h="8544">
                <a:moveTo>
                  <a:pt x="0" y="8358"/>
                </a:moveTo>
                <a:lnTo>
                  <a:pt x="0" y="186"/>
                </a:lnTo>
                <a:cubicBezTo>
                  <a:pt x="0" y="174"/>
                  <a:pt x="1" y="162"/>
                  <a:pt x="3" y="150"/>
                </a:cubicBezTo>
                <a:cubicBezTo>
                  <a:pt x="6" y="138"/>
                  <a:pt x="9" y="126"/>
                  <a:pt x="14" y="115"/>
                </a:cubicBezTo>
                <a:cubicBezTo>
                  <a:pt x="18" y="104"/>
                  <a:pt x="24" y="93"/>
                  <a:pt x="31" y="83"/>
                </a:cubicBezTo>
                <a:cubicBezTo>
                  <a:pt x="38" y="73"/>
                  <a:pt x="45" y="63"/>
                  <a:pt x="54" y="55"/>
                </a:cubicBezTo>
                <a:cubicBezTo>
                  <a:pt x="63" y="46"/>
                  <a:pt x="72" y="39"/>
                  <a:pt x="82" y="32"/>
                </a:cubicBezTo>
                <a:cubicBezTo>
                  <a:pt x="92" y="25"/>
                  <a:pt x="103" y="19"/>
                  <a:pt x="114" y="15"/>
                </a:cubicBezTo>
                <a:cubicBezTo>
                  <a:pt x="126" y="10"/>
                  <a:pt x="137" y="6"/>
                  <a:pt x="149" y="4"/>
                </a:cubicBezTo>
                <a:cubicBezTo>
                  <a:pt x="161" y="2"/>
                  <a:pt x="173" y="0"/>
                  <a:pt x="185" y="0"/>
                </a:cubicBezTo>
                <a:lnTo>
                  <a:pt x="4875" y="0"/>
                </a:lnTo>
                <a:cubicBezTo>
                  <a:pt x="4888" y="0"/>
                  <a:pt x="4900" y="2"/>
                  <a:pt x="4912" y="4"/>
                </a:cubicBezTo>
                <a:cubicBezTo>
                  <a:pt x="4924" y="6"/>
                  <a:pt x="4935" y="10"/>
                  <a:pt x="4946" y="15"/>
                </a:cubicBezTo>
                <a:cubicBezTo>
                  <a:pt x="4958" y="19"/>
                  <a:pt x="4968" y="25"/>
                  <a:pt x="4979" y="32"/>
                </a:cubicBezTo>
                <a:cubicBezTo>
                  <a:pt x="4989" y="39"/>
                  <a:pt x="4998" y="46"/>
                  <a:pt x="5007" y="55"/>
                </a:cubicBezTo>
                <a:cubicBezTo>
                  <a:pt x="5015" y="63"/>
                  <a:pt x="5023" y="73"/>
                  <a:pt x="5030" y="83"/>
                </a:cubicBezTo>
                <a:cubicBezTo>
                  <a:pt x="5037" y="93"/>
                  <a:pt x="5042" y="104"/>
                  <a:pt x="5047" y="115"/>
                </a:cubicBezTo>
                <a:cubicBezTo>
                  <a:pt x="5052" y="126"/>
                  <a:pt x="5055" y="138"/>
                  <a:pt x="5058" y="150"/>
                </a:cubicBezTo>
                <a:cubicBezTo>
                  <a:pt x="5060" y="162"/>
                  <a:pt x="5061" y="174"/>
                  <a:pt x="5061" y="186"/>
                </a:cubicBezTo>
                <a:lnTo>
                  <a:pt x="5061" y="8358"/>
                </a:lnTo>
                <a:cubicBezTo>
                  <a:pt x="5061" y="8370"/>
                  <a:pt x="5060" y="8382"/>
                  <a:pt x="5058" y="8394"/>
                </a:cubicBezTo>
                <a:cubicBezTo>
                  <a:pt x="5055" y="8406"/>
                  <a:pt x="5052" y="8418"/>
                  <a:pt x="5047" y="8429"/>
                </a:cubicBezTo>
                <a:cubicBezTo>
                  <a:pt x="5042" y="8440"/>
                  <a:pt x="5037" y="8451"/>
                  <a:pt x="5030" y="8461"/>
                </a:cubicBezTo>
                <a:cubicBezTo>
                  <a:pt x="5023" y="8471"/>
                  <a:pt x="5015" y="8481"/>
                  <a:pt x="5007" y="8489"/>
                </a:cubicBezTo>
                <a:cubicBezTo>
                  <a:pt x="4998" y="8498"/>
                  <a:pt x="4989" y="8506"/>
                  <a:pt x="4979" y="8513"/>
                </a:cubicBezTo>
                <a:cubicBezTo>
                  <a:pt x="4968" y="8519"/>
                  <a:pt x="4958" y="8525"/>
                  <a:pt x="4946" y="8530"/>
                </a:cubicBezTo>
                <a:cubicBezTo>
                  <a:pt x="4935" y="8534"/>
                  <a:pt x="4924" y="8538"/>
                  <a:pt x="4912" y="8540"/>
                </a:cubicBezTo>
                <a:cubicBezTo>
                  <a:pt x="4900" y="8543"/>
                  <a:pt x="4888" y="8544"/>
                  <a:pt x="4875" y="8544"/>
                </a:cubicBezTo>
                <a:lnTo>
                  <a:pt x="185" y="8544"/>
                </a:lnTo>
                <a:cubicBezTo>
                  <a:pt x="173" y="8544"/>
                  <a:pt x="161" y="8543"/>
                  <a:pt x="149" y="8540"/>
                </a:cubicBezTo>
                <a:cubicBezTo>
                  <a:pt x="137" y="8538"/>
                  <a:pt x="126" y="8534"/>
                  <a:pt x="114" y="8530"/>
                </a:cubicBezTo>
                <a:cubicBezTo>
                  <a:pt x="103" y="8525"/>
                  <a:pt x="92" y="8519"/>
                  <a:pt x="82" y="8513"/>
                </a:cubicBezTo>
                <a:cubicBezTo>
                  <a:pt x="72" y="8506"/>
                  <a:pt x="63" y="8498"/>
                  <a:pt x="54" y="8489"/>
                </a:cubicBezTo>
                <a:cubicBezTo>
                  <a:pt x="45" y="8481"/>
                  <a:pt x="38" y="8471"/>
                  <a:pt x="31" y="8461"/>
                </a:cubicBezTo>
                <a:cubicBezTo>
                  <a:pt x="24" y="8451"/>
                  <a:pt x="18" y="8440"/>
                  <a:pt x="14" y="8429"/>
                </a:cubicBezTo>
                <a:cubicBezTo>
                  <a:pt x="9" y="8418"/>
                  <a:pt x="6" y="8406"/>
                  <a:pt x="3" y="8394"/>
                </a:cubicBezTo>
                <a:cubicBezTo>
                  <a:pt x="1" y="8382"/>
                  <a:pt x="0" y="8370"/>
                  <a:pt x="0" y="835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29" name="任意多邊形 528"/>
          <p:cNvSpPr/>
          <p:nvPr/>
        </p:nvSpPr>
        <p:spPr>
          <a:xfrm>
            <a:off x="4570920" y="1504080"/>
            <a:ext cx="334800" cy="334440"/>
          </a:xfrm>
          <a:custGeom>
            <a:avLst/>
            <a:gdLst/>
            <a:ahLst/>
            <a:cxnLst/>
            <a:rect l="0" t="0" r="r" b="b"/>
            <a:pathLst>
              <a:path w="930" h="929">
                <a:moveTo>
                  <a:pt x="930" y="464"/>
                </a:moveTo>
                <a:cubicBezTo>
                  <a:pt x="930" y="495"/>
                  <a:pt x="927" y="525"/>
                  <a:pt x="921" y="555"/>
                </a:cubicBezTo>
                <a:cubicBezTo>
                  <a:pt x="915" y="585"/>
                  <a:pt x="906" y="614"/>
                  <a:pt x="894" y="642"/>
                </a:cubicBezTo>
                <a:cubicBezTo>
                  <a:pt x="883" y="670"/>
                  <a:pt x="868" y="697"/>
                  <a:pt x="851" y="722"/>
                </a:cubicBezTo>
                <a:cubicBezTo>
                  <a:pt x="834" y="747"/>
                  <a:pt x="815" y="771"/>
                  <a:pt x="794" y="792"/>
                </a:cubicBezTo>
                <a:cubicBezTo>
                  <a:pt x="772" y="814"/>
                  <a:pt x="748" y="833"/>
                  <a:pt x="722" y="850"/>
                </a:cubicBezTo>
                <a:cubicBezTo>
                  <a:pt x="697" y="867"/>
                  <a:pt x="670" y="881"/>
                  <a:pt x="642" y="893"/>
                </a:cubicBezTo>
                <a:cubicBezTo>
                  <a:pt x="614" y="905"/>
                  <a:pt x="585" y="914"/>
                  <a:pt x="555" y="919"/>
                </a:cubicBezTo>
                <a:cubicBezTo>
                  <a:pt x="525" y="925"/>
                  <a:pt x="495" y="929"/>
                  <a:pt x="464" y="929"/>
                </a:cubicBezTo>
                <a:cubicBezTo>
                  <a:pt x="434" y="929"/>
                  <a:pt x="404" y="925"/>
                  <a:pt x="374" y="919"/>
                </a:cubicBezTo>
                <a:cubicBezTo>
                  <a:pt x="344" y="914"/>
                  <a:pt x="315" y="905"/>
                  <a:pt x="287" y="893"/>
                </a:cubicBezTo>
                <a:cubicBezTo>
                  <a:pt x="258" y="881"/>
                  <a:pt x="232" y="867"/>
                  <a:pt x="206" y="850"/>
                </a:cubicBezTo>
                <a:cubicBezTo>
                  <a:pt x="181" y="833"/>
                  <a:pt x="158" y="814"/>
                  <a:pt x="136" y="792"/>
                </a:cubicBezTo>
                <a:cubicBezTo>
                  <a:pt x="114" y="771"/>
                  <a:pt x="95" y="747"/>
                  <a:pt x="78" y="722"/>
                </a:cubicBezTo>
                <a:cubicBezTo>
                  <a:pt x="61" y="697"/>
                  <a:pt x="47" y="670"/>
                  <a:pt x="35" y="642"/>
                </a:cubicBezTo>
                <a:cubicBezTo>
                  <a:pt x="24" y="614"/>
                  <a:pt x="15" y="585"/>
                  <a:pt x="9" y="555"/>
                </a:cubicBezTo>
                <a:cubicBezTo>
                  <a:pt x="3" y="525"/>
                  <a:pt x="0" y="495"/>
                  <a:pt x="0" y="464"/>
                </a:cubicBezTo>
                <a:cubicBezTo>
                  <a:pt x="0" y="434"/>
                  <a:pt x="3" y="403"/>
                  <a:pt x="9" y="374"/>
                </a:cubicBezTo>
                <a:cubicBezTo>
                  <a:pt x="15" y="344"/>
                  <a:pt x="24" y="315"/>
                  <a:pt x="35" y="286"/>
                </a:cubicBezTo>
                <a:cubicBezTo>
                  <a:pt x="47" y="258"/>
                  <a:pt x="61" y="232"/>
                  <a:pt x="78" y="206"/>
                </a:cubicBezTo>
                <a:cubicBezTo>
                  <a:pt x="95" y="181"/>
                  <a:pt x="114" y="157"/>
                  <a:pt x="136" y="136"/>
                </a:cubicBezTo>
                <a:cubicBezTo>
                  <a:pt x="158" y="114"/>
                  <a:pt x="181" y="95"/>
                  <a:pt x="206" y="78"/>
                </a:cubicBezTo>
                <a:cubicBezTo>
                  <a:pt x="232" y="61"/>
                  <a:pt x="258" y="47"/>
                  <a:pt x="287" y="35"/>
                </a:cubicBezTo>
                <a:cubicBezTo>
                  <a:pt x="315" y="24"/>
                  <a:pt x="344" y="15"/>
                  <a:pt x="374" y="9"/>
                </a:cubicBezTo>
                <a:cubicBezTo>
                  <a:pt x="404" y="3"/>
                  <a:pt x="434" y="0"/>
                  <a:pt x="464" y="0"/>
                </a:cubicBezTo>
                <a:cubicBezTo>
                  <a:pt x="495" y="0"/>
                  <a:pt x="525" y="3"/>
                  <a:pt x="555" y="9"/>
                </a:cubicBezTo>
                <a:cubicBezTo>
                  <a:pt x="585" y="15"/>
                  <a:pt x="614" y="24"/>
                  <a:pt x="642" y="35"/>
                </a:cubicBezTo>
                <a:cubicBezTo>
                  <a:pt x="670" y="47"/>
                  <a:pt x="697" y="61"/>
                  <a:pt x="722" y="78"/>
                </a:cubicBezTo>
                <a:cubicBezTo>
                  <a:pt x="748" y="95"/>
                  <a:pt x="772" y="114"/>
                  <a:pt x="794" y="136"/>
                </a:cubicBezTo>
                <a:cubicBezTo>
                  <a:pt x="815" y="157"/>
                  <a:pt x="834" y="181"/>
                  <a:pt x="851" y="206"/>
                </a:cubicBezTo>
                <a:cubicBezTo>
                  <a:pt x="868" y="232"/>
                  <a:pt x="883" y="258"/>
                  <a:pt x="894" y="286"/>
                </a:cubicBezTo>
                <a:cubicBezTo>
                  <a:pt x="906" y="315"/>
                  <a:pt x="915" y="344"/>
                  <a:pt x="921" y="374"/>
                </a:cubicBezTo>
                <a:cubicBezTo>
                  <a:pt x="927" y="403"/>
                  <a:pt x="930" y="434"/>
                  <a:pt x="930" y="464"/>
                </a:cubicBezTo>
                <a:close/>
              </a:path>
            </a:pathLst>
          </a:custGeom>
          <a:solidFill>
            <a:srgbClr val="8B5CF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530" name="圖片 529"/>
          <p:cNvPicPr/>
          <p:nvPr/>
        </p:nvPicPr>
        <p:blipFill>
          <a:blip r:embed="rId10"/>
          <a:stretch>
            <a:fillRect/>
          </a:stretch>
        </p:blipFill>
        <p:spPr>
          <a:xfrm>
            <a:off x="4654800" y="1596240"/>
            <a:ext cx="166680" cy="150120"/>
          </a:xfrm>
          <a:prstGeom prst="rect">
            <a:avLst/>
          </a:prstGeom>
          <a:noFill/>
          <a:ln w="0">
            <a:noFill/>
          </a:ln>
        </p:spPr>
      </p:pic>
      <p:sp>
        <p:nvSpPr>
          <p:cNvPr id="531" name="文字框 530"/>
          <p:cNvSpPr txBox="1"/>
          <p:nvPr/>
        </p:nvSpPr>
        <p:spPr>
          <a:xfrm>
            <a:off x="2804400" y="3188160"/>
            <a:ext cx="2354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环节</a:t>
            </a:r>
            <a:endParaRPr lang="en-US" sz="920" b="0" u="none" strike="noStrike">
              <a:solidFill>
                <a:srgbClr val="000000"/>
              </a:solidFill>
              <a:effectLst/>
              <a:uFillTx/>
              <a:latin typeface="Times New Roman" panose="02020603050405020304"/>
            </a:endParaRPr>
          </a:p>
        </p:txBody>
      </p:sp>
      <p:sp>
        <p:nvSpPr>
          <p:cNvPr id="532" name="任意多邊形 531"/>
          <p:cNvSpPr/>
          <p:nvPr/>
        </p:nvSpPr>
        <p:spPr>
          <a:xfrm>
            <a:off x="4570920" y="2172600"/>
            <a:ext cx="1554840" cy="67320"/>
          </a:xfrm>
          <a:custGeom>
            <a:avLst/>
            <a:gdLst/>
            <a:ahLst/>
            <a:cxnLst/>
            <a:rect l="0" t="0" r="r" b="b"/>
            <a:pathLst>
              <a:path w="4319" h="187">
                <a:moveTo>
                  <a:pt x="0" y="93"/>
                </a:moveTo>
                <a:cubicBezTo>
                  <a:pt x="0" y="80"/>
                  <a:pt x="2" y="69"/>
                  <a:pt x="7" y="57"/>
                </a:cubicBezTo>
                <a:cubicBezTo>
                  <a:pt x="12" y="46"/>
                  <a:pt x="19" y="36"/>
                  <a:pt x="27" y="27"/>
                </a:cubicBezTo>
                <a:cubicBezTo>
                  <a:pt x="36" y="18"/>
                  <a:pt x="46" y="12"/>
                  <a:pt x="57" y="7"/>
                </a:cubicBezTo>
                <a:cubicBezTo>
                  <a:pt x="69" y="2"/>
                  <a:pt x="81" y="0"/>
                  <a:pt x="93" y="0"/>
                </a:cubicBezTo>
                <a:lnTo>
                  <a:pt x="4226" y="0"/>
                </a:lnTo>
                <a:cubicBezTo>
                  <a:pt x="4238" y="0"/>
                  <a:pt x="4250" y="2"/>
                  <a:pt x="4261" y="7"/>
                </a:cubicBezTo>
                <a:cubicBezTo>
                  <a:pt x="4273" y="12"/>
                  <a:pt x="4283" y="18"/>
                  <a:pt x="4291" y="27"/>
                </a:cubicBezTo>
                <a:cubicBezTo>
                  <a:pt x="4300" y="36"/>
                  <a:pt x="4307" y="46"/>
                  <a:pt x="4312" y="57"/>
                </a:cubicBezTo>
                <a:cubicBezTo>
                  <a:pt x="4316" y="69"/>
                  <a:pt x="4319" y="80"/>
                  <a:pt x="4319" y="93"/>
                </a:cubicBezTo>
                <a:cubicBezTo>
                  <a:pt x="4319" y="105"/>
                  <a:pt x="4316" y="117"/>
                  <a:pt x="4312" y="128"/>
                </a:cubicBezTo>
                <a:cubicBezTo>
                  <a:pt x="4307" y="140"/>
                  <a:pt x="4300" y="150"/>
                  <a:pt x="4291" y="158"/>
                </a:cubicBezTo>
                <a:cubicBezTo>
                  <a:pt x="4283" y="168"/>
                  <a:pt x="4273" y="175"/>
                  <a:pt x="4261" y="180"/>
                </a:cubicBezTo>
                <a:cubicBezTo>
                  <a:pt x="4250" y="184"/>
                  <a:pt x="4238" y="187"/>
                  <a:pt x="4226" y="187"/>
                </a:cubicBezTo>
                <a:lnTo>
                  <a:pt x="93" y="187"/>
                </a:lnTo>
                <a:cubicBezTo>
                  <a:pt x="81" y="187"/>
                  <a:pt x="69" y="184"/>
                  <a:pt x="57" y="180"/>
                </a:cubicBezTo>
                <a:cubicBezTo>
                  <a:pt x="46" y="175"/>
                  <a:pt x="36" y="168"/>
                  <a:pt x="27" y="158"/>
                </a:cubicBezTo>
                <a:cubicBezTo>
                  <a:pt x="19" y="150"/>
                  <a:pt x="12" y="140"/>
                  <a:pt x="7" y="128"/>
                </a:cubicBezTo>
                <a:cubicBezTo>
                  <a:pt x="2" y="117"/>
                  <a:pt x="0" y="105"/>
                  <a:pt x="0" y="93"/>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33" name="任意多邊形 532"/>
          <p:cNvSpPr/>
          <p:nvPr/>
        </p:nvSpPr>
        <p:spPr>
          <a:xfrm>
            <a:off x="4570920" y="2172600"/>
            <a:ext cx="618840" cy="67320"/>
          </a:xfrm>
          <a:custGeom>
            <a:avLst/>
            <a:gdLst/>
            <a:ahLst/>
            <a:cxnLst/>
            <a:rect l="0" t="0" r="r" b="b"/>
            <a:pathLst>
              <a:path w="1719" h="187">
                <a:moveTo>
                  <a:pt x="0" y="93"/>
                </a:moveTo>
                <a:cubicBezTo>
                  <a:pt x="0" y="80"/>
                  <a:pt x="2" y="69"/>
                  <a:pt x="7" y="57"/>
                </a:cubicBezTo>
                <a:cubicBezTo>
                  <a:pt x="12" y="46"/>
                  <a:pt x="19" y="36"/>
                  <a:pt x="27" y="27"/>
                </a:cubicBezTo>
                <a:cubicBezTo>
                  <a:pt x="36" y="18"/>
                  <a:pt x="46" y="12"/>
                  <a:pt x="57" y="7"/>
                </a:cubicBezTo>
                <a:cubicBezTo>
                  <a:pt x="69" y="2"/>
                  <a:pt x="81" y="0"/>
                  <a:pt x="93" y="0"/>
                </a:cubicBezTo>
                <a:lnTo>
                  <a:pt x="1626" y="0"/>
                </a:lnTo>
                <a:cubicBezTo>
                  <a:pt x="1638" y="0"/>
                  <a:pt x="1650" y="2"/>
                  <a:pt x="1661" y="7"/>
                </a:cubicBezTo>
                <a:cubicBezTo>
                  <a:pt x="1673" y="12"/>
                  <a:pt x="1683" y="18"/>
                  <a:pt x="1692" y="27"/>
                </a:cubicBezTo>
                <a:cubicBezTo>
                  <a:pt x="1700" y="36"/>
                  <a:pt x="1707" y="46"/>
                  <a:pt x="1712" y="57"/>
                </a:cubicBezTo>
                <a:cubicBezTo>
                  <a:pt x="1716" y="69"/>
                  <a:pt x="1719" y="80"/>
                  <a:pt x="1719" y="93"/>
                </a:cubicBezTo>
                <a:cubicBezTo>
                  <a:pt x="1719" y="105"/>
                  <a:pt x="1716" y="117"/>
                  <a:pt x="1712" y="128"/>
                </a:cubicBezTo>
                <a:cubicBezTo>
                  <a:pt x="1707" y="140"/>
                  <a:pt x="1700" y="150"/>
                  <a:pt x="1692" y="158"/>
                </a:cubicBezTo>
                <a:cubicBezTo>
                  <a:pt x="1683" y="168"/>
                  <a:pt x="1673" y="175"/>
                  <a:pt x="1661" y="180"/>
                </a:cubicBezTo>
                <a:cubicBezTo>
                  <a:pt x="1650" y="184"/>
                  <a:pt x="1638" y="187"/>
                  <a:pt x="1626" y="187"/>
                </a:cubicBezTo>
                <a:lnTo>
                  <a:pt x="93" y="187"/>
                </a:lnTo>
                <a:cubicBezTo>
                  <a:pt x="81" y="187"/>
                  <a:pt x="69" y="184"/>
                  <a:pt x="57" y="180"/>
                </a:cubicBezTo>
                <a:cubicBezTo>
                  <a:pt x="46" y="175"/>
                  <a:pt x="36" y="168"/>
                  <a:pt x="27" y="158"/>
                </a:cubicBezTo>
                <a:cubicBezTo>
                  <a:pt x="19" y="150"/>
                  <a:pt x="12" y="140"/>
                  <a:pt x="7" y="128"/>
                </a:cubicBezTo>
                <a:cubicBezTo>
                  <a:pt x="2" y="117"/>
                  <a:pt x="0" y="105"/>
                  <a:pt x="0" y="93"/>
                </a:cubicBezTo>
                <a:close/>
              </a:path>
            </a:pathLst>
          </a:custGeom>
          <a:solidFill>
            <a:srgbClr val="FF6900"/>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534" name="文字框 533"/>
          <p:cNvSpPr txBox="1"/>
          <p:nvPr/>
        </p:nvSpPr>
        <p:spPr>
          <a:xfrm>
            <a:off x="5007240" y="157680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基础设施</a:t>
            </a:r>
            <a:endParaRPr lang="en-US" sz="1180" b="0" u="none" strike="noStrike">
              <a:solidFill>
                <a:srgbClr val="000000"/>
              </a:solidFill>
              <a:effectLst/>
              <a:uFillTx/>
              <a:latin typeface="Times New Roman" panose="02020603050405020304"/>
            </a:endParaRPr>
          </a:p>
        </p:txBody>
      </p:sp>
      <p:sp>
        <p:nvSpPr>
          <p:cNvPr id="535" name="文字框 534"/>
          <p:cNvSpPr txBox="1"/>
          <p:nvPr/>
        </p:nvSpPr>
        <p:spPr>
          <a:xfrm>
            <a:off x="4572720" y="1968120"/>
            <a:ext cx="5875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市场准入度</a:t>
            </a:r>
            <a:endParaRPr lang="en-US" sz="920" b="0" u="none" strike="noStrike">
              <a:solidFill>
                <a:srgbClr val="000000"/>
              </a:solidFill>
              <a:effectLst/>
              <a:uFillTx/>
              <a:latin typeface="Times New Roman" panose="02020603050405020304"/>
            </a:endParaRPr>
          </a:p>
        </p:txBody>
      </p:sp>
      <p:pic>
        <p:nvPicPr>
          <p:cNvPr id="536" name="圖片 535"/>
          <p:cNvPicPr/>
          <p:nvPr/>
        </p:nvPicPr>
        <p:blipFill>
          <a:blip r:embed="rId11"/>
          <a:stretch>
            <a:fillRect/>
          </a:stretch>
        </p:blipFill>
        <p:spPr>
          <a:xfrm>
            <a:off x="4571280" y="2406600"/>
            <a:ext cx="116640" cy="116640"/>
          </a:xfrm>
          <a:prstGeom prst="rect">
            <a:avLst/>
          </a:prstGeom>
          <a:noFill/>
          <a:ln w="0">
            <a:noFill/>
          </a:ln>
        </p:spPr>
      </p:pic>
      <p:sp>
        <p:nvSpPr>
          <p:cNvPr id="537" name="文字框 536"/>
          <p:cNvSpPr txBox="1"/>
          <p:nvPr/>
        </p:nvSpPr>
        <p:spPr>
          <a:xfrm>
            <a:off x="5856480" y="1951920"/>
            <a:ext cx="2689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较低</a:t>
            </a:r>
            <a:endParaRPr lang="en-US" sz="1050" b="0" u="none" strike="noStrike">
              <a:solidFill>
                <a:srgbClr val="000000"/>
              </a:solidFill>
              <a:effectLst/>
              <a:uFillTx/>
              <a:latin typeface="Times New Roman" panose="02020603050405020304"/>
            </a:endParaRPr>
          </a:p>
        </p:txBody>
      </p:sp>
      <p:pic>
        <p:nvPicPr>
          <p:cNvPr id="538" name="圖片 537"/>
          <p:cNvPicPr/>
          <p:nvPr/>
        </p:nvPicPr>
        <p:blipFill>
          <a:blip r:embed="rId11"/>
          <a:stretch>
            <a:fillRect/>
          </a:stretch>
        </p:blipFill>
        <p:spPr>
          <a:xfrm>
            <a:off x="4571280" y="2640600"/>
            <a:ext cx="116640" cy="116640"/>
          </a:xfrm>
          <a:prstGeom prst="rect">
            <a:avLst/>
          </a:prstGeom>
          <a:noFill/>
          <a:ln w="0">
            <a:noFill/>
          </a:ln>
        </p:spPr>
      </p:pic>
      <p:sp>
        <p:nvSpPr>
          <p:cNvPr id="539" name="文字框 538"/>
          <p:cNvSpPr txBox="1"/>
          <p:nvPr/>
        </p:nvSpPr>
        <p:spPr>
          <a:xfrm>
            <a:off x="4756680" y="2386080"/>
            <a:ext cx="9396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市场准入相对受限</a:t>
            </a:r>
            <a:endParaRPr lang="en-US" sz="920" b="0" u="none" strike="noStrike">
              <a:solidFill>
                <a:srgbClr val="000000"/>
              </a:solidFill>
              <a:effectLst/>
              <a:uFillTx/>
              <a:latin typeface="Times New Roman" panose="02020603050405020304"/>
            </a:endParaRPr>
          </a:p>
        </p:txBody>
      </p:sp>
      <p:sp>
        <p:nvSpPr>
          <p:cNvPr id="540" name="文字框 539"/>
          <p:cNvSpPr txBox="1"/>
          <p:nvPr/>
        </p:nvSpPr>
        <p:spPr>
          <a:xfrm>
            <a:off x="4756680" y="262008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优质项目通常由政府或大</a:t>
            </a:r>
            <a:endParaRPr lang="en-US" sz="920" b="0" u="none" strike="noStrike">
              <a:solidFill>
                <a:srgbClr val="000000"/>
              </a:solidFill>
              <a:effectLst/>
              <a:uFillTx/>
              <a:latin typeface="Times New Roman" panose="02020603050405020304"/>
            </a:endParaRPr>
          </a:p>
        </p:txBody>
      </p:sp>
      <p:pic>
        <p:nvPicPr>
          <p:cNvPr id="541" name="圖片 540"/>
          <p:cNvPicPr/>
          <p:nvPr/>
        </p:nvPicPr>
        <p:blipFill>
          <a:blip r:embed="rId7"/>
          <a:stretch>
            <a:fillRect/>
          </a:stretch>
        </p:blipFill>
        <p:spPr>
          <a:xfrm>
            <a:off x="4571280" y="3042000"/>
            <a:ext cx="116640" cy="116640"/>
          </a:xfrm>
          <a:prstGeom prst="rect">
            <a:avLst/>
          </a:prstGeom>
          <a:noFill/>
          <a:ln w="0">
            <a:noFill/>
          </a:ln>
        </p:spPr>
      </p:pic>
      <p:sp>
        <p:nvSpPr>
          <p:cNvPr id="542" name="文字框 541"/>
          <p:cNvSpPr txBox="1"/>
          <p:nvPr/>
        </p:nvSpPr>
        <p:spPr>
          <a:xfrm>
            <a:off x="4756680" y="2787120"/>
            <a:ext cx="5875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型机构主导</a:t>
            </a:r>
            <a:endParaRPr lang="en-US" sz="920" b="0" u="none" strike="noStrike">
              <a:solidFill>
                <a:srgbClr val="000000"/>
              </a:solidFill>
              <a:effectLst/>
              <a:uFillTx/>
              <a:latin typeface="Times New Roman" panose="02020603050405020304"/>
            </a:endParaRPr>
          </a:p>
        </p:txBody>
      </p:sp>
      <p:sp>
        <p:nvSpPr>
          <p:cNvPr id="543" name="文字框 542"/>
          <p:cNvSpPr txBox="1"/>
          <p:nvPr/>
        </p:nvSpPr>
        <p:spPr>
          <a:xfrm>
            <a:off x="4756680" y="3021120"/>
            <a:ext cx="2354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公募</a:t>
            </a:r>
            <a:endParaRPr lang="en-US" sz="920" b="0" u="none" strike="noStrike">
              <a:solidFill>
                <a:srgbClr val="000000"/>
              </a:solidFill>
              <a:effectLst/>
              <a:uFillTx/>
              <a:latin typeface="Times New Roman" panose="02020603050405020304"/>
            </a:endParaRPr>
          </a:p>
        </p:txBody>
      </p:sp>
      <p:sp>
        <p:nvSpPr>
          <p:cNvPr id="544" name="文字框 543"/>
          <p:cNvSpPr txBox="1"/>
          <p:nvPr/>
        </p:nvSpPr>
        <p:spPr>
          <a:xfrm>
            <a:off x="4990680" y="3025080"/>
            <a:ext cx="32400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REITs</a:t>
            </a:r>
            <a:endParaRPr lang="en-US" sz="920" b="0" u="none" strike="noStrike">
              <a:solidFill>
                <a:srgbClr val="000000"/>
              </a:solidFill>
              <a:effectLst/>
              <a:uFillTx/>
              <a:latin typeface="Times New Roman" panose="02020603050405020304"/>
            </a:endParaRPr>
          </a:p>
        </p:txBody>
      </p:sp>
      <p:sp>
        <p:nvSpPr>
          <p:cNvPr id="545" name="文字框 544"/>
          <p:cNvSpPr txBox="1"/>
          <p:nvPr/>
        </p:nvSpPr>
        <p:spPr>
          <a:xfrm>
            <a:off x="5293440" y="3021120"/>
            <a:ext cx="8222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为个人投资者提</a:t>
            </a:r>
            <a:endParaRPr lang="en-US" sz="920" b="0" u="none" strike="noStrike">
              <a:solidFill>
                <a:srgbClr val="000000"/>
              </a:solidFill>
              <a:effectLst/>
              <a:uFillTx/>
              <a:latin typeface="Times New Roman" panose="02020603050405020304"/>
            </a:endParaRPr>
          </a:p>
        </p:txBody>
      </p:sp>
      <p:sp>
        <p:nvSpPr>
          <p:cNvPr id="546" name="任意多邊形 545"/>
          <p:cNvSpPr/>
          <p:nvPr/>
        </p:nvSpPr>
        <p:spPr>
          <a:xfrm>
            <a:off x="6392520" y="1370160"/>
            <a:ext cx="1814040" cy="3075840"/>
          </a:xfrm>
          <a:custGeom>
            <a:avLst/>
            <a:gdLst/>
            <a:ahLst/>
            <a:cxnLst/>
            <a:rect l="0" t="0" r="r" b="b"/>
            <a:pathLst>
              <a:path w="5039" h="8544">
                <a:moveTo>
                  <a:pt x="0" y="8358"/>
                </a:moveTo>
                <a:lnTo>
                  <a:pt x="0" y="186"/>
                </a:lnTo>
                <a:cubicBezTo>
                  <a:pt x="0" y="174"/>
                  <a:pt x="2" y="162"/>
                  <a:pt x="4" y="150"/>
                </a:cubicBezTo>
                <a:cubicBezTo>
                  <a:pt x="6" y="138"/>
                  <a:pt x="10" y="126"/>
                  <a:pt x="15" y="115"/>
                </a:cubicBezTo>
                <a:cubicBezTo>
                  <a:pt x="19" y="104"/>
                  <a:pt x="25" y="93"/>
                  <a:pt x="32" y="83"/>
                </a:cubicBezTo>
                <a:cubicBezTo>
                  <a:pt x="39" y="73"/>
                  <a:pt x="46" y="63"/>
                  <a:pt x="55" y="55"/>
                </a:cubicBezTo>
                <a:cubicBezTo>
                  <a:pt x="64" y="46"/>
                  <a:pt x="73" y="39"/>
                  <a:pt x="83" y="32"/>
                </a:cubicBezTo>
                <a:cubicBezTo>
                  <a:pt x="93" y="25"/>
                  <a:pt x="104" y="19"/>
                  <a:pt x="115" y="15"/>
                </a:cubicBezTo>
                <a:cubicBezTo>
                  <a:pt x="126" y="10"/>
                  <a:pt x="138" y="6"/>
                  <a:pt x="150" y="4"/>
                </a:cubicBezTo>
                <a:cubicBezTo>
                  <a:pt x="162" y="2"/>
                  <a:pt x="174" y="0"/>
                  <a:pt x="186" y="0"/>
                </a:cubicBezTo>
                <a:lnTo>
                  <a:pt x="4852" y="0"/>
                </a:lnTo>
                <a:cubicBezTo>
                  <a:pt x="4864" y="0"/>
                  <a:pt x="4876" y="2"/>
                  <a:pt x="4888" y="4"/>
                </a:cubicBezTo>
                <a:cubicBezTo>
                  <a:pt x="4900" y="6"/>
                  <a:pt x="4913" y="10"/>
                  <a:pt x="4924" y="15"/>
                </a:cubicBezTo>
                <a:cubicBezTo>
                  <a:pt x="4935" y="19"/>
                  <a:pt x="4946" y="25"/>
                  <a:pt x="4956" y="32"/>
                </a:cubicBezTo>
                <a:cubicBezTo>
                  <a:pt x="4966" y="39"/>
                  <a:pt x="4976" y="46"/>
                  <a:pt x="4984" y="55"/>
                </a:cubicBezTo>
                <a:cubicBezTo>
                  <a:pt x="4993" y="63"/>
                  <a:pt x="5001" y="73"/>
                  <a:pt x="5007" y="83"/>
                </a:cubicBezTo>
                <a:cubicBezTo>
                  <a:pt x="5014" y="93"/>
                  <a:pt x="5020" y="104"/>
                  <a:pt x="5025" y="115"/>
                </a:cubicBezTo>
                <a:cubicBezTo>
                  <a:pt x="5029" y="126"/>
                  <a:pt x="5033" y="138"/>
                  <a:pt x="5035" y="150"/>
                </a:cubicBezTo>
                <a:cubicBezTo>
                  <a:pt x="5038" y="162"/>
                  <a:pt x="5039" y="174"/>
                  <a:pt x="5039" y="186"/>
                </a:cubicBezTo>
                <a:lnTo>
                  <a:pt x="5039" y="8358"/>
                </a:lnTo>
                <a:cubicBezTo>
                  <a:pt x="5039" y="8370"/>
                  <a:pt x="5038" y="8382"/>
                  <a:pt x="5035" y="8394"/>
                </a:cubicBezTo>
                <a:cubicBezTo>
                  <a:pt x="5033" y="8406"/>
                  <a:pt x="5029" y="8418"/>
                  <a:pt x="5025" y="8429"/>
                </a:cubicBezTo>
                <a:cubicBezTo>
                  <a:pt x="5020" y="8440"/>
                  <a:pt x="5014" y="8451"/>
                  <a:pt x="5007" y="8461"/>
                </a:cubicBezTo>
                <a:cubicBezTo>
                  <a:pt x="5001" y="8471"/>
                  <a:pt x="4993" y="8481"/>
                  <a:pt x="4984" y="8489"/>
                </a:cubicBezTo>
                <a:cubicBezTo>
                  <a:pt x="4976" y="8498"/>
                  <a:pt x="4966" y="8506"/>
                  <a:pt x="4956" y="8513"/>
                </a:cubicBezTo>
                <a:cubicBezTo>
                  <a:pt x="4946" y="8519"/>
                  <a:pt x="4935" y="8525"/>
                  <a:pt x="4924" y="8530"/>
                </a:cubicBezTo>
                <a:cubicBezTo>
                  <a:pt x="4913" y="8534"/>
                  <a:pt x="4900" y="8538"/>
                  <a:pt x="4888" y="8540"/>
                </a:cubicBezTo>
                <a:cubicBezTo>
                  <a:pt x="4876" y="8543"/>
                  <a:pt x="4864" y="8544"/>
                  <a:pt x="4852" y="8544"/>
                </a:cubicBezTo>
                <a:lnTo>
                  <a:pt x="186" y="8544"/>
                </a:lnTo>
                <a:cubicBezTo>
                  <a:pt x="174" y="8544"/>
                  <a:pt x="162" y="8543"/>
                  <a:pt x="150" y="8540"/>
                </a:cubicBezTo>
                <a:cubicBezTo>
                  <a:pt x="138" y="8538"/>
                  <a:pt x="126" y="8534"/>
                  <a:pt x="115" y="8530"/>
                </a:cubicBezTo>
                <a:cubicBezTo>
                  <a:pt x="104" y="8525"/>
                  <a:pt x="93" y="8519"/>
                  <a:pt x="83" y="8513"/>
                </a:cubicBezTo>
                <a:cubicBezTo>
                  <a:pt x="73" y="8506"/>
                  <a:pt x="64" y="8498"/>
                  <a:pt x="55" y="8489"/>
                </a:cubicBezTo>
                <a:cubicBezTo>
                  <a:pt x="46" y="8481"/>
                  <a:pt x="39" y="8471"/>
                  <a:pt x="32" y="8461"/>
                </a:cubicBezTo>
                <a:cubicBezTo>
                  <a:pt x="25" y="8451"/>
                  <a:pt x="19" y="8440"/>
                  <a:pt x="15" y="8429"/>
                </a:cubicBezTo>
                <a:cubicBezTo>
                  <a:pt x="10" y="8418"/>
                  <a:pt x="6" y="8406"/>
                  <a:pt x="4" y="8394"/>
                </a:cubicBezTo>
                <a:cubicBezTo>
                  <a:pt x="2" y="8382"/>
                  <a:pt x="0" y="8370"/>
                  <a:pt x="0" y="835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47" name="任意多邊形 546"/>
          <p:cNvSpPr/>
          <p:nvPr/>
        </p:nvSpPr>
        <p:spPr>
          <a:xfrm>
            <a:off x="6526440" y="1504080"/>
            <a:ext cx="334440" cy="334440"/>
          </a:xfrm>
          <a:custGeom>
            <a:avLst/>
            <a:gdLst/>
            <a:ahLst/>
            <a:cxnLst/>
            <a:rect l="0" t="0" r="r" b="b"/>
            <a:pathLst>
              <a:path w="929" h="929">
                <a:moveTo>
                  <a:pt x="929" y="464"/>
                </a:moveTo>
                <a:cubicBezTo>
                  <a:pt x="929" y="495"/>
                  <a:pt x="926" y="525"/>
                  <a:pt x="920" y="555"/>
                </a:cubicBezTo>
                <a:cubicBezTo>
                  <a:pt x="915" y="585"/>
                  <a:pt x="906" y="614"/>
                  <a:pt x="893" y="642"/>
                </a:cubicBezTo>
                <a:cubicBezTo>
                  <a:pt x="881" y="670"/>
                  <a:pt x="867" y="697"/>
                  <a:pt x="850" y="722"/>
                </a:cubicBezTo>
                <a:cubicBezTo>
                  <a:pt x="833" y="747"/>
                  <a:pt x="814" y="771"/>
                  <a:pt x="792" y="792"/>
                </a:cubicBezTo>
                <a:cubicBezTo>
                  <a:pt x="771" y="814"/>
                  <a:pt x="747" y="833"/>
                  <a:pt x="722" y="850"/>
                </a:cubicBezTo>
                <a:cubicBezTo>
                  <a:pt x="697" y="867"/>
                  <a:pt x="670" y="881"/>
                  <a:pt x="642" y="893"/>
                </a:cubicBezTo>
                <a:cubicBezTo>
                  <a:pt x="614" y="905"/>
                  <a:pt x="585" y="914"/>
                  <a:pt x="555" y="919"/>
                </a:cubicBezTo>
                <a:cubicBezTo>
                  <a:pt x="525" y="925"/>
                  <a:pt x="495" y="929"/>
                  <a:pt x="464" y="929"/>
                </a:cubicBezTo>
                <a:cubicBezTo>
                  <a:pt x="434" y="929"/>
                  <a:pt x="403" y="925"/>
                  <a:pt x="374" y="919"/>
                </a:cubicBezTo>
                <a:cubicBezTo>
                  <a:pt x="344" y="914"/>
                  <a:pt x="315" y="905"/>
                  <a:pt x="286" y="893"/>
                </a:cubicBezTo>
                <a:cubicBezTo>
                  <a:pt x="258" y="881"/>
                  <a:pt x="232" y="867"/>
                  <a:pt x="206" y="850"/>
                </a:cubicBezTo>
                <a:cubicBezTo>
                  <a:pt x="181" y="833"/>
                  <a:pt x="157" y="814"/>
                  <a:pt x="136" y="792"/>
                </a:cubicBezTo>
                <a:cubicBezTo>
                  <a:pt x="114" y="771"/>
                  <a:pt x="95" y="747"/>
                  <a:pt x="78" y="722"/>
                </a:cubicBezTo>
                <a:cubicBezTo>
                  <a:pt x="61" y="697"/>
                  <a:pt x="47" y="670"/>
                  <a:pt x="35" y="642"/>
                </a:cubicBezTo>
                <a:cubicBezTo>
                  <a:pt x="24" y="614"/>
                  <a:pt x="15" y="585"/>
                  <a:pt x="9" y="555"/>
                </a:cubicBezTo>
                <a:cubicBezTo>
                  <a:pt x="3" y="525"/>
                  <a:pt x="0" y="495"/>
                  <a:pt x="0" y="464"/>
                </a:cubicBezTo>
                <a:cubicBezTo>
                  <a:pt x="0" y="434"/>
                  <a:pt x="3" y="403"/>
                  <a:pt x="9" y="374"/>
                </a:cubicBezTo>
                <a:cubicBezTo>
                  <a:pt x="15" y="344"/>
                  <a:pt x="24" y="315"/>
                  <a:pt x="35" y="286"/>
                </a:cubicBezTo>
                <a:cubicBezTo>
                  <a:pt x="47" y="258"/>
                  <a:pt x="61" y="232"/>
                  <a:pt x="78" y="206"/>
                </a:cubicBezTo>
                <a:cubicBezTo>
                  <a:pt x="95" y="181"/>
                  <a:pt x="114" y="157"/>
                  <a:pt x="136" y="136"/>
                </a:cubicBezTo>
                <a:cubicBezTo>
                  <a:pt x="157" y="114"/>
                  <a:pt x="181" y="95"/>
                  <a:pt x="206" y="78"/>
                </a:cubicBezTo>
                <a:cubicBezTo>
                  <a:pt x="232" y="61"/>
                  <a:pt x="258" y="47"/>
                  <a:pt x="286" y="35"/>
                </a:cubicBezTo>
                <a:cubicBezTo>
                  <a:pt x="315" y="24"/>
                  <a:pt x="344" y="15"/>
                  <a:pt x="374" y="9"/>
                </a:cubicBezTo>
                <a:cubicBezTo>
                  <a:pt x="403" y="3"/>
                  <a:pt x="434" y="0"/>
                  <a:pt x="464" y="0"/>
                </a:cubicBezTo>
                <a:cubicBezTo>
                  <a:pt x="495" y="0"/>
                  <a:pt x="525" y="3"/>
                  <a:pt x="555" y="9"/>
                </a:cubicBezTo>
                <a:cubicBezTo>
                  <a:pt x="585" y="15"/>
                  <a:pt x="614" y="24"/>
                  <a:pt x="642" y="35"/>
                </a:cubicBezTo>
                <a:cubicBezTo>
                  <a:pt x="670" y="47"/>
                  <a:pt x="697" y="61"/>
                  <a:pt x="722" y="78"/>
                </a:cubicBezTo>
                <a:cubicBezTo>
                  <a:pt x="747" y="95"/>
                  <a:pt x="771" y="114"/>
                  <a:pt x="792" y="136"/>
                </a:cubicBezTo>
                <a:cubicBezTo>
                  <a:pt x="814" y="157"/>
                  <a:pt x="833" y="181"/>
                  <a:pt x="850" y="206"/>
                </a:cubicBezTo>
                <a:cubicBezTo>
                  <a:pt x="867" y="232"/>
                  <a:pt x="881" y="258"/>
                  <a:pt x="893" y="286"/>
                </a:cubicBezTo>
                <a:cubicBezTo>
                  <a:pt x="906" y="315"/>
                  <a:pt x="915" y="344"/>
                  <a:pt x="920" y="374"/>
                </a:cubicBezTo>
                <a:cubicBezTo>
                  <a:pt x="926" y="403"/>
                  <a:pt x="929" y="434"/>
                  <a:pt x="929" y="464"/>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548" name="圖片 547"/>
          <p:cNvPicPr/>
          <p:nvPr/>
        </p:nvPicPr>
        <p:blipFill>
          <a:blip r:embed="rId12"/>
          <a:stretch>
            <a:fillRect/>
          </a:stretch>
        </p:blipFill>
        <p:spPr>
          <a:xfrm>
            <a:off x="6618600" y="1596240"/>
            <a:ext cx="150120" cy="150120"/>
          </a:xfrm>
          <a:prstGeom prst="rect">
            <a:avLst/>
          </a:prstGeom>
          <a:noFill/>
          <a:ln w="0">
            <a:noFill/>
          </a:ln>
        </p:spPr>
      </p:pic>
      <p:sp>
        <p:nvSpPr>
          <p:cNvPr id="549" name="文字框 548"/>
          <p:cNvSpPr txBox="1"/>
          <p:nvPr/>
        </p:nvSpPr>
        <p:spPr>
          <a:xfrm>
            <a:off x="4756680" y="3188160"/>
            <a:ext cx="4701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供新渠道</a:t>
            </a:r>
            <a:endParaRPr lang="en-US" sz="920" b="0" u="none" strike="noStrike">
              <a:solidFill>
                <a:srgbClr val="000000"/>
              </a:solidFill>
              <a:effectLst/>
              <a:uFillTx/>
              <a:latin typeface="Times New Roman" panose="02020603050405020304"/>
            </a:endParaRPr>
          </a:p>
        </p:txBody>
      </p:sp>
      <p:sp>
        <p:nvSpPr>
          <p:cNvPr id="550" name="任意多邊形 549"/>
          <p:cNvSpPr/>
          <p:nvPr/>
        </p:nvSpPr>
        <p:spPr>
          <a:xfrm>
            <a:off x="6526440" y="2172600"/>
            <a:ext cx="1546200" cy="67320"/>
          </a:xfrm>
          <a:custGeom>
            <a:avLst/>
            <a:gdLst/>
            <a:ahLst/>
            <a:cxnLst/>
            <a:rect l="0" t="0" r="r" b="b"/>
            <a:pathLst>
              <a:path w="4295" h="187">
                <a:moveTo>
                  <a:pt x="0" y="93"/>
                </a:moveTo>
                <a:cubicBezTo>
                  <a:pt x="0" y="80"/>
                  <a:pt x="2" y="69"/>
                  <a:pt x="7" y="57"/>
                </a:cubicBezTo>
                <a:cubicBezTo>
                  <a:pt x="12" y="46"/>
                  <a:pt x="18" y="36"/>
                  <a:pt x="27" y="27"/>
                </a:cubicBezTo>
                <a:cubicBezTo>
                  <a:pt x="36" y="18"/>
                  <a:pt x="46" y="12"/>
                  <a:pt x="57" y="7"/>
                </a:cubicBezTo>
                <a:cubicBezTo>
                  <a:pt x="69" y="2"/>
                  <a:pt x="80" y="0"/>
                  <a:pt x="93" y="0"/>
                </a:cubicBezTo>
                <a:lnTo>
                  <a:pt x="4202" y="0"/>
                </a:lnTo>
                <a:cubicBezTo>
                  <a:pt x="4215" y="0"/>
                  <a:pt x="4227" y="2"/>
                  <a:pt x="4238" y="7"/>
                </a:cubicBezTo>
                <a:cubicBezTo>
                  <a:pt x="4249" y="12"/>
                  <a:pt x="4259" y="18"/>
                  <a:pt x="4268" y="27"/>
                </a:cubicBezTo>
                <a:cubicBezTo>
                  <a:pt x="4277" y="36"/>
                  <a:pt x="4284" y="46"/>
                  <a:pt x="4288" y="57"/>
                </a:cubicBezTo>
                <a:cubicBezTo>
                  <a:pt x="4293" y="69"/>
                  <a:pt x="4295" y="80"/>
                  <a:pt x="4295" y="93"/>
                </a:cubicBezTo>
                <a:cubicBezTo>
                  <a:pt x="4295" y="105"/>
                  <a:pt x="4293" y="117"/>
                  <a:pt x="4288" y="128"/>
                </a:cubicBezTo>
                <a:cubicBezTo>
                  <a:pt x="4284" y="140"/>
                  <a:pt x="4277" y="150"/>
                  <a:pt x="4268" y="158"/>
                </a:cubicBezTo>
                <a:cubicBezTo>
                  <a:pt x="4259" y="168"/>
                  <a:pt x="4249" y="175"/>
                  <a:pt x="4238" y="180"/>
                </a:cubicBezTo>
                <a:cubicBezTo>
                  <a:pt x="4227" y="184"/>
                  <a:pt x="4215" y="187"/>
                  <a:pt x="4202" y="187"/>
                </a:cubicBezTo>
                <a:lnTo>
                  <a:pt x="93" y="187"/>
                </a:lnTo>
                <a:cubicBezTo>
                  <a:pt x="80" y="187"/>
                  <a:pt x="69" y="184"/>
                  <a:pt x="57" y="180"/>
                </a:cubicBezTo>
                <a:cubicBezTo>
                  <a:pt x="46" y="175"/>
                  <a:pt x="36" y="168"/>
                  <a:pt x="27" y="158"/>
                </a:cubicBezTo>
                <a:cubicBezTo>
                  <a:pt x="18" y="150"/>
                  <a:pt x="12" y="140"/>
                  <a:pt x="7" y="128"/>
                </a:cubicBezTo>
                <a:cubicBezTo>
                  <a:pt x="2" y="117"/>
                  <a:pt x="0" y="105"/>
                  <a:pt x="0" y="93"/>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51" name="任意多邊形 550"/>
          <p:cNvSpPr/>
          <p:nvPr/>
        </p:nvSpPr>
        <p:spPr>
          <a:xfrm>
            <a:off x="6526440" y="2172600"/>
            <a:ext cx="1162080" cy="67320"/>
          </a:xfrm>
          <a:custGeom>
            <a:avLst/>
            <a:gdLst/>
            <a:ahLst/>
            <a:cxnLst/>
            <a:rect l="0" t="0" r="r" b="b"/>
            <a:pathLst>
              <a:path w="3228" h="187">
                <a:moveTo>
                  <a:pt x="0" y="93"/>
                </a:moveTo>
                <a:cubicBezTo>
                  <a:pt x="0" y="80"/>
                  <a:pt x="2" y="69"/>
                  <a:pt x="7" y="57"/>
                </a:cubicBezTo>
                <a:cubicBezTo>
                  <a:pt x="12" y="46"/>
                  <a:pt x="18" y="36"/>
                  <a:pt x="27" y="27"/>
                </a:cubicBezTo>
                <a:cubicBezTo>
                  <a:pt x="36" y="18"/>
                  <a:pt x="46" y="12"/>
                  <a:pt x="57" y="7"/>
                </a:cubicBezTo>
                <a:cubicBezTo>
                  <a:pt x="69" y="2"/>
                  <a:pt x="80" y="0"/>
                  <a:pt x="93" y="0"/>
                </a:cubicBezTo>
                <a:lnTo>
                  <a:pt x="3135" y="0"/>
                </a:lnTo>
                <a:cubicBezTo>
                  <a:pt x="3147" y="0"/>
                  <a:pt x="3159" y="2"/>
                  <a:pt x="3170" y="7"/>
                </a:cubicBezTo>
                <a:cubicBezTo>
                  <a:pt x="3182" y="12"/>
                  <a:pt x="3192" y="18"/>
                  <a:pt x="3200" y="27"/>
                </a:cubicBezTo>
                <a:cubicBezTo>
                  <a:pt x="3209" y="36"/>
                  <a:pt x="3216" y="46"/>
                  <a:pt x="3220" y="57"/>
                </a:cubicBezTo>
                <a:cubicBezTo>
                  <a:pt x="3225" y="69"/>
                  <a:pt x="3228" y="80"/>
                  <a:pt x="3228" y="93"/>
                </a:cubicBezTo>
                <a:cubicBezTo>
                  <a:pt x="3228" y="105"/>
                  <a:pt x="3225" y="117"/>
                  <a:pt x="3220" y="128"/>
                </a:cubicBezTo>
                <a:cubicBezTo>
                  <a:pt x="3216" y="140"/>
                  <a:pt x="3209" y="150"/>
                  <a:pt x="3200" y="158"/>
                </a:cubicBezTo>
                <a:cubicBezTo>
                  <a:pt x="3192" y="168"/>
                  <a:pt x="3182" y="175"/>
                  <a:pt x="3170" y="180"/>
                </a:cubicBezTo>
                <a:cubicBezTo>
                  <a:pt x="3159" y="184"/>
                  <a:pt x="3147" y="187"/>
                  <a:pt x="3135" y="187"/>
                </a:cubicBezTo>
                <a:lnTo>
                  <a:pt x="93" y="187"/>
                </a:lnTo>
                <a:cubicBezTo>
                  <a:pt x="80" y="187"/>
                  <a:pt x="69" y="184"/>
                  <a:pt x="57" y="180"/>
                </a:cubicBezTo>
                <a:cubicBezTo>
                  <a:pt x="46" y="175"/>
                  <a:pt x="36" y="168"/>
                  <a:pt x="27" y="158"/>
                </a:cubicBezTo>
                <a:cubicBezTo>
                  <a:pt x="18" y="150"/>
                  <a:pt x="12" y="140"/>
                  <a:pt x="7" y="128"/>
                </a:cubicBezTo>
                <a:cubicBezTo>
                  <a:pt x="2" y="117"/>
                  <a:pt x="0" y="105"/>
                  <a:pt x="0" y="93"/>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52" name="文字框 551"/>
          <p:cNvSpPr txBox="1"/>
          <p:nvPr/>
        </p:nvSpPr>
        <p:spPr>
          <a:xfrm>
            <a:off x="6959520" y="157680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大宗商品</a:t>
            </a:r>
            <a:endParaRPr lang="en-US" sz="1180" b="0" u="none" strike="noStrike">
              <a:solidFill>
                <a:srgbClr val="000000"/>
              </a:solidFill>
              <a:effectLst/>
              <a:uFillTx/>
              <a:latin typeface="Times New Roman" panose="02020603050405020304"/>
            </a:endParaRPr>
          </a:p>
        </p:txBody>
      </p:sp>
      <p:sp>
        <p:nvSpPr>
          <p:cNvPr id="553" name="文字框 552"/>
          <p:cNvSpPr txBox="1"/>
          <p:nvPr/>
        </p:nvSpPr>
        <p:spPr>
          <a:xfrm>
            <a:off x="6525000" y="1968120"/>
            <a:ext cx="5875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市场准入度</a:t>
            </a:r>
            <a:endParaRPr lang="en-US" sz="920" b="0" u="none" strike="noStrike">
              <a:solidFill>
                <a:srgbClr val="000000"/>
              </a:solidFill>
              <a:effectLst/>
              <a:uFillTx/>
              <a:latin typeface="Times New Roman" panose="02020603050405020304"/>
            </a:endParaRPr>
          </a:p>
        </p:txBody>
      </p:sp>
      <p:pic>
        <p:nvPicPr>
          <p:cNvPr id="554" name="圖片 553"/>
          <p:cNvPicPr/>
          <p:nvPr/>
        </p:nvPicPr>
        <p:blipFill>
          <a:blip r:embed="rId13"/>
          <a:stretch>
            <a:fillRect/>
          </a:stretch>
        </p:blipFill>
        <p:spPr>
          <a:xfrm>
            <a:off x="6526440" y="2406600"/>
            <a:ext cx="116640" cy="116640"/>
          </a:xfrm>
          <a:prstGeom prst="rect">
            <a:avLst/>
          </a:prstGeom>
          <a:noFill/>
          <a:ln w="0">
            <a:noFill/>
          </a:ln>
        </p:spPr>
      </p:pic>
      <p:sp>
        <p:nvSpPr>
          <p:cNvPr id="555" name="文字框 554"/>
          <p:cNvSpPr txBox="1"/>
          <p:nvPr/>
        </p:nvSpPr>
        <p:spPr>
          <a:xfrm>
            <a:off x="7808400" y="1951920"/>
            <a:ext cx="2689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较高</a:t>
            </a:r>
            <a:endParaRPr lang="en-US" sz="1050" b="0" u="none" strike="noStrike">
              <a:solidFill>
                <a:srgbClr val="000000"/>
              </a:solidFill>
              <a:effectLst/>
              <a:uFillTx/>
              <a:latin typeface="Times New Roman" panose="02020603050405020304"/>
            </a:endParaRPr>
          </a:p>
        </p:txBody>
      </p:sp>
      <p:pic>
        <p:nvPicPr>
          <p:cNvPr id="556" name="圖片 555"/>
          <p:cNvPicPr/>
          <p:nvPr/>
        </p:nvPicPr>
        <p:blipFill>
          <a:blip r:embed="rId13"/>
          <a:stretch>
            <a:fillRect/>
          </a:stretch>
        </p:blipFill>
        <p:spPr>
          <a:xfrm>
            <a:off x="6526440" y="2640600"/>
            <a:ext cx="116640" cy="116640"/>
          </a:xfrm>
          <a:prstGeom prst="rect">
            <a:avLst/>
          </a:prstGeom>
          <a:noFill/>
          <a:ln w="0">
            <a:noFill/>
          </a:ln>
        </p:spPr>
      </p:pic>
      <p:sp>
        <p:nvSpPr>
          <p:cNvPr id="557" name="文字框 556"/>
          <p:cNvSpPr txBox="1"/>
          <p:nvPr/>
        </p:nvSpPr>
        <p:spPr>
          <a:xfrm>
            <a:off x="6708600" y="2386080"/>
            <a:ext cx="9396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市场准入较为便捷</a:t>
            </a:r>
            <a:endParaRPr lang="en-US" sz="920" b="0" u="none" strike="noStrike">
              <a:solidFill>
                <a:srgbClr val="000000"/>
              </a:solidFill>
              <a:effectLst/>
              <a:uFillTx/>
              <a:latin typeface="Times New Roman" panose="02020603050405020304"/>
            </a:endParaRPr>
          </a:p>
        </p:txBody>
      </p:sp>
      <p:sp>
        <p:nvSpPr>
          <p:cNvPr id="558" name="文字框 557"/>
          <p:cNvSpPr txBox="1"/>
          <p:nvPr/>
        </p:nvSpPr>
        <p:spPr>
          <a:xfrm>
            <a:off x="6708600" y="262008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全球化期货交易所提供标</a:t>
            </a:r>
            <a:endParaRPr lang="en-US" sz="920" b="0" u="none" strike="noStrike">
              <a:solidFill>
                <a:srgbClr val="000000"/>
              </a:solidFill>
              <a:effectLst/>
              <a:uFillTx/>
              <a:latin typeface="Times New Roman" panose="02020603050405020304"/>
            </a:endParaRPr>
          </a:p>
        </p:txBody>
      </p:sp>
      <p:pic>
        <p:nvPicPr>
          <p:cNvPr id="559" name="圖片 558"/>
          <p:cNvPicPr/>
          <p:nvPr/>
        </p:nvPicPr>
        <p:blipFill>
          <a:blip r:embed="rId14"/>
          <a:stretch>
            <a:fillRect/>
          </a:stretch>
        </p:blipFill>
        <p:spPr>
          <a:xfrm>
            <a:off x="6526440" y="3042000"/>
            <a:ext cx="116640" cy="116640"/>
          </a:xfrm>
          <a:prstGeom prst="rect">
            <a:avLst/>
          </a:prstGeom>
          <a:noFill/>
          <a:ln w="0">
            <a:noFill/>
          </a:ln>
        </p:spPr>
      </p:pic>
      <p:sp>
        <p:nvSpPr>
          <p:cNvPr id="560" name="文字框 559"/>
          <p:cNvSpPr txBox="1"/>
          <p:nvPr/>
        </p:nvSpPr>
        <p:spPr>
          <a:xfrm>
            <a:off x="6708600" y="2787120"/>
            <a:ext cx="4701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准化平台</a:t>
            </a:r>
            <a:endParaRPr lang="en-US" sz="920" b="0" u="none" strike="noStrike">
              <a:solidFill>
                <a:srgbClr val="000000"/>
              </a:solidFill>
              <a:effectLst/>
              <a:uFillTx/>
              <a:latin typeface="Times New Roman" panose="02020603050405020304"/>
            </a:endParaRPr>
          </a:p>
        </p:txBody>
      </p:sp>
      <p:sp>
        <p:nvSpPr>
          <p:cNvPr id="561" name="文字框 560"/>
          <p:cNvSpPr txBox="1"/>
          <p:nvPr/>
        </p:nvSpPr>
        <p:spPr>
          <a:xfrm>
            <a:off x="6708600" y="302112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需了解复杂的合约规则和</a:t>
            </a:r>
            <a:endParaRPr lang="en-US" sz="920" b="0" u="none" strike="noStrike">
              <a:solidFill>
                <a:srgbClr val="000000"/>
              </a:solidFill>
              <a:effectLst/>
              <a:uFillTx/>
              <a:latin typeface="Times New Roman" panose="02020603050405020304"/>
            </a:endParaRPr>
          </a:p>
        </p:txBody>
      </p:sp>
      <p:sp>
        <p:nvSpPr>
          <p:cNvPr id="562" name="任意多邊形 561"/>
          <p:cNvSpPr/>
          <p:nvPr/>
        </p:nvSpPr>
        <p:spPr>
          <a:xfrm>
            <a:off x="8339760" y="1370160"/>
            <a:ext cx="1822320" cy="3075840"/>
          </a:xfrm>
          <a:custGeom>
            <a:avLst/>
            <a:gdLst/>
            <a:ahLst/>
            <a:cxnLst/>
            <a:rect l="0" t="0" r="r" b="b"/>
            <a:pathLst>
              <a:path w="5062" h="8544">
                <a:moveTo>
                  <a:pt x="0" y="8358"/>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4876" y="0"/>
                </a:lnTo>
                <a:cubicBezTo>
                  <a:pt x="4888" y="0"/>
                  <a:pt x="4900" y="2"/>
                  <a:pt x="4912" y="4"/>
                </a:cubicBezTo>
                <a:cubicBezTo>
                  <a:pt x="4924" y="6"/>
                  <a:pt x="4936" y="10"/>
                  <a:pt x="4947" y="15"/>
                </a:cubicBezTo>
                <a:cubicBezTo>
                  <a:pt x="4958" y="19"/>
                  <a:pt x="4969" y="25"/>
                  <a:pt x="4979" y="32"/>
                </a:cubicBezTo>
                <a:cubicBezTo>
                  <a:pt x="4989" y="39"/>
                  <a:pt x="4999" y="46"/>
                  <a:pt x="5007" y="55"/>
                </a:cubicBezTo>
                <a:cubicBezTo>
                  <a:pt x="5016" y="63"/>
                  <a:pt x="5023" y="73"/>
                  <a:pt x="5030" y="83"/>
                </a:cubicBezTo>
                <a:cubicBezTo>
                  <a:pt x="5037" y="93"/>
                  <a:pt x="5043" y="104"/>
                  <a:pt x="5047" y="115"/>
                </a:cubicBezTo>
                <a:cubicBezTo>
                  <a:pt x="5052" y="126"/>
                  <a:pt x="5056" y="138"/>
                  <a:pt x="5058" y="150"/>
                </a:cubicBezTo>
                <a:cubicBezTo>
                  <a:pt x="5060" y="162"/>
                  <a:pt x="5062" y="174"/>
                  <a:pt x="5062" y="186"/>
                </a:cubicBezTo>
                <a:lnTo>
                  <a:pt x="5062" y="8358"/>
                </a:lnTo>
                <a:cubicBezTo>
                  <a:pt x="5062" y="8370"/>
                  <a:pt x="5060" y="8382"/>
                  <a:pt x="5058" y="8394"/>
                </a:cubicBezTo>
                <a:cubicBezTo>
                  <a:pt x="5056" y="8406"/>
                  <a:pt x="5052" y="8418"/>
                  <a:pt x="5047" y="8429"/>
                </a:cubicBezTo>
                <a:cubicBezTo>
                  <a:pt x="5043" y="8440"/>
                  <a:pt x="5037" y="8451"/>
                  <a:pt x="5030" y="8461"/>
                </a:cubicBezTo>
                <a:cubicBezTo>
                  <a:pt x="5023" y="8471"/>
                  <a:pt x="5016" y="8481"/>
                  <a:pt x="5007" y="8489"/>
                </a:cubicBezTo>
                <a:cubicBezTo>
                  <a:pt x="4999" y="8498"/>
                  <a:pt x="4989" y="8506"/>
                  <a:pt x="4979" y="8513"/>
                </a:cubicBezTo>
                <a:cubicBezTo>
                  <a:pt x="4969" y="8519"/>
                  <a:pt x="4958" y="8525"/>
                  <a:pt x="4947" y="8530"/>
                </a:cubicBezTo>
                <a:cubicBezTo>
                  <a:pt x="4936" y="8534"/>
                  <a:pt x="4924" y="8538"/>
                  <a:pt x="4912" y="8540"/>
                </a:cubicBezTo>
                <a:cubicBezTo>
                  <a:pt x="4900" y="8543"/>
                  <a:pt x="4888" y="8544"/>
                  <a:pt x="4876" y="8544"/>
                </a:cubicBezTo>
                <a:lnTo>
                  <a:pt x="186" y="8544"/>
                </a:lnTo>
                <a:cubicBezTo>
                  <a:pt x="174" y="8544"/>
                  <a:pt x="162" y="8543"/>
                  <a:pt x="150" y="8540"/>
                </a:cubicBezTo>
                <a:cubicBezTo>
                  <a:pt x="138" y="8538"/>
                  <a:pt x="126" y="8534"/>
                  <a:pt x="115" y="8530"/>
                </a:cubicBezTo>
                <a:cubicBezTo>
                  <a:pt x="104" y="8525"/>
                  <a:pt x="93" y="8519"/>
                  <a:pt x="83" y="8513"/>
                </a:cubicBezTo>
                <a:cubicBezTo>
                  <a:pt x="73" y="8506"/>
                  <a:pt x="63" y="8498"/>
                  <a:pt x="55" y="8489"/>
                </a:cubicBezTo>
                <a:cubicBezTo>
                  <a:pt x="46" y="8481"/>
                  <a:pt x="38" y="8471"/>
                  <a:pt x="31" y="8461"/>
                </a:cubicBezTo>
                <a:cubicBezTo>
                  <a:pt x="25" y="8451"/>
                  <a:pt x="19" y="8440"/>
                  <a:pt x="14" y="8429"/>
                </a:cubicBezTo>
                <a:cubicBezTo>
                  <a:pt x="10" y="8418"/>
                  <a:pt x="6" y="8406"/>
                  <a:pt x="4" y="8394"/>
                </a:cubicBezTo>
                <a:cubicBezTo>
                  <a:pt x="1" y="8382"/>
                  <a:pt x="0" y="8370"/>
                  <a:pt x="0" y="835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63" name="任意多邊形 562"/>
          <p:cNvSpPr/>
          <p:nvPr/>
        </p:nvSpPr>
        <p:spPr>
          <a:xfrm>
            <a:off x="8473680" y="1504080"/>
            <a:ext cx="334440" cy="334440"/>
          </a:xfrm>
          <a:custGeom>
            <a:avLst/>
            <a:gdLst/>
            <a:ahLst/>
            <a:cxnLst/>
            <a:rect l="0" t="0" r="r" b="b"/>
            <a:pathLst>
              <a:path w="929" h="929">
                <a:moveTo>
                  <a:pt x="929" y="464"/>
                </a:moveTo>
                <a:cubicBezTo>
                  <a:pt x="929" y="495"/>
                  <a:pt x="926" y="525"/>
                  <a:pt x="920" y="555"/>
                </a:cubicBezTo>
                <a:cubicBezTo>
                  <a:pt x="914" y="585"/>
                  <a:pt x="905" y="614"/>
                  <a:pt x="894" y="642"/>
                </a:cubicBezTo>
                <a:cubicBezTo>
                  <a:pt x="882" y="670"/>
                  <a:pt x="868" y="697"/>
                  <a:pt x="851" y="722"/>
                </a:cubicBezTo>
                <a:cubicBezTo>
                  <a:pt x="834" y="747"/>
                  <a:pt x="815" y="771"/>
                  <a:pt x="793" y="792"/>
                </a:cubicBezTo>
                <a:cubicBezTo>
                  <a:pt x="772" y="814"/>
                  <a:pt x="748" y="833"/>
                  <a:pt x="723" y="850"/>
                </a:cubicBezTo>
                <a:cubicBezTo>
                  <a:pt x="697" y="867"/>
                  <a:pt x="671" y="881"/>
                  <a:pt x="642" y="893"/>
                </a:cubicBezTo>
                <a:cubicBezTo>
                  <a:pt x="614" y="905"/>
                  <a:pt x="585" y="914"/>
                  <a:pt x="555" y="919"/>
                </a:cubicBezTo>
                <a:cubicBezTo>
                  <a:pt x="525" y="925"/>
                  <a:pt x="495" y="929"/>
                  <a:pt x="465" y="929"/>
                </a:cubicBezTo>
                <a:cubicBezTo>
                  <a:pt x="434" y="929"/>
                  <a:pt x="404" y="925"/>
                  <a:pt x="374" y="919"/>
                </a:cubicBezTo>
                <a:cubicBezTo>
                  <a:pt x="344" y="914"/>
                  <a:pt x="315" y="905"/>
                  <a:pt x="287" y="893"/>
                </a:cubicBezTo>
                <a:cubicBezTo>
                  <a:pt x="259" y="881"/>
                  <a:pt x="232" y="867"/>
                  <a:pt x="207" y="850"/>
                </a:cubicBezTo>
                <a:cubicBezTo>
                  <a:pt x="182" y="833"/>
                  <a:pt x="158" y="814"/>
                  <a:pt x="137" y="792"/>
                </a:cubicBezTo>
                <a:cubicBezTo>
                  <a:pt x="114" y="771"/>
                  <a:pt x="95" y="747"/>
                  <a:pt x="78" y="722"/>
                </a:cubicBezTo>
                <a:cubicBezTo>
                  <a:pt x="61" y="697"/>
                  <a:pt x="47" y="670"/>
                  <a:pt x="35" y="642"/>
                </a:cubicBezTo>
                <a:cubicBezTo>
                  <a:pt x="23" y="614"/>
                  <a:pt x="14" y="585"/>
                  <a:pt x="8" y="555"/>
                </a:cubicBezTo>
                <a:cubicBezTo>
                  <a:pt x="3" y="525"/>
                  <a:pt x="0" y="495"/>
                  <a:pt x="0" y="464"/>
                </a:cubicBezTo>
                <a:cubicBezTo>
                  <a:pt x="0" y="434"/>
                  <a:pt x="3" y="403"/>
                  <a:pt x="8" y="374"/>
                </a:cubicBezTo>
                <a:cubicBezTo>
                  <a:pt x="14" y="344"/>
                  <a:pt x="23" y="315"/>
                  <a:pt x="35" y="286"/>
                </a:cubicBezTo>
                <a:cubicBezTo>
                  <a:pt x="47" y="258"/>
                  <a:pt x="61" y="232"/>
                  <a:pt x="78" y="206"/>
                </a:cubicBezTo>
                <a:cubicBezTo>
                  <a:pt x="95" y="181"/>
                  <a:pt x="114" y="157"/>
                  <a:pt x="137" y="136"/>
                </a:cubicBezTo>
                <a:cubicBezTo>
                  <a:pt x="158" y="114"/>
                  <a:pt x="182" y="95"/>
                  <a:pt x="207" y="78"/>
                </a:cubicBezTo>
                <a:cubicBezTo>
                  <a:pt x="232" y="61"/>
                  <a:pt x="259" y="47"/>
                  <a:pt x="287" y="35"/>
                </a:cubicBezTo>
                <a:cubicBezTo>
                  <a:pt x="315" y="24"/>
                  <a:pt x="344" y="15"/>
                  <a:pt x="374" y="9"/>
                </a:cubicBezTo>
                <a:cubicBezTo>
                  <a:pt x="404" y="3"/>
                  <a:pt x="434" y="0"/>
                  <a:pt x="465" y="0"/>
                </a:cubicBezTo>
                <a:cubicBezTo>
                  <a:pt x="495" y="0"/>
                  <a:pt x="525" y="3"/>
                  <a:pt x="555" y="9"/>
                </a:cubicBezTo>
                <a:cubicBezTo>
                  <a:pt x="585" y="15"/>
                  <a:pt x="614" y="24"/>
                  <a:pt x="642" y="35"/>
                </a:cubicBezTo>
                <a:cubicBezTo>
                  <a:pt x="671" y="47"/>
                  <a:pt x="697" y="61"/>
                  <a:pt x="723" y="78"/>
                </a:cubicBezTo>
                <a:cubicBezTo>
                  <a:pt x="748" y="95"/>
                  <a:pt x="772" y="114"/>
                  <a:pt x="793" y="136"/>
                </a:cubicBezTo>
                <a:cubicBezTo>
                  <a:pt x="815" y="157"/>
                  <a:pt x="834" y="181"/>
                  <a:pt x="851" y="206"/>
                </a:cubicBezTo>
                <a:cubicBezTo>
                  <a:pt x="868" y="232"/>
                  <a:pt x="882" y="258"/>
                  <a:pt x="894" y="286"/>
                </a:cubicBezTo>
                <a:cubicBezTo>
                  <a:pt x="905" y="315"/>
                  <a:pt x="914" y="344"/>
                  <a:pt x="920" y="374"/>
                </a:cubicBezTo>
                <a:cubicBezTo>
                  <a:pt x="926" y="403"/>
                  <a:pt x="929" y="434"/>
                  <a:pt x="929" y="464"/>
                </a:cubicBezTo>
                <a:close/>
              </a:path>
            </a:pathLst>
          </a:custGeom>
          <a:solidFill>
            <a:srgbClr val="1D4ED8"/>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564" name="圖片 563"/>
          <p:cNvPicPr/>
          <p:nvPr/>
        </p:nvPicPr>
        <p:blipFill>
          <a:blip r:embed="rId15"/>
          <a:stretch>
            <a:fillRect/>
          </a:stretch>
        </p:blipFill>
        <p:spPr>
          <a:xfrm>
            <a:off x="8565480" y="1596240"/>
            <a:ext cx="150120" cy="150120"/>
          </a:xfrm>
          <a:prstGeom prst="rect">
            <a:avLst/>
          </a:prstGeom>
          <a:noFill/>
          <a:ln w="0">
            <a:noFill/>
          </a:ln>
        </p:spPr>
      </p:pic>
      <p:sp>
        <p:nvSpPr>
          <p:cNvPr id="565" name="文字框 564"/>
          <p:cNvSpPr txBox="1"/>
          <p:nvPr/>
        </p:nvSpPr>
        <p:spPr>
          <a:xfrm>
            <a:off x="6708600" y="3188160"/>
            <a:ext cx="5875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保证金制度</a:t>
            </a:r>
            <a:endParaRPr lang="en-US" sz="920" b="0" u="none" strike="noStrike">
              <a:solidFill>
                <a:srgbClr val="000000"/>
              </a:solidFill>
              <a:effectLst/>
              <a:uFillTx/>
              <a:latin typeface="Times New Roman" panose="02020603050405020304"/>
            </a:endParaRPr>
          </a:p>
        </p:txBody>
      </p:sp>
      <p:sp>
        <p:nvSpPr>
          <p:cNvPr id="566" name="任意多邊形 565"/>
          <p:cNvSpPr/>
          <p:nvPr/>
        </p:nvSpPr>
        <p:spPr>
          <a:xfrm>
            <a:off x="8473680" y="2172600"/>
            <a:ext cx="1554480" cy="67320"/>
          </a:xfrm>
          <a:custGeom>
            <a:avLst/>
            <a:gdLst/>
            <a:ahLst/>
            <a:cxnLst/>
            <a:rect l="0" t="0" r="r" b="b"/>
            <a:pathLst>
              <a:path w="4318" h="187">
                <a:moveTo>
                  <a:pt x="0" y="93"/>
                </a:moveTo>
                <a:cubicBezTo>
                  <a:pt x="0" y="80"/>
                  <a:pt x="2" y="69"/>
                  <a:pt x="7" y="57"/>
                </a:cubicBezTo>
                <a:cubicBezTo>
                  <a:pt x="11" y="46"/>
                  <a:pt x="18" y="36"/>
                  <a:pt x="27" y="27"/>
                </a:cubicBezTo>
                <a:cubicBezTo>
                  <a:pt x="35" y="18"/>
                  <a:pt x="45" y="12"/>
                  <a:pt x="57" y="7"/>
                </a:cubicBezTo>
                <a:cubicBezTo>
                  <a:pt x="68" y="2"/>
                  <a:pt x="80" y="0"/>
                  <a:pt x="92" y="0"/>
                </a:cubicBezTo>
                <a:lnTo>
                  <a:pt x="4225" y="0"/>
                </a:lnTo>
                <a:cubicBezTo>
                  <a:pt x="4238" y="0"/>
                  <a:pt x="4249" y="2"/>
                  <a:pt x="4261" y="7"/>
                </a:cubicBezTo>
                <a:cubicBezTo>
                  <a:pt x="4272" y="12"/>
                  <a:pt x="4282" y="18"/>
                  <a:pt x="4291" y="27"/>
                </a:cubicBezTo>
                <a:cubicBezTo>
                  <a:pt x="4300" y="36"/>
                  <a:pt x="4306" y="46"/>
                  <a:pt x="4311" y="57"/>
                </a:cubicBezTo>
                <a:cubicBezTo>
                  <a:pt x="4316" y="69"/>
                  <a:pt x="4318" y="80"/>
                  <a:pt x="4318" y="93"/>
                </a:cubicBezTo>
                <a:cubicBezTo>
                  <a:pt x="4318" y="105"/>
                  <a:pt x="4316" y="117"/>
                  <a:pt x="4311" y="128"/>
                </a:cubicBezTo>
                <a:cubicBezTo>
                  <a:pt x="4306" y="140"/>
                  <a:pt x="4300" y="150"/>
                  <a:pt x="4291" y="158"/>
                </a:cubicBezTo>
                <a:cubicBezTo>
                  <a:pt x="4282" y="168"/>
                  <a:pt x="4272" y="175"/>
                  <a:pt x="4261" y="180"/>
                </a:cubicBezTo>
                <a:cubicBezTo>
                  <a:pt x="4249" y="184"/>
                  <a:pt x="4238" y="187"/>
                  <a:pt x="4225" y="187"/>
                </a:cubicBezTo>
                <a:lnTo>
                  <a:pt x="92" y="187"/>
                </a:lnTo>
                <a:cubicBezTo>
                  <a:pt x="80" y="187"/>
                  <a:pt x="68" y="184"/>
                  <a:pt x="57" y="180"/>
                </a:cubicBezTo>
                <a:cubicBezTo>
                  <a:pt x="45" y="175"/>
                  <a:pt x="35" y="168"/>
                  <a:pt x="27" y="158"/>
                </a:cubicBezTo>
                <a:cubicBezTo>
                  <a:pt x="18" y="150"/>
                  <a:pt x="11" y="140"/>
                  <a:pt x="7" y="128"/>
                </a:cubicBezTo>
                <a:cubicBezTo>
                  <a:pt x="2" y="117"/>
                  <a:pt x="0" y="105"/>
                  <a:pt x="0" y="93"/>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67" name="任意多邊形 566"/>
          <p:cNvSpPr/>
          <p:nvPr/>
        </p:nvSpPr>
        <p:spPr>
          <a:xfrm>
            <a:off x="8473680" y="2172600"/>
            <a:ext cx="317880" cy="67320"/>
          </a:xfrm>
          <a:custGeom>
            <a:avLst/>
            <a:gdLst/>
            <a:ahLst/>
            <a:cxnLst/>
            <a:rect l="0" t="0" r="r" b="b"/>
            <a:pathLst>
              <a:path w="883" h="187">
                <a:moveTo>
                  <a:pt x="0" y="93"/>
                </a:moveTo>
                <a:cubicBezTo>
                  <a:pt x="0" y="80"/>
                  <a:pt x="2" y="69"/>
                  <a:pt x="7" y="57"/>
                </a:cubicBezTo>
                <a:cubicBezTo>
                  <a:pt x="11" y="46"/>
                  <a:pt x="18" y="36"/>
                  <a:pt x="27" y="27"/>
                </a:cubicBezTo>
                <a:cubicBezTo>
                  <a:pt x="35" y="18"/>
                  <a:pt x="45" y="12"/>
                  <a:pt x="57" y="7"/>
                </a:cubicBezTo>
                <a:cubicBezTo>
                  <a:pt x="68" y="2"/>
                  <a:pt x="80" y="0"/>
                  <a:pt x="92" y="0"/>
                </a:cubicBezTo>
                <a:lnTo>
                  <a:pt x="790" y="0"/>
                </a:lnTo>
                <a:cubicBezTo>
                  <a:pt x="802" y="0"/>
                  <a:pt x="814" y="2"/>
                  <a:pt x="825" y="7"/>
                </a:cubicBezTo>
                <a:cubicBezTo>
                  <a:pt x="837" y="12"/>
                  <a:pt x="847" y="18"/>
                  <a:pt x="855" y="27"/>
                </a:cubicBezTo>
                <a:cubicBezTo>
                  <a:pt x="864" y="36"/>
                  <a:pt x="871" y="46"/>
                  <a:pt x="876" y="57"/>
                </a:cubicBezTo>
                <a:cubicBezTo>
                  <a:pt x="880" y="69"/>
                  <a:pt x="883" y="80"/>
                  <a:pt x="883" y="93"/>
                </a:cubicBezTo>
                <a:cubicBezTo>
                  <a:pt x="883" y="105"/>
                  <a:pt x="880" y="117"/>
                  <a:pt x="876" y="128"/>
                </a:cubicBezTo>
                <a:cubicBezTo>
                  <a:pt x="871" y="140"/>
                  <a:pt x="864" y="150"/>
                  <a:pt x="855" y="158"/>
                </a:cubicBezTo>
                <a:cubicBezTo>
                  <a:pt x="847" y="168"/>
                  <a:pt x="837" y="175"/>
                  <a:pt x="825" y="180"/>
                </a:cubicBezTo>
                <a:cubicBezTo>
                  <a:pt x="814" y="184"/>
                  <a:pt x="802" y="187"/>
                  <a:pt x="790" y="187"/>
                </a:cubicBezTo>
                <a:lnTo>
                  <a:pt x="92" y="187"/>
                </a:lnTo>
                <a:cubicBezTo>
                  <a:pt x="80" y="187"/>
                  <a:pt x="68" y="184"/>
                  <a:pt x="57" y="180"/>
                </a:cubicBezTo>
                <a:cubicBezTo>
                  <a:pt x="45" y="175"/>
                  <a:pt x="35" y="168"/>
                  <a:pt x="27" y="158"/>
                </a:cubicBezTo>
                <a:cubicBezTo>
                  <a:pt x="18" y="150"/>
                  <a:pt x="11" y="140"/>
                  <a:pt x="7" y="128"/>
                </a:cubicBezTo>
                <a:cubicBezTo>
                  <a:pt x="2" y="117"/>
                  <a:pt x="0" y="105"/>
                  <a:pt x="0" y="93"/>
                </a:cubicBezTo>
                <a:close/>
              </a:path>
            </a:pathLst>
          </a:custGeom>
          <a:solidFill>
            <a:srgbClr val="B91C1C"/>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568" name="文字框 567"/>
          <p:cNvSpPr txBox="1"/>
          <p:nvPr/>
        </p:nvSpPr>
        <p:spPr>
          <a:xfrm>
            <a:off x="8911440" y="157680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另类投资</a:t>
            </a:r>
            <a:endParaRPr lang="en-US" sz="1180" b="0" u="none" strike="noStrike">
              <a:solidFill>
                <a:srgbClr val="000000"/>
              </a:solidFill>
              <a:effectLst/>
              <a:uFillTx/>
              <a:latin typeface="Times New Roman" panose="02020603050405020304"/>
            </a:endParaRPr>
          </a:p>
        </p:txBody>
      </p:sp>
      <p:sp>
        <p:nvSpPr>
          <p:cNvPr id="569" name="文字框 568"/>
          <p:cNvSpPr txBox="1"/>
          <p:nvPr/>
        </p:nvSpPr>
        <p:spPr>
          <a:xfrm>
            <a:off x="8476920" y="1968120"/>
            <a:ext cx="5875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市场准入度</a:t>
            </a:r>
            <a:endParaRPr lang="en-US" sz="920" b="0" u="none" strike="noStrike">
              <a:solidFill>
                <a:srgbClr val="000000"/>
              </a:solidFill>
              <a:effectLst/>
              <a:uFillTx/>
              <a:latin typeface="Times New Roman" panose="02020603050405020304"/>
            </a:endParaRPr>
          </a:p>
        </p:txBody>
      </p:sp>
      <p:pic>
        <p:nvPicPr>
          <p:cNvPr id="570" name="圖片 569"/>
          <p:cNvPicPr/>
          <p:nvPr/>
        </p:nvPicPr>
        <p:blipFill>
          <a:blip r:embed="rId11"/>
          <a:stretch>
            <a:fillRect/>
          </a:stretch>
        </p:blipFill>
        <p:spPr>
          <a:xfrm>
            <a:off x="8473680" y="2406600"/>
            <a:ext cx="116640" cy="116640"/>
          </a:xfrm>
          <a:prstGeom prst="rect">
            <a:avLst/>
          </a:prstGeom>
          <a:noFill/>
          <a:ln w="0">
            <a:noFill/>
          </a:ln>
        </p:spPr>
      </p:pic>
      <p:sp>
        <p:nvSpPr>
          <p:cNvPr id="571" name="文字框 570"/>
          <p:cNvSpPr txBox="1"/>
          <p:nvPr/>
        </p:nvSpPr>
        <p:spPr>
          <a:xfrm>
            <a:off x="9760680" y="1951920"/>
            <a:ext cx="2689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最低</a:t>
            </a:r>
            <a:endParaRPr lang="en-US" sz="1050" b="0" u="none" strike="noStrike">
              <a:solidFill>
                <a:srgbClr val="000000"/>
              </a:solidFill>
              <a:effectLst/>
              <a:uFillTx/>
              <a:latin typeface="Times New Roman" panose="02020603050405020304"/>
            </a:endParaRPr>
          </a:p>
        </p:txBody>
      </p:sp>
      <p:pic>
        <p:nvPicPr>
          <p:cNvPr id="572" name="圖片 571"/>
          <p:cNvPicPr/>
          <p:nvPr/>
        </p:nvPicPr>
        <p:blipFill>
          <a:blip r:embed="rId11"/>
          <a:stretch>
            <a:fillRect/>
          </a:stretch>
        </p:blipFill>
        <p:spPr>
          <a:xfrm>
            <a:off x="8473680" y="2640600"/>
            <a:ext cx="116640" cy="116640"/>
          </a:xfrm>
          <a:prstGeom prst="rect">
            <a:avLst/>
          </a:prstGeom>
          <a:noFill/>
          <a:ln w="0">
            <a:noFill/>
          </a:ln>
        </p:spPr>
      </p:pic>
      <p:sp>
        <p:nvSpPr>
          <p:cNvPr id="573" name="文字框 572"/>
          <p:cNvSpPr txBox="1"/>
          <p:nvPr/>
        </p:nvSpPr>
        <p:spPr>
          <a:xfrm>
            <a:off x="8660880" y="2386080"/>
            <a:ext cx="9396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市场准入壁垒最高</a:t>
            </a:r>
            <a:endParaRPr lang="en-US" sz="920" b="0" u="none" strike="noStrike">
              <a:solidFill>
                <a:srgbClr val="000000"/>
              </a:solidFill>
              <a:effectLst/>
              <a:uFillTx/>
              <a:latin typeface="Times New Roman" panose="02020603050405020304"/>
            </a:endParaRPr>
          </a:p>
        </p:txBody>
      </p:sp>
      <p:sp>
        <p:nvSpPr>
          <p:cNvPr id="574" name="文字框 573"/>
          <p:cNvSpPr txBox="1"/>
          <p:nvPr/>
        </p:nvSpPr>
        <p:spPr>
          <a:xfrm>
            <a:off x="8660880" y="262008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通常私募性质，信息透明</a:t>
            </a:r>
            <a:endParaRPr lang="en-US" sz="920" b="0" u="none" strike="noStrike">
              <a:solidFill>
                <a:srgbClr val="000000"/>
              </a:solidFill>
              <a:effectLst/>
              <a:uFillTx/>
              <a:latin typeface="Times New Roman" panose="02020603050405020304"/>
            </a:endParaRPr>
          </a:p>
        </p:txBody>
      </p:sp>
      <p:pic>
        <p:nvPicPr>
          <p:cNvPr id="575" name="圖片 574"/>
          <p:cNvPicPr/>
          <p:nvPr/>
        </p:nvPicPr>
        <p:blipFill>
          <a:blip r:embed="rId11"/>
          <a:stretch>
            <a:fillRect/>
          </a:stretch>
        </p:blipFill>
        <p:spPr>
          <a:xfrm>
            <a:off x="8473680" y="3042000"/>
            <a:ext cx="116640" cy="116640"/>
          </a:xfrm>
          <a:prstGeom prst="rect">
            <a:avLst/>
          </a:prstGeom>
          <a:noFill/>
          <a:ln w="0">
            <a:noFill/>
          </a:ln>
        </p:spPr>
      </p:pic>
      <p:sp>
        <p:nvSpPr>
          <p:cNvPr id="576" name="文字框 575"/>
          <p:cNvSpPr txBox="1"/>
          <p:nvPr/>
        </p:nvSpPr>
        <p:spPr>
          <a:xfrm>
            <a:off x="8660880" y="2787120"/>
            <a:ext cx="2354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度低</a:t>
            </a:r>
            <a:endParaRPr lang="en-US" sz="920" b="0" u="none" strike="noStrike">
              <a:solidFill>
                <a:srgbClr val="000000"/>
              </a:solidFill>
              <a:effectLst/>
              <a:uFillTx/>
              <a:latin typeface="Times New Roman" panose="02020603050405020304"/>
            </a:endParaRPr>
          </a:p>
        </p:txBody>
      </p:sp>
      <p:sp>
        <p:nvSpPr>
          <p:cNvPr id="577" name="文字框 576"/>
          <p:cNvSpPr txBox="1"/>
          <p:nvPr/>
        </p:nvSpPr>
        <p:spPr>
          <a:xfrm>
            <a:off x="8660880" y="302112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主要面向机构投资者和高</a:t>
            </a:r>
            <a:endParaRPr lang="en-US" sz="920" b="0" u="none" strike="noStrike">
              <a:solidFill>
                <a:srgbClr val="000000"/>
              </a:solidFill>
              <a:effectLst/>
              <a:uFillTx/>
              <a:latin typeface="Times New Roman" panose="02020603050405020304"/>
            </a:endParaRPr>
          </a:p>
        </p:txBody>
      </p:sp>
      <p:sp>
        <p:nvSpPr>
          <p:cNvPr id="578" name="文字框 577"/>
          <p:cNvSpPr txBox="1"/>
          <p:nvPr/>
        </p:nvSpPr>
        <p:spPr>
          <a:xfrm>
            <a:off x="8660880" y="3188160"/>
            <a:ext cx="4701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净值人群</a:t>
            </a:r>
            <a:endParaRPr lang="en-US" sz="92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9" name="圖片 578"/>
          <p:cNvPicPr/>
          <p:nvPr/>
        </p:nvPicPr>
        <p:blipFill>
          <a:blip r:embed="rId1"/>
          <a:stretch>
            <a:fillRect/>
          </a:stretch>
        </p:blipFill>
        <p:spPr>
          <a:xfrm>
            <a:off x="0" y="0"/>
            <a:ext cx="10696320" cy="7119720"/>
          </a:xfrm>
          <a:prstGeom prst="rect">
            <a:avLst/>
          </a:prstGeom>
          <a:noFill/>
          <a:ln w="0">
            <a:noFill/>
          </a:ln>
        </p:spPr>
      </p:pic>
      <p:pic>
        <p:nvPicPr>
          <p:cNvPr id="580" name="圖片 579"/>
          <p:cNvPicPr/>
          <p:nvPr/>
        </p:nvPicPr>
        <p:blipFill>
          <a:blip r:embed="rId2"/>
          <a:stretch>
            <a:fillRect/>
          </a:stretch>
        </p:blipFill>
        <p:spPr>
          <a:xfrm>
            <a:off x="534960" y="735480"/>
            <a:ext cx="3208680" cy="33120"/>
          </a:xfrm>
          <a:prstGeom prst="rect">
            <a:avLst/>
          </a:prstGeom>
          <a:noFill/>
          <a:ln w="0">
            <a:noFill/>
          </a:ln>
        </p:spPr>
      </p:pic>
      <p:sp>
        <p:nvSpPr>
          <p:cNvPr id="581" name="任意多邊形 580"/>
          <p:cNvSpPr/>
          <p:nvPr/>
        </p:nvSpPr>
        <p:spPr>
          <a:xfrm>
            <a:off x="5481720" y="902520"/>
            <a:ext cx="4680360" cy="4312080"/>
          </a:xfrm>
          <a:custGeom>
            <a:avLst/>
            <a:gdLst/>
            <a:ahLst/>
            <a:cxnLst/>
            <a:rect l="0" t="0" r="r" b="b"/>
            <a:pathLst>
              <a:path w="13001" h="11978">
                <a:moveTo>
                  <a:pt x="0" y="11793"/>
                </a:moveTo>
                <a:lnTo>
                  <a:pt x="0" y="185"/>
                </a:lnTo>
                <a:cubicBezTo>
                  <a:pt x="0" y="173"/>
                  <a:pt x="1" y="161"/>
                  <a:pt x="4" y="149"/>
                </a:cubicBezTo>
                <a:cubicBezTo>
                  <a:pt x="6" y="137"/>
                  <a:pt x="10" y="125"/>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12815" y="0"/>
                </a:lnTo>
                <a:cubicBezTo>
                  <a:pt x="12827" y="0"/>
                  <a:pt x="12839" y="1"/>
                  <a:pt x="12851" y="3"/>
                </a:cubicBezTo>
                <a:cubicBezTo>
                  <a:pt x="12863" y="5"/>
                  <a:pt x="12875" y="9"/>
                  <a:pt x="12886" y="14"/>
                </a:cubicBezTo>
                <a:cubicBezTo>
                  <a:pt x="12897" y="18"/>
                  <a:pt x="12908" y="24"/>
                  <a:pt x="12918" y="31"/>
                </a:cubicBezTo>
                <a:cubicBezTo>
                  <a:pt x="12928" y="38"/>
                  <a:pt x="12938" y="45"/>
                  <a:pt x="12946" y="54"/>
                </a:cubicBezTo>
                <a:cubicBezTo>
                  <a:pt x="12955" y="63"/>
                  <a:pt x="12962" y="72"/>
                  <a:pt x="12969" y="82"/>
                </a:cubicBezTo>
                <a:cubicBezTo>
                  <a:pt x="12976" y="92"/>
                  <a:pt x="12982" y="103"/>
                  <a:pt x="12986" y="114"/>
                </a:cubicBezTo>
                <a:cubicBezTo>
                  <a:pt x="12991" y="125"/>
                  <a:pt x="12995" y="137"/>
                  <a:pt x="12997" y="149"/>
                </a:cubicBezTo>
                <a:cubicBezTo>
                  <a:pt x="12999" y="161"/>
                  <a:pt x="13001" y="173"/>
                  <a:pt x="13001" y="185"/>
                </a:cubicBezTo>
                <a:lnTo>
                  <a:pt x="13001" y="11793"/>
                </a:lnTo>
                <a:cubicBezTo>
                  <a:pt x="13001" y="11805"/>
                  <a:pt x="12999" y="11817"/>
                  <a:pt x="12997" y="11829"/>
                </a:cubicBezTo>
                <a:cubicBezTo>
                  <a:pt x="12995" y="11841"/>
                  <a:pt x="12991" y="11853"/>
                  <a:pt x="12986" y="11864"/>
                </a:cubicBezTo>
                <a:cubicBezTo>
                  <a:pt x="12982" y="11875"/>
                  <a:pt x="12976" y="11886"/>
                  <a:pt x="12969" y="11896"/>
                </a:cubicBezTo>
                <a:cubicBezTo>
                  <a:pt x="12962" y="11906"/>
                  <a:pt x="12955" y="11915"/>
                  <a:pt x="12946" y="11924"/>
                </a:cubicBezTo>
                <a:cubicBezTo>
                  <a:pt x="12938" y="11933"/>
                  <a:pt x="12928" y="11940"/>
                  <a:pt x="12918" y="11947"/>
                </a:cubicBezTo>
                <a:cubicBezTo>
                  <a:pt x="12908" y="11954"/>
                  <a:pt x="12897" y="11960"/>
                  <a:pt x="12886" y="11964"/>
                </a:cubicBezTo>
                <a:cubicBezTo>
                  <a:pt x="12875" y="11969"/>
                  <a:pt x="12863" y="11972"/>
                  <a:pt x="12851" y="11975"/>
                </a:cubicBezTo>
                <a:cubicBezTo>
                  <a:pt x="12839" y="11977"/>
                  <a:pt x="12827" y="11978"/>
                  <a:pt x="12815" y="11978"/>
                </a:cubicBezTo>
                <a:lnTo>
                  <a:pt x="186" y="11978"/>
                </a:lnTo>
                <a:cubicBezTo>
                  <a:pt x="174" y="11978"/>
                  <a:pt x="162" y="11977"/>
                  <a:pt x="150" y="11975"/>
                </a:cubicBezTo>
                <a:cubicBezTo>
                  <a:pt x="138" y="11972"/>
                  <a:pt x="126" y="11969"/>
                  <a:pt x="115" y="11964"/>
                </a:cubicBezTo>
                <a:cubicBezTo>
                  <a:pt x="104" y="11960"/>
                  <a:pt x="93" y="11954"/>
                  <a:pt x="83" y="11947"/>
                </a:cubicBezTo>
                <a:cubicBezTo>
                  <a:pt x="73" y="11940"/>
                  <a:pt x="63" y="11933"/>
                  <a:pt x="55" y="11924"/>
                </a:cubicBezTo>
                <a:cubicBezTo>
                  <a:pt x="46" y="11915"/>
                  <a:pt x="38" y="11906"/>
                  <a:pt x="32" y="11896"/>
                </a:cubicBezTo>
                <a:cubicBezTo>
                  <a:pt x="25" y="11886"/>
                  <a:pt x="19" y="11875"/>
                  <a:pt x="14" y="11864"/>
                </a:cubicBezTo>
                <a:cubicBezTo>
                  <a:pt x="10" y="11853"/>
                  <a:pt x="6" y="11841"/>
                  <a:pt x="4" y="11829"/>
                </a:cubicBezTo>
                <a:cubicBezTo>
                  <a:pt x="1" y="11817"/>
                  <a:pt x="0" y="11805"/>
                  <a:pt x="0" y="11793"/>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82" name="任意多邊形 581"/>
          <p:cNvSpPr/>
          <p:nvPr/>
        </p:nvSpPr>
        <p:spPr>
          <a:xfrm>
            <a:off x="5682240" y="1470600"/>
            <a:ext cx="4278960" cy="568440"/>
          </a:xfrm>
          <a:custGeom>
            <a:avLst/>
            <a:gdLst/>
            <a:ahLst/>
            <a:cxnLst/>
            <a:rect l="0" t="0" r="r" b="b"/>
            <a:pathLst>
              <a:path w="11886" h="1579">
                <a:moveTo>
                  <a:pt x="0" y="1393"/>
                </a:moveTo>
                <a:lnTo>
                  <a:pt x="0" y="186"/>
                </a:lnTo>
                <a:cubicBezTo>
                  <a:pt x="0" y="174"/>
                  <a:pt x="2" y="161"/>
                  <a:pt x="4" y="149"/>
                </a:cubicBezTo>
                <a:cubicBezTo>
                  <a:pt x="6" y="138"/>
                  <a:pt x="10" y="126"/>
                  <a:pt x="15" y="115"/>
                </a:cubicBezTo>
                <a:cubicBezTo>
                  <a:pt x="19" y="103"/>
                  <a:pt x="25" y="93"/>
                  <a:pt x="32" y="83"/>
                </a:cubicBezTo>
                <a:cubicBezTo>
                  <a:pt x="38" y="72"/>
                  <a:pt x="46" y="63"/>
                  <a:pt x="55" y="54"/>
                </a:cubicBezTo>
                <a:cubicBezTo>
                  <a:pt x="63" y="46"/>
                  <a:pt x="73" y="38"/>
                  <a:pt x="83" y="31"/>
                </a:cubicBezTo>
                <a:cubicBezTo>
                  <a:pt x="93" y="25"/>
                  <a:pt x="104" y="19"/>
                  <a:pt x="115" y="14"/>
                </a:cubicBezTo>
                <a:cubicBezTo>
                  <a:pt x="126" y="9"/>
                  <a:pt x="138" y="6"/>
                  <a:pt x="150" y="4"/>
                </a:cubicBezTo>
                <a:cubicBezTo>
                  <a:pt x="162" y="1"/>
                  <a:pt x="174" y="0"/>
                  <a:pt x="186" y="0"/>
                </a:cubicBezTo>
                <a:lnTo>
                  <a:pt x="11701" y="0"/>
                </a:lnTo>
                <a:cubicBezTo>
                  <a:pt x="11713" y="0"/>
                  <a:pt x="11725" y="1"/>
                  <a:pt x="11737" y="4"/>
                </a:cubicBezTo>
                <a:cubicBezTo>
                  <a:pt x="11749" y="6"/>
                  <a:pt x="11761" y="9"/>
                  <a:pt x="11772" y="14"/>
                </a:cubicBezTo>
                <a:cubicBezTo>
                  <a:pt x="11783" y="19"/>
                  <a:pt x="11794" y="25"/>
                  <a:pt x="11804" y="31"/>
                </a:cubicBezTo>
                <a:cubicBezTo>
                  <a:pt x="11814" y="38"/>
                  <a:pt x="11823" y="46"/>
                  <a:pt x="11832" y="54"/>
                </a:cubicBezTo>
                <a:cubicBezTo>
                  <a:pt x="11841" y="63"/>
                  <a:pt x="11848" y="72"/>
                  <a:pt x="11855" y="83"/>
                </a:cubicBezTo>
                <a:cubicBezTo>
                  <a:pt x="11862" y="93"/>
                  <a:pt x="11868" y="103"/>
                  <a:pt x="11872" y="115"/>
                </a:cubicBezTo>
                <a:cubicBezTo>
                  <a:pt x="11877" y="126"/>
                  <a:pt x="11881" y="138"/>
                  <a:pt x="11883" y="149"/>
                </a:cubicBezTo>
                <a:cubicBezTo>
                  <a:pt x="11885" y="161"/>
                  <a:pt x="11886" y="174"/>
                  <a:pt x="11886" y="186"/>
                </a:cubicBezTo>
                <a:lnTo>
                  <a:pt x="11886" y="1393"/>
                </a:lnTo>
                <a:cubicBezTo>
                  <a:pt x="11886" y="1405"/>
                  <a:pt x="11885" y="1417"/>
                  <a:pt x="11883" y="1429"/>
                </a:cubicBezTo>
                <a:cubicBezTo>
                  <a:pt x="11881" y="1442"/>
                  <a:pt x="11877" y="1454"/>
                  <a:pt x="11872" y="1465"/>
                </a:cubicBezTo>
                <a:cubicBezTo>
                  <a:pt x="11868" y="1476"/>
                  <a:pt x="11862" y="1487"/>
                  <a:pt x="11855" y="1497"/>
                </a:cubicBezTo>
                <a:cubicBezTo>
                  <a:pt x="11848" y="1507"/>
                  <a:pt x="11841" y="1516"/>
                  <a:pt x="11832" y="1525"/>
                </a:cubicBezTo>
                <a:cubicBezTo>
                  <a:pt x="11823" y="1534"/>
                  <a:pt x="11814" y="1541"/>
                  <a:pt x="11804" y="1548"/>
                </a:cubicBezTo>
                <a:cubicBezTo>
                  <a:pt x="11794" y="1555"/>
                  <a:pt x="11783" y="1561"/>
                  <a:pt x="11772" y="1565"/>
                </a:cubicBezTo>
                <a:cubicBezTo>
                  <a:pt x="11761" y="1570"/>
                  <a:pt x="11749" y="1574"/>
                  <a:pt x="11737" y="1576"/>
                </a:cubicBezTo>
                <a:cubicBezTo>
                  <a:pt x="11725" y="1578"/>
                  <a:pt x="11713" y="1579"/>
                  <a:pt x="11701" y="1579"/>
                </a:cubicBezTo>
                <a:lnTo>
                  <a:pt x="186" y="1579"/>
                </a:lnTo>
                <a:cubicBezTo>
                  <a:pt x="174" y="1579"/>
                  <a:pt x="162" y="1578"/>
                  <a:pt x="150" y="1576"/>
                </a:cubicBezTo>
                <a:cubicBezTo>
                  <a:pt x="138" y="1574"/>
                  <a:pt x="126" y="1570"/>
                  <a:pt x="115" y="1565"/>
                </a:cubicBezTo>
                <a:cubicBezTo>
                  <a:pt x="104" y="1561"/>
                  <a:pt x="93" y="1555"/>
                  <a:pt x="83" y="1548"/>
                </a:cubicBezTo>
                <a:cubicBezTo>
                  <a:pt x="73" y="1541"/>
                  <a:pt x="63" y="1534"/>
                  <a:pt x="55" y="1525"/>
                </a:cubicBezTo>
                <a:cubicBezTo>
                  <a:pt x="46" y="1516"/>
                  <a:pt x="38" y="1507"/>
                  <a:pt x="32" y="1497"/>
                </a:cubicBezTo>
                <a:cubicBezTo>
                  <a:pt x="25" y="1487"/>
                  <a:pt x="19" y="1476"/>
                  <a:pt x="15" y="1465"/>
                </a:cubicBezTo>
                <a:cubicBezTo>
                  <a:pt x="10" y="1454"/>
                  <a:pt x="6" y="1442"/>
                  <a:pt x="4" y="1429"/>
                </a:cubicBezTo>
                <a:cubicBezTo>
                  <a:pt x="2" y="1417"/>
                  <a:pt x="0" y="1405"/>
                  <a:pt x="0" y="1393"/>
                </a:cubicBezTo>
                <a:close/>
              </a:path>
            </a:pathLst>
          </a:custGeom>
          <a:solidFill>
            <a:srgbClr val="FFFFFF">
              <a:alpha val="5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83" name="任意多邊形 582"/>
          <p:cNvSpPr/>
          <p:nvPr/>
        </p:nvSpPr>
        <p:spPr>
          <a:xfrm>
            <a:off x="5682240" y="2172600"/>
            <a:ext cx="4278960" cy="735840"/>
          </a:xfrm>
          <a:custGeom>
            <a:avLst/>
            <a:gdLst/>
            <a:ahLst/>
            <a:cxnLst/>
            <a:rect l="0" t="0" r="r" b="b"/>
            <a:pathLst>
              <a:path w="11886" h="2044">
                <a:moveTo>
                  <a:pt x="0" y="1858"/>
                </a:moveTo>
                <a:lnTo>
                  <a:pt x="0" y="186"/>
                </a:lnTo>
                <a:cubicBezTo>
                  <a:pt x="0" y="173"/>
                  <a:pt x="2" y="161"/>
                  <a:pt x="4" y="149"/>
                </a:cubicBezTo>
                <a:cubicBezTo>
                  <a:pt x="6" y="137"/>
                  <a:pt x="10" y="126"/>
                  <a:pt x="15"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1701" y="0"/>
                </a:lnTo>
                <a:cubicBezTo>
                  <a:pt x="11713" y="0"/>
                  <a:pt x="11725" y="1"/>
                  <a:pt x="11737" y="3"/>
                </a:cubicBezTo>
                <a:cubicBezTo>
                  <a:pt x="11749" y="6"/>
                  <a:pt x="11761" y="9"/>
                  <a:pt x="11772" y="14"/>
                </a:cubicBezTo>
                <a:cubicBezTo>
                  <a:pt x="11783" y="19"/>
                  <a:pt x="11794" y="24"/>
                  <a:pt x="11804" y="31"/>
                </a:cubicBezTo>
                <a:cubicBezTo>
                  <a:pt x="11814" y="38"/>
                  <a:pt x="11823" y="46"/>
                  <a:pt x="11832" y="54"/>
                </a:cubicBezTo>
                <a:cubicBezTo>
                  <a:pt x="11841" y="63"/>
                  <a:pt x="11848" y="72"/>
                  <a:pt x="11855" y="82"/>
                </a:cubicBezTo>
                <a:cubicBezTo>
                  <a:pt x="11862" y="93"/>
                  <a:pt x="11868" y="103"/>
                  <a:pt x="11872" y="115"/>
                </a:cubicBezTo>
                <a:cubicBezTo>
                  <a:pt x="11877" y="126"/>
                  <a:pt x="11881" y="137"/>
                  <a:pt x="11883" y="149"/>
                </a:cubicBezTo>
                <a:cubicBezTo>
                  <a:pt x="11885" y="161"/>
                  <a:pt x="11886" y="173"/>
                  <a:pt x="11886" y="186"/>
                </a:cubicBezTo>
                <a:lnTo>
                  <a:pt x="11886" y="1858"/>
                </a:lnTo>
                <a:cubicBezTo>
                  <a:pt x="11886" y="1870"/>
                  <a:pt x="11885" y="1882"/>
                  <a:pt x="11883" y="1894"/>
                </a:cubicBezTo>
                <a:cubicBezTo>
                  <a:pt x="11881" y="1906"/>
                  <a:pt x="11877" y="1918"/>
                  <a:pt x="11872" y="1929"/>
                </a:cubicBezTo>
                <a:cubicBezTo>
                  <a:pt x="11868" y="1940"/>
                  <a:pt x="11862" y="1951"/>
                  <a:pt x="11855" y="1961"/>
                </a:cubicBezTo>
                <a:cubicBezTo>
                  <a:pt x="11848" y="1971"/>
                  <a:pt x="11841" y="1981"/>
                  <a:pt x="11832" y="1989"/>
                </a:cubicBezTo>
                <a:cubicBezTo>
                  <a:pt x="11823" y="1998"/>
                  <a:pt x="11814" y="2006"/>
                  <a:pt x="11804" y="2012"/>
                </a:cubicBezTo>
                <a:cubicBezTo>
                  <a:pt x="11794" y="2019"/>
                  <a:pt x="11783" y="2025"/>
                  <a:pt x="11772" y="2030"/>
                </a:cubicBezTo>
                <a:cubicBezTo>
                  <a:pt x="11761" y="2034"/>
                  <a:pt x="11749" y="2038"/>
                  <a:pt x="11737" y="2040"/>
                </a:cubicBezTo>
                <a:cubicBezTo>
                  <a:pt x="11725" y="2042"/>
                  <a:pt x="11713" y="2044"/>
                  <a:pt x="11701" y="2044"/>
                </a:cubicBezTo>
                <a:lnTo>
                  <a:pt x="186" y="2044"/>
                </a:lnTo>
                <a:cubicBezTo>
                  <a:pt x="174" y="2044"/>
                  <a:pt x="162" y="2042"/>
                  <a:pt x="150" y="2040"/>
                </a:cubicBezTo>
                <a:cubicBezTo>
                  <a:pt x="138" y="2038"/>
                  <a:pt x="126" y="2034"/>
                  <a:pt x="115" y="2030"/>
                </a:cubicBezTo>
                <a:cubicBezTo>
                  <a:pt x="104" y="2025"/>
                  <a:pt x="93" y="2019"/>
                  <a:pt x="83" y="2012"/>
                </a:cubicBezTo>
                <a:cubicBezTo>
                  <a:pt x="73" y="2006"/>
                  <a:pt x="63" y="1998"/>
                  <a:pt x="55" y="1989"/>
                </a:cubicBezTo>
                <a:cubicBezTo>
                  <a:pt x="46" y="1981"/>
                  <a:pt x="38" y="1971"/>
                  <a:pt x="32" y="1961"/>
                </a:cubicBezTo>
                <a:cubicBezTo>
                  <a:pt x="25" y="1951"/>
                  <a:pt x="19" y="1940"/>
                  <a:pt x="15" y="1929"/>
                </a:cubicBezTo>
                <a:cubicBezTo>
                  <a:pt x="10" y="1918"/>
                  <a:pt x="6" y="1906"/>
                  <a:pt x="4" y="1894"/>
                </a:cubicBezTo>
                <a:cubicBezTo>
                  <a:pt x="2" y="1882"/>
                  <a:pt x="0" y="1870"/>
                  <a:pt x="0" y="1858"/>
                </a:cubicBezTo>
                <a:close/>
              </a:path>
            </a:pathLst>
          </a:custGeom>
          <a:solidFill>
            <a:srgbClr val="FFFFFF">
              <a:alpha val="5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84" name="任意多邊形 583"/>
          <p:cNvSpPr/>
          <p:nvPr/>
        </p:nvSpPr>
        <p:spPr>
          <a:xfrm>
            <a:off x="5682240" y="3041640"/>
            <a:ext cx="4278960" cy="568800"/>
          </a:xfrm>
          <a:custGeom>
            <a:avLst/>
            <a:gdLst/>
            <a:ahLst/>
            <a:cxnLst/>
            <a:rect l="0" t="0" r="r" b="b"/>
            <a:pathLst>
              <a:path w="11886" h="1580">
                <a:moveTo>
                  <a:pt x="0" y="1394"/>
                </a:moveTo>
                <a:lnTo>
                  <a:pt x="0" y="186"/>
                </a:lnTo>
                <a:cubicBezTo>
                  <a:pt x="0" y="174"/>
                  <a:pt x="2" y="161"/>
                  <a:pt x="4" y="150"/>
                </a:cubicBezTo>
                <a:cubicBezTo>
                  <a:pt x="6" y="138"/>
                  <a:pt x="10" y="126"/>
                  <a:pt x="15" y="115"/>
                </a:cubicBezTo>
                <a:cubicBezTo>
                  <a:pt x="19" y="103"/>
                  <a:pt x="25" y="93"/>
                  <a:pt x="32" y="83"/>
                </a:cubicBezTo>
                <a:cubicBezTo>
                  <a:pt x="38" y="72"/>
                  <a:pt x="46" y="63"/>
                  <a:pt x="55" y="54"/>
                </a:cubicBezTo>
                <a:cubicBezTo>
                  <a:pt x="63" y="46"/>
                  <a:pt x="73" y="38"/>
                  <a:pt x="83" y="31"/>
                </a:cubicBezTo>
                <a:cubicBezTo>
                  <a:pt x="93" y="25"/>
                  <a:pt x="104" y="19"/>
                  <a:pt x="115" y="14"/>
                </a:cubicBezTo>
                <a:cubicBezTo>
                  <a:pt x="126" y="10"/>
                  <a:pt x="138" y="6"/>
                  <a:pt x="150" y="4"/>
                </a:cubicBezTo>
                <a:cubicBezTo>
                  <a:pt x="162" y="1"/>
                  <a:pt x="174" y="0"/>
                  <a:pt x="186" y="0"/>
                </a:cubicBezTo>
                <a:lnTo>
                  <a:pt x="11701" y="0"/>
                </a:lnTo>
                <a:cubicBezTo>
                  <a:pt x="11713" y="0"/>
                  <a:pt x="11725" y="1"/>
                  <a:pt x="11737" y="4"/>
                </a:cubicBezTo>
                <a:cubicBezTo>
                  <a:pt x="11749" y="6"/>
                  <a:pt x="11761" y="10"/>
                  <a:pt x="11772" y="14"/>
                </a:cubicBezTo>
                <a:cubicBezTo>
                  <a:pt x="11783" y="19"/>
                  <a:pt x="11794" y="25"/>
                  <a:pt x="11804" y="31"/>
                </a:cubicBezTo>
                <a:cubicBezTo>
                  <a:pt x="11814" y="38"/>
                  <a:pt x="11823" y="46"/>
                  <a:pt x="11832" y="54"/>
                </a:cubicBezTo>
                <a:cubicBezTo>
                  <a:pt x="11841" y="63"/>
                  <a:pt x="11848" y="72"/>
                  <a:pt x="11855" y="83"/>
                </a:cubicBezTo>
                <a:cubicBezTo>
                  <a:pt x="11862" y="93"/>
                  <a:pt x="11868" y="103"/>
                  <a:pt x="11872" y="115"/>
                </a:cubicBezTo>
                <a:cubicBezTo>
                  <a:pt x="11877" y="126"/>
                  <a:pt x="11881" y="138"/>
                  <a:pt x="11883" y="150"/>
                </a:cubicBezTo>
                <a:cubicBezTo>
                  <a:pt x="11885" y="161"/>
                  <a:pt x="11886" y="174"/>
                  <a:pt x="11886" y="186"/>
                </a:cubicBezTo>
                <a:lnTo>
                  <a:pt x="11886" y="1394"/>
                </a:lnTo>
                <a:cubicBezTo>
                  <a:pt x="11886" y="1406"/>
                  <a:pt x="11885" y="1418"/>
                  <a:pt x="11883" y="1430"/>
                </a:cubicBezTo>
                <a:cubicBezTo>
                  <a:pt x="11881" y="1442"/>
                  <a:pt x="11877" y="1454"/>
                  <a:pt x="11872" y="1465"/>
                </a:cubicBezTo>
                <a:cubicBezTo>
                  <a:pt x="11868" y="1476"/>
                  <a:pt x="11862" y="1487"/>
                  <a:pt x="11855" y="1497"/>
                </a:cubicBezTo>
                <a:cubicBezTo>
                  <a:pt x="11848" y="1507"/>
                  <a:pt x="11841" y="1517"/>
                  <a:pt x="11832" y="1525"/>
                </a:cubicBezTo>
                <a:cubicBezTo>
                  <a:pt x="11823" y="1534"/>
                  <a:pt x="11814" y="1541"/>
                  <a:pt x="11804" y="1548"/>
                </a:cubicBezTo>
                <a:cubicBezTo>
                  <a:pt x="11794" y="1555"/>
                  <a:pt x="11783" y="1561"/>
                  <a:pt x="11772" y="1565"/>
                </a:cubicBezTo>
                <a:cubicBezTo>
                  <a:pt x="11761" y="1570"/>
                  <a:pt x="11749" y="1574"/>
                  <a:pt x="11737" y="1576"/>
                </a:cubicBezTo>
                <a:cubicBezTo>
                  <a:pt x="11725" y="1578"/>
                  <a:pt x="11713" y="1580"/>
                  <a:pt x="11701" y="1580"/>
                </a:cubicBezTo>
                <a:lnTo>
                  <a:pt x="186" y="1580"/>
                </a:lnTo>
                <a:cubicBezTo>
                  <a:pt x="174" y="1580"/>
                  <a:pt x="162" y="1578"/>
                  <a:pt x="150" y="1576"/>
                </a:cubicBezTo>
                <a:cubicBezTo>
                  <a:pt x="138" y="1574"/>
                  <a:pt x="126" y="1570"/>
                  <a:pt x="115" y="1565"/>
                </a:cubicBezTo>
                <a:cubicBezTo>
                  <a:pt x="104" y="1561"/>
                  <a:pt x="93" y="1555"/>
                  <a:pt x="83" y="1548"/>
                </a:cubicBezTo>
                <a:cubicBezTo>
                  <a:pt x="73" y="1541"/>
                  <a:pt x="63" y="1534"/>
                  <a:pt x="55" y="1525"/>
                </a:cubicBezTo>
                <a:cubicBezTo>
                  <a:pt x="46" y="1517"/>
                  <a:pt x="38" y="1507"/>
                  <a:pt x="32" y="1497"/>
                </a:cubicBezTo>
                <a:cubicBezTo>
                  <a:pt x="25" y="1487"/>
                  <a:pt x="19" y="1476"/>
                  <a:pt x="15" y="1465"/>
                </a:cubicBezTo>
                <a:cubicBezTo>
                  <a:pt x="10" y="1454"/>
                  <a:pt x="6" y="1442"/>
                  <a:pt x="4" y="1430"/>
                </a:cubicBezTo>
                <a:cubicBezTo>
                  <a:pt x="2" y="1418"/>
                  <a:pt x="0" y="1406"/>
                  <a:pt x="0" y="1394"/>
                </a:cubicBezTo>
                <a:close/>
              </a:path>
            </a:pathLst>
          </a:custGeom>
          <a:solidFill>
            <a:srgbClr val="FFFFFF">
              <a:alpha val="5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85" name="任意多邊形 584"/>
          <p:cNvSpPr/>
          <p:nvPr/>
        </p:nvSpPr>
        <p:spPr>
          <a:xfrm>
            <a:off x="5682240" y="3743640"/>
            <a:ext cx="4278960" cy="568440"/>
          </a:xfrm>
          <a:custGeom>
            <a:avLst/>
            <a:gdLst/>
            <a:ahLst/>
            <a:cxnLst/>
            <a:rect l="0" t="0" r="r" b="b"/>
            <a:pathLst>
              <a:path w="11886" h="1579">
                <a:moveTo>
                  <a:pt x="0" y="1393"/>
                </a:moveTo>
                <a:lnTo>
                  <a:pt x="0" y="186"/>
                </a:lnTo>
                <a:cubicBezTo>
                  <a:pt x="0" y="173"/>
                  <a:pt x="2" y="161"/>
                  <a:pt x="4" y="149"/>
                </a:cubicBezTo>
                <a:cubicBezTo>
                  <a:pt x="6" y="137"/>
                  <a:pt x="10" y="126"/>
                  <a:pt x="15"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11701" y="0"/>
                </a:lnTo>
                <a:cubicBezTo>
                  <a:pt x="11713" y="0"/>
                  <a:pt x="11725" y="1"/>
                  <a:pt x="11737" y="4"/>
                </a:cubicBezTo>
                <a:cubicBezTo>
                  <a:pt x="11749" y="6"/>
                  <a:pt x="11761" y="9"/>
                  <a:pt x="11772" y="14"/>
                </a:cubicBezTo>
                <a:cubicBezTo>
                  <a:pt x="11783" y="19"/>
                  <a:pt x="11794" y="24"/>
                  <a:pt x="11804" y="31"/>
                </a:cubicBezTo>
                <a:cubicBezTo>
                  <a:pt x="11814" y="38"/>
                  <a:pt x="11823" y="46"/>
                  <a:pt x="11832" y="54"/>
                </a:cubicBezTo>
                <a:cubicBezTo>
                  <a:pt x="11841" y="63"/>
                  <a:pt x="11848" y="72"/>
                  <a:pt x="11855" y="82"/>
                </a:cubicBezTo>
                <a:cubicBezTo>
                  <a:pt x="11862" y="93"/>
                  <a:pt x="11868" y="103"/>
                  <a:pt x="11872" y="115"/>
                </a:cubicBezTo>
                <a:cubicBezTo>
                  <a:pt x="11877" y="126"/>
                  <a:pt x="11881" y="137"/>
                  <a:pt x="11883" y="149"/>
                </a:cubicBezTo>
                <a:cubicBezTo>
                  <a:pt x="11885" y="161"/>
                  <a:pt x="11886" y="173"/>
                  <a:pt x="11886" y="186"/>
                </a:cubicBezTo>
                <a:lnTo>
                  <a:pt x="11886" y="1393"/>
                </a:lnTo>
                <a:cubicBezTo>
                  <a:pt x="11886" y="1405"/>
                  <a:pt x="11885" y="1417"/>
                  <a:pt x="11883" y="1429"/>
                </a:cubicBezTo>
                <a:cubicBezTo>
                  <a:pt x="11881" y="1442"/>
                  <a:pt x="11877" y="1454"/>
                  <a:pt x="11872" y="1465"/>
                </a:cubicBezTo>
                <a:cubicBezTo>
                  <a:pt x="11868" y="1476"/>
                  <a:pt x="11862" y="1487"/>
                  <a:pt x="11855" y="1497"/>
                </a:cubicBezTo>
                <a:cubicBezTo>
                  <a:pt x="11848" y="1507"/>
                  <a:pt x="11841" y="1516"/>
                  <a:pt x="11832" y="1525"/>
                </a:cubicBezTo>
                <a:cubicBezTo>
                  <a:pt x="11823" y="1534"/>
                  <a:pt x="11814" y="1541"/>
                  <a:pt x="11804" y="1548"/>
                </a:cubicBezTo>
                <a:cubicBezTo>
                  <a:pt x="11794" y="1555"/>
                  <a:pt x="11783" y="1561"/>
                  <a:pt x="11772" y="1565"/>
                </a:cubicBezTo>
                <a:cubicBezTo>
                  <a:pt x="11761" y="1570"/>
                  <a:pt x="11749" y="1573"/>
                  <a:pt x="11737" y="1576"/>
                </a:cubicBezTo>
                <a:cubicBezTo>
                  <a:pt x="11725" y="1578"/>
                  <a:pt x="11713" y="1579"/>
                  <a:pt x="11701" y="1579"/>
                </a:cubicBezTo>
                <a:lnTo>
                  <a:pt x="186" y="1579"/>
                </a:lnTo>
                <a:cubicBezTo>
                  <a:pt x="174" y="1579"/>
                  <a:pt x="162" y="1578"/>
                  <a:pt x="150" y="1576"/>
                </a:cubicBezTo>
                <a:cubicBezTo>
                  <a:pt x="138" y="1573"/>
                  <a:pt x="126" y="1570"/>
                  <a:pt x="115" y="1565"/>
                </a:cubicBezTo>
                <a:cubicBezTo>
                  <a:pt x="104" y="1561"/>
                  <a:pt x="93" y="1555"/>
                  <a:pt x="83" y="1548"/>
                </a:cubicBezTo>
                <a:cubicBezTo>
                  <a:pt x="73" y="1541"/>
                  <a:pt x="63" y="1534"/>
                  <a:pt x="55" y="1525"/>
                </a:cubicBezTo>
                <a:cubicBezTo>
                  <a:pt x="46" y="1516"/>
                  <a:pt x="38" y="1507"/>
                  <a:pt x="32" y="1497"/>
                </a:cubicBezTo>
                <a:cubicBezTo>
                  <a:pt x="25" y="1487"/>
                  <a:pt x="19" y="1476"/>
                  <a:pt x="15" y="1465"/>
                </a:cubicBezTo>
                <a:cubicBezTo>
                  <a:pt x="10" y="1454"/>
                  <a:pt x="6" y="1442"/>
                  <a:pt x="4" y="1429"/>
                </a:cubicBezTo>
                <a:cubicBezTo>
                  <a:pt x="2" y="1417"/>
                  <a:pt x="0" y="1405"/>
                  <a:pt x="0" y="1393"/>
                </a:cubicBezTo>
                <a:close/>
              </a:path>
            </a:pathLst>
          </a:custGeom>
          <a:solidFill>
            <a:srgbClr val="FFFFFF">
              <a:alpha val="5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86" name="任意多邊形 585"/>
          <p:cNvSpPr/>
          <p:nvPr/>
        </p:nvSpPr>
        <p:spPr>
          <a:xfrm>
            <a:off x="5682240" y="4445640"/>
            <a:ext cx="4278960" cy="568440"/>
          </a:xfrm>
          <a:custGeom>
            <a:avLst/>
            <a:gdLst/>
            <a:ahLst/>
            <a:cxnLst/>
            <a:rect l="0" t="0" r="r" b="b"/>
            <a:pathLst>
              <a:path w="11886" h="1579">
                <a:moveTo>
                  <a:pt x="0" y="1394"/>
                </a:moveTo>
                <a:lnTo>
                  <a:pt x="0" y="186"/>
                </a:lnTo>
                <a:cubicBezTo>
                  <a:pt x="0" y="173"/>
                  <a:pt x="2" y="161"/>
                  <a:pt x="4" y="149"/>
                </a:cubicBezTo>
                <a:cubicBezTo>
                  <a:pt x="6" y="137"/>
                  <a:pt x="10" y="126"/>
                  <a:pt x="15" y="114"/>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1701" y="0"/>
                </a:lnTo>
                <a:cubicBezTo>
                  <a:pt x="11713" y="0"/>
                  <a:pt x="11725" y="1"/>
                  <a:pt x="11737" y="3"/>
                </a:cubicBezTo>
                <a:cubicBezTo>
                  <a:pt x="11749" y="6"/>
                  <a:pt x="11761" y="9"/>
                  <a:pt x="11772" y="14"/>
                </a:cubicBezTo>
                <a:cubicBezTo>
                  <a:pt x="11783" y="19"/>
                  <a:pt x="11794" y="24"/>
                  <a:pt x="11804" y="31"/>
                </a:cubicBezTo>
                <a:cubicBezTo>
                  <a:pt x="11814" y="38"/>
                  <a:pt x="11823" y="46"/>
                  <a:pt x="11832" y="54"/>
                </a:cubicBezTo>
                <a:cubicBezTo>
                  <a:pt x="11841" y="63"/>
                  <a:pt x="11848" y="72"/>
                  <a:pt x="11855" y="82"/>
                </a:cubicBezTo>
                <a:cubicBezTo>
                  <a:pt x="11862" y="93"/>
                  <a:pt x="11868" y="103"/>
                  <a:pt x="11872" y="114"/>
                </a:cubicBezTo>
                <a:cubicBezTo>
                  <a:pt x="11877" y="126"/>
                  <a:pt x="11881" y="137"/>
                  <a:pt x="11883" y="149"/>
                </a:cubicBezTo>
                <a:cubicBezTo>
                  <a:pt x="11885" y="161"/>
                  <a:pt x="11886" y="173"/>
                  <a:pt x="11886" y="186"/>
                </a:cubicBezTo>
                <a:lnTo>
                  <a:pt x="11886" y="1394"/>
                </a:lnTo>
                <a:cubicBezTo>
                  <a:pt x="11886" y="1406"/>
                  <a:pt x="11885" y="1418"/>
                  <a:pt x="11883" y="1430"/>
                </a:cubicBezTo>
                <a:cubicBezTo>
                  <a:pt x="11881" y="1442"/>
                  <a:pt x="11877" y="1453"/>
                  <a:pt x="11872" y="1465"/>
                </a:cubicBezTo>
                <a:cubicBezTo>
                  <a:pt x="11868" y="1476"/>
                  <a:pt x="11862" y="1487"/>
                  <a:pt x="11855" y="1497"/>
                </a:cubicBezTo>
                <a:cubicBezTo>
                  <a:pt x="11848" y="1507"/>
                  <a:pt x="11841" y="1516"/>
                  <a:pt x="11832" y="1525"/>
                </a:cubicBezTo>
                <a:cubicBezTo>
                  <a:pt x="11823" y="1534"/>
                  <a:pt x="11814" y="1541"/>
                  <a:pt x="11804" y="1548"/>
                </a:cubicBezTo>
                <a:cubicBezTo>
                  <a:pt x="11794" y="1555"/>
                  <a:pt x="11783" y="1561"/>
                  <a:pt x="11772" y="1565"/>
                </a:cubicBezTo>
                <a:cubicBezTo>
                  <a:pt x="11761" y="1570"/>
                  <a:pt x="11749" y="1573"/>
                  <a:pt x="11737" y="1576"/>
                </a:cubicBezTo>
                <a:cubicBezTo>
                  <a:pt x="11725" y="1578"/>
                  <a:pt x="11713" y="1579"/>
                  <a:pt x="11701" y="1579"/>
                </a:cubicBezTo>
                <a:lnTo>
                  <a:pt x="186" y="1579"/>
                </a:lnTo>
                <a:cubicBezTo>
                  <a:pt x="174" y="1579"/>
                  <a:pt x="162" y="1578"/>
                  <a:pt x="150" y="1576"/>
                </a:cubicBezTo>
                <a:cubicBezTo>
                  <a:pt x="138" y="1573"/>
                  <a:pt x="126" y="1570"/>
                  <a:pt x="115" y="1565"/>
                </a:cubicBezTo>
                <a:cubicBezTo>
                  <a:pt x="104" y="1561"/>
                  <a:pt x="93" y="1555"/>
                  <a:pt x="83" y="1548"/>
                </a:cubicBezTo>
                <a:cubicBezTo>
                  <a:pt x="73" y="1541"/>
                  <a:pt x="63" y="1534"/>
                  <a:pt x="55" y="1525"/>
                </a:cubicBezTo>
                <a:cubicBezTo>
                  <a:pt x="46" y="1516"/>
                  <a:pt x="38" y="1507"/>
                  <a:pt x="32" y="1497"/>
                </a:cubicBezTo>
                <a:cubicBezTo>
                  <a:pt x="25" y="1487"/>
                  <a:pt x="19" y="1476"/>
                  <a:pt x="15" y="1465"/>
                </a:cubicBezTo>
                <a:cubicBezTo>
                  <a:pt x="10" y="1453"/>
                  <a:pt x="6" y="1442"/>
                  <a:pt x="4" y="1430"/>
                </a:cubicBezTo>
                <a:cubicBezTo>
                  <a:pt x="2" y="1418"/>
                  <a:pt x="0" y="1406"/>
                  <a:pt x="0" y="1394"/>
                </a:cubicBezTo>
                <a:close/>
              </a:path>
            </a:pathLst>
          </a:custGeom>
          <a:solidFill>
            <a:srgbClr val="FFFFFF">
              <a:alpha val="5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587" name="文字框 586"/>
          <p:cNvSpPr txBox="1"/>
          <p:nvPr/>
        </p:nvSpPr>
        <p:spPr>
          <a:xfrm>
            <a:off x="534960" y="312120"/>
            <a:ext cx="300312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资产可接触性：流动性</a:t>
            </a:r>
            <a:endParaRPr lang="en-US" sz="2370" b="0" u="none" strike="noStrike">
              <a:solidFill>
                <a:srgbClr val="000000"/>
              </a:solidFill>
              <a:effectLst/>
              <a:uFillTx/>
              <a:latin typeface="Times New Roman" panose="02020603050405020304"/>
            </a:endParaRPr>
          </a:p>
        </p:txBody>
      </p:sp>
      <p:pic>
        <p:nvPicPr>
          <p:cNvPr id="588" name="圖片 587"/>
          <p:cNvPicPr/>
          <p:nvPr/>
        </p:nvPicPr>
        <p:blipFill>
          <a:blip r:embed="rId3"/>
          <a:stretch>
            <a:fillRect/>
          </a:stretch>
        </p:blipFill>
        <p:spPr>
          <a:xfrm>
            <a:off x="5782680" y="1654560"/>
            <a:ext cx="200160" cy="200160"/>
          </a:xfrm>
          <a:prstGeom prst="rect">
            <a:avLst/>
          </a:prstGeom>
          <a:noFill/>
          <a:ln w="0">
            <a:noFill/>
          </a:ln>
        </p:spPr>
      </p:pic>
      <p:sp>
        <p:nvSpPr>
          <p:cNvPr id="589" name="文字框 588"/>
          <p:cNvSpPr txBox="1"/>
          <p:nvPr/>
        </p:nvSpPr>
        <p:spPr>
          <a:xfrm>
            <a:off x="5682600" y="1117800"/>
            <a:ext cx="15094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各类资产流动性比较</a:t>
            </a:r>
            <a:endParaRPr lang="en-US" sz="1320" b="0" u="none" strike="noStrike">
              <a:solidFill>
                <a:srgbClr val="000000"/>
              </a:solidFill>
              <a:effectLst/>
              <a:uFillTx/>
              <a:latin typeface="Times New Roman" panose="02020603050405020304"/>
            </a:endParaRPr>
          </a:p>
        </p:txBody>
      </p:sp>
      <p:sp>
        <p:nvSpPr>
          <p:cNvPr id="590" name="文字框 589"/>
          <p:cNvSpPr txBox="1"/>
          <p:nvPr/>
        </p:nvSpPr>
        <p:spPr>
          <a:xfrm>
            <a:off x="6117120" y="1584360"/>
            <a:ext cx="2689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股票</a:t>
            </a:r>
            <a:endParaRPr lang="en-US" sz="1050" b="0" u="none" strike="noStrike">
              <a:solidFill>
                <a:srgbClr val="000000"/>
              </a:solidFill>
              <a:effectLst/>
              <a:uFillTx/>
              <a:latin typeface="Times New Roman" panose="02020603050405020304"/>
            </a:endParaRPr>
          </a:p>
        </p:txBody>
      </p:sp>
      <p:pic>
        <p:nvPicPr>
          <p:cNvPr id="591" name="圖片 590"/>
          <p:cNvPicPr/>
          <p:nvPr/>
        </p:nvPicPr>
        <p:blipFill>
          <a:blip r:embed="rId4"/>
          <a:stretch>
            <a:fillRect/>
          </a:stretch>
        </p:blipFill>
        <p:spPr>
          <a:xfrm>
            <a:off x="9025200" y="1571040"/>
            <a:ext cx="835200" cy="166680"/>
          </a:xfrm>
          <a:prstGeom prst="rect">
            <a:avLst/>
          </a:prstGeom>
          <a:noFill/>
          <a:ln w="0">
            <a:noFill/>
          </a:ln>
        </p:spPr>
      </p:pic>
      <p:sp>
        <p:nvSpPr>
          <p:cNvPr id="592" name="文字框 591"/>
          <p:cNvSpPr txBox="1"/>
          <p:nvPr/>
        </p:nvSpPr>
        <p:spPr>
          <a:xfrm>
            <a:off x="6117120" y="1784160"/>
            <a:ext cx="211284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正常市场环境下，股票可以被轻松地买卖</a:t>
            </a:r>
            <a:endParaRPr lang="en-US" sz="920" b="0" u="none" strike="noStrike">
              <a:solidFill>
                <a:srgbClr val="000000"/>
              </a:solidFill>
              <a:effectLst/>
              <a:uFillTx/>
              <a:latin typeface="Times New Roman" panose="02020603050405020304"/>
            </a:endParaRPr>
          </a:p>
        </p:txBody>
      </p:sp>
      <p:pic>
        <p:nvPicPr>
          <p:cNvPr id="593" name="圖片 592"/>
          <p:cNvPicPr/>
          <p:nvPr/>
        </p:nvPicPr>
        <p:blipFill>
          <a:blip r:embed="rId5"/>
          <a:stretch>
            <a:fillRect/>
          </a:stretch>
        </p:blipFill>
        <p:spPr>
          <a:xfrm>
            <a:off x="5782680" y="2440080"/>
            <a:ext cx="150120" cy="200160"/>
          </a:xfrm>
          <a:prstGeom prst="rect">
            <a:avLst/>
          </a:prstGeom>
          <a:noFill/>
          <a:ln w="0">
            <a:noFill/>
          </a:ln>
        </p:spPr>
      </p:pic>
      <p:sp>
        <p:nvSpPr>
          <p:cNvPr id="594" name="文字框 593"/>
          <p:cNvSpPr txBox="1"/>
          <p:nvPr/>
        </p:nvSpPr>
        <p:spPr>
          <a:xfrm>
            <a:off x="8691120" y="1784160"/>
            <a:ext cx="11743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危机期间：流动性枯竭</a:t>
            </a:r>
            <a:endParaRPr lang="en-US" sz="920" b="0" u="none" strike="noStrike">
              <a:solidFill>
                <a:srgbClr val="000000"/>
              </a:solidFill>
              <a:effectLst/>
              <a:uFillTx/>
              <a:latin typeface="Times New Roman" panose="02020603050405020304"/>
            </a:endParaRPr>
          </a:p>
        </p:txBody>
      </p:sp>
      <p:sp>
        <p:nvSpPr>
          <p:cNvPr id="595" name="文字框 594"/>
          <p:cNvSpPr txBox="1"/>
          <p:nvPr/>
        </p:nvSpPr>
        <p:spPr>
          <a:xfrm>
            <a:off x="6067080" y="2286360"/>
            <a:ext cx="2689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债券</a:t>
            </a:r>
            <a:endParaRPr lang="en-US" sz="1050" b="0" u="none" strike="noStrike">
              <a:solidFill>
                <a:srgbClr val="000000"/>
              </a:solidFill>
              <a:effectLst/>
              <a:uFillTx/>
              <a:latin typeface="Times New Roman" panose="02020603050405020304"/>
            </a:endParaRPr>
          </a:p>
        </p:txBody>
      </p:sp>
      <p:sp>
        <p:nvSpPr>
          <p:cNvPr id="596" name="文字框 595"/>
          <p:cNvSpPr txBox="1"/>
          <p:nvPr/>
        </p:nvSpPr>
        <p:spPr>
          <a:xfrm>
            <a:off x="6067080" y="2486160"/>
            <a:ext cx="223020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国债流动性较好，公司债在危机时流动性显</a:t>
            </a:r>
            <a:endParaRPr lang="en-US" sz="920" b="0" u="none" strike="noStrike">
              <a:solidFill>
                <a:srgbClr val="000000"/>
              </a:solidFill>
              <a:effectLst/>
              <a:uFillTx/>
              <a:latin typeface="Times New Roman" panose="02020603050405020304"/>
            </a:endParaRPr>
          </a:p>
        </p:txBody>
      </p:sp>
      <p:pic>
        <p:nvPicPr>
          <p:cNvPr id="597" name="圖片 596"/>
          <p:cNvPicPr/>
          <p:nvPr/>
        </p:nvPicPr>
        <p:blipFill>
          <a:blip r:embed="rId6"/>
          <a:stretch>
            <a:fillRect/>
          </a:stretch>
        </p:blipFill>
        <p:spPr>
          <a:xfrm>
            <a:off x="9025200" y="2273040"/>
            <a:ext cx="835200" cy="166680"/>
          </a:xfrm>
          <a:prstGeom prst="rect">
            <a:avLst/>
          </a:prstGeom>
          <a:noFill/>
          <a:ln w="0">
            <a:noFill/>
          </a:ln>
        </p:spPr>
      </p:pic>
      <p:sp>
        <p:nvSpPr>
          <p:cNvPr id="598" name="文字框 597"/>
          <p:cNvSpPr txBox="1"/>
          <p:nvPr/>
        </p:nvSpPr>
        <p:spPr>
          <a:xfrm>
            <a:off x="6067080" y="2653560"/>
            <a:ext cx="35280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著下降</a:t>
            </a:r>
            <a:endParaRPr lang="en-US" sz="920" b="0" u="none" strike="noStrike">
              <a:solidFill>
                <a:srgbClr val="000000"/>
              </a:solidFill>
              <a:effectLst/>
              <a:uFillTx/>
              <a:latin typeface="Times New Roman" panose="02020603050405020304"/>
            </a:endParaRPr>
          </a:p>
        </p:txBody>
      </p:sp>
      <p:sp>
        <p:nvSpPr>
          <p:cNvPr id="599" name="文字框 598"/>
          <p:cNvSpPr txBox="1"/>
          <p:nvPr/>
        </p:nvSpPr>
        <p:spPr>
          <a:xfrm>
            <a:off x="8309520" y="2486160"/>
            <a:ext cx="152640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危机期间：高评级债券仍具流</a:t>
            </a:r>
            <a:endParaRPr lang="en-US" sz="920" b="0" u="none" strike="noStrike">
              <a:solidFill>
                <a:srgbClr val="000000"/>
              </a:solidFill>
              <a:effectLst/>
              <a:uFillTx/>
              <a:latin typeface="Times New Roman" panose="02020603050405020304"/>
            </a:endParaRPr>
          </a:p>
        </p:txBody>
      </p:sp>
      <p:pic>
        <p:nvPicPr>
          <p:cNvPr id="600" name="圖片 599"/>
          <p:cNvPicPr/>
          <p:nvPr/>
        </p:nvPicPr>
        <p:blipFill>
          <a:blip r:embed="rId7"/>
          <a:stretch>
            <a:fillRect/>
          </a:stretch>
        </p:blipFill>
        <p:spPr>
          <a:xfrm>
            <a:off x="5782680" y="3225600"/>
            <a:ext cx="225360" cy="200160"/>
          </a:xfrm>
          <a:prstGeom prst="rect">
            <a:avLst/>
          </a:prstGeom>
          <a:noFill/>
          <a:ln w="0">
            <a:noFill/>
          </a:ln>
        </p:spPr>
      </p:pic>
      <p:sp>
        <p:nvSpPr>
          <p:cNvPr id="601" name="文字框 600"/>
          <p:cNvSpPr txBox="1"/>
          <p:nvPr/>
        </p:nvSpPr>
        <p:spPr>
          <a:xfrm>
            <a:off x="8309520" y="2653560"/>
            <a:ext cx="23544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动性</a:t>
            </a:r>
            <a:endParaRPr lang="en-US" sz="920" b="0" u="none" strike="noStrike">
              <a:solidFill>
                <a:srgbClr val="000000"/>
              </a:solidFill>
              <a:effectLst/>
              <a:uFillTx/>
              <a:latin typeface="Times New Roman" panose="02020603050405020304"/>
            </a:endParaRPr>
          </a:p>
        </p:txBody>
      </p:sp>
      <p:sp>
        <p:nvSpPr>
          <p:cNvPr id="602" name="文字框 601"/>
          <p:cNvSpPr txBox="1"/>
          <p:nvPr/>
        </p:nvSpPr>
        <p:spPr>
          <a:xfrm>
            <a:off x="6142320" y="3155400"/>
            <a:ext cx="4032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房地产</a:t>
            </a:r>
            <a:endParaRPr lang="en-US" sz="1050" b="0" u="none" strike="noStrike">
              <a:solidFill>
                <a:srgbClr val="000000"/>
              </a:solidFill>
              <a:effectLst/>
              <a:uFillTx/>
              <a:latin typeface="Times New Roman" panose="02020603050405020304"/>
            </a:endParaRPr>
          </a:p>
        </p:txBody>
      </p:sp>
      <p:pic>
        <p:nvPicPr>
          <p:cNvPr id="603" name="圖片 602"/>
          <p:cNvPicPr/>
          <p:nvPr/>
        </p:nvPicPr>
        <p:blipFill>
          <a:blip r:embed="rId8"/>
          <a:stretch>
            <a:fillRect/>
          </a:stretch>
        </p:blipFill>
        <p:spPr>
          <a:xfrm>
            <a:off x="9025200" y="3142080"/>
            <a:ext cx="835200" cy="166680"/>
          </a:xfrm>
          <a:prstGeom prst="rect">
            <a:avLst/>
          </a:prstGeom>
          <a:noFill/>
          <a:ln w="0">
            <a:noFill/>
          </a:ln>
        </p:spPr>
      </p:pic>
      <p:sp>
        <p:nvSpPr>
          <p:cNvPr id="604" name="文字框 603"/>
          <p:cNvSpPr txBox="1"/>
          <p:nvPr/>
        </p:nvSpPr>
        <p:spPr>
          <a:xfrm>
            <a:off x="6142320" y="3355200"/>
            <a:ext cx="17611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交易周期长、成本高，变现难度大</a:t>
            </a:r>
            <a:endParaRPr lang="en-US" sz="920" b="0" u="none" strike="noStrike">
              <a:solidFill>
                <a:srgbClr val="000000"/>
              </a:solidFill>
              <a:effectLst/>
              <a:uFillTx/>
              <a:latin typeface="Times New Roman" panose="02020603050405020304"/>
            </a:endParaRPr>
          </a:p>
        </p:txBody>
      </p:sp>
      <p:pic>
        <p:nvPicPr>
          <p:cNvPr id="605" name="圖片 604"/>
          <p:cNvPicPr/>
          <p:nvPr/>
        </p:nvPicPr>
        <p:blipFill>
          <a:blip r:embed="rId9"/>
          <a:stretch>
            <a:fillRect/>
          </a:stretch>
        </p:blipFill>
        <p:spPr>
          <a:xfrm>
            <a:off x="5782680" y="3927600"/>
            <a:ext cx="225360" cy="200160"/>
          </a:xfrm>
          <a:prstGeom prst="rect">
            <a:avLst/>
          </a:prstGeom>
          <a:noFill/>
          <a:ln w="0">
            <a:noFill/>
          </a:ln>
        </p:spPr>
      </p:pic>
      <p:sp>
        <p:nvSpPr>
          <p:cNvPr id="606" name="文字框 605"/>
          <p:cNvSpPr txBox="1"/>
          <p:nvPr/>
        </p:nvSpPr>
        <p:spPr>
          <a:xfrm>
            <a:off x="8223120" y="3355200"/>
            <a:ext cx="164376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危机期间：需大幅折价才能售出</a:t>
            </a:r>
            <a:endParaRPr lang="en-US" sz="920" b="0" u="none" strike="noStrike">
              <a:solidFill>
                <a:srgbClr val="000000"/>
              </a:solidFill>
              <a:effectLst/>
              <a:uFillTx/>
              <a:latin typeface="Times New Roman" panose="02020603050405020304"/>
            </a:endParaRPr>
          </a:p>
        </p:txBody>
      </p:sp>
      <p:sp>
        <p:nvSpPr>
          <p:cNvPr id="607" name="文字框 606"/>
          <p:cNvSpPr txBox="1"/>
          <p:nvPr/>
        </p:nvSpPr>
        <p:spPr>
          <a:xfrm>
            <a:off x="6142320" y="3857400"/>
            <a:ext cx="5371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基础设施</a:t>
            </a:r>
            <a:endParaRPr lang="en-US" sz="1050" b="0" u="none" strike="noStrike">
              <a:solidFill>
                <a:srgbClr val="000000"/>
              </a:solidFill>
              <a:effectLst/>
              <a:uFillTx/>
              <a:latin typeface="Times New Roman" panose="02020603050405020304"/>
            </a:endParaRPr>
          </a:p>
        </p:txBody>
      </p:sp>
      <p:sp>
        <p:nvSpPr>
          <p:cNvPr id="608" name="文字框 607"/>
          <p:cNvSpPr txBox="1"/>
          <p:nvPr/>
        </p:nvSpPr>
        <p:spPr>
          <a:xfrm>
            <a:off x="6142320" y="4057200"/>
            <a:ext cx="105696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传统基金锁定期长达</a:t>
            </a:r>
            <a:endParaRPr lang="en-US" sz="920" b="0" u="none" strike="noStrike">
              <a:solidFill>
                <a:srgbClr val="000000"/>
              </a:solidFill>
              <a:effectLst/>
              <a:uFillTx/>
              <a:latin typeface="Times New Roman" panose="02020603050405020304"/>
            </a:endParaRPr>
          </a:p>
        </p:txBody>
      </p:sp>
      <p:sp>
        <p:nvSpPr>
          <p:cNvPr id="609" name="文字框 608"/>
          <p:cNvSpPr txBox="1"/>
          <p:nvPr/>
        </p:nvSpPr>
        <p:spPr>
          <a:xfrm>
            <a:off x="7194960" y="4061520"/>
            <a:ext cx="150120" cy="136080"/>
          </a:xfrm>
          <a:prstGeom prst="rect">
            <a:avLst/>
          </a:prstGeom>
          <a:noFill/>
          <a:ln w="0">
            <a:noFill/>
          </a:ln>
        </p:spPr>
        <p:txBody>
          <a:bodyPr wrap="none" lIns="0" tIns="0" rIns="0" bIns="0" anchor="t">
            <a:spAutoFit/>
          </a:bodyPr>
          <a:p>
            <a:r>
              <a:rPr lang="en-US" sz="920" b="0" u="none" strike="noStrike">
                <a:solidFill>
                  <a:srgbClr val="D1D5DB"/>
                </a:solidFill>
                <a:effectLst/>
                <a:uFillTx/>
                <a:latin typeface="DejaVuSans"/>
                <a:ea typeface="DejaVuSans"/>
              </a:rPr>
              <a:t>10</a:t>
            </a:r>
            <a:endParaRPr lang="en-US" sz="920" b="0" u="none" strike="noStrike">
              <a:solidFill>
                <a:srgbClr val="000000"/>
              </a:solidFill>
              <a:effectLst/>
              <a:uFillTx/>
              <a:latin typeface="Times New Roman" panose="02020603050405020304"/>
            </a:endParaRPr>
          </a:p>
        </p:txBody>
      </p:sp>
      <p:pic>
        <p:nvPicPr>
          <p:cNvPr id="610" name="圖片 609"/>
          <p:cNvPicPr/>
          <p:nvPr/>
        </p:nvPicPr>
        <p:blipFill>
          <a:blip r:embed="rId10"/>
          <a:stretch>
            <a:fillRect/>
          </a:stretch>
        </p:blipFill>
        <p:spPr>
          <a:xfrm>
            <a:off x="9025200" y="3844080"/>
            <a:ext cx="835200" cy="166680"/>
          </a:xfrm>
          <a:prstGeom prst="rect">
            <a:avLst/>
          </a:prstGeom>
          <a:noFill/>
          <a:ln w="0">
            <a:noFill/>
          </a:ln>
        </p:spPr>
      </p:pic>
      <p:sp>
        <p:nvSpPr>
          <p:cNvPr id="611" name="文字框 610"/>
          <p:cNvSpPr txBox="1"/>
          <p:nvPr/>
        </p:nvSpPr>
        <p:spPr>
          <a:xfrm>
            <a:off x="7344000" y="4057200"/>
            <a:ext cx="105696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年以上，流动性极差</a:t>
            </a:r>
            <a:endParaRPr lang="en-US" sz="920" b="0" u="none" strike="noStrike">
              <a:solidFill>
                <a:srgbClr val="000000"/>
              </a:solidFill>
              <a:effectLst/>
              <a:uFillTx/>
              <a:latin typeface="Times New Roman" panose="02020603050405020304"/>
            </a:endParaRPr>
          </a:p>
        </p:txBody>
      </p:sp>
      <p:pic>
        <p:nvPicPr>
          <p:cNvPr id="612" name="圖片 611"/>
          <p:cNvPicPr/>
          <p:nvPr/>
        </p:nvPicPr>
        <p:blipFill>
          <a:blip r:embed="rId11"/>
          <a:stretch>
            <a:fillRect/>
          </a:stretch>
        </p:blipFill>
        <p:spPr>
          <a:xfrm>
            <a:off x="5782680" y="4629600"/>
            <a:ext cx="200160" cy="200160"/>
          </a:xfrm>
          <a:prstGeom prst="rect">
            <a:avLst/>
          </a:prstGeom>
          <a:noFill/>
          <a:ln w="0">
            <a:noFill/>
          </a:ln>
        </p:spPr>
      </p:pic>
      <p:sp>
        <p:nvSpPr>
          <p:cNvPr id="613" name="文字框 612"/>
          <p:cNvSpPr txBox="1"/>
          <p:nvPr/>
        </p:nvSpPr>
        <p:spPr>
          <a:xfrm>
            <a:off x="8574120" y="4057200"/>
            <a:ext cx="12916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危机期间：几乎无法变现</a:t>
            </a:r>
            <a:endParaRPr lang="en-US" sz="920" b="0" u="none" strike="noStrike">
              <a:solidFill>
                <a:srgbClr val="000000"/>
              </a:solidFill>
              <a:effectLst/>
              <a:uFillTx/>
              <a:latin typeface="Times New Roman" panose="02020603050405020304"/>
            </a:endParaRPr>
          </a:p>
        </p:txBody>
      </p:sp>
      <p:sp>
        <p:nvSpPr>
          <p:cNvPr id="614" name="文字框 613"/>
          <p:cNvSpPr txBox="1"/>
          <p:nvPr/>
        </p:nvSpPr>
        <p:spPr>
          <a:xfrm>
            <a:off x="6117120" y="4559400"/>
            <a:ext cx="5371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另类投资</a:t>
            </a:r>
            <a:endParaRPr lang="en-US" sz="1050" b="0" u="none" strike="noStrike">
              <a:solidFill>
                <a:srgbClr val="000000"/>
              </a:solidFill>
              <a:effectLst/>
              <a:uFillTx/>
              <a:latin typeface="Times New Roman" panose="02020603050405020304"/>
            </a:endParaRPr>
          </a:p>
        </p:txBody>
      </p:sp>
      <p:pic>
        <p:nvPicPr>
          <p:cNvPr id="615" name="圖片 614"/>
          <p:cNvPicPr/>
          <p:nvPr/>
        </p:nvPicPr>
        <p:blipFill>
          <a:blip r:embed="rId12"/>
          <a:stretch>
            <a:fillRect/>
          </a:stretch>
        </p:blipFill>
        <p:spPr>
          <a:xfrm>
            <a:off x="9025200" y="4546080"/>
            <a:ext cx="835200" cy="166680"/>
          </a:xfrm>
          <a:prstGeom prst="rect">
            <a:avLst/>
          </a:prstGeom>
          <a:noFill/>
          <a:ln w="0">
            <a:noFill/>
          </a:ln>
        </p:spPr>
      </p:pic>
      <p:sp>
        <p:nvSpPr>
          <p:cNvPr id="616" name="文字框 615"/>
          <p:cNvSpPr txBox="1"/>
          <p:nvPr/>
        </p:nvSpPr>
        <p:spPr>
          <a:xfrm>
            <a:off x="6117120" y="4759200"/>
            <a:ext cx="187812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私募股权等通常有长达数年的锁定期</a:t>
            </a:r>
            <a:endParaRPr lang="en-US" sz="920" b="0" u="none" strike="noStrike">
              <a:solidFill>
                <a:srgbClr val="000000"/>
              </a:solidFill>
              <a:effectLst/>
              <a:uFillTx/>
              <a:latin typeface="Times New Roman" panose="02020603050405020304"/>
            </a:endParaRPr>
          </a:p>
        </p:txBody>
      </p:sp>
      <p:sp>
        <p:nvSpPr>
          <p:cNvPr id="617" name="任意多邊形 616"/>
          <p:cNvSpPr/>
          <p:nvPr/>
        </p:nvSpPr>
        <p:spPr>
          <a:xfrm>
            <a:off x="534600" y="5548680"/>
            <a:ext cx="9627480" cy="936360"/>
          </a:xfrm>
          <a:custGeom>
            <a:avLst/>
            <a:gdLst/>
            <a:ahLst/>
            <a:cxnLst/>
            <a:rect l="0" t="0" r="r" b="b"/>
            <a:pathLst>
              <a:path w="26743" h="2601">
                <a:moveTo>
                  <a:pt x="0" y="2415"/>
                </a:moveTo>
                <a:lnTo>
                  <a:pt x="0" y="186"/>
                </a:lnTo>
                <a:cubicBezTo>
                  <a:pt x="0" y="173"/>
                  <a:pt x="1" y="161"/>
                  <a:pt x="4" y="149"/>
                </a:cubicBezTo>
                <a:cubicBezTo>
                  <a:pt x="6" y="137"/>
                  <a:pt x="10" y="126"/>
                  <a:pt x="14" y="115"/>
                </a:cubicBezTo>
                <a:cubicBezTo>
                  <a:pt x="19" y="103"/>
                  <a:pt x="25" y="93"/>
                  <a:pt x="31" y="83"/>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26557" y="0"/>
                </a:lnTo>
                <a:cubicBezTo>
                  <a:pt x="26569" y="0"/>
                  <a:pt x="26581" y="1"/>
                  <a:pt x="26593" y="4"/>
                </a:cubicBezTo>
                <a:cubicBezTo>
                  <a:pt x="26605" y="6"/>
                  <a:pt x="26617" y="9"/>
                  <a:pt x="26628" y="14"/>
                </a:cubicBezTo>
                <a:cubicBezTo>
                  <a:pt x="26639" y="19"/>
                  <a:pt x="26650" y="24"/>
                  <a:pt x="26660" y="31"/>
                </a:cubicBezTo>
                <a:cubicBezTo>
                  <a:pt x="26670" y="38"/>
                  <a:pt x="26680" y="46"/>
                  <a:pt x="26688" y="54"/>
                </a:cubicBezTo>
                <a:cubicBezTo>
                  <a:pt x="26697" y="63"/>
                  <a:pt x="26704" y="72"/>
                  <a:pt x="26711" y="83"/>
                </a:cubicBezTo>
                <a:cubicBezTo>
                  <a:pt x="26718" y="93"/>
                  <a:pt x="26724" y="103"/>
                  <a:pt x="26728" y="115"/>
                </a:cubicBezTo>
                <a:cubicBezTo>
                  <a:pt x="26733" y="126"/>
                  <a:pt x="26737" y="137"/>
                  <a:pt x="26739" y="149"/>
                </a:cubicBezTo>
                <a:cubicBezTo>
                  <a:pt x="26741" y="161"/>
                  <a:pt x="26743" y="173"/>
                  <a:pt x="26743" y="186"/>
                </a:cubicBezTo>
                <a:lnTo>
                  <a:pt x="26743" y="2415"/>
                </a:lnTo>
                <a:cubicBezTo>
                  <a:pt x="26743" y="2427"/>
                  <a:pt x="26741" y="2439"/>
                  <a:pt x="26739" y="2451"/>
                </a:cubicBezTo>
                <a:cubicBezTo>
                  <a:pt x="26737" y="2463"/>
                  <a:pt x="26733" y="2475"/>
                  <a:pt x="26728" y="2486"/>
                </a:cubicBezTo>
                <a:cubicBezTo>
                  <a:pt x="26724" y="2497"/>
                  <a:pt x="26718" y="2508"/>
                  <a:pt x="26711" y="2518"/>
                </a:cubicBezTo>
                <a:cubicBezTo>
                  <a:pt x="26704" y="2528"/>
                  <a:pt x="26697" y="2538"/>
                  <a:pt x="26688" y="2546"/>
                </a:cubicBezTo>
                <a:cubicBezTo>
                  <a:pt x="26680" y="2555"/>
                  <a:pt x="26670" y="2563"/>
                  <a:pt x="26660" y="2570"/>
                </a:cubicBezTo>
                <a:cubicBezTo>
                  <a:pt x="26650" y="2576"/>
                  <a:pt x="26639" y="2582"/>
                  <a:pt x="26628" y="2587"/>
                </a:cubicBezTo>
                <a:cubicBezTo>
                  <a:pt x="26617" y="2591"/>
                  <a:pt x="26605" y="2595"/>
                  <a:pt x="26593" y="2597"/>
                </a:cubicBezTo>
                <a:cubicBezTo>
                  <a:pt x="26581" y="2600"/>
                  <a:pt x="26569" y="2601"/>
                  <a:pt x="26557" y="2601"/>
                </a:cubicBezTo>
                <a:lnTo>
                  <a:pt x="186" y="2601"/>
                </a:lnTo>
                <a:cubicBezTo>
                  <a:pt x="174" y="2601"/>
                  <a:pt x="162" y="2600"/>
                  <a:pt x="150" y="2597"/>
                </a:cubicBezTo>
                <a:cubicBezTo>
                  <a:pt x="138" y="2595"/>
                  <a:pt x="126" y="2591"/>
                  <a:pt x="115" y="2587"/>
                </a:cubicBezTo>
                <a:cubicBezTo>
                  <a:pt x="104" y="2582"/>
                  <a:pt x="93" y="2576"/>
                  <a:pt x="83" y="2570"/>
                </a:cubicBezTo>
                <a:cubicBezTo>
                  <a:pt x="73" y="2563"/>
                  <a:pt x="63" y="2555"/>
                  <a:pt x="55" y="2546"/>
                </a:cubicBezTo>
                <a:cubicBezTo>
                  <a:pt x="46" y="2538"/>
                  <a:pt x="38" y="2528"/>
                  <a:pt x="31" y="2518"/>
                </a:cubicBezTo>
                <a:cubicBezTo>
                  <a:pt x="25" y="2508"/>
                  <a:pt x="19" y="2497"/>
                  <a:pt x="14" y="2486"/>
                </a:cubicBezTo>
                <a:cubicBezTo>
                  <a:pt x="10" y="2475"/>
                  <a:pt x="6" y="2463"/>
                  <a:pt x="4" y="2451"/>
                </a:cubicBezTo>
                <a:cubicBezTo>
                  <a:pt x="1" y="2439"/>
                  <a:pt x="0" y="2427"/>
                  <a:pt x="0" y="2415"/>
                </a:cubicBezTo>
                <a:close/>
              </a:path>
            </a:pathLst>
          </a:custGeom>
          <a:solidFill>
            <a:srgbClr val="FFFFFF">
              <a:alpha val="5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18" name="任意多邊形 617"/>
          <p:cNvSpPr/>
          <p:nvPr/>
        </p:nvSpPr>
        <p:spPr>
          <a:xfrm>
            <a:off x="668520" y="5799240"/>
            <a:ext cx="351000" cy="434880"/>
          </a:xfrm>
          <a:custGeom>
            <a:avLst/>
            <a:gdLst/>
            <a:ahLst/>
            <a:cxnLst/>
            <a:rect l="0" t="0" r="r" b="b"/>
            <a:pathLst>
              <a:path w="975" h="1208">
                <a:moveTo>
                  <a:pt x="0" y="721"/>
                </a:moveTo>
                <a:lnTo>
                  <a:pt x="0" y="489"/>
                </a:lnTo>
                <a:cubicBezTo>
                  <a:pt x="0" y="457"/>
                  <a:pt x="3" y="425"/>
                  <a:pt x="9" y="394"/>
                </a:cubicBezTo>
                <a:cubicBezTo>
                  <a:pt x="15" y="362"/>
                  <a:pt x="24" y="332"/>
                  <a:pt x="37" y="302"/>
                </a:cubicBezTo>
                <a:cubicBezTo>
                  <a:pt x="49" y="273"/>
                  <a:pt x="64" y="245"/>
                  <a:pt x="82" y="218"/>
                </a:cubicBezTo>
                <a:cubicBezTo>
                  <a:pt x="99" y="191"/>
                  <a:pt x="120" y="166"/>
                  <a:pt x="142" y="143"/>
                </a:cubicBezTo>
                <a:cubicBezTo>
                  <a:pt x="165" y="121"/>
                  <a:pt x="190" y="100"/>
                  <a:pt x="216" y="83"/>
                </a:cubicBezTo>
                <a:cubicBezTo>
                  <a:pt x="243" y="65"/>
                  <a:pt x="271" y="50"/>
                  <a:pt x="300" y="37"/>
                </a:cubicBezTo>
                <a:cubicBezTo>
                  <a:pt x="330" y="25"/>
                  <a:pt x="361" y="16"/>
                  <a:pt x="392" y="10"/>
                </a:cubicBezTo>
                <a:cubicBezTo>
                  <a:pt x="423" y="3"/>
                  <a:pt x="455" y="0"/>
                  <a:pt x="487" y="0"/>
                </a:cubicBezTo>
                <a:cubicBezTo>
                  <a:pt x="519" y="0"/>
                  <a:pt x="551" y="3"/>
                  <a:pt x="583" y="10"/>
                </a:cubicBezTo>
                <a:cubicBezTo>
                  <a:pt x="615" y="16"/>
                  <a:pt x="645" y="25"/>
                  <a:pt x="675" y="37"/>
                </a:cubicBezTo>
                <a:cubicBezTo>
                  <a:pt x="704" y="50"/>
                  <a:pt x="732" y="65"/>
                  <a:pt x="759" y="83"/>
                </a:cubicBezTo>
                <a:cubicBezTo>
                  <a:pt x="785" y="100"/>
                  <a:pt x="810" y="121"/>
                  <a:pt x="833" y="143"/>
                </a:cubicBezTo>
                <a:cubicBezTo>
                  <a:pt x="855" y="166"/>
                  <a:pt x="876" y="191"/>
                  <a:pt x="893" y="218"/>
                </a:cubicBezTo>
                <a:cubicBezTo>
                  <a:pt x="911" y="245"/>
                  <a:pt x="926" y="273"/>
                  <a:pt x="938" y="302"/>
                </a:cubicBezTo>
                <a:cubicBezTo>
                  <a:pt x="951" y="332"/>
                  <a:pt x="960" y="362"/>
                  <a:pt x="966" y="394"/>
                </a:cubicBezTo>
                <a:cubicBezTo>
                  <a:pt x="972" y="425"/>
                  <a:pt x="975" y="457"/>
                  <a:pt x="975" y="489"/>
                </a:cubicBezTo>
                <a:lnTo>
                  <a:pt x="975" y="721"/>
                </a:lnTo>
                <a:cubicBezTo>
                  <a:pt x="975" y="753"/>
                  <a:pt x="972" y="785"/>
                  <a:pt x="966" y="816"/>
                </a:cubicBezTo>
                <a:cubicBezTo>
                  <a:pt x="960" y="847"/>
                  <a:pt x="951" y="878"/>
                  <a:pt x="938" y="908"/>
                </a:cubicBezTo>
                <a:cubicBezTo>
                  <a:pt x="926" y="937"/>
                  <a:pt x="911" y="965"/>
                  <a:pt x="893" y="992"/>
                </a:cubicBezTo>
                <a:cubicBezTo>
                  <a:pt x="876" y="1018"/>
                  <a:pt x="855" y="1043"/>
                  <a:pt x="833" y="1066"/>
                </a:cubicBezTo>
                <a:cubicBezTo>
                  <a:pt x="810" y="1088"/>
                  <a:pt x="785" y="1109"/>
                  <a:pt x="759" y="1126"/>
                </a:cubicBezTo>
                <a:cubicBezTo>
                  <a:pt x="732" y="1144"/>
                  <a:pt x="704" y="1159"/>
                  <a:pt x="675" y="1171"/>
                </a:cubicBezTo>
                <a:cubicBezTo>
                  <a:pt x="645" y="1184"/>
                  <a:pt x="615" y="1193"/>
                  <a:pt x="583" y="1199"/>
                </a:cubicBezTo>
                <a:cubicBezTo>
                  <a:pt x="551" y="1205"/>
                  <a:pt x="519" y="1208"/>
                  <a:pt x="487" y="1208"/>
                </a:cubicBezTo>
                <a:cubicBezTo>
                  <a:pt x="455" y="1208"/>
                  <a:pt x="423" y="1205"/>
                  <a:pt x="392" y="1199"/>
                </a:cubicBezTo>
                <a:cubicBezTo>
                  <a:pt x="361" y="1193"/>
                  <a:pt x="330" y="1184"/>
                  <a:pt x="300" y="1171"/>
                </a:cubicBezTo>
                <a:cubicBezTo>
                  <a:pt x="271" y="1159"/>
                  <a:pt x="243" y="1144"/>
                  <a:pt x="216" y="1126"/>
                </a:cubicBezTo>
                <a:cubicBezTo>
                  <a:pt x="190" y="1109"/>
                  <a:pt x="165" y="1088"/>
                  <a:pt x="142" y="1066"/>
                </a:cubicBezTo>
                <a:cubicBezTo>
                  <a:pt x="120" y="1043"/>
                  <a:pt x="99" y="1018"/>
                  <a:pt x="82" y="992"/>
                </a:cubicBezTo>
                <a:cubicBezTo>
                  <a:pt x="64" y="965"/>
                  <a:pt x="49" y="937"/>
                  <a:pt x="37" y="908"/>
                </a:cubicBezTo>
                <a:cubicBezTo>
                  <a:pt x="24" y="878"/>
                  <a:pt x="15" y="847"/>
                  <a:pt x="9" y="816"/>
                </a:cubicBezTo>
                <a:cubicBezTo>
                  <a:pt x="3" y="785"/>
                  <a:pt x="0" y="753"/>
                  <a:pt x="0" y="721"/>
                </a:cubicBezTo>
                <a:close/>
              </a:path>
            </a:pathLst>
          </a:custGeom>
          <a:solidFill>
            <a:srgbClr val="F59E0B">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619" name="圖片 618"/>
          <p:cNvPicPr/>
          <p:nvPr/>
        </p:nvPicPr>
        <p:blipFill>
          <a:blip r:embed="rId13"/>
          <a:stretch>
            <a:fillRect/>
          </a:stretch>
        </p:blipFill>
        <p:spPr>
          <a:xfrm>
            <a:off x="768960" y="5899680"/>
            <a:ext cx="150120" cy="200160"/>
          </a:xfrm>
          <a:prstGeom prst="rect">
            <a:avLst/>
          </a:prstGeom>
          <a:noFill/>
          <a:ln w="0">
            <a:noFill/>
          </a:ln>
        </p:spPr>
      </p:pic>
      <p:sp>
        <p:nvSpPr>
          <p:cNvPr id="620" name="文字框 619"/>
          <p:cNvSpPr txBox="1"/>
          <p:nvPr/>
        </p:nvSpPr>
        <p:spPr>
          <a:xfrm>
            <a:off x="8574120" y="4759200"/>
            <a:ext cx="12916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危机期间：无法快速变现</a:t>
            </a:r>
            <a:endParaRPr lang="en-US" sz="920" b="0" u="none" strike="noStrike">
              <a:solidFill>
                <a:srgbClr val="000000"/>
              </a:solidFill>
              <a:effectLst/>
              <a:uFillTx/>
              <a:latin typeface="Times New Roman" panose="02020603050405020304"/>
            </a:endParaRPr>
          </a:p>
        </p:txBody>
      </p:sp>
      <p:sp>
        <p:nvSpPr>
          <p:cNvPr id="621" name="文字框 620"/>
          <p:cNvSpPr txBox="1"/>
          <p:nvPr/>
        </p:nvSpPr>
        <p:spPr>
          <a:xfrm>
            <a:off x="1153080" y="5704920"/>
            <a:ext cx="166032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流动性对投资决策的影响</a:t>
            </a:r>
            <a:endParaRPr lang="en-US" sz="1180" b="0" u="none" strike="noStrike">
              <a:solidFill>
                <a:srgbClr val="000000"/>
              </a:solidFill>
              <a:effectLst/>
              <a:uFillTx/>
              <a:latin typeface="Times New Roman" panose="02020603050405020304"/>
            </a:endParaRPr>
          </a:p>
        </p:txBody>
      </p:sp>
      <p:sp>
        <p:nvSpPr>
          <p:cNvPr id="622" name="文字框 621"/>
          <p:cNvSpPr txBox="1"/>
          <p:nvPr/>
        </p:nvSpPr>
        <p:spPr>
          <a:xfrm>
            <a:off x="1153080" y="5963400"/>
            <a:ext cx="885204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在构建投资组合时，需平衡高流动性资产（应对短期资金需求）与低流动性资产（获取流动性溢价）。危机期间，持有充足的高流动性资产至关重要，</a:t>
            </a:r>
            <a:endParaRPr lang="en-US" sz="1050" b="0" u="none" strike="noStrike">
              <a:solidFill>
                <a:srgbClr val="000000"/>
              </a:solidFill>
              <a:effectLst/>
              <a:uFillTx/>
              <a:latin typeface="Times New Roman" panose="02020603050405020304"/>
            </a:endParaRPr>
          </a:p>
        </p:txBody>
      </p:sp>
      <p:sp>
        <p:nvSpPr>
          <p:cNvPr id="623" name="文字框 622"/>
          <p:cNvSpPr txBox="1"/>
          <p:nvPr/>
        </p:nvSpPr>
        <p:spPr>
          <a:xfrm>
            <a:off x="1153080" y="6163920"/>
            <a:ext cx="33534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既可避免被迫低价抛售，也能为捕捉市场低点提供资金。</a:t>
            </a:r>
            <a:endParaRPr lang="en-US" sz="1050" b="0" u="none" strike="noStrike">
              <a:solidFill>
                <a:srgbClr val="000000"/>
              </a:solidFill>
              <a:effectLst/>
              <a:uFillTx/>
              <a:latin typeface="Times New Roman" panose="02020603050405020304"/>
            </a:endParaRPr>
          </a:p>
        </p:txBody>
      </p:sp>
      <p:sp>
        <p:nvSpPr>
          <p:cNvPr id="624" name="文字框 623"/>
          <p:cNvSpPr txBox="1"/>
          <p:nvPr/>
        </p:nvSpPr>
        <p:spPr>
          <a:xfrm>
            <a:off x="534960" y="683172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625" name="任意多邊形 624"/>
          <p:cNvSpPr/>
          <p:nvPr/>
        </p:nvSpPr>
        <p:spPr>
          <a:xfrm>
            <a:off x="551520" y="902520"/>
            <a:ext cx="4529520" cy="1470960"/>
          </a:xfrm>
          <a:custGeom>
            <a:avLst/>
            <a:gdLst/>
            <a:ahLst/>
            <a:cxnLst/>
            <a:rect l="0" t="0" r="r" b="b"/>
            <a:pathLst>
              <a:path w="12582" h="4086">
                <a:moveTo>
                  <a:pt x="0" y="3900"/>
                </a:moveTo>
                <a:lnTo>
                  <a:pt x="0" y="185"/>
                </a:lnTo>
                <a:cubicBezTo>
                  <a:pt x="0" y="173"/>
                  <a:pt x="0" y="161"/>
                  <a:pt x="2" y="149"/>
                </a:cubicBezTo>
                <a:cubicBezTo>
                  <a:pt x="4" y="137"/>
                  <a:pt x="7" y="125"/>
                  <a:pt x="10" y="114"/>
                </a:cubicBezTo>
                <a:cubicBezTo>
                  <a:pt x="14" y="103"/>
                  <a:pt x="18" y="92"/>
                  <a:pt x="23" y="82"/>
                </a:cubicBezTo>
                <a:cubicBezTo>
                  <a:pt x="28" y="72"/>
                  <a:pt x="34" y="63"/>
                  <a:pt x="40" y="54"/>
                </a:cubicBezTo>
                <a:cubicBezTo>
                  <a:pt x="47" y="45"/>
                  <a:pt x="54" y="38"/>
                  <a:pt x="61" y="31"/>
                </a:cubicBezTo>
                <a:cubicBezTo>
                  <a:pt x="69" y="24"/>
                  <a:pt x="77" y="18"/>
                  <a:pt x="86" y="14"/>
                </a:cubicBezTo>
                <a:cubicBezTo>
                  <a:pt x="94" y="9"/>
                  <a:pt x="103" y="5"/>
                  <a:pt x="112" y="3"/>
                </a:cubicBezTo>
                <a:cubicBezTo>
                  <a:pt x="121" y="1"/>
                  <a:pt x="130" y="0"/>
                  <a:pt x="139" y="0"/>
                </a:cubicBezTo>
                <a:lnTo>
                  <a:pt x="12396" y="0"/>
                </a:lnTo>
                <a:cubicBezTo>
                  <a:pt x="12409" y="0"/>
                  <a:pt x="12421" y="1"/>
                  <a:pt x="12433" y="3"/>
                </a:cubicBezTo>
                <a:cubicBezTo>
                  <a:pt x="12445" y="5"/>
                  <a:pt x="12456" y="9"/>
                  <a:pt x="12467" y="14"/>
                </a:cubicBezTo>
                <a:cubicBezTo>
                  <a:pt x="12479" y="18"/>
                  <a:pt x="12489" y="24"/>
                  <a:pt x="12500" y="31"/>
                </a:cubicBezTo>
                <a:cubicBezTo>
                  <a:pt x="12510" y="38"/>
                  <a:pt x="12519" y="45"/>
                  <a:pt x="12528" y="54"/>
                </a:cubicBezTo>
                <a:cubicBezTo>
                  <a:pt x="12536" y="63"/>
                  <a:pt x="12544" y="72"/>
                  <a:pt x="12551" y="82"/>
                </a:cubicBezTo>
                <a:cubicBezTo>
                  <a:pt x="12558" y="92"/>
                  <a:pt x="12563" y="103"/>
                  <a:pt x="12568" y="114"/>
                </a:cubicBezTo>
                <a:cubicBezTo>
                  <a:pt x="12573" y="125"/>
                  <a:pt x="12576" y="137"/>
                  <a:pt x="12578" y="149"/>
                </a:cubicBezTo>
                <a:cubicBezTo>
                  <a:pt x="12581" y="161"/>
                  <a:pt x="12582" y="173"/>
                  <a:pt x="12582" y="185"/>
                </a:cubicBezTo>
                <a:lnTo>
                  <a:pt x="12582" y="3900"/>
                </a:lnTo>
                <a:cubicBezTo>
                  <a:pt x="12582" y="3912"/>
                  <a:pt x="12581" y="3925"/>
                  <a:pt x="12578" y="3937"/>
                </a:cubicBezTo>
                <a:cubicBezTo>
                  <a:pt x="12576" y="3948"/>
                  <a:pt x="12573" y="3960"/>
                  <a:pt x="12568" y="3971"/>
                </a:cubicBezTo>
                <a:cubicBezTo>
                  <a:pt x="12563" y="3983"/>
                  <a:pt x="12558" y="3993"/>
                  <a:pt x="12551" y="4003"/>
                </a:cubicBezTo>
                <a:cubicBezTo>
                  <a:pt x="12544" y="4014"/>
                  <a:pt x="12536" y="4023"/>
                  <a:pt x="12528" y="4032"/>
                </a:cubicBezTo>
                <a:cubicBezTo>
                  <a:pt x="12519" y="4040"/>
                  <a:pt x="12510" y="4048"/>
                  <a:pt x="12500" y="4055"/>
                </a:cubicBezTo>
                <a:cubicBezTo>
                  <a:pt x="12489" y="4061"/>
                  <a:pt x="12479" y="4067"/>
                  <a:pt x="12467" y="4072"/>
                </a:cubicBezTo>
                <a:cubicBezTo>
                  <a:pt x="12456" y="4077"/>
                  <a:pt x="12445" y="4080"/>
                  <a:pt x="12433" y="4082"/>
                </a:cubicBezTo>
                <a:cubicBezTo>
                  <a:pt x="12421" y="4085"/>
                  <a:pt x="12409" y="4086"/>
                  <a:pt x="12396" y="4086"/>
                </a:cubicBezTo>
                <a:lnTo>
                  <a:pt x="139" y="4086"/>
                </a:lnTo>
                <a:cubicBezTo>
                  <a:pt x="130" y="4086"/>
                  <a:pt x="121" y="4085"/>
                  <a:pt x="112" y="4082"/>
                </a:cubicBezTo>
                <a:cubicBezTo>
                  <a:pt x="103" y="4080"/>
                  <a:pt x="94" y="4077"/>
                  <a:pt x="86" y="4072"/>
                </a:cubicBezTo>
                <a:cubicBezTo>
                  <a:pt x="77" y="4067"/>
                  <a:pt x="69" y="4061"/>
                  <a:pt x="61" y="4055"/>
                </a:cubicBezTo>
                <a:cubicBezTo>
                  <a:pt x="54" y="4048"/>
                  <a:pt x="47" y="4040"/>
                  <a:pt x="40" y="4032"/>
                </a:cubicBezTo>
                <a:cubicBezTo>
                  <a:pt x="34" y="4023"/>
                  <a:pt x="28" y="4014"/>
                  <a:pt x="23" y="4003"/>
                </a:cubicBezTo>
                <a:cubicBezTo>
                  <a:pt x="18" y="3993"/>
                  <a:pt x="14" y="3983"/>
                  <a:pt x="10" y="3971"/>
                </a:cubicBezTo>
                <a:cubicBezTo>
                  <a:pt x="7" y="3960"/>
                  <a:pt x="4" y="3948"/>
                  <a:pt x="2" y="3937"/>
                </a:cubicBezTo>
                <a:cubicBezTo>
                  <a:pt x="0" y="3925"/>
                  <a:pt x="0" y="3912"/>
                  <a:pt x="0" y="390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26" name="任意多邊形 625"/>
          <p:cNvSpPr/>
          <p:nvPr/>
        </p:nvSpPr>
        <p:spPr>
          <a:xfrm>
            <a:off x="534600" y="902520"/>
            <a:ext cx="67320" cy="1470960"/>
          </a:xfrm>
          <a:custGeom>
            <a:avLst/>
            <a:gdLst/>
            <a:ahLst/>
            <a:cxnLst/>
            <a:rect l="0" t="0" r="r" b="b"/>
            <a:pathLst>
              <a:path w="187" h="4086">
                <a:moveTo>
                  <a:pt x="151" y="14"/>
                </a:moveTo>
                <a:cubicBezTo>
                  <a:pt x="140" y="23"/>
                  <a:pt x="130" y="36"/>
                  <a:pt x="121" y="54"/>
                </a:cubicBezTo>
                <a:cubicBezTo>
                  <a:pt x="112" y="71"/>
                  <a:pt x="106" y="91"/>
                  <a:pt x="101" y="114"/>
                </a:cubicBezTo>
                <a:cubicBezTo>
                  <a:pt x="96" y="137"/>
                  <a:pt x="94" y="161"/>
                  <a:pt x="94" y="185"/>
                </a:cubicBezTo>
                <a:lnTo>
                  <a:pt x="94" y="3900"/>
                </a:lnTo>
                <a:cubicBezTo>
                  <a:pt x="94" y="3925"/>
                  <a:pt x="96" y="3949"/>
                  <a:pt x="101" y="3971"/>
                </a:cubicBezTo>
                <a:cubicBezTo>
                  <a:pt x="106" y="3994"/>
                  <a:pt x="112" y="4014"/>
                  <a:pt x="121" y="4032"/>
                </a:cubicBezTo>
                <a:cubicBezTo>
                  <a:pt x="130" y="4049"/>
                  <a:pt x="140" y="4062"/>
                  <a:pt x="151" y="4072"/>
                </a:cubicBezTo>
                <a:cubicBezTo>
                  <a:pt x="163" y="4081"/>
                  <a:pt x="175" y="4086"/>
                  <a:pt x="187" y="4086"/>
                </a:cubicBezTo>
                <a:cubicBezTo>
                  <a:pt x="162" y="4086"/>
                  <a:pt x="139" y="4081"/>
                  <a:pt x="116" y="4072"/>
                </a:cubicBezTo>
                <a:cubicBezTo>
                  <a:pt x="93" y="4062"/>
                  <a:pt x="72" y="4049"/>
                  <a:pt x="55" y="4032"/>
                </a:cubicBezTo>
                <a:cubicBezTo>
                  <a:pt x="37" y="4014"/>
                  <a:pt x="24" y="3994"/>
                  <a:pt x="14" y="3971"/>
                </a:cubicBezTo>
                <a:cubicBezTo>
                  <a:pt x="5" y="3949"/>
                  <a:pt x="0" y="3925"/>
                  <a:pt x="0" y="3900"/>
                </a:cubicBezTo>
                <a:lnTo>
                  <a:pt x="0" y="185"/>
                </a:lnTo>
                <a:cubicBezTo>
                  <a:pt x="0" y="161"/>
                  <a:pt x="5" y="137"/>
                  <a:pt x="14" y="114"/>
                </a:cubicBezTo>
                <a:cubicBezTo>
                  <a:pt x="24" y="91"/>
                  <a:pt x="37" y="71"/>
                  <a:pt x="55" y="54"/>
                </a:cubicBezTo>
                <a:cubicBezTo>
                  <a:pt x="72" y="36"/>
                  <a:pt x="93" y="23"/>
                  <a:pt x="116" y="14"/>
                </a:cubicBezTo>
                <a:cubicBezTo>
                  <a:pt x="139" y="4"/>
                  <a:pt x="162" y="0"/>
                  <a:pt x="187" y="0"/>
                </a:cubicBezTo>
                <a:cubicBezTo>
                  <a:pt x="175" y="0"/>
                  <a:pt x="163" y="4"/>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627" name="圖片 626"/>
          <p:cNvPicPr/>
          <p:nvPr/>
        </p:nvPicPr>
        <p:blipFill>
          <a:blip r:embed="rId14"/>
          <a:stretch>
            <a:fillRect/>
          </a:stretch>
        </p:blipFill>
        <p:spPr>
          <a:xfrm>
            <a:off x="768960" y="1136520"/>
            <a:ext cx="166680" cy="166680"/>
          </a:xfrm>
          <a:prstGeom prst="rect">
            <a:avLst/>
          </a:prstGeom>
          <a:noFill/>
          <a:ln w="0">
            <a:noFill/>
          </a:ln>
        </p:spPr>
      </p:pic>
      <p:sp>
        <p:nvSpPr>
          <p:cNvPr id="628" name="文字框 627"/>
          <p:cNvSpPr txBox="1"/>
          <p:nvPr/>
        </p:nvSpPr>
        <p:spPr>
          <a:xfrm>
            <a:off x="9750240" y="6835680"/>
            <a:ext cx="23876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10 / 24</a:t>
            </a:r>
            <a:endParaRPr lang="en-US" sz="920" b="0" u="none" strike="noStrike">
              <a:solidFill>
                <a:srgbClr val="000000"/>
              </a:solidFill>
              <a:effectLst/>
              <a:uFillTx/>
              <a:latin typeface="Times New Roman" panose="02020603050405020304"/>
            </a:endParaRPr>
          </a:p>
        </p:txBody>
      </p:sp>
      <p:sp>
        <p:nvSpPr>
          <p:cNvPr id="629" name="文字框 628"/>
          <p:cNvSpPr txBox="1"/>
          <p:nvPr/>
        </p:nvSpPr>
        <p:spPr>
          <a:xfrm>
            <a:off x="1002960" y="1117800"/>
            <a:ext cx="8388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流动性定义</a:t>
            </a:r>
            <a:endParaRPr lang="en-US" sz="1320" b="0" u="none" strike="noStrike">
              <a:solidFill>
                <a:srgbClr val="000000"/>
              </a:solidFill>
              <a:effectLst/>
              <a:uFillTx/>
              <a:latin typeface="Times New Roman" panose="02020603050405020304"/>
            </a:endParaRPr>
          </a:p>
        </p:txBody>
      </p:sp>
      <p:sp>
        <p:nvSpPr>
          <p:cNvPr id="630" name="文字框 629"/>
          <p:cNvSpPr txBox="1"/>
          <p:nvPr/>
        </p:nvSpPr>
        <p:spPr>
          <a:xfrm>
            <a:off x="768960" y="1450800"/>
            <a:ext cx="4024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流动性是指资产在不显著影响其市场价格的情况下迅速变现的能力。</a:t>
            </a:r>
            <a:endParaRPr lang="en-US" sz="1050" b="0" u="none" strike="noStrike">
              <a:solidFill>
                <a:srgbClr val="000000"/>
              </a:solidFill>
              <a:effectLst/>
              <a:uFillTx/>
              <a:latin typeface="Times New Roman" panose="02020603050405020304"/>
            </a:endParaRPr>
          </a:p>
        </p:txBody>
      </p:sp>
      <p:sp>
        <p:nvSpPr>
          <p:cNvPr id="631" name="文字框 630"/>
          <p:cNvSpPr txBox="1"/>
          <p:nvPr/>
        </p:nvSpPr>
        <p:spPr>
          <a:xfrm>
            <a:off x="768960" y="1651320"/>
            <a:ext cx="4024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在金融危机期间，市场流动性普遍收紧，资产的变现能力面临严峻考</a:t>
            </a:r>
            <a:endParaRPr lang="en-US" sz="1050" b="0" u="none" strike="noStrike">
              <a:solidFill>
                <a:srgbClr val="000000"/>
              </a:solidFill>
              <a:effectLst/>
              <a:uFillTx/>
              <a:latin typeface="Times New Roman" panose="02020603050405020304"/>
            </a:endParaRPr>
          </a:p>
        </p:txBody>
      </p:sp>
      <p:sp>
        <p:nvSpPr>
          <p:cNvPr id="632" name="任意多邊形 631"/>
          <p:cNvSpPr/>
          <p:nvPr/>
        </p:nvSpPr>
        <p:spPr>
          <a:xfrm>
            <a:off x="551520" y="2573640"/>
            <a:ext cx="4529520" cy="2139840"/>
          </a:xfrm>
          <a:custGeom>
            <a:avLst/>
            <a:gdLst/>
            <a:ahLst/>
            <a:cxnLst/>
            <a:rect l="0" t="0" r="r" b="b"/>
            <a:pathLst>
              <a:path w="12582" h="5944">
                <a:moveTo>
                  <a:pt x="0" y="5758"/>
                </a:moveTo>
                <a:lnTo>
                  <a:pt x="0" y="186"/>
                </a:lnTo>
                <a:cubicBezTo>
                  <a:pt x="0" y="174"/>
                  <a:pt x="0" y="162"/>
                  <a:pt x="2" y="150"/>
                </a:cubicBezTo>
                <a:cubicBezTo>
                  <a:pt x="4" y="138"/>
                  <a:pt x="7" y="126"/>
                  <a:pt x="10" y="115"/>
                </a:cubicBezTo>
                <a:cubicBezTo>
                  <a:pt x="14" y="103"/>
                  <a:pt x="18" y="93"/>
                  <a:pt x="23" y="83"/>
                </a:cubicBezTo>
                <a:cubicBezTo>
                  <a:pt x="28" y="73"/>
                  <a:pt x="34" y="63"/>
                  <a:pt x="40" y="55"/>
                </a:cubicBezTo>
                <a:cubicBezTo>
                  <a:pt x="47" y="46"/>
                  <a:pt x="54" y="38"/>
                  <a:pt x="61" y="31"/>
                </a:cubicBezTo>
                <a:cubicBezTo>
                  <a:pt x="69" y="25"/>
                  <a:pt x="77" y="19"/>
                  <a:pt x="86" y="14"/>
                </a:cubicBezTo>
                <a:cubicBezTo>
                  <a:pt x="94" y="10"/>
                  <a:pt x="103" y="6"/>
                  <a:pt x="112" y="4"/>
                </a:cubicBezTo>
                <a:cubicBezTo>
                  <a:pt x="121" y="1"/>
                  <a:pt x="130" y="0"/>
                  <a:pt x="139" y="0"/>
                </a:cubicBezTo>
                <a:lnTo>
                  <a:pt x="12396" y="0"/>
                </a:lnTo>
                <a:cubicBezTo>
                  <a:pt x="12409" y="0"/>
                  <a:pt x="12421" y="1"/>
                  <a:pt x="12433" y="4"/>
                </a:cubicBezTo>
                <a:cubicBezTo>
                  <a:pt x="12445" y="6"/>
                  <a:pt x="12456" y="10"/>
                  <a:pt x="12467" y="14"/>
                </a:cubicBezTo>
                <a:cubicBezTo>
                  <a:pt x="12479" y="19"/>
                  <a:pt x="12489" y="25"/>
                  <a:pt x="12500" y="31"/>
                </a:cubicBezTo>
                <a:cubicBezTo>
                  <a:pt x="12510" y="38"/>
                  <a:pt x="12519" y="46"/>
                  <a:pt x="12528" y="55"/>
                </a:cubicBezTo>
                <a:cubicBezTo>
                  <a:pt x="12536" y="63"/>
                  <a:pt x="12544" y="73"/>
                  <a:pt x="12551" y="83"/>
                </a:cubicBezTo>
                <a:cubicBezTo>
                  <a:pt x="12558" y="93"/>
                  <a:pt x="12563" y="103"/>
                  <a:pt x="12568" y="115"/>
                </a:cubicBezTo>
                <a:cubicBezTo>
                  <a:pt x="12573" y="126"/>
                  <a:pt x="12576" y="138"/>
                  <a:pt x="12578" y="150"/>
                </a:cubicBezTo>
                <a:cubicBezTo>
                  <a:pt x="12581" y="162"/>
                  <a:pt x="12582" y="174"/>
                  <a:pt x="12582" y="186"/>
                </a:cubicBezTo>
                <a:lnTo>
                  <a:pt x="12582" y="5758"/>
                </a:lnTo>
                <a:cubicBezTo>
                  <a:pt x="12582" y="5770"/>
                  <a:pt x="12581" y="5782"/>
                  <a:pt x="12578" y="5794"/>
                </a:cubicBezTo>
                <a:cubicBezTo>
                  <a:pt x="12576" y="5806"/>
                  <a:pt x="12573" y="5818"/>
                  <a:pt x="12568" y="5829"/>
                </a:cubicBezTo>
                <a:cubicBezTo>
                  <a:pt x="12563" y="5840"/>
                  <a:pt x="12558" y="5851"/>
                  <a:pt x="12551" y="5861"/>
                </a:cubicBezTo>
                <a:cubicBezTo>
                  <a:pt x="12544" y="5871"/>
                  <a:pt x="12536" y="5881"/>
                  <a:pt x="12528" y="5889"/>
                </a:cubicBezTo>
                <a:cubicBezTo>
                  <a:pt x="12519" y="5898"/>
                  <a:pt x="12510" y="5906"/>
                  <a:pt x="12500" y="5912"/>
                </a:cubicBezTo>
                <a:cubicBezTo>
                  <a:pt x="12489" y="5919"/>
                  <a:pt x="12479" y="5925"/>
                  <a:pt x="12467" y="5930"/>
                </a:cubicBezTo>
                <a:cubicBezTo>
                  <a:pt x="12456" y="5934"/>
                  <a:pt x="12445" y="5938"/>
                  <a:pt x="12433" y="5940"/>
                </a:cubicBezTo>
                <a:cubicBezTo>
                  <a:pt x="12421" y="5942"/>
                  <a:pt x="12409" y="5944"/>
                  <a:pt x="12396" y="5944"/>
                </a:cubicBezTo>
                <a:lnTo>
                  <a:pt x="139" y="5944"/>
                </a:lnTo>
                <a:cubicBezTo>
                  <a:pt x="130" y="5944"/>
                  <a:pt x="121" y="5942"/>
                  <a:pt x="112" y="5940"/>
                </a:cubicBezTo>
                <a:cubicBezTo>
                  <a:pt x="103" y="5938"/>
                  <a:pt x="94" y="5934"/>
                  <a:pt x="86" y="5930"/>
                </a:cubicBezTo>
                <a:cubicBezTo>
                  <a:pt x="77" y="5925"/>
                  <a:pt x="69" y="5919"/>
                  <a:pt x="61" y="5912"/>
                </a:cubicBezTo>
                <a:cubicBezTo>
                  <a:pt x="54" y="5906"/>
                  <a:pt x="47" y="5898"/>
                  <a:pt x="40" y="5889"/>
                </a:cubicBezTo>
                <a:cubicBezTo>
                  <a:pt x="34" y="5881"/>
                  <a:pt x="28" y="5871"/>
                  <a:pt x="23" y="5861"/>
                </a:cubicBezTo>
                <a:cubicBezTo>
                  <a:pt x="18" y="5851"/>
                  <a:pt x="14" y="5840"/>
                  <a:pt x="10" y="5829"/>
                </a:cubicBezTo>
                <a:cubicBezTo>
                  <a:pt x="7" y="5818"/>
                  <a:pt x="4" y="5806"/>
                  <a:pt x="2" y="5794"/>
                </a:cubicBezTo>
                <a:cubicBezTo>
                  <a:pt x="0" y="5782"/>
                  <a:pt x="0" y="5770"/>
                  <a:pt x="0" y="575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33" name="任意多邊形 632"/>
          <p:cNvSpPr/>
          <p:nvPr/>
        </p:nvSpPr>
        <p:spPr>
          <a:xfrm>
            <a:off x="534600" y="2573640"/>
            <a:ext cx="67320" cy="2139840"/>
          </a:xfrm>
          <a:custGeom>
            <a:avLst/>
            <a:gdLst/>
            <a:ahLst/>
            <a:cxnLst/>
            <a:rect l="0" t="0" r="r" b="b"/>
            <a:pathLst>
              <a:path w="187" h="5944">
                <a:moveTo>
                  <a:pt x="151" y="14"/>
                </a:moveTo>
                <a:cubicBezTo>
                  <a:pt x="140" y="24"/>
                  <a:pt x="130" y="37"/>
                  <a:pt x="121" y="55"/>
                </a:cubicBezTo>
                <a:cubicBezTo>
                  <a:pt x="112" y="72"/>
                  <a:pt x="106" y="92"/>
                  <a:pt x="101" y="115"/>
                </a:cubicBezTo>
                <a:cubicBezTo>
                  <a:pt x="96" y="138"/>
                  <a:pt x="94" y="161"/>
                  <a:pt x="94" y="186"/>
                </a:cubicBezTo>
                <a:lnTo>
                  <a:pt x="94" y="5758"/>
                </a:lnTo>
                <a:cubicBezTo>
                  <a:pt x="94" y="5783"/>
                  <a:pt x="96" y="5806"/>
                  <a:pt x="101" y="5829"/>
                </a:cubicBezTo>
                <a:cubicBezTo>
                  <a:pt x="106" y="5852"/>
                  <a:pt x="112" y="5872"/>
                  <a:pt x="121" y="5889"/>
                </a:cubicBezTo>
                <a:cubicBezTo>
                  <a:pt x="130" y="5907"/>
                  <a:pt x="140" y="5920"/>
                  <a:pt x="151" y="5930"/>
                </a:cubicBezTo>
                <a:cubicBezTo>
                  <a:pt x="163" y="5939"/>
                  <a:pt x="175" y="5944"/>
                  <a:pt x="187" y="5944"/>
                </a:cubicBezTo>
                <a:cubicBezTo>
                  <a:pt x="162" y="5944"/>
                  <a:pt x="139" y="5939"/>
                  <a:pt x="116" y="5930"/>
                </a:cubicBezTo>
                <a:cubicBezTo>
                  <a:pt x="93" y="5920"/>
                  <a:pt x="72" y="5907"/>
                  <a:pt x="55" y="5889"/>
                </a:cubicBezTo>
                <a:cubicBezTo>
                  <a:pt x="37" y="5872"/>
                  <a:pt x="24" y="5852"/>
                  <a:pt x="14" y="5829"/>
                </a:cubicBezTo>
                <a:cubicBezTo>
                  <a:pt x="5" y="5806"/>
                  <a:pt x="0" y="5783"/>
                  <a:pt x="0" y="5758"/>
                </a:cubicBezTo>
                <a:lnTo>
                  <a:pt x="0" y="186"/>
                </a:lnTo>
                <a:cubicBezTo>
                  <a:pt x="0" y="161"/>
                  <a:pt x="5" y="138"/>
                  <a:pt x="14" y="115"/>
                </a:cubicBezTo>
                <a:cubicBezTo>
                  <a:pt x="24" y="92"/>
                  <a:pt x="37" y="72"/>
                  <a:pt x="55" y="55"/>
                </a:cubicBezTo>
                <a:cubicBezTo>
                  <a:pt x="72" y="37"/>
                  <a:pt x="93" y="24"/>
                  <a:pt x="116" y="14"/>
                </a:cubicBezTo>
                <a:cubicBezTo>
                  <a:pt x="139" y="5"/>
                  <a:pt x="162" y="0"/>
                  <a:pt x="187" y="0"/>
                </a:cubicBezTo>
                <a:cubicBezTo>
                  <a:pt x="175" y="0"/>
                  <a:pt x="163"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634" name="圖片 633"/>
          <p:cNvPicPr/>
          <p:nvPr/>
        </p:nvPicPr>
        <p:blipFill>
          <a:blip r:embed="rId15"/>
          <a:stretch>
            <a:fillRect/>
          </a:stretch>
        </p:blipFill>
        <p:spPr>
          <a:xfrm>
            <a:off x="768960" y="2808000"/>
            <a:ext cx="166680" cy="166680"/>
          </a:xfrm>
          <a:prstGeom prst="rect">
            <a:avLst/>
          </a:prstGeom>
          <a:noFill/>
          <a:ln w="0">
            <a:noFill/>
          </a:ln>
        </p:spPr>
      </p:pic>
      <p:sp>
        <p:nvSpPr>
          <p:cNvPr id="635" name="文字框 634"/>
          <p:cNvSpPr txBox="1"/>
          <p:nvPr/>
        </p:nvSpPr>
        <p:spPr>
          <a:xfrm>
            <a:off x="768960" y="185184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验。</a:t>
            </a:r>
            <a:endParaRPr lang="en-US" sz="1050" b="0" u="none" strike="noStrike">
              <a:solidFill>
                <a:srgbClr val="000000"/>
              </a:solidFill>
              <a:effectLst/>
              <a:uFillTx/>
              <a:latin typeface="Times New Roman" panose="02020603050405020304"/>
            </a:endParaRPr>
          </a:p>
        </p:txBody>
      </p:sp>
      <p:pic>
        <p:nvPicPr>
          <p:cNvPr id="636" name="圖片 635"/>
          <p:cNvPicPr/>
          <p:nvPr/>
        </p:nvPicPr>
        <p:blipFill>
          <a:blip r:embed="rId16"/>
          <a:stretch>
            <a:fillRect/>
          </a:stretch>
        </p:blipFill>
        <p:spPr>
          <a:xfrm>
            <a:off x="768960" y="3108600"/>
            <a:ext cx="4111200" cy="1604160"/>
          </a:xfrm>
          <a:prstGeom prst="rect">
            <a:avLst/>
          </a:prstGeom>
          <a:noFill/>
          <a:ln w="0">
            <a:noFill/>
          </a:ln>
        </p:spPr>
      </p:pic>
      <p:sp>
        <p:nvSpPr>
          <p:cNvPr id="637" name="文字框 636"/>
          <p:cNvSpPr txBox="1"/>
          <p:nvPr/>
        </p:nvSpPr>
        <p:spPr>
          <a:xfrm>
            <a:off x="1002960" y="2788920"/>
            <a:ext cx="15094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危机期间流动性变化</a:t>
            </a:r>
            <a:endParaRPr lang="en-US" sz="132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8" name="圖片 637"/>
          <p:cNvPicPr/>
          <p:nvPr/>
        </p:nvPicPr>
        <p:blipFill>
          <a:blip r:embed="rId1"/>
          <a:stretch>
            <a:fillRect/>
          </a:stretch>
        </p:blipFill>
        <p:spPr>
          <a:xfrm>
            <a:off x="0" y="0"/>
            <a:ext cx="10696320" cy="6400800"/>
          </a:xfrm>
          <a:prstGeom prst="rect">
            <a:avLst/>
          </a:prstGeom>
          <a:noFill/>
          <a:ln w="0">
            <a:noFill/>
          </a:ln>
        </p:spPr>
      </p:pic>
      <p:pic>
        <p:nvPicPr>
          <p:cNvPr id="639" name="圖片 638"/>
          <p:cNvPicPr/>
          <p:nvPr/>
        </p:nvPicPr>
        <p:blipFill>
          <a:blip r:embed="rId2"/>
          <a:stretch>
            <a:fillRect/>
          </a:stretch>
        </p:blipFill>
        <p:spPr>
          <a:xfrm>
            <a:off x="534960" y="735480"/>
            <a:ext cx="3208680" cy="33120"/>
          </a:xfrm>
          <a:prstGeom prst="rect">
            <a:avLst/>
          </a:prstGeom>
          <a:noFill/>
          <a:ln w="0">
            <a:noFill/>
          </a:ln>
        </p:spPr>
      </p:pic>
      <p:sp>
        <p:nvSpPr>
          <p:cNvPr id="640" name="文字框 639"/>
          <p:cNvSpPr txBox="1"/>
          <p:nvPr/>
        </p:nvSpPr>
        <p:spPr>
          <a:xfrm>
            <a:off x="534960" y="312120"/>
            <a:ext cx="300312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资产保本性：历史表现</a:t>
            </a:r>
            <a:endParaRPr lang="en-US" sz="2370" b="0" u="none" strike="noStrike">
              <a:solidFill>
                <a:srgbClr val="000000"/>
              </a:solidFill>
              <a:effectLst/>
              <a:uFillTx/>
              <a:latin typeface="Times New Roman" panose="02020603050405020304"/>
            </a:endParaRPr>
          </a:p>
        </p:txBody>
      </p:sp>
      <p:sp>
        <p:nvSpPr>
          <p:cNvPr id="641" name="文字框 640"/>
          <p:cNvSpPr txBox="1"/>
          <p:nvPr/>
        </p:nvSpPr>
        <p:spPr>
          <a:xfrm>
            <a:off x="534960" y="6113160"/>
            <a:ext cx="281700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抗金融危机资产比较：可接触性、保本性与收益率分析</a:t>
            </a:r>
            <a:endParaRPr lang="en-US" sz="920" b="0" u="none" strike="noStrike">
              <a:solidFill>
                <a:srgbClr val="000000"/>
              </a:solidFill>
              <a:effectLst/>
              <a:uFillTx/>
              <a:latin typeface="Times New Roman" panose="02020603050405020304"/>
            </a:endParaRPr>
          </a:p>
        </p:txBody>
      </p:sp>
      <p:sp>
        <p:nvSpPr>
          <p:cNvPr id="642" name="任意多邊形 641"/>
          <p:cNvSpPr/>
          <p:nvPr/>
        </p:nvSpPr>
        <p:spPr>
          <a:xfrm>
            <a:off x="534600" y="902520"/>
            <a:ext cx="4613400" cy="4997520"/>
          </a:xfrm>
          <a:custGeom>
            <a:avLst/>
            <a:gdLst/>
            <a:ahLst/>
            <a:cxnLst/>
            <a:rect l="0" t="0" r="r" b="b"/>
            <a:pathLst>
              <a:path w="12815" h="13882">
                <a:moveTo>
                  <a:pt x="0" y="13696"/>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12629" y="0"/>
                </a:lnTo>
                <a:cubicBezTo>
                  <a:pt x="12641" y="0"/>
                  <a:pt x="12653" y="1"/>
                  <a:pt x="12665" y="3"/>
                </a:cubicBezTo>
                <a:cubicBezTo>
                  <a:pt x="12677" y="5"/>
                  <a:pt x="12689" y="9"/>
                  <a:pt x="12700" y="14"/>
                </a:cubicBezTo>
                <a:cubicBezTo>
                  <a:pt x="12711" y="18"/>
                  <a:pt x="12722" y="24"/>
                  <a:pt x="12732" y="31"/>
                </a:cubicBezTo>
                <a:cubicBezTo>
                  <a:pt x="12742" y="38"/>
                  <a:pt x="12752" y="45"/>
                  <a:pt x="12760" y="54"/>
                </a:cubicBezTo>
                <a:cubicBezTo>
                  <a:pt x="12769" y="63"/>
                  <a:pt x="12777" y="72"/>
                  <a:pt x="12783" y="82"/>
                </a:cubicBezTo>
                <a:cubicBezTo>
                  <a:pt x="12790" y="92"/>
                  <a:pt x="12796" y="103"/>
                  <a:pt x="12801" y="114"/>
                </a:cubicBezTo>
                <a:cubicBezTo>
                  <a:pt x="12805" y="125"/>
                  <a:pt x="12809" y="137"/>
                  <a:pt x="12811" y="149"/>
                </a:cubicBezTo>
                <a:cubicBezTo>
                  <a:pt x="12814" y="161"/>
                  <a:pt x="12815" y="173"/>
                  <a:pt x="12815" y="185"/>
                </a:cubicBezTo>
                <a:lnTo>
                  <a:pt x="12815" y="13696"/>
                </a:lnTo>
                <a:cubicBezTo>
                  <a:pt x="12815" y="13708"/>
                  <a:pt x="12814" y="13720"/>
                  <a:pt x="12811" y="13732"/>
                </a:cubicBezTo>
                <a:cubicBezTo>
                  <a:pt x="12809" y="13744"/>
                  <a:pt x="12805" y="13756"/>
                  <a:pt x="12801" y="13767"/>
                </a:cubicBezTo>
                <a:cubicBezTo>
                  <a:pt x="12796" y="13779"/>
                  <a:pt x="12790" y="13789"/>
                  <a:pt x="12783" y="13799"/>
                </a:cubicBezTo>
                <a:cubicBezTo>
                  <a:pt x="12777" y="13810"/>
                  <a:pt x="12769" y="13819"/>
                  <a:pt x="12760" y="13828"/>
                </a:cubicBezTo>
                <a:cubicBezTo>
                  <a:pt x="12752" y="13836"/>
                  <a:pt x="12742" y="13844"/>
                  <a:pt x="12732" y="13851"/>
                </a:cubicBezTo>
                <a:cubicBezTo>
                  <a:pt x="12722" y="13857"/>
                  <a:pt x="12711" y="13863"/>
                  <a:pt x="12700" y="13868"/>
                </a:cubicBezTo>
                <a:cubicBezTo>
                  <a:pt x="12689" y="13872"/>
                  <a:pt x="12677" y="13876"/>
                  <a:pt x="12665" y="13878"/>
                </a:cubicBezTo>
                <a:cubicBezTo>
                  <a:pt x="12653" y="13881"/>
                  <a:pt x="12641" y="13882"/>
                  <a:pt x="12629" y="13882"/>
                </a:cubicBezTo>
                <a:lnTo>
                  <a:pt x="186" y="13882"/>
                </a:lnTo>
                <a:cubicBezTo>
                  <a:pt x="174" y="13882"/>
                  <a:pt x="162" y="13881"/>
                  <a:pt x="150" y="13878"/>
                </a:cubicBezTo>
                <a:cubicBezTo>
                  <a:pt x="138" y="13876"/>
                  <a:pt x="126" y="13872"/>
                  <a:pt x="115" y="13868"/>
                </a:cubicBezTo>
                <a:cubicBezTo>
                  <a:pt x="104" y="13863"/>
                  <a:pt x="93" y="13857"/>
                  <a:pt x="83" y="13851"/>
                </a:cubicBezTo>
                <a:cubicBezTo>
                  <a:pt x="73" y="13844"/>
                  <a:pt x="63" y="13836"/>
                  <a:pt x="55" y="13828"/>
                </a:cubicBezTo>
                <a:cubicBezTo>
                  <a:pt x="46" y="13819"/>
                  <a:pt x="38" y="13810"/>
                  <a:pt x="31" y="13799"/>
                </a:cubicBezTo>
                <a:cubicBezTo>
                  <a:pt x="25" y="13789"/>
                  <a:pt x="19" y="13779"/>
                  <a:pt x="14" y="13767"/>
                </a:cubicBezTo>
                <a:cubicBezTo>
                  <a:pt x="10" y="13756"/>
                  <a:pt x="6" y="13744"/>
                  <a:pt x="4" y="13732"/>
                </a:cubicBezTo>
                <a:cubicBezTo>
                  <a:pt x="1" y="13720"/>
                  <a:pt x="0" y="13708"/>
                  <a:pt x="0" y="1369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43" name="任意多邊形 642"/>
          <p:cNvSpPr/>
          <p:nvPr/>
        </p:nvSpPr>
        <p:spPr>
          <a:xfrm>
            <a:off x="701640" y="1437120"/>
            <a:ext cx="1086840" cy="376560"/>
          </a:xfrm>
          <a:custGeom>
            <a:avLst/>
            <a:gdLst/>
            <a:ahLst/>
            <a:cxnLst/>
            <a:rect l="0" t="0" r="r" b="b"/>
            <a:pathLst>
              <a:path w="3019" h="1046">
                <a:moveTo>
                  <a:pt x="0" y="0"/>
                </a:moveTo>
                <a:lnTo>
                  <a:pt x="3019" y="0"/>
                </a:lnTo>
                <a:lnTo>
                  <a:pt x="3019" y="1046"/>
                </a:lnTo>
                <a:lnTo>
                  <a:pt x="0" y="1046"/>
                </a:lnTo>
                <a:lnTo>
                  <a:pt x="0" y="0"/>
                </a:lnTo>
                <a:close/>
              </a:path>
            </a:pathLst>
          </a:custGeom>
          <a:solidFill>
            <a:srgbClr val="000000">
              <a:alpha val="2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644" name="任意多邊形 643"/>
          <p:cNvSpPr/>
          <p:nvPr/>
        </p:nvSpPr>
        <p:spPr>
          <a:xfrm>
            <a:off x="1788120" y="1437120"/>
            <a:ext cx="1663200" cy="376560"/>
          </a:xfrm>
          <a:custGeom>
            <a:avLst/>
            <a:gdLst/>
            <a:ahLst/>
            <a:cxnLst/>
            <a:rect l="0" t="0" r="r" b="b"/>
            <a:pathLst>
              <a:path w="4620" h="1046">
                <a:moveTo>
                  <a:pt x="0" y="0"/>
                </a:moveTo>
                <a:lnTo>
                  <a:pt x="4620" y="0"/>
                </a:lnTo>
                <a:lnTo>
                  <a:pt x="4620" y="1046"/>
                </a:lnTo>
                <a:lnTo>
                  <a:pt x="0" y="1046"/>
                </a:lnTo>
                <a:lnTo>
                  <a:pt x="0" y="0"/>
                </a:lnTo>
                <a:close/>
              </a:path>
            </a:pathLst>
          </a:custGeom>
          <a:solidFill>
            <a:srgbClr val="000000">
              <a:alpha val="2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645" name="任意多邊形 644"/>
          <p:cNvSpPr/>
          <p:nvPr/>
        </p:nvSpPr>
        <p:spPr>
          <a:xfrm>
            <a:off x="3450960" y="1437120"/>
            <a:ext cx="1529640" cy="376560"/>
          </a:xfrm>
          <a:custGeom>
            <a:avLst/>
            <a:gdLst/>
            <a:ahLst/>
            <a:cxnLst/>
            <a:rect l="0" t="0" r="r" b="b"/>
            <a:pathLst>
              <a:path w="4249" h="1046">
                <a:moveTo>
                  <a:pt x="0" y="0"/>
                </a:moveTo>
                <a:lnTo>
                  <a:pt x="4249" y="0"/>
                </a:lnTo>
                <a:lnTo>
                  <a:pt x="4249" y="1046"/>
                </a:lnTo>
                <a:lnTo>
                  <a:pt x="0" y="1046"/>
                </a:lnTo>
                <a:lnTo>
                  <a:pt x="0" y="0"/>
                </a:lnTo>
                <a:close/>
              </a:path>
            </a:pathLst>
          </a:custGeom>
          <a:solidFill>
            <a:srgbClr val="000000">
              <a:alpha val="2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646" name="任意多邊形 645"/>
          <p:cNvSpPr/>
          <p:nvPr/>
        </p:nvSpPr>
        <p:spPr>
          <a:xfrm>
            <a:off x="701640" y="2314800"/>
            <a:ext cx="1086840" cy="8640"/>
          </a:xfrm>
          <a:custGeom>
            <a:avLst/>
            <a:gdLst/>
            <a:ahLst/>
            <a:cxnLst/>
            <a:rect l="0" t="0" r="r" b="b"/>
            <a:pathLst>
              <a:path w="3019" h="24">
                <a:moveTo>
                  <a:pt x="0" y="0"/>
                </a:moveTo>
                <a:lnTo>
                  <a:pt x="3019" y="0"/>
                </a:lnTo>
                <a:lnTo>
                  <a:pt x="301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47" name="任意多邊形 646"/>
          <p:cNvSpPr/>
          <p:nvPr/>
        </p:nvSpPr>
        <p:spPr>
          <a:xfrm>
            <a:off x="701640" y="3091680"/>
            <a:ext cx="1086840" cy="9000"/>
          </a:xfrm>
          <a:custGeom>
            <a:avLst/>
            <a:gdLst/>
            <a:ahLst/>
            <a:cxnLst/>
            <a:rect l="0" t="0" r="r" b="b"/>
            <a:pathLst>
              <a:path w="3019" h="25">
                <a:moveTo>
                  <a:pt x="0" y="0"/>
                </a:moveTo>
                <a:lnTo>
                  <a:pt x="3019" y="0"/>
                </a:lnTo>
                <a:lnTo>
                  <a:pt x="3019" y="25"/>
                </a:lnTo>
                <a:lnTo>
                  <a:pt x="0" y="25"/>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48" name="任意多邊形 647"/>
          <p:cNvSpPr/>
          <p:nvPr/>
        </p:nvSpPr>
        <p:spPr>
          <a:xfrm>
            <a:off x="701640" y="3668400"/>
            <a:ext cx="1086840" cy="8640"/>
          </a:xfrm>
          <a:custGeom>
            <a:avLst/>
            <a:gdLst/>
            <a:ahLst/>
            <a:cxnLst/>
            <a:rect l="0" t="0" r="r" b="b"/>
            <a:pathLst>
              <a:path w="3019" h="24">
                <a:moveTo>
                  <a:pt x="0" y="0"/>
                </a:moveTo>
                <a:lnTo>
                  <a:pt x="3019" y="0"/>
                </a:lnTo>
                <a:lnTo>
                  <a:pt x="301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49" name="任意多邊形 648"/>
          <p:cNvSpPr/>
          <p:nvPr/>
        </p:nvSpPr>
        <p:spPr>
          <a:xfrm>
            <a:off x="701640" y="4512600"/>
            <a:ext cx="1086840" cy="8640"/>
          </a:xfrm>
          <a:custGeom>
            <a:avLst/>
            <a:gdLst/>
            <a:ahLst/>
            <a:cxnLst/>
            <a:rect l="0" t="0" r="r" b="b"/>
            <a:pathLst>
              <a:path w="3019" h="24">
                <a:moveTo>
                  <a:pt x="0" y="0"/>
                </a:moveTo>
                <a:lnTo>
                  <a:pt x="3019" y="0"/>
                </a:lnTo>
                <a:lnTo>
                  <a:pt x="301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0" name="任意多邊形 649"/>
          <p:cNvSpPr/>
          <p:nvPr/>
        </p:nvSpPr>
        <p:spPr>
          <a:xfrm>
            <a:off x="701640" y="5088960"/>
            <a:ext cx="1086840" cy="8640"/>
          </a:xfrm>
          <a:custGeom>
            <a:avLst/>
            <a:gdLst/>
            <a:ahLst/>
            <a:cxnLst/>
            <a:rect l="0" t="0" r="r" b="b"/>
            <a:pathLst>
              <a:path w="3019" h="24">
                <a:moveTo>
                  <a:pt x="0" y="0"/>
                </a:moveTo>
                <a:lnTo>
                  <a:pt x="3019" y="0"/>
                </a:lnTo>
                <a:lnTo>
                  <a:pt x="301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1" name="任意多邊形 650"/>
          <p:cNvSpPr/>
          <p:nvPr/>
        </p:nvSpPr>
        <p:spPr>
          <a:xfrm>
            <a:off x="701640" y="1805040"/>
            <a:ext cx="1086840" cy="8640"/>
          </a:xfrm>
          <a:custGeom>
            <a:avLst/>
            <a:gdLst/>
            <a:ahLst/>
            <a:cxnLst/>
            <a:rect l="0" t="0" r="r" b="b"/>
            <a:pathLst>
              <a:path w="3019" h="24">
                <a:moveTo>
                  <a:pt x="0" y="0"/>
                </a:moveTo>
                <a:lnTo>
                  <a:pt x="3019" y="0"/>
                </a:lnTo>
                <a:lnTo>
                  <a:pt x="301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2" name="任意多邊形 651"/>
          <p:cNvSpPr/>
          <p:nvPr/>
        </p:nvSpPr>
        <p:spPr>
          <a:xfrm>
            <a:off x="1788120" y="1805040"/>
            <a:ext cx="1663200" cy="8640"/>
          </a:xfrm>
          <a:custGeom>
            <a:avLst/>
            <a:gdLst/>
            <a:ahLst/>
            <a:cxnLst/>
            <a:rect l="0" t="0" r="r" b="b"/>
            <a:pathLst>
              <a:path w="4620" h="24">
                <a:moveTo>
                  <a:pt x="0" y="0"/>
                </a:moveTo>
                <a:lnTo>
                  <a:pt x="4620" y="0"/>
                </a:lnTo>
                <a:lnTo>
                  <a:pt x="4620"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3" name="任意多邊形 652"/>
          <p:cNvSpPr/>
          <p:nvPr/>
        </p:nvSpPr>
        <p:spPr>
          <a:xfrm>
            <a:off x="3450960" y="1805040"/>
            <a:ext cx="1529640" cy="8640"/>
          </a:xfrm>
          <a:custGeom>
            <a:avLst/>
            <a:gdLst/>
            <a:ahLst/>
            <a:cxnLst/>
            <a:rect l="0" t="0" r="r" b="b"/>
            <a:pathLst>
              <a:path w="4249" h="24">
                <a:moveTo>
                  <a:pt x="0" y="0"/>
                </a:moveTo>
                <a:lnTo>
                  <a:pt x="4249" y="0"/>
                </a:lnTo>
                <a:lnTo>
                  <a:pt x="424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4" name="任意多邊形 653"/>
          <p:cNvSpPr/>
          <p:nvPr/>
        </p:nvSpPr>
        <p:spPr>
          <a:xfrm>
            <a:off x="1788120" y="2581920"/>
            <a:ext cx="1663200" cy="9000"/>
          </a:xfrm>
          <a:custGeom>
            <a:avLst/>
            <a:gdLst/>
            <a:ahLst/>
            <a:cxnLst/>
            <a:rect l="0" t="0" r="r" b="b"/>
            <a:pathLst>
              <a:path w="4620" h="25">
                <a:moveTo>
                  <a:pt x="0" y="0"/>
                </a:moveTo>
                <a:lnTo>
                  <a:pt x="4620" y="0"/>
                </a:lnTo>
                <a:lnTo>
                  <a:pt x="4620" y="25"/>
                </a:lnTo>
                <a:lnTo>
                  <a:pt x="0" y="25"/>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5" name="任意多邊形 654"/>
          <p:cNvSpPr/>
          <p:nvPr/>
        </p:nvSpPr>
        <p:spPr>
          <a:xfrm>
            <a:off x="3450960" y="2581920"/>
            <a:ext cx="1529640" cy="9000"/>
          </a:xfrm>
          <a:custGeom>
            <a:avLst/>
            <a:gdLst/>
            <a:ahLst/>
            <a:cxnLst/>
            <a:rect l="0" t="0" r="r" b="b"/>
            <a:pathLst>
              <a:path w="4249" h="25">
                <a:moveTo>
                  <a:pt x="0" y="0"/>
                </a:moveTo>
                <a:lnTo>
                  <a:pt x="4249" y="0"/>
                </a:lnTo>
                <a:lnTo>
                  <a:pt x="4249" y="25"/>
                </a:lnTo>
                <a:lnTo>
                  <a:pt x="0" y="25"/>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6" name="任意多邊形 655"/>
          <p:cNvSpPr/>
          <p:nvPr/>
        </p:nvSpPr>
        <p:spPr>
          <a:xfrm>
            <a:off x="1788120" y="3158640"/>
            <a:ext cx="1663200" cy="8640"/>
          </a:xfrm>
          <a:custGeom>
            <a:avLst/>
            <a:gdLst/>
            <a:ahLst/>
            <a:cxnLst/>
            <a:rect l="0" t="0" r="r" b="b"/>
            <a:pathLst>
              <a:path w="4620" h="24">
                <a:moveTo>
                  <a:pt x="0" y="0"/>
                </a:moveTo>
                <a:lnTo>
                  <a:pt x="4620" y="0"/>
                </a:lnTo>
                <a:lnTo>
                  <a:pt x="4620"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7" name="任意多邊形 656"/>
          <p:cNvSpPr/>
          <p:nvPr/>
        </p:nvSpPr>
        <p:spPr>
          <a:xfrm>
            <a:off x="3450960" y="3158640"/>
            <a:ext cx="1529640" cy="8640"/>
          </a:xfrm>
          <a:custGeom>
            <a:avLst/>
            <a:gdLst/>
            <a:ahLst/>
            <a:cxnLst/>
            <a:rect l="0" t="0" r="r" b="b"/>
            <a:pathLst>
              <a:path w="4249" h="24">
                <a:moveTo>
                  <a:pt x="0" y="0"/>
                </a:moveTo>
                <a:lnTo>
                  <a:pt x="4249" y="0"/>
                </a:lnTo>
                <a:lnTo>
                  <a:pt x="424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8" name="任意多邊形 657"/>
          <p:cNvSpPr/>
          <p:nvPr/>
        </p:nvSpPr>
        <p:spPr>
          <a:xfrm>
            <a:off x="1788120" y="3935880"/>
            <a:ext cx="1663200" cy="8640"/>
          </a:xfrm>
          <a:custGeom>
            <a:avLst/>
            <a:gdLst/>
            <a:ahLst/>
            <a:cxnLst/>
            <a:rect l="0" t="0" r="r" b="b"/>
            <a:pathLst>
              <a:path w="4620" h="24">
                <a:moveTo>
                  <a:pt x="0" y="0"/>
                </a:moveTo>
                <a:lnTo>
                  <a:pt x="4620" y="0"/>
                </a:lnTo>
                <a:lnTo>
                  <a:pt x="4620"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59" name="任意多邊形 658"/>
          <p:cNvSpPr/>
          <p:nvPr/>
        </p:nvSpPr>
        <p:spPr>
          <a:xfrm>
            <a:off x="3450960" y="3935880"/>
            <a:ext cx="1529640" cy="8640"/>
          </a:xfrm>
          <a:custGeom>
            <a:avLst/>
            <a:gdLst/>
            <a:ahLst/>
            <a:cxnLst/>
            <a:rect l="0" t="0" r="r" b="b"/>
            <a:pathLst>
              <a:path w="4249" h="24">
                <a:moveTo>
                  <a:pt x="0" y="0"/>
                </a:moveTo>
                <a:lnTo>
                  <a:pt x="4249" y="0"/>
                </a:lnTo>
                <a:lnTo>
                  <a:pt x="424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60" name="任意多邊形 659"/>
          <p:cNvSpPr/>
          <p:nvPr/>
        </p:nvSpPr>
        <p:spPr>
          <a:xfrm>
            <a:off x="1788120" y="4512600"/>
            <a:ext cx="1663200" cy="8640"/>
          </a:xfrm>
          <a:custGeom>
            <a:avLst/>
            <a:gdLst/>
            <a:ahLst/>
            <a:cxnLst/>
            <a:rect l="0" t="0" r="r" b="b"/>
            <a:pathLst>
              <a:path w="4620" h="24">
                <a:moveTo>
                  <a:pt x="0" y="0"/>
                </a:moveTo>
                <a:lnTo>
                  <a:pt x="4620" y="0"/>
                </a:lnTo>
                <a:lnTo>
                  <a:pt x="4620"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61" name="任意多邊形 660"/>
          <p:cNvSpPr/>
          <p:nvPr/>
        </p:nvSpPr>
        <p:spPr>
          <a:xfrm>
            <a:off x="3450960" y="4512600"/>
            <a:ext cx="1529640" cy="8640"/>
          </a:xfrm>
          <a:custGeom>
            <a:avLst/>
            <a:gdLst/>
            <a:ahLst/>
            <a:cxnLst/>
            <a:rect l="0" t="0" r="r" b="b"/>
            <a:pathLst>
              <a:path w="4249" h="24">
                <a:moveTo>
                  <a:pt x="0" y="0"/>
                </a:moveTo>
                <a:lnTo>
                  <a:pt x="4249" y="0"/>
                </a:lnTo>
                <a:lnTo>
                  <a:pt x="4249" y="24"/>
                </a:lnTo>
                <a:lnTo>
                  <a:pt x="0" y="24"/>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62" name="任意多邊形 661"/>
          <p:cNvSpPr/>
          <p:nvPr/>
        </p:nvSpPr>
        <p:spPr>
          <a:xfrm>
            <a:off x="1788120" y="5289480"/>
            <a:ext cx="1663200" cy="9000"/>
          </a:xfrm>
          <a:custGeom>
            <a:avLst/>
            <a:gdLst/>
            <a:ahLst/>
            <a:cxnLst/>
            <a:rect l="0" t="0" r="r" b="b"/>
            <a:pathLst>
              <a:path w="4620" h="25">
                <a:moveTo>
                  <a:pt x="0" y="0"/>
                </a:moveTo>
                <a:lnTo>
                  <a:pt x="4620" y="0"/>
                </a:lnTo>
                <a:lnTo>
                  <a:pt x="4620" y="25"/>
                </a:lnTo>
                <a:lnTo>
                  <a:pt x="0" y="25"/>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63" name="任意多邊形 662"/>
          <p:cNvSpPr/>
          <p:nvPr/>
        </p:nvSpPr>
        <p:spPr>
          <a:xfrm>
            <a:off x="3450960" y="5289480"/>
            <a:ext cx="1529640" cy="9000"/>
          </a:xfrm>
          <a:custGeom>
            <a:avLst/>
            <a:gdLst/>
            <a:ahLst/>
            <a:cxnLst/>
            <a:rect l="0" t="0" r="r" b="b"/>
            <a:pathLst>
              <a:path w="4249" h="25">
                <a:moveTo>
                  <a:pt x="0" y="0"/>
                </a:moveTo>
                <a:lnTo>
                  <a:pt x="4249" y="0"/>
                </a:lnTo>
                <a:lnTo>
                  <a:pt x="4249" y="25"/>
                </a:lnTo>
                <a:lnTo>
                  <a:pt x="0" y="25"/>
                </a:lnTo>
                <a:lnTo>
                  <a:pt x="0" y="0"/>
                </a:ln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664" name="文字框 663"/>
          <p:cNvSpPr txBox="1"/>
          <p:nvPr/>
        </p:nvSpPr>
        <p:spPr>
          <a:xfrm>
            <a:off x="9750240" y="6117120"/>
            <a:ext cx="20891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11 / 24</a:t>
            </a:r>
            <a:endParaRPr lang="en-US" sz="920" b="0" u="none" strike="noStrike">
              <a:solidFill>
                <a:srgbClr val="000000"/>
              </a:solidFill>
              <a:effectLst/>
              <a:uFillTx/>
              <a:latin typeface="Times New Roman" panose="02020603050405020304"/>
            </a:endParaRPr>
          </a:p>
        </p:txBody>
      </p:sp>
      <p:sp>
        <p:nvSpPr>
          <p:cNvPr id="665" name="文字框 664"/>
          <p:cNvSpPr txBox="1"/>
          <p:nvPr/>
        </p:nvSpPr>
        <p:spPr>
          <a:xfrm>
            <a:off x="702000" y="1084320"/>
            <a:ext cx="218016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两次重大金融危机的资产表现</a:t>
            </a:r>
            <a:endParaRPr lang="en-US" sz="1320" b="0" u="none" strike="noStrike">
              <a:solidFill>
                <a:srgbClr val="000000"/>
              </a:solidFill>
              <a:effectLst/>
              <a:uFillTx/>
              <a:latin typeface="Times New Roman" panose="02020603050405020304"/>
            </a:endParaRPr>
          </a:p>
        </p:txBody>
      </p:sp>
      <p:sp>
        <p:nvSpPr>
          <p:cNvPr id="666" name="文字框 665"/>
          <p:cNvSpPr txBox="1"/>
          <p:nvPr/>
        </p:nvSpPr>
        <p:spPr>
          <a:xfrm>
            <a:off x="976680" y="153432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资产类别</a:t>
            </a:r>
            <a:endParaRPr lang="en-US" sz="1050" b="0" u="none" strike="noStrike">
              <a:solidFill>
                <a:srgbClr val="000000"/>
              </a:solidFill>
              <a:effectLst/>
              <a:uFillTx/>
              <a:latin typeface="Times New Roman" panose="02020603050405020304"/>
            </a:endParaRPr>
          </a:p>
        </p:txBody>
      </p:sp>
      <p:sp>
        <p:nvSpPr>
          <p:cNvPr id="667" name="文字框 666"/>
          <p:cNvSpPr txBox="1"/>
          <p:nvPr/>
        </p:nvSpPr>
        <p:spPr>
          <a:xfrm>
            <a:off x="2032200" y="1539000"/>
            <a:ext cx="374040" cy="157320"/>
          </a:xfrm>
          <a:prstGeom prst="rect">
            <a:avLst/>
          </a:prstGeom>
          <a:noFill/>
          <a:ln w="0">
            <a:noFill/>
          </a:ln>
        </p:spPr>
        <p:txBody>
          <a:bodyPr wrap="none" lIns="0" tIns="0" rIns="0" bIns="0" anchor="t">
            <a:spAutoFit/>
          </a:bodyPr>
          <a:p>
            <a:r>
              <a:rPr lang="en-US" sz="1050" b="1" u="none" strike="noStrike">
                <a:solidFill>
                  <a:srgbClr val="E5E7EB"/>
                </a:solidFill>
                <a:effectLst/>
                <a:uFillTx/>
                <a:latin typeface="DejaVuSans"/>
                <a:ea typeface="DejaVuSans"/>
              </a:rPr>
              <a:t>2000</a:t>
            </a:r>
            <a:endParaRPr lang="en-US" sz="1050" b="0" u="none" strike="noStrike">
              <a:solidFill>
                <a:srgbClr val="000000"/>
              </a:solidFill>
              <a:effectLst/>
              <a:uFillTx/>
              <a:latin typeface="Times New Roman" panose="02020603050405020304"/>
            </a:endParaRPr>
          </a:p>
        </p:txBody>
      </p:sp>
      <p:sp>
        <p:nvSpPr>
          <p:cNvPr id="668" name="文字框 667"/>
          <p:cNvSpPr txBox="1"/>
          <p:nvPr/>
        </p:nvSpPr>
        <p:spPr>
          <a:xfrm>
            <a:off x="2404440" y="153432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年互联网泡沫</a:t>
            </a:r>
            <a:endParaRPr lang="en-US" sz="1050" b="0" u="none" strike="noStrike">
              <a:solidFill>
                <a:srgbClr val="000000"/>
              </a:solidFill>
              <a:effectLst/>
              <a:uFillTx/>
              <a:latin typeface="Times New Roman" panose="02020603050405020304"/>
            </a:endParaRPr>
          </a:p>
        </p:txBody>
      </p:sp>
      <p:sp>
        <p:nvSpPr>
          <p:cNvPr id="669" name="文字框 668"/>
          <p:cNvSpPr txBox="1"/>
          <p:nvPr/>
        </p:nvSpPr>
        <p:spPr>
          <a:xfrm>
            <a:off x="3562560" y="1539000"/>
            <a:ext cx="374040" cy="157320"/>
          </a:xfrm>
          <a:prstGeom prst="rect">
            <a:avLst/>
          </a:prstGeom>
          <a:noFill/>
          <a:ln w="0">
            <a:noFill/>
          </a:ln>
        </p:spPr>
        <p:txBody>
          <a:bodyPr wrap="none" lIns="0" tIns="0" rIns="0" bIns="0" anchor="t">
            <a:spAutoFit/>
          </a:bodyPr>
          <a:p>
            <a:r>
              <a:rPr lang="en-US" sz="1050" b="1" u="none" strike="noStrike">
                <a:solidFill>
                  <a:srgbClr val="E5E7EB"/>
                </a:solidFill>
                <a:effectLst/>
                <a:uFillTx/>
                <a:latin typeface="DejaVuSans"/>
                <a:ea typeface="DejaVuSans"/>
              </a:rPr>
              <a:t>2008</a:t>
            </a:r>
            <a:endParaRPr lang="en-US" sz="1050" b="0" u="none" strike="noStrike">
              <a:solidFill>
                <a:srgbClr val="000000"/>
              </a:solidFill>
              <a:effectLst/>
              <a:uFillTx/>
              <a:latin typeface="Times New Roman" panose="02020603050405020304"/>
            </a:endParaRPr>
          </a:p>
        </p:txBody>
      </p:sp>
      <p:sp>
        <p:nvSpPr>
          <p:cNvPr id="670" name="任意多邊形 669"/>
          <p:cNvSpPr/>
          <p:nvPr/>
        </p:nvSpPr>
        <p:spPr>
          <a:xfrm>
            <a:off x="785520" y="1896840"/>
            <a:ext cx="334440" cy="334440"/>
          </a:xfrm>
          <a:custGeom>
            <a:avLst/>
            <a:gdLst/>
            <a:ahLst/>
            <a:cxnLst/>
            <a:rect l="0" t="0" r="r" b="b"/>
            <a:pathLst>
              <a:path w="929" h="929">
                <a:moveTo>
                  <a:pt x="929" y="464"/>
                </a:moveTo>
                <a:cubicBezTo>
                  <a:pt x="929" y="495"/>
                  <a:pt x="926" y="525"/>
                  <a:pt x="920" y="555"/>
                </a:cubicBezTo>
                <a:cubicBezTo>
                  <a:pt x="914" y="585"/>
                  <a:pt x="905" y="614"/>
                  <a:pt x="894" y="642"/>
                </a:cubicBezTo>
                <a:cubicBezTo>
                  <a:pt x="882" y="670"/>
                  <a:pt x="868" y="697"/>
                  <a:pt x="851" y="722"/>
                </a:cubicBezTo>
                <a:cubicBezTo>
                  <a:pt x="834" y="747"/>
                  <a:pt x="815" y="772"/>
                  <a:pt x="793" y="793"/>
                </a:cubicBezTo>
                <a:cubicBezTo>
                  <a:pt x="772" y="815"/>
                  <a:pt x="748" y="834"/>
                  <a:pt x="723" y="851"/>
                </a:cubicBezTo>
                <a:cubicBezTo>
                  <a:pt x="697" y="868"/>
                  <a:pt x="671" y="882"/>
                  <a:pt x="642" y="894"/>
                </a:cubicBezTo>
                <a:cubicBezTo>
                  <a:pt x="614" y="906"/>
                  <a:pt x="585" y="915"/>
                  <a:pt x="555" y="920"/>
                </a:cubicBezTo>
                <a:cubicBezTo>
                  <a:pt x="525" y="926"/>
                  <a:pt x="495" y="929"/>
                  <a:pt x="465" y="929"/>
                </a:cubicBezTo>
                <a:cubicBezTo>
                  <a:pt x="434" y="929"/>
                  <a:pt x="404" y="926"/>
                  <a:pt x="374" y="920"/>
                </a:cubicBezTo>
                <a:cubicBezTo>
                  <a:pt x="344" y="915"/>
                  <a:pt x="315" y="906"/>
                  <a:pt x="287" y="894"/>
                </a:cubicBezTo>
                <a:cubicBezTo>
                  <a:pt x="259" y="882"/>
                  <a:pt x="232" y="868"/>
                  <a:pt x="207" y="851"/>
                </a:cubicBezTo>
                <a:cubicBezTo>
                  <a:pt x="182" y="834"/>
                  <a:pt x="158" y="815"/>
                  <a:pt x="136" y="793"/>
                </a:cubicBezTo>
                <a:cubicBezTo>
                  <a:pt x="114" y="772"/>
                  <a:pt x="95" y="747"/>
                  <a:pt x="78" y="722"/>
                </a:cubicBezTo>
                <a:cubicBezTo>
                  <a:pt x="61" y="697"/>
                  <a:pt x="47" y="670"/>
                  <a:pt x="35" y="642"/>
                </a:cubicBezTo>
                <a:cubicBezTo>
                  <a:pt x="23" y="614"/>
                  <a:pt x="14" y="585"/>
                  <a:pt x="8" y="555"/>
                </a:cubicBezTo>
                <a:cubicBezTo>
                  <a:pt x="3" y="525"/>
                  <a:pt x="0" y="495"/>
                  <a:pt x="0" y="464"/>
                </a:cubicBezTo>
                <a:cubicBezTo>
                  <a:pt x="0" y="434"/>
                  <a:pt x="3" y="403"/>
                  <a:pt x="8" y="374"/>
                </a:cubicBezTo>
                <a:cubicBezTo>
                  <a:pt x="14" y="344"/>
                  <a:pt x="23" y="315"/>
                  <a:pt x="35" y="286"/>
                </a:cubicBezTo>
                <a:cubicBezTo>
                  <a:pt x="47" y="258"/>
                  <a:pt x="61" y="232"/>
                  <a:pt x="78" y="206"/>
                </a:cubicBezTo>
                <a:cubicBezTo>
                  <a:pt x="95" y="181"/>
                  <a:pt x="114" y="157"/>
                  <a:pt x="136" y="136"/>
                </a:cubicBezTo>
                <a:cubicBezTo>
                  <a:pt x="158" y="114"/>
                  <a:pt x="182" y="95"/>
                  <a:pt x="207" y="78"/>
                </a:cubicBezTo>
                <a:cubicBezTo>
                  <a:pt x="232" y="61"/>
                  <a:pt x="259" y="47"/>
                  <a:pt x="287" y="35"/>
                </a:cubicBezTo>
                <a:cubicBezTo>
                  <a:pt x="315" y="24"/>
                  <a:pt x="344" y="15"/>
                  <a:pt x="374" y="9"/>
                </a:cubicBezTo>
                <a:cubicBezTo>
                  <a:pt x="404" y="3"/>
                  <a:pt x="434" y="0"/>
                  <a:pt x="465" y="0"/>
                </a:cubicBezTo>
                <a:cubicBezTo>
                  <a:pt x="495" y="0"/>
                  <a:pt x="525" y="3"/>
                  <a:pt x="555" y="9"/>
                </a:cubicBezTo>
                <a:cubicBezTo>
                  <a:pt x="585" y="15"/>
                  <a:pt x="614" y="24"/>
                  <a:pt x="642" y="35"/>
                </a:cubicBezTo>
                <a:cubicBezTo>
                  <a:pt x="671" y="47"/>
                  <a:pt x="697" y="61"/>
                  <a:pt x="723" y="78"/>
                </a:cubicBezTo>
                <a:cubicBezTo>
                  <a:pt x="748" y="95"/>
                  <a:pt x="772" y="114"/>
                  <a:pt x="793" y="136"/>
                </a:cubicBezTo>
                <a:cubicBezTo>
                  <a:pt x="815" y="157"/>
                  <a:pt x="834" y="181"/>
                  <a:pt x="851" y="206"/>
                </a:cubicBezTo>
                <a:cubicBezTo>
                  <a:pt x="868" y="232"/>
                  <a:pt x="882" y="258"/>
                  <a:pt x="894" y="286"/>
                </a:cubicBezTo>
                <a:cubicBezTo>
                  <a:pt x="905" y="315"/>
                  <a:pt x="914" y="344"/>
                  <a:pt x="920" y="374"/>
                </a:cubicBezTo>
                <a:cubicBezTo>
                  <a:pt x="926" y="403"/>
                  <a:pt x="929" y="434"/>
                  <a:pt x="929" y="464"/>
                </a:cubicBezTo>
                <a:close/>
              </a:path>
            </a:pathLst>
          </a:custGeom>
          <a:solidFill>
            <a:srgbClr val="1D4ED8"/>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671" name="圖片 670"/>
          <p:cNvPicPr/>
          <p:nvPr/>
        </p:nvPicPr>
        <p:blipFill>
          <a:blip r:embed="rId3"/>
          <a:stretch>
            <a:fillRect/>
          </a:stretch>
        </p:blipFill>
        <p:spPr>
          <a:xfrm>
            <a:off x="885960" y="1997280"/>
            <a:ext cx="133200" cy="133200"/>
          </a:xfrm>
          <a:prstGeom prst="rect">
            <a:avLst/>
          </a:prstGeom>
          <a:noFill/>
          <a:ln w="0">
            <a:noFill/>
          </a:ln>
        </p:spPr>
      </p:pic>
      <p:sp>
        <p:nvSpPr>
          <p:cNvPr id="672" name="文字框 671"/>
          <p:cNvSpPr txBox="1"/>
          <p:nvPr/>
        </p:nvSpPr>
        <p:spPr>
          <a:xfrm>
            <a:off x="3934440" y="153432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年全球金融危机</a:t>
            </a:r>
            <a:endParaRPr lang="en-US" sz="1050" b="0" u="none" strike="noStrike">
              <a:solidFill>
                <a:srgbClr val="000000"/>
              </a:solidFill>
              <a:effectLst/>
              <a:uFillTx/>
              <a:latin typeface="Times New Roman" panose="02020603050405020304"/>
            </a:endParaRPr>
          </a:p>
        </p:txBody>
      </p:sp>
      <p:sp>
        <p:nvSpPr>
          <p:cNvPr id="673" name="文字框 672"/>
          <p:cNvSpPr txBox="1"/>
          <p:nvPr/>
        </p:nvSpPr>
        <p:spPr>
          <a:xfrm>
            <a:off x="1220040" y="197712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股票</a:t>
            </a:r>
            <a:endParaRPr lang="en-US" sz="1050" b="0" u="none" strike="noStrike">
              <a:solidFill>
                <a:srgbClr val="000000"/>
              </a:solidFill>
              <a:effectLst/>
              <a:uFillTx/>
              <a:latin typeface="Times New Roman" panose="02020603050405020304"/>
            </a:endParaRPr>
          </a:p>
        </p:txBody>
      </p:sp>
      <p:sp>
        <p:nvSpPr>
          <p:cNvPr id="674" name="文字框 673"/>
          <p:cNvSpPr txBox="1"/>
          <p:nvPr/>
        </p:nvSpPr>
        <p:spPr>
          <a:xfrm>
            <a:off x="2084760" y="1910160"/>
            <a:ext cx="107352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纳斯达克指数崩盘</a:t>
            </a:r>
            <a:endParaRPr lang="en-US" sz="1050" b="0" u="none" strike="noStrike">
              <a:solidFill>
                <a:srgbClr val="000000"/>
              </a:solidFill>
              <a:effectLst/>
              <a:uFillTx/>
              <a:latin typeface="Times New Roman" panose="02020603050405020304"/>
            </a:endParaRPr>
          </a:p>
        </p:txBody>
      </p:sp>
      <p:sp>
        <p:nvSpPr>
          <p:cNvPr id="675" name="文字框 674"/>
          <p:cNvSpPr txBox="1"/>
          <p:nvPr/>
        </p:nvSpPr>
        <p:spPr>
          <a:xfrm>
            <a:off x="1890000" y="2110680"/>
            <a:ext cx="26892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标普</a:t>
            </a:r>
            <a:endParaRPr lang="en-US" sz="1050" b="0" u="none" strike="noStrike">
              <a:solidFill>
                <a:srgbClr val="000000"/>
              </a:solidFill>
              <a:effectLst/>
              <a:uFillTx/>
              <a:latin typeface="Times New Roman" panose="02020603050405020304"/>
            </a:endParaRPr>
          </a:p>
        </p:txBody>
      </p:sp>
      <p:sp>
        <p:nvSpPr>
          <p:cNvPr id="676" name="文字框 675"/>
          <p:cNvSpPr txBox="1"/>
          <p:nvPr/>
        </p:nvSpPr>
        <p:spPr>
          <a:xfrm>
            <a:off x="2157480" y="2115360"/>
            <a:ext cx="256680" cy="157320"/>
          </a:xfrm>
          <a:prstGeom prst="rect">
            <a:avLst/>
          </a:prstGeom>
          <a:noFill/>
          <a:ln w="0">
            <a:noFill/>
          </a:ln>
        </p:spPr>
        <p:txBody>
          <a:bodyPr wrap="none" lIns="0" tIns="0" rIns="0" bIns="0" anchor="t">
            <a:spAutoFit/>
          </a:bodyPr>
          <a:p>
            <a:r>
              <a:rPr lang="en-US" sz="1050" b="0" u="none" strike="noStrike">
                <a:solidFill>
                  <a:srgbClr val="EF4444"/>
                </a:solidFill>
                <a:effectLst/>
                <a:uFillTx/>
                <a:latin typeface="DejaVuSans"/>
                <a:ea typeface="DejaVuSans"/>
              </a:rPr>
              <a:t>500</a:t>
            </a:r>
            <a:endParaRPr lang="en-US" sz="1050" b="0" u="none" strike="noStrike">
              <a:solidFill>
                <a:srgbClr val="000000"/>
              </a:solidFill>
              <a:effectLst/>
              <a:uFillTx/>
              <a:latin typeface="Times New Roman" panose="02020603050405020304"/>
            </a:endParaRPr>
          </a:p>
        </p:txBody>
      </p:sp>
      <p:sp>
        <p:nvSpPr>
          <p:cNvPr id="677" name="文字框 676"/>
          <p:cNvSpPr txBox="1"/>
          <p:nvPr/>
        </p:nvSpPr>
        <p:spPr>
          <a:xfrm>
            <a:off x="2412720" y="2110680"/>
            <a:ext cx="93960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指数十年累计为</a:t>
            </a:r>
            <a:endParaRPr lang="en-US" sz="1050" b="0" u="none" strike="noStrike">
              <a:solidFill>
                <a:srgbClr val="000000"/>
              </a:solidFill>
              <a:effectLst/>
              <a:uFillTx/>
              <a:latin typeface="Times New Roman" panose="02020603050405020304"/>
            </a:endParaRPr>
          </a:p>
        </p:txBody>
      </p:sp>
      <p:sp>
        <p:nvSpPr>
          <p:cNvPr id="678" name="文字框 677"/>
          <p:cNvSpPr txBox="1"/>
          <p:nvPr/>
        </p:nvSpPr>
        <p:spPr>
          <a:xfrm>
            <a:off x="2552760" y="2311560"/>
            <a:ext cx="13500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负</a:t>
            </a:r>
            <a:endParaRPr lang="en-US" sz="1050" b="0" u="none" strike="noStrike">
              <a:solidFill>
                <a:srgbClr val="000000"/>
              </a:solidFill>
              <a:effectLst/>
              <a:uFillTx/>
              <a:latin typeface="Times New Roman" panose="02020603050405020304"/>
            </a:endParaRPr>
          </a:p>
        </p:txBody>
      </p:sp>
      <p:sp>
        <p:nvSpPr>
          <p:cNvPr id="679" name="文字框 678"/>
          <p:cNvSpPr txBox="1"/>
          <p:nvPr/>
        </p:nvSpPr>
        <p:spPr>
          <a:xfrm>
            <a:off x="3666600" y="2110680"/>
            <a:ext cx="80532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美国股市下跌</a:t>
            </a:r>
            <a:endParaRPr lang="en-US" sz="1050" b="0" u="none" strike="noStrike">
              <a:solidFill>
                <a:srgbClr val="000000"/>
              </a:solidFill>
              <a:effectLst/>
              <a:uFillTx/>
              <a:latin typeface="Times New Roman" panose="02020603050405020304"/>
            </a:endParaRPr>
          </a:p>
        </p:txBody>
      </p:sp>
      <p:sp>
        <p:nvSpPr>
          <p:cNvPr id="680" name="任意多邊形 679"/>
          <p:cNvSpPr/>
          <p:nvPr/>
        </p:nvSpPr>
        <p:spPr>
          <a:xfrm>
            <a:off x="785520" y="2674080"/>
            <a:ext cx="334440" cy="334440"/>
          </a:xfrm>
          <a:custGeom>
            <a:avLst/>
            <a:gdLst/>
            <a:ahLst/>
            <a:cxnLst/>
            <a:rect l="0" t="0" r="r" b="b"/>
            <a:pathLst>
              <a:path w="929" h="929">
                <a:moveTo>
                  <a:pt x="929" y="465"/>
                </a:moveTo>
                <a:cubicBezTo>
                  <a:pt x="929" y="495"/>
                  <a:pt x="926" y="526"/>
                  <a:pt x="920" y="556"/>
                </a:cubicBezTo>
                <a:cubicBezTo>
                  <a:pt x="914" y="585"/>
                  <a:pt x="905" y="614"/>
                  <a:pt x="894" y="643"/>
                </a:cubicBezTo>
                <a:cubicBezTo>
                  <a:pt x="882" y="671"/>
                  <a:pt x="868" y="698"/>
                  <a:pt x="851" y="723"/>
                </a:cubicBezTo>
                <a:cubicBezTo>
                  <a:pt x="834" y="748"/>
                  <a:pt x="815" y="772"/>
                  <a:pt x="793" y="793"/>
                </a:cubicBezTo>
                <a:cubicBezTo>
                  <a:pt x="772" y="815"/>
                  <a:pt x="748" y="834"/>
                  <a:pt x="723" y="851"/>
                </a:cubicBezTo>
                <a:cubicBezTo>
                  <a:pt x="697" y="868"/>
                  <a:pt x="671" y="882"/>
                  <a:pt x="642" y="894"/>
                </a:cubicBezTo>
                <a:cubicBezTo>
                  <a:pt x="614" y="906"/>
                  <a:pt x="585" y="914"/>
                  <a:pt x="555" y="920"/>
                </a:cubicBezTo>
                <a:cubicBezTo>
                  <a:pt x="525" y="926"/>
                  <a:pt x="495" y="929"/>
                  <a:pt x="465" y="929"/>
                </a:cubicBezTo>
                <a:cubicBezTo>
                  <a:pt x="434" y="929"/>
                  <a:pt x="404" y="926"/>
                  <a:pt x="374" y="920"/>
                </a:cubicBezTo>
                <a:cubicBezTo>
                  <a:pt x="344" y="914"/>
                  <a:pt x="315" y="906"/>
                  <a:pt x="287" y="894"/>
                </a:cubicBezTo>
                <a:cubicBezTo>
                  <a:pt x="259" y="882"/>
                  <a:pt x="232" y="868"/>
                  <a:pt x="207" y="851"/>
                </a:cubicBezTo>
                <a:cubicBezTo>
                  <a:pt x="182" y="834"/>
                  <a:pt x="158" y="815"/>
                  <a:pt x="136" y="793"/>
                </a:cubicBezTo>
                <a:cubicBezTo>
                  <a:pt x="114" y="772"/>
                  <a:pt x="95" y="748"/>
                  <a:pt x="78" y="723"/>
                </a:cubicBezTo>
                <a:cubicBezTo>
                  <a:pt x="61" y="698"/>
                  <a:pt x="47" y="671"/>
                  <a:pt x="35" y="643"/>
                </a:cubicBezTo>
                <a:cubicBezTo>
                  <a:pt x="23" y="614"/>
                  <a:pt x="14" y="585"/>
                  <a:pt x="8" y="556"/>
                </a:cubicBezTo>
                <a:cubicBezTo>
                  <a:pt x="3" y="526"/>
                  <a:pt x="0" y="495"/>
                  <a:pt x="0" y="465"/>
                </a:cubicBezTo>
                <a:cubicBezTo>
                  <a:pt x="0" y="433"/>
                  <a:pt x="3" y="403"/>
                  <a:pt x="8" y="373"/>
                </a:cubicBezTo>
                <a:cubicBezTo>
                  <a:pt x="14" y="343"/>
                  <a:pt x="23" y="314"/>
                  <a:pt x="35" y="286"/>
                </a:cubicBezTo>
                <a:cubicBezTo>
                  <a:pt x="47" y="258"/>
                  <a:pt x="61" y="231"/>
                  <a:pt x="78" y="206"/>
                </a:cubicBezTo>
                <a:cubicBezTo>
                  <a:pt x="95" y="181"/>
                  <a:pt x="114" y="157"/>
                  <a:pt x="136" y="136"/>
                </a:cubicBezTo>
                <a:cubicBezTo>
                  <a:pt x="158" y="114"/>
                  <a:pt x="182" y="95"/>
                  <a:pt x="207" y="78"/>
                </a:cubicBezTo>
                <a:cubicBezTo>
                  <a:pt x="232" y="61"/>
                  <a:pt x="259" y="47"/>
                  <a:pt x="287" y="35"/>
                </a:cubicBezTo>
                <a:cubicBezTo>
                  <a:pt x="315" y="23"/>
                  <a:pt x="344" y="15"/>
                  <a:pt x="374" y="9"/>
                </a:cubicBezTo>
                <a:cubicBezTo>
                  <a:pt x="404" y="3"/>
                  <a:pt x="434" y="0"/>
                  <a:pt x="465" y="0"/>
                </a:cubicBezTo>
                <a:cubicBezTo>
                  <a:pt x="495" y="0"/>
                  <a:pt x="525" y="3"/>
                  <a:pt x="555" y="9"/>
                </a:cubicBezTo>
                <a:cubicBezTo>
                  <a:pt x="585" y="15"/>
                  <a:pt x="614" y="23"/>
                  <a:pt x="642" y="35"/>
                </a:cubicBezTo>
                <a:cubicBezTo>
                  <a:pt x="671" y="47"/>
                  <a:pt x="697" y="61"/>
                  <a:pt x="723" y="78"/>
                </a:cubicBezTo>
                <a:cubicBezTo>
                  <a:pt x="748" y="95"/>
                  <a:pt x="772" y="114"/>
                  <a:pt x="793" y="136"/>
                </a:cubicBezTo>
                <a:cubicBezTo>
                  <a:pt x="815" y="157"/>
                  <a:pt x="834" y="181"/>
                  <a:pt x="851" y="206"/>
                </a:cubicBezTo>
                <a:cubicBezTo>
                  <a:pt x="868" y="231"/>
                  <a:pt x="882" y="258"/>
                  <a:pt x="894" y="286"/>
                </a:cubicBezTo>
                <a:cubicBezTo>
                  <a:pt x="905" y="314"/>
                  <a:pt x="914" y="343"/>
                  <a:pt x="920" y="373"/>
                </a:cubicBezTo>
                <a:cubicBezTo>
                  <a:pt x="926" y="403"/>
                  <a:pt x="929" y="433"/>
                  <a:pt x="929" y="465"/>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681" name="圖片 680"/>
          <p:cNvPicPr/>
          <p:nvPr/>
        </p:nvPicPr>
        <p:blipFill>
          <a:blip r:embed="rId4"/>
          <a:stretch>
            <a:fillRect/>
          </a:stretch>
        </p:blipFill>
        <p:spPr>
          <a:xfrm>
            <a:off x="902520" y="2774520"/>
            <a:ext cx="100080" cy="133200"/>
          </a:xfrm>
          <a:prstGeom prst="rect">
            <a:avLst/>
          </a:prstGeom>
          <a:noFill/>
          <a:ln w="0">
            <a:noFill/>
          </a:ln>
        </p:spPr>
      </p:pic>
      <p:sp>
        <p:nvSpPr>
          <p:cNvPr id="682" name="文字框 681"/>
          <p:cNvSpPr txBox="1"/>
          <p:nvPr/>
        </p:nvSpPr>
        <p:spPr>
          <a:xfrm>
            <a:off x="4469040" y="2115360"/>
            <a:ext cx="298800" cy="157320"/>
          </a:xfrm>
          <a:prstGeom prst="rect">
            <a:avLst/>
          </a:prstGeom>
          <a:noFill/>
          <a:ln w="0">
            <a:noFill/>
          </a:ln>
        </p:spPr>
        <p:txBody>
          <a:bodyPr wrap="none" lIns="0" tIns="0" rIns="0" bIns="0" anchor="t">
            <a:spAutoFit/>
          </a:bodyPr>
          <a:p>
            <a:r>
              <a:rPr lang="en-US" sz="1050" b="0" u="none" strike="noStrike">
                <a:solidFill>
                  <a:srgbClr val="EF4444"/>
                </a:solidFill>
                <a:effectLst/>
                <a:uFillTx/>
                <a:latin typeface="DejaVuSans"/>
                <a:ea typeface="DejaVuSans"/>
              </a:rPr>
              <a:t>37%</a:t>
            </a:r>
            <a:endParaRPr lang="en-US" sz="1050" b="0" u="none" strike="noStrike">
              <a:solidFill>
                <a:srgbClr val="000000"/>
              </a:solidFill>
              <a:effectLst/>
              <a:uFillTx/>
              <a:latin typeface="Times New Roman" panose="02020603050405020304"/>
            </a:endParaRPr>
          </a:p>
        </p:txBody>
      </p:sp>
      <p:sp>
        <p:nvSpPr>
          <p:cNvPr id="683" name="文字框 682"/>
          <p:cNvSpPr txBox="1"/>
          <p:nvPr/>
        </p:nvSpPr>
        <p:spPr>
          <a:xfrm>
            <a:off x="1220040" y="27543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债券</a:t>
            </a:r>
            <a:endParaRPr lang="en-US" sz="1050" b="0" u="none" strike="noStrike">
              <a:solidFill>
                <a:srgbClr val="000000"/>
              </a:solidFill>
              <a:effectLst/>
              <a:uFillTx/>
              <a:latin typeface="Times New Roman" panose="02020603050405020304"/>
            </a:endParaRPr>
          </a:p>
        </p:txBody>
      </p:sp>
      <p:sp>
        <p:nvSpPr>
          <p:cNvPr id="684" name="文字框 683"/>
          <p:cNvSpPr txBox="1"/>
          <p:nvPr/>
        </p:nvSpPr>
        <p:spPr>
          <a:xfrm>
            <a:off x="2218320" y="2687400"/>
            <a:ext cx="80532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表现相对稳定</a:t>
            </a:r>
            <a:endParaRPr lang="en-US" sz="1050" b="0" u="none" strike="noStrike">
              <a:solidFill>
                <a:srgbClr val="000000"/>
              </a:solidFill>
              <a:effectLst/>
              <a:uFillTx/>
              <a:latin typeface="Times New Roman" panose="02020603050405020304"/>
            </a:endParaRPr>
          </a:p>
        </p:txBody>
      </p:sp>
      <p:sp>
        <p:nvSpPr>
          <p:cNvPr id="685" name="文字框 684"/>
          <p:cNvSpPr txBox="1"/>
          <p:nvPr/>
        </p:nvSpPr>
        <p:spPr>
          <a:xfrm>
            <a:off x="2151360" y="2887920"/>
            <a:ext cx="93960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成为资金避风港</a:t>
            </a:r>
            <a:endParaRPr lang="en-US" sz="1050" b="0" u="none" strike="noStrike">
              <a:solidFill>
                <a:srgbClr val="000000"/>
              </a:solidFill>
              <a:effectLst/>
              <a:uFillTx/>
              <a:latin typeface="Times New Roman" panose="02020603050405020304"/>
            </a:endParaRPr>
          </a:p>
        </p:txBody>
      </p:sp>
      <p:sp>
        <p:nvSpPr>
          <p:cNvPr id="686" name="文字框 685"/>
          <p:cNvSpPr txBox="1"/>
          <p:nvPr/>
        </p:nvSpPr>
        <p:spPr>
          <a:xfrm>
            <a:off x="3681720" y="2687400"/>
            <a:ext cx="107352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美国国债回报率为</a:t>
            </a:r>
            <a:endParaRPr lang="en-US" sz="1050" b="0" u="none" strike="noStrike">
              <a:solidFill>
                <a:srgbClr val="000000"/>
              </a:solidFill>
              <a:effectLst/>
              <a:uFillTx/>
              <a:latin typeface="Times New Roman" panose="02020603050405020304"/>
            </a:endParaRPr>
          </a:p>
        </p:txBody>
      </p:sp>
      <p:sp>
        <p:nvSpPr>
          <p:cNvPr id="687" name="任意多邊形 686"/>
          <p:cNvSpPr/>
          <p:nvPr/>
        </p:nvSpPr>
        <p:spPr>
          <a:xfrm>
            <a:off x="785520" y="3250440"/>
            <a:ext cx="334440" cy="334800"/>
          </a:xfrm>
          <a:custGeom>
            <a:avLst/>
            <a:gdLst/>
            <a:ahLst/>
            <a:cxnLst/>
            <a:rect l="0" t="0" r="r" b="b"/>
            <a:pathLst>
              <a:path w="929" h="930">
                <a:moveTo>
                  <a:pt x="929" y="465"/>
                </a:moveTo>
                <a:cubicBezTo>
                  <a:pt x="929" y="495"/>
                  <a:pt x="926" y="525"/>
                  <a:pt x="920" y="555"/>
                </a:cubicBezTo>
                <a:cubicBezTo>
                  <a:pt x="914" y="585"/>
                  <a:pt x="905" y="614"/>
                  <a:pt x="894" y="642"/>
                </a:cubicBezTo>
                <a:cubicBezTo>
                  <a:pt x="882" y="670"/>
                  <a:pt x="868" y="697"/>
                  <a:pt x="851" y="724"/>
                </a:cubicBezTo>
                <a:cubicBezTo>
                  <a:pt x="834" y="749"/>
                  <a:pt x="815" y="772"/>
                  <a:pt x="793" y="794"/>
                </a:cubicBezTo>
                <a:cubicBezTo>
                  <a:pt x="772" y="815"/>
                  <a:pt x="748" y="835"/>
                  <a:pt x="723" y="852"/>
                </a:cubicBezTo>
                <a:cubicBezTo>
                  <a:pt x="697" y="869"/>
                  <a:pt x="671" y="883"/>
                  <a:pt x="642" y="895"/>
                </a:cubicBezTo>
                <a:cubicBezTo>
                  <a:pt x="614" y="906"/>
                  <a:pt x="585" y="915"/>
                  <a:pt x="555" y="921"/>
                </a:cubicBezTo>
                <a:cubicBezTo>
                  <a:pt x="525" y="927"/>
                  <a:pt x="495" y="930"/>
                  <a:pt x="465" y="930"/>
                </a:cubicBezTo>
                <a:cubicBezTo>
                  <a:pt x="434" y="930"/>
                  <a:pt x="404" y="927"/>
                  <a:pt x="374" y="921"/>
                </a:cubicBezTo>
                <a:cubicBezTo>
                  <a:pt x="344" y="915"/>
                  <a:pt x="315" y="906"/>
                  <a:pt x="287" y="895"/>
                </a:cubicBezTo>
                <a:cubicBezTo>
                  <a:pt x="259" y="883"/>
                  <a:pt x="232" y="869"/>
                  <a:pt x="207" y="852"/>
                </a:cubicBezTo>
                <a:cubicBezTo>
                  <a:pt x="182" y="835"/>
                  <a:pt x="158" y="815"/>
                  <a:pt x="136" y="794"/>
                </a:cubicBezTo>
                <a:cubicBezTo>
                  <a:pt x="114" y="772"/>
                  <a:pt x="95" y="749"/>
                  <a:pt x="78" y="724"/>
                </a:cubicBezTo>
                <a:cubicBezTo>
                  <a:pt x="61" y="697"/>
                  <a:pt x="47" y="670"/>
                  <a:pt x="35" y="642"/>
                </a:cubicBezTo>
                <a:cubicBezTo>
                  <a:pt x="23" y="614"/>
                  <a:pt x="14" y="585"/>
                  <a:pt x="8" y="555"/>
                </a:cubicBezTo>
                <a:cubicBezTo>
                  <a:pt x="3" y="525"/>
                  <a:pt x="0" y="495"/>
                  <a:pt x="0" y="465"/>
                </a:cubicBezTo>
                <a:cubicBezTo>
                  <a:pt x="0" y="434"/>
                  <a:pt x="3" y="404"/>
                  <a:pt x="8" y="374"/>
                </a:cubicBezTo>
                <a:cubicBezTo>
                  <a:pt x="14" y="344"/>
                  <a:pt x="23" y="315"/>
                  <a:pt x="35" y="287"/>
                </a:cubicBezTo>
                <a:cubicBezTo>
                  <a:pt x="47" y="259"/>
                  <a:pt x="61" y="232"/>
                  <a:pt x="78" y="207"/>
                </a:cubicBezTo>
                <a:cubicBezTo>
                  <a:pt x="95" y="181"/>
                  <a:pt x="114" y="158"/>
                  <a:pt x="136" y="136"/>
                </a:cubicBezTo>
                <a:cubicBezTo>
                  <a:pt x="158" y="115"/>
                  <a:pt x="182" y="96"/>
                  <a:pt x="207" y="79"/>
                </a:cubicBezTo>
                <a:cubicBezTo>
                  <a:pt x="232" y="62"/>
                  <a:pt x="259" y="47"/>
                  <a:pt x="287" y="36"/>
                </a:cubicBezTo>
                <a:cubicBezTo>
                  <a:pt x="315" y="24"/>
                  <a:pt x="344" y="15"/>
                  <a:pt x="374" y="9"/>
                </a:cubicBezTo>
                <a:cubicBezTo>
                  <a:pt x="404" y="3"/>
                  <a:pt x="434" y="0"/>
                  <a:pt x="465" y="0"/>
                </a:cubicBezTo>
                <a:cubicBezTo>
                  <a:pt x="495" y="0"/>
                  <a:pt x="525" y="3"/>
                  <a:pt x="555" y="9"/>
                </a:cubicBezTo>
                <a:cubicBezTo>
                  <a:pt x="585" y="15"/>
                  <a:pt x="614" y="24"/>
                  <a:pt x="642" y="36"/>
                </a:cubicBezTo>
                <a:cubicBezTo>
                  <a:pt x="671" y="47"/>
                  <a:pt x="697" y="62"/>
                  <a:pt x="723" y="79"/>
                </a:cubicBezTo>
                <a:cubicBezTo>
                  <a:pt x="748" y="96"/>
                  <a:pt x="772" y="115"/>
                  <a:pt x="793" y="136"/>
                </a:cubicBezTo>
                <a:cubicBezTo>
                  <a:pt x="815" y="158"/>
                  <a:pt x="834" y="181"/>
                  <a:pt x="851" y="207"/>
                </a:cubicBezTo>
                <a:cubicBezTo>
                  <a:pt x="868" y="232"/>
                  <a:pt x="882" y="259"/>
                  <a:pt x="894" y="287"/>
                </a:cubicBezTo>
                <a:cubicBezTo>
                  <a:pt x="905" y="315"/>
                  <a:pt x="914" y="344"/>
                  <a:pt x="920" y="374"/>
                </a:cubicBezTo>
                <a:cubicBezTo>
                  <a:pt x="926" y="404"/>
                  <a:pt x="929" y="434"/>
                  <a:pt x="929" y="465"/>
                </a:cubicBezTo>
                <a:close/>
              </a:path>
            </a:pathLst>
          </a:custGeom>
          <a:solidFill>
            <a:srgbClr val="B91C1C"/>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688" name="圖片 687"/>
          <p:cNvPicPr/>
          <p:nvPr/>
        </p:nvPicPr>
        <p:blipFill>
          <a:blip r:embed="rId5"/>
          <a:stretch>
            <a:fillRect/>
          </a:stretch>
        </p:blipFill>
        <p:spPr>
          <a:xfrm>
            <a:off x="877320" y="3350880"/>
            <a:ext cx="150120" cy="133200"/>
          </a:xfrm>
          <a:prstGeom prst="rect">
            <a:avLst/>
          </a:prstGeom>
          <a:noFill/>
          <a:ln w="0">
            <a:noFill/>
          </a:ln>
        </p:spPr>
      </p:pic>
      <p:sp>
        <p:nvSpPr>
          <p:cNvPr id="689" name="文字框 688"/>
          <p:cNvSpPr txBox="1"/>
          <p:nvPr/>
        </p:nvSpPr>
        <p:spPr>
          <a:xfrm>
            <a:off x="4046760" y="2892600"/>
            <a:ext cx="341280" cy="157320"/>
          </a:xfrm>
          <a:prstGeom prst="rect">
            <a:avLst/>
          </a:prstGeom>
          <a:noFill/>
          <a:ln w="0">
            <a:noFill/>
          </a:ln>
        </p:spPr>
        <p:txBody>
          <a:bodyPr wrap="none" lIns="0" tIns="0" rIns="0" bIns="0" anchor="t">
            <a:spAutoFit/>
          </a:bodyPr>
          <a:p>
            <a:r>
              <a:rPr lang="en-US" sz="1050" b="0" u="none" strike="noStrike">
                <a:solidFill>
                  <a:srgbClr val="10B981"/>
                </a:solidFill>
                <a:effectLst/>
                <a:uFillTx/>
                <a:latin typeface="DejaVuSans"/>
                <a:ea typeface="DejaVuSans"/>
              </a:rPr>
              <a:t>5.2%</a:t>
            </a:r>
            <a:endParaRPr lang="en-US" sz="1050" b="0" u="none" strike="noStrike">
              <a:solidFill>
                <a:srgbClr val="000000"/>
              </a:solidFill>
              <a:effectLst/>
              <a:uFillTx/>
              <a:latin typeface="Times New Roman" panose="02020603050405020304"/>
            </a:endParaRPr>
          </a:p>
        </p:txBody>
      </p:sp>
      <p:sp>
        <p:nvSpPr>
          <p:cNvPr id="690" name="文字框 689"/>
          <p:cNvSpPr txBox="1"/>
          <p:nvPr/>
        </p:nvSpPr>
        <p:spPr>
          <a:xfrm>
            <a:off x="1220040" y="333108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房地产</a:t>
            </a:r>
            <a:endParaRPr lang="en-US" sz="1050" b="0" u="none" strike="noStrike">
              <a:solidFill>
                <a:srgbClr val="000000"/>
              </a:solidFill>
              <a:effectLst/>
              <a:uFillTx/>
              <a:latin typeface="Times New Roman" panose="02020603050405020304"/>
            </a:endParaRPr>
          </a:p>
        </p:txBody>
      </p:sp>
      <p:sp>
        <p:nvSpPr>
          <p:cNvPr id="691" name="文字框 690"/>
          <p:cNvSpPr txBox="1"/>
          <p:nvPr/>
        </p:nvSpPr>
        <p:spPr>
          <a:xfrm>
            <a:off x="2285280" y="3464640"/>
            <a:ext cx="6714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受影响较小</a:t>
            </a:r>
            <a:endParaRPr lang="en-US" sz="1050" b="0" u="none" strike="noStrike">
              <a:solidFill>
                <a:srgbClr val="000000"/>
              </a:solidFill>
              <a:effectLst/>
              <a:uFillTx/>
              <a:latin typeface="Times New Roman" panose="02020603050405020304"/>
            </a:endParaRPr>
          </a:p>
        </p:txBody>
      </p:sp>
      <p:sp>
        <p:nvSpPr>
          <p:cNvPr id="692" name="文字框 691"/>
          <p:cNvSpPr txBox="1"/>
          <p:nvPr/>
        </p:nvSpPr>
        <p:spPr>
          <a:xfrm>
            <a:off x="3614760" y="3264120"/>
            <a:ext cx="120780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美国房价中位数下跌</a:t>
            </a:r>
            <a:endParaRPr lang="en-US" sz="1050" b="0" u="none" strike="noStrike">
              <a:solidFill>
                <a:srgbClr val="000000"/>
              </a:solidFill>
              <a:effectLst/>
              <a:uFillTx/>
              <a:latin typeface="Times New Roman" panose="02020603050405020304"/>
            </a:endParaRPr>
          </a:p>
        </p:txBody>
      </p:sp>
      <p:sp>
        <p:nvSpPr>
          <p:cNvPr id="693" name="文字框 692"/>
          <p:cNvSpPr txBox="1"/>
          <p:nvPr/>
        </p:nvSpPr>
        <p:spPr>
          <a:xfrm>
            <a:off x="4068000" y="3469320"/>
            <a:ext cx="298800" cy="157320"/>
          </a:xfrm>
          <a:prstGeom prst="rect">
            <a:avLst/>
          </a:prstGeom>
          <a:noFill/>
          <a:ln w="0">
            <a:noFill/>
          </a:ln>
        </p:spPr>
        <p:txBody>
          <a:bodyPr wrap="none" lIns="0" tIns="0" rIns="0" bIns="0" anchor="t">
            <a:spAutoFit/>
          </a:bodyPr>
          <a:p>
            <a:r>
              <a:rPr lang="en-US" sz="1050" b="0" u="none" strike="noStrike">
                <a:solidFill>
                  <a:srgbClr val="EF4444"/>
                </a:solidFill>
                <a:effectLst/>
                <a:uFillTx/>
                <a:latin typeface="DejaVuSans"/>
                <a:ea typeface="DejaVuSans"/>
              </a:rPr>
              <a:t>29%</a:t>
            </a:r>
            <a:endParaRPr lang="en-US" sz="1050" b="0" u="none" strike="noStrike">
              <a:solidFill>
                <a:srgbClr val="000000"/>
              </a:solidFill>
              <a:effectLst/>
              <a:uFillTx/>
              <a:latin typeface="Times New Roman" panose="02020603050405020304"/>
            </a:endParaRPr>
          </a:p>
        </p:txBody>
      </p:sp>
      <p:sp>
        <p:nvSpPr>
          <p:cNvPr id="694" name="任意多邊形 693"/>
          <p:cNvSpPr/>
          <p:nvPr/>
        </p:nvSpPr>
        <p:spPr>
          <a:xfrm>
            <a:off x="785520" y="4061160"/>
            <a:ext cx="334440" cy="334800"/>
          </a:xfrm>
          <a:custGeom>
            <a:avLst/>
            <a:gdLst/>
            <a:ahLst/>
            <a:cxnLst/>
            <a:rect l="0" t="0" r="r" b="b"/>
            <a:pathLst>
              <a:path w="929" h="930">
                <a:moveTo>
                  <a:pt x="929" y="465"/>
                </a:moveTo>
                <a:cubicBezTo>
                  <a:pt x="929" y="496"/>
                  <a:pt x="926" y="526"/>
                  <a:pt x="920" y="556"/>
                </a:cubicBezTo>
                <a:cubicBezTo>
                  <a:pt x="914" y="586"/>
                  <a:pt x="905" y="615"/>
                  <a:pt x="894" y="643"/>
                </a:cubicBezTo>
                <a:cubicBezTo>
                  <a:pt x="882" y="671"/>
                  <a:pt x="868" y="698"/>
                  <a:pt x="851" y="723"/>
                </a:cubicBezTo>
                <a:cubicBezTo>
                  <a:pt x="834" y="749"/>
                  <a:pt x="815" y="772"/>
                  <a:pt x="793" y="794"/>
                </a:cubicBezTo>
                <a:cubicBezTo>
                  <a:pt x="772" y="815"/>
                  <a:pt x="748" y="834"/>
                  <a:pt x="723" y="851"/>
                </a:cubicBezTo>
                <a:cubicBezTo>
                  <a:pt x="697" y="868"/>
                  <a:pt x="671" y="883"/>
                  <a:pt x="642" y="894"/>
                </a:cubicBezTo>
                <a:cubicBezTo>
                  <a:pt x="614" y="906"/>
                  <a:pt x="585" y="915"/>
                  <a:pt x="555" y="921"/>
                </a:cubicBezTo>
                <a:cubicBezTo>
                  <a:pt x="525" y="927"/>
                  <a:pt x="495" y="930"/>
                  <a:pt x="465" y="930"/>
                </a:cubicBezTo>
                <a:cubicBezTo>
                  <a:pt x="434" y="930"/>
                  <a:pt x="404" y="927"/>
                  <a:pt x="374" y="921"/>
                </a:cubicBezTo>
                <a:cubicBezTo>
                  <a:pt x="344" y="915"/>
                  <a:pt x="315" y="906"/>
                  <a:pt x="287" y="894"/>
                </a:cubicBezTo>
                <a:cubicBezTo>
                  <a:pt x="259" y="883"/>
                  <a:pt x="232" y="868"/>
                  <a:pt x="207" y="851"/>
                </a:cubicBezTo>
                <a:cubicBezTo>
                  <a:pt x="182" y="834"/>
                  <a:pt x="158" y="815"/>
                  <a:pt x="136" y="794"/>
                </a:cubicBezTo>
                <a:cubicBezTo>
                  <a:pt x="114" y="772"/>
                  <a:pt x="95" y="749"/>
                  <a:pt x="78" y="723"/>
                </a:cubicBezTo>
                <a:cubicBezTo>
                  <a:pt x="61" y="698"/>
                  <a:pt x="47" y="671"/>
                  <a:pt x="35" y="643"/>
                </a:cubicBezTo>
                <a:cubicBezTo>
                  <a:pt x="23" y="615"/>
                  <a:pt x="14" y="586"/>
                  <a:pt x="8" y="556"/>
                </a:cubicBezTo>
                <a:cubicBezTo>
                  <a:pt x="3" y="526"/>
                  <a:pt x="0" y="496"/>
                  <a:pt x="0" y="465"/>
                </a:cubicBezTo>
                <a:cubicBezTo>
                  <a:pt x="0" y="435"/>
                  <a:pt x="3" y="405"/>
                  <a:pt x="8" y="375"/>
                </a:cubicBezTo>
                <a:cubicBezTo>
                  <a:pt x="14" y="345"/>
                  <a:pt x="23" y="315"/>
                  <a:pt x="35" y="287"/>
                </a:cubicBezTo>
                <a:cubicBezTo>
                  <a:pt x="47" y="258"/>
                  <a:pt x="61" y="232"/>
                  <a:pt x="78" y="206"/>
                </a:cubicBezTo>
                <a:cubicBezTo>
                  <a:pt x="95" y="181"/>
                  <a:pt x="114" y="158"/>
                  <a:pt x="136" y="136"/>
                </a:cubicBezTo>
                <a:cubicBezTo>
                  <a:pt x="158" y="114"/>
                  <a:pt x="182" y="95"/>
                  <a:pt x="207" y="78"/>
                </a:cubicBezTo>
                <a:cubicBezTo>
                  <a:pt x="232" y="61"/>
                  <a:pt x="259" y="47"/>
                  <a:pt x="287" y="35"/>
                </a:cubicBezTo>
                <a:cubicBezTo>
                  <a:pt x="315" y="24"/>
                  <a:pt x="344" y="15"/>
                  <a:pt x="374" y="9"/>
                </a:cubicBezTo>
                <a:cubicBezTo>
                  <a:pt x="404" y="3"/>
                  <a:pt x="434" y="0"/>
                  <a:pt x="465" y="0"/>
                </a:cubicBezTo>
                <a:cubicBezTo>
                  <a:pt x="495" y="0"/>
                  <a:pt x="525" y="3"/>
                  <a:pt x="555" y="9"/>
                </a:cubicBezTo>
                <a:cubicBezTo>
                  <a:pt x="585" y="15"/>
                  <a:pt x="614" y="24"/>
                  <a:pt x="642" y="35"/>
                </a:cubicBezTo>
                <a:cubicBezTo>
                  <a:pt x="671" y="47"/>
                  <a:pt x="697" y="61"/>
                  <a:pt x="723" y="78"/>
                </a:cubicBezTo>
                <a:cubicBezTo>
                  <a:pt x="748" y="95"/>
                  <a:pt x="772" y="114"/>
                  <a:pt x="793" y="136"/>
                </a:cubicBezTo>
                <a:cubicBezTo>
                  <a:pt x="815" y="158"/>
                  <a:pt x="834" y="181"/>
                  <a:pt x="851" y="206"/>
                </a:cubicBezTo>
                <a:cubicBezTo>
                  <a:pt x="868" y="232"/>
                  <a:pt x="882" y="258"/>
                  <a:pt x="894" y="287"/>
                </a:cubicBezTo>
                <a:cubicBezTo>
                  <a:pt x="905" y="315"/>
                  <a:pt x="914" y="345"/>
                  <a:pt x="920" y="375"/>
                </a:cubicBezTo>
                <a:cubicBezTo>
                  <a:pt x="926" y="405"/>
                  <a:pt x="929" y="435"/>
                  <a:pt x="929" y="465"/>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695" name="圖片 694"/>
          <p:cNvPicPr/>
          <p:nvPr/>
        </p:nvPicPr>
        <p:blipFill>
          <a:blip r:embed="rId6"/>
          <a:stretch>
            <a:fillRect/>
          </a:stretch>
        </p:blipFill>
        <p:spPr>
          <a:xfrm>
            <a:off x="885960" y="4161600"/>
            <a:ext cx="133200" cy="133200"/>
          </a:xfrm>
          <a:prstGeom prst="rect">
            <a:avLst/>
          </a:prstGeom>
          <a:noFill/>
          <a:ln w="0">
            <a:noFill/>
          </a:ln>
        </p:spPr>
      </p:pic>
      <p:sp>
        <p:nvSpPr>
          <p:cNvPr id="696" name="文字框 695"/>
          <p:cNvSpPr txBox="1"/>
          <p:nvPr/>
        </p:nvSpPr>
        <p:spPr>
          <a:xfrm>
            <a:off x="3681720" y="3665160"/>
            <a:ext cx="107352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是危机的核心领域</a:t>
            </a:r>
            <a:endParaRPr lang="en-US" sz="1050" b="0" u="none" strike="noStrike">
              <a:solidFill>
                <a:srgbClr val="000000"/>
              </a:solidFill>
              <a:effectLst/>
              <a:uFillTx/>
              <a:latin typeface="Times New Roman" panose="02020603050405020304"/>
            </a:endParaRPr>
          </a:p>
        </p:txBody>
      </p:sp>
      <p:sp>
        <p:nvSpPr>
          <p:cNvPr id="697" name="文字框 696"/>
          <p:cNvSpPr txBox="1"/>
          <p:nvPr/>
        </p:nvSpPr>
        <p:spPr>
          <a:xfrm>
            <a:off x="1260720" y="404136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大宗商</a:t>
            </a:r>
            <a:endParaRPr lang="en-US" sz="1050" b="0" u="none" strike="noStrike">
              <a:solidFill>
                <a:srgbClr val="000000"/>
              </a:solidFill>
              <a:effectLst/>
              <a:uFillTx/>
              <a:latin typeface="Times New Roman" panose="02020603050405020304"/>
            </a:endParaRPr>
          </a:p>
        </p:txBody>
      </p:sp>
      <p:sp>
        <p:nvSpPr>
          <p:cNvPr id="698" name="文字框 697"/>
          <p:cNvSpPr txBox="1"/>
          <p:nvPr/>
        </p:nvSpPr>
        <p:spPr>
          <a:xfrm>
            <a:off x="1394640" y="424188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品</a:t>
            </a:r>
            <a:endParaRPr lang="en-US" sz="1050" b="0" u="none" strike="noStrike">
              <a:solidFill>
                <a:srgbClr val="000000"/>
              </a:solidFill>
              <a:effectLst/>
              <a:uFillTx/>
              <a:latin typeface="Times New Roman" panose="02020603050405020304"/>
            </a:endParaRPr>
          </a:p>
        </p:txBody>
      </p:sp>
      <p:sp>
        <p:nvSpPr>
          <p:cNvPr id="699" name="文字框 698"/>
          <p:cNvSpPr txBox="1"/>
          <p:nvPr/>
        </p:nvSpPr>
        <p:spPr>
          <a:xfrm>
            <a:off x="2351880" y="4041360"/>
            <a:ext cx="5371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表现不一</a:t>
            </a:r>
            <a:endParaRPr lang="en-US" sz="1050" b="0" u="none" strike="noStrike">
              <a:solidFill>
                <a:srgbClr val="000000"/>
              </a:solidFill>
              <a:effectLst/>
              <a:uFillTx/>
              <a:latin typeface="Times New Roman" panose="02020603050405020304"/>
            </a:endParaRPr>
          </a:p>
        </p:txBody>
      </p:sp>
      <p:sp>
        <p:nvSpPr>
          <p:cNvPr id="700" name="文字框 699"/>
          <p:cNvSpPr txBox="1"/>
          <p:nvPr/>
        </p:nvSpPr>
        <p:spPr>
          <a:xfrm>
            <a:off x="2084760" y="4241880"/>
            <a:ext cx="10735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未受到系统性冲击</a:t>
            </a:r>
            <a:endParaRPr lang="en-US" sz="1050" b="0" u="none" strike="noStrike">
              <a:solidFill>
                <a:srgbClr val="000000"/>
              </a:solidFill>
              <a:effectLst/>
              <a:uFillTx/>
              <a:latin typeface="Times New Roman" panose="02020603050405020304"/>
            </a:endParaRPr>
          </a:p>
        </p:txBody>
      </p:sp>
      <p:sp>
        <p:nvSpPr>
          <p:cNvPr id="701" name="文字框 700"/>
          <p:cNvSpPr txBox="1"/>
          <p:nvPr/>
        </p:nvSpPr>
        <p:spPr>
          <a:xfrm>
            <a:off x="3736800" y="4041360"/>
            <a:ext cx="53712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黄金上涨</a:t>
            </a:r>
            <a:endParaRPr lang="en-US" sz="1050" b="0" u="none" strike="noStrike">
              <a:solidFill>
                <a:srgbClr val="000000"/>
              </a:solidFill>
              <a:effectLst/>
              <a:uFillTx/>
              <a:latin typeface="Times New Roman" panose="02020603050405020304"/>
            </a:endParaRPr>
          </a:p>
        </p:txBody>
      </p:sp>
      <p:sp>
        <p:nvSpPr>
          <p:cNvPr id="702" name="文字框 701"/>
          <p:cNvSpPr txBox="1"/>
          <p:nvPr/>
        </p:nvSpPr>
        <p:spPr>
          <a:xfrm>
            <a:off x="4271400" y="4046040"/>
            <a:ext cx="426600" cy="157320"/>
          </a:xfrm>
          <a:prstGeom prst="rect">
            <a:avLst/>
          </a:prstGeom>
          <a:noFill/>
          <a:ln w="0">
            <a:noFill/>
          </a:ln>
        </p:spPr>
        <p:txBody>
          <a:bodyPr wrap="none" lIns="0" tIns="0" rIns="0" bIns="0" anchor="t">
            <a:spAutoFit/>
          </a:bodyPr>
          <a:p>
            <a:r>
              <a:rPr lang="en-US" sz="1050" b="0" u="none" strike="noStrike">
                <a:solidFill>
                  <a:srgbClr val="10B981"/>
                </a:solidFill>
                <a:effectLst/>
                <a:uFillTx/>
                <a:latin typeface="DejaVuSans"/>
                <a:ea typeface="DejaVuSans"/>
              </a:rPr>
              <a:t>3.73%</a:t>
            </a:r>
            <a:endParaRPr lang="en-US" sz="1050" b="0" u="none" strike="noStrike">
              <a:solidFill>
                <a:srgbClr val="000000"/>
              </a:solidFill>
              <a:effectLst/>
              <a:uFillTx/>
              <a:latin typeface="Times New Roman" panose="02020603050405020304"/>
            </a:endParaRPr>
          </a:p>
        </p:txBody>
      </p:sp>
      <p:sp>
        <p:nvSpPr>
          <p:cNvPr id="703" name="任意多邊形 702"/>
          <p:cNvSpPr/>
          <p:nvPr/>
        </p:nvSpPr>
        <p:spPr>
          <a:xfrm>
            <a:off x="785520" y="4637880"/>
            <a:ext cx="334440" cy="334440"/>
          </a:xfrm>
          <a:custGeom>
            <a:avLst/>
            <a:gdLst/>
            <a:ahLst/>
            <a:cxnLst/>
            <a:rect l="0" t="0" r="r" b="b"/>
            <a:pathLst>
              <a:path w="929" h="929">
                <a:moveTo>
                  <a:pt x="929" y="464"/>
                </a:moveTo>
                <a:cubicBezTo>
                  <a:pt x="929" y="494"/>
                  <a:pt x="926" y="525"/>
                  <a:pt x="920" y="555"/>
                </a:cubicBezTo>
                <a:cubicBezTo>
                  <a:pt x="914" y="585"/>
                  <a:pt x="905" y="615"/>
                  <a:pt x="894" y="643"/>
                </a:cubicBezTo>
                <a:cubicBezTo>
                  <a:pt x="882" y="671"/>
                  <a:pt x="868" y="698"/>
                  <a:pt x="851" y="723"/>
                </a:cubicBezTo>
                <a:cubicBezTo>
                  <a:pt x="834" y="748"/>
                  <a:pt x="815" y="772"/>
                  <a:pt x="793" y="793"/>
                </a:cubicBezTo>
                <a:cubicBezTo>
                  <a:pt x="772" y="815"/>
                  <a:pt x="748" y="834"/>
                  <a:pt x="723" y="851"/>
                </a:cubicBezTo>
                <a:cubicBezTo>
                  <a:pt x="697" y="868"/>
                  <a:pt x="671" y="882"/>
                  <a:pt x="642" y="894"/>
                </a:cubicBezTo>
                <a:cubicBezTo>
                  <a:pt x="614" y="906"/>
                  <a:pt x="585" y="914"/>
                  <a:pt x="555" y="920"/>
                </a:cubicBezTo>
                <a:cubicBezTo>
                  <a:pt x="525" y="926"/>
                  <a:pt x="495" y="929"/>
                  <a:pt x="465" y="929"/>
                </a:cubicBezTo>
                <a:cubicBezTo>
                  <a:pt x="434" y="929"/>
                  <a:pt x="404" y="926"/>
                  <a:pt x="374" y="920"/>
                </a:cubicBezTo>
                <a:cubicBezTo>
                  <a:pt x="344" y="914"/>
                  <a:pt x="315" y="906"/>
                  <a:pt x="287" y="894"/>
                </a:cubicBezTo>
                <a:cubicBezTo>
                  <a:pt x="259" y="882"/>
                  <a:pt x="232" y="868"/>
                  <a:pt x="207" y="851"/>
                </a:cubicBezTo>
                <a:cubicBezTo>
                  <a:pt x="182" y="834"/>
                  <a:pt x="158" y="815"/>
                  <a:pt x="136" y="793"/>
                </a:cubicBezTo>
                <a:cubicBezTo>
                  <a:pt x="114" y="772"/>
                  <a:pt x="95" y="748"/>
                  <a:pt x="78" y="723"/>
                </a:cubicBezTo>
                <a:cubicBezTo>
                  <a:pt x="61" y="698"/>
                  <a:pt x="47" y="671"/>
                  <a:pt x="35" y="643"/>
                </a:cubicBezTo>
                <a:cubicBezTo>
                  <a:pt x="23" y="615"/>
                  <a:pt x="14" y="585"/>
                  <a:pt x="8" y="555"/>
                </a:cubicBezTo>
                <a:cubicBezTo>
                  <a:pt x="3" y="525"/>
                  <a:pt x="0" y="494"/>
                  <a:pt x="0" y="464"/>
                </a:cubicBezTo>
                <a:cubicBezTo>
                  <a:pt x="0" y="434"/>
                  <a:pt x="3" y="403"/>
                  <a:pt x="8" y="373"/>
                </a:cubicBezTo>
                <a:cubicBezTo>
                  <a:pt x="14" y="344"/>
                  <a:pt x="23" y="315"/>
                  <a:pt x="35" y="286"/>
                </a:cubicBezTo>
                <a:cubicBezTo>
                  <a:pt x="47" y="258"/>
                  <a:pt x="61" y="231"/>
                  <a:pt x="78" y="206"/>
                </a:cubicBezTo>
                <a:cubicBezTo>
                  <a:pt x="95" y="181"/>
                  <a:pt x="114" y="157"/>
                  <a:pt x="136" y="136"/>
                </a:cubicBezTo>
                <a:cubicBezTo>
                  <a:pt x="158" y="114"/>
                  <a:pt x="182" y="95"/>
                  <a:pt x="207" y="78"/>
                </a:cubicBezTo>
                <a:cubicBezTo>
                  <a:pt x="232" y="61"/>
                  <a:pt x="259" y="47"/>
                  <a:pt x="287" y="35"/>
                </a:cubicBezTo>
                <a:cubicBezTo>
                  <a:pt x="315" y="23"/>
                  <a:pt x="344" y="15"/>
                  <a:pt x="374" y="9"/>
                </a:cubicBezTo>
                <a:cubicBezTo>
                  <a:pt x="404" y="3"/>
                  <a:pt x="434" y="0"/>
                  <a:pt x="465" y="0"/>
                </a:cubicBezTo>
                <a:cubicBezTo>
                  <a:pt x="495" y="0"/>
                  <a:pt x="525" y="3"/>
                  <a:pt x="555" y="9"/>
                </a:cubicBezTo>
                <a:cubicBezTo>
                  <a:pt x="585" y="15"/>
                  <a:pt x="614" y="23"/>
                  <a:pt x="642" y="35"/>
                </a:cubicBezTo>
                <a:cubicBezTo>
                  <a:pt x="671" y="47"/>
                  <a:pt x="697" y="61"/>
                  <a:pt x="723" y="78"/>
                </a:cubicBezTo>
                <a:cubicBezTo>
                  <a:pt x="748" y="95"/>
                  <a:pt x="772" y="114"/>
                  <a:pt x="793" y="136"/>
                </a:cubicBezTo>
                <a:cubicBezTo>
                  <a:pt x="815" y="157"/>
                  <a:pt x="834" y="181"/>
                  <a:pt x="851" y="206"/>
                </a:cubicBezTo>
                <a:cubicBezTo>
                  <a:pt x="868" y="231"/>
                  <a:pt x="882" y="258"/>
                  <a:pt x="894" y="286"/>
                </a:cubicBezTo>
                <a:cubicBezTo>
                  <a:pt x="905" y="315"/>
                  <a:pt x="914" y="344"/>
                  <a:pt x="920" y="373"/>
                </a:cubicBezTo>
                <a:cubicBezTo>
                  <a:pt x="926" y="403"/>
                  <a:pt x="929" y="434"/>
                  <a:pt x="929" y="464"/>
                </a:cubicBezTo>
                <a:close/>
              </a:path>
            </a:pathLst>
          </a:custGeom>
          <a:solidFill>
            <a:srgbClr val="6D28D9"/>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04" name="圖片 703"/>
          <p:cNvPicPr/>
          <p:nvPr/>
        </p:nvPicPr>
        <p:blipFill>
          <a:blip r:embed="rId7"/>
          <a:stretch>
            <a:fillRect/>
          </a:stretch>
        </p:blipFill>
        <p:spPr>
          <a:xfrm>
            <a:off x="885960" y="4738320"/>
            <a:ext cx="133200" cy="133200"/>
          </a:xfrm>
          <a:prstGeom prst="rect">
            <a:avLst/>
          </a:prstGeom>
          <a:noFill/>
          <a:ln w="0">
            <a:noFill/>
          </a:ln>
        </p:spPr>
      </p:pic>
      <p:sp>
        <p:nvSpPr>
          <p:cNvPr id="705" name="文字框 704"/>
          <p:cNvSpPr txBox="1"/>
          <p:nvPr/>
        </p:nvSpPr>
        <p:spPr>
          <a:xfrm>
            <a:off x="3681720" y="4241880"/>
            <a:ext cx="1073520" cy="169560"/>
          </a:xfrm>
          <a:prstGeom prst="rect">
            <a:avLst/>
          </a:prstGeom>
          <a:noFill/>
          <a:ln w="0">
            <a:noFill/>
          </a:ln>
        </p:spPr>
        <p:txBody>
          <a:bodyPr wrap="none" lIns="0" tIns="0" rIns="0" bIns="0" anchor="t">
            <a:spAutoFit/>
          </a:bodyPr>
          <a:p>
            <a:r>
              <a:rPr lang="zh-CN" sz="1050" b="0" u="none" strike="noStrike">
                <a:solidFill>
                  <a:srgbClr val="EF4444"/>
                </a:solidFill>
                <a:effectLst/>
                <a:uFillTx/>
                <a:latin typeface="WenQuanYiZenHei"/>
                <a:ea typeface="WenQuanYiZenHei"/>
              </a:rPr>
              <a:t>工业金属价格大跌</a:t>
            </a:r>
            <a:endParaRPr lang="en-US" sz="1050" b="0" u="none" strike="noStrike">
              <a:solidFill>
                <a:srgbClr val="000000"/>
              </a:solidFill>
              <a:effectLst/>
              <a:uFillTx/>
              <a:latin typeface="Times New Roman" panose="02020603050405020304"/>
            </a:endParaRPr>
          </a:p>
        </p:txBody>
      </p:sp>
      <p:sp>
        <p:nvSpPr>
          <p:cNvPr id="706" name="文字框 705"/>
          <p:cNvSpPr txBox="1"/>
          <p:nvPr/>
        </p:nvSpPr>
        <p:spPr>
          <a:xfrm>
            <a:off x="1260720" y="461772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另类投</a:t>
            </a:r>
            <a:endParaRPr lang="en-US" sz="1050" b="0" u="none" strike="noStrike">
              <a:solidFill>
                <a:srgbClr val="000000"/>
              </a:solidFill>
              <a:effectLst/>
              <a:uFillTx/>
              <a:latin typeface="Times New Roman" panose="02020603050405020304"/>
            </a:endParaRPr>
          </a:p>
        </p:txBody>
      </p:sp>
      <p:sp>
        <p:nvSpPr>
          <p:cNvPr id="707" name="文字框 706"/>
          <p:cNvSpPr txBox="1"/>
          <p:nvPr/>
        </p:nvSpPr>
        <p:spPr>
          <a:xfrm>
            <a:off x="1394640" y="481824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资</a:t>
            </a:r>
            <a:endParaRPr lang="en-US" sz="1050" b="0" u="none" strike="noStrike">
              <a:solidFill>
                <a:srgbClr val="000000"/>
              </a:solidFill>
              <a:effectLst/>
              <a:uFillTx/>
              <a:latin typeface="Times New Roman" panose="02020603050405020304"/>
            </a:endParaRPr>
          </a:p>
        </p:txBody>
      </p:sp>
      <p:sp>
        <p:nvSpPr>
          <p:cNvPr id="708" name="文字框 707"/>
          <p:cNvSpPr txBox="1"/>
          <p:nvPr/>
        </p:nvSpPr>
        <p:spPr>
          <a:xfrm>
            <a:off x="2017800" y="4617720"/>
            <a:ext cx="120780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美国小盘股和微盘股</a:t>
            </a:r>
            <a:endParaRPr lang="en-US" sz="1050" b="0" u="none" strike="noStrike">
              <a:solidFill>
                <a:srgbClr val="000000"/>
              </a:solidFill>
              <a:effectLst/>
              <a:uFillTx/>
              <a:latin typeface="Times New Roman" panose="02020603050405020304"/>
            </a:endParaRPr>
          </a:p>
        </p:txBody>
      </p:sp>
      <p:sp>
        <p:nvSpPr>
          <p:cNvPr id="709" name="文字框 708"/>
          <p:cNvSpPr txBox="1"/>
          <p:nvPr/>
        </p:nvSpPr>
        <p:spPr>
          <a:xfrm>
            <a:off x="1920600" y="4818240"/>
            <a:ext cx="13500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在</a:t>
            </a:r>
            <a:endParaRPr lang="en-US" sz="1050" b="0" u="none" strike="noStrike">
              <a:solidFill>
                <a:srgbClr val="000000"/>
              </a:solidFill>
              <a:effectLst/>
              <a:uFillTx/>
              <a:latin typeface="Times New Roman" panose="02020603050405020304"/>
            </a:endParaRPr>
          </a:p>
        </p:txBody>
      </p:sp>
      <p:sp>
        <p:nvSpPr>
          <p:cNvPr id="710" name="文字框 709"/>
          <p:cNvSpPr txBox="1"/>
          <p:nvPr/>
        </p:nvSpPr>
        <p:spPr>
          <a:xfrm>
            <a:off x="2054520" y="4822920"/>
            <a:ext cx="731880" cy="157320"/>
          </a:xfrm>
          <a:prstGeom prst="rect">
            <a:avLst/>
          </a:prstGeom>
          <a:noFill/>
          <a:ln w="0">
            <a:noFill/>
          </a:ln>
        </p:spPr>
        <p:txBody>
          <a:bodyPr wrap="none" lIns="0" tIns="0" rIns="0" bIns="0" anchor="t">
            <a:spAutoFit/>
          </a:bodyPr>
          <a:p>
            <a:r>
              <a:rPr lang="en-US" sz="1050" b="0" u="none" strike="noStrike">
                <a:solidFill>
                  <a:srgbClr val="10B981"/>
                </a:solidFill>
                <a:effectLst/>
                <a:uFillTx/>
                <a:latin typeface="DejaVuSans"/>
                <a:ea typeface="DejaVuSans"/>
              </a:rPr>
              <a:t>2000-2002</a:t>
            </a:r>
            <a:endParaRPr lang="en-US" sz="1050" b="0" u="none" strike="noStrike">
              <a:solidFill>
                <a:srgbClr val="000000"/>
              </a:solidFill>
              <a:effectLst/>
              <a:uFillTx/>
              <a:latin typeface="Times New Roman" panose="02020603050405020304"/>
            </a:endParaRPr>
          </a:p>
        </p:txBody>
      </p:sp>
      <p:sp>
        <p:nvSpPr>
          <p:cNvPr id="711" name="文字框 710"/>
          <p:cNvSpPr txBox="1"/>
          <p:nvPr/>
        </p:nvSpPr>
        <p:spPr>
          <a:xfrm>
            <a:off x="2783160" y="4818240"/>
            <a:ext cx="53712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年取得正</a:t>
            </a:r>
            <a:endParaRPr lang="en-US" sz="1050" b="0" u="none" strike="noStrike">
              <a:solidFill>
                <a:srgbClr val="000000"/>
              </a:solidFill>
              <a:effectLst/>
              <a:uFillTx/>
              <a:latin typeface="Times New Roman" panose="02020603050405020304"/>
            </a:endParaRPr>
          </a:p>
        </p:txBody>
      </p:sp>
      <p:sp>
        <p:nvSpPr>
          <p:cNvPr id="712" name="文字框 711"/>
          <p:cNvSpPr txBox="1"/>
          <p:nvPr/>
        </p:nvSpPr>
        <p:spPr>
          <a:xfrm>
            <a:off x="2485800" y="5019120"/>
            <a:ext cx="26892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回报</a:t>
            </a:r>
            <a:endParaRPr lang="en-US" sz="1050" b="0" u="none" strike="noStrike">
              <a:solidFill>
                <a:srgbClr val="000000"/>
              </a:solidFill>
              <a:effectLst/>
              <a:uFillTx/>
              <a:latin typeface="Times New Roman" panose="02020603050405020304"/>
            </a:endParaRPr>
          </a:p>
        </p:txBody>
      </p:sp>
      <p:sp>
        <p:nvSpPr>
          <p:cNvPr id="713" name="文字框 712"/>
          <p:cNvSpPr txBox="1"/>
          <p:nvPr/>
        </p:nvSpPr>
        <p:spPr>
          <a:xfrm>
            <a:off x="3614760" y="4718160"/>
            <a:ext cx="120780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私募股权、基础设施</a:t>
            </a:r>
            <a:endParaRPr lang="en-US" sz="1050" b="0" u="none" strike="noStrike">
              <a:solidFill>
                <a:srgbClr val="000000"/>
              </a:solidFill>
              <a:effectLst/>
              <a:uFillTx/>
              <a:latin typeface="Times New Roman" panose="02020603050405020304"/>
            </a:endParaRPr>
          </a:p>
        </p:txBody>
      </p:sp>
      <p:sp>
        <p:nvSpPr>
          <p:cNvPr id="714" name="文字框 713"/>
          <p:cNvSpPr txBox="1"/>
          <p:nvPr/>
        </p:nvSpPr>
        <p:spPr>
          <a:xfrm>
            <a:off x="3547800" y="4918680"/>
            <a:ext cx="1341720" cy="169560"/>
          </a:xfrm>
          <a:prstGeom prst="rect">
            <a:avLst/>
          </a:prstGeom>
          <a:noFill/>
          <a:ln w="0">
            <a:noFill/>
          </a:ln>
        </p:spPr>
        <p:txBody>
          <a:bodyPr wrap="none" lIns="0" tIns="0" rIns="0" bIns="0" anchor="t">
            <a:spAutoFit/>
          </a:bodyPr>
          <a:p>
            <a:r>
              <a:rPr lang="zh-CN" sz="1050" b="0" u="none" strike="noStrike">
                <a:solidFill>
                  <a:srgbClr val="10B981"/>
                </a:solidFill>
                <a:effectLst/>
                <a:uFillTx/>
                <a:latin typeface="WenQuanYiZenHei"/>
                <a:ea typeface="WenQuanYiZenHei"/>
              </a:rPr>
              <a:t>风险调整回报满意度高</a:t>
            </a:r>
            <a:endParaRPr lang="en-US" sz="1050" b="0" u="none" strike="noStrike">
              <a:solidFill>
                <a:srgbClr val="000000"/>
              </a:solidFill>
              <a:effectLst/>
              <a:uFillTx/>
              <a:latin typeface="Times New Roman" panose="02020603050405020304"/>
            </a:endParaRPr>
          </a:p>
        </p:txBody>
      </p:sp>
      <p:sp>
        <p:nvSpPr>
          <p:cNvPr id="715" name="文字框 714"/>
          <p:cNvSpPr txBox="1"/>
          <p:nvPr/>
        </p:nvSpPr>
        <p:spPr>
          <a:xfrm>
            <a:off x="730080" y="5411160"/>
            <a:ext cx="4335120" cy="151200"/>
          </a:xfrm>
          <a:prstGeom prst="rect">
            <a:avLst/>
          </a:prstGeom>
          <a:noFill/>
          <a:ln w="0">
            <a:noFill/>
          </a:ln>
        </p:spPr>
        <p:txBody>
          <a:bodyPr wrap="none" lIns="0" tIns="0" rIns="0" bIns="0" anchor="t">
            <a:spAutoFit/>
          </a:bodyPr>
          <a:p>
            <a:r>
              <a:rPr lang="zh-CN" sz="950" b="0" u="none" strike="noStrike">
                <a:solidFill>
                  <a:srgbClr val="9CA3AF"/>
                </a:solidFill>
                <a:effectLst/>
                <a:uFillTx/>
                <a:latin typeface="WenQuanYiZenHei"/>
                <a:ea typeface="WenQuanYiZenHei"/>
              </a:rPr>
              <a:t>注：历史表现不代表未来收益。数据反映特定危机期间的总体情况，个别资产表现</a:t>
            </a:r>
            <a:endParaRPr lang="en-US" sz="950" b="0" u="none" strike="noStrike">
              <a:solidFill>
                <a:srgbClr val="000000"/>
              </a:solidFill>
              <a:effectLst/>
              <a:uFillTx/>
              <a:latin typeface="Times New Roman" panose="02020603050405020304"/>
            </a:endParaRPr>
          </a:p>
        </p:txBody>
      </p:sp>
      <p:sp>
        <p:nvSpPr>
          <p:cNvPr id="716" name="任意多邊形 715"/>
          <p:cNvSpPr/>
          <p:nvPr/>
        </p:nvSpPr>
        <p:spPr>
          <a:xfrm>
            <a:off x="5548680" y="902520"/>
            <a:ext cx="4613400" cy="4997520"/>
          </a:xfrm>
          <a:custGeom>
            <a:avLst/>
            <a:gdLst/>
            <a:ahLst/>
            <a:cxnLst/>
            <a:rect l="0" t="0" r="r" b="b"/>
            <a:pathLst>
              <a:path w="12815" h="13882">
                <a:moveTo>
                  <a:pt x="0" y="13696"/>
                </a:moveTo>
                <a:lnTo>
                  <a:pt x="0" y="185"/>
                </a:lnTo>
                <a:cubicBezTo>
                  <a:pt x="0" y="173"/>
                  <a:pt x="1" y="161"/>
                  <a:pt x="4" y="149"/>
                </a:cubicBezTo>
                <a:cubicBezTo>
                  <a:pt x="6" y="137"/>
                  <a:pt x="9" y="125"/>
                  <a:pt x="14" y="114"/>
                </a:cubicBezTo>
                <a:cubicBezTo>
                  <a:pt x="19" y="103"/>
                  <a:pt x="24" y="92"/>
                  <a:pt x="31" y="82"/>
                </a:cubicBezTo>
                <a:cubicBezTo>
                  <a:pt x="38" y="72"/>
                  <a:pt x="46" y="63"/>
                  <a:pt x="54" y="54"/>
                </a:cubicBezTo>
                <a:cubicBezTo>
                  <a:pt x="63" y="45"/>
                  <a:pt x="72" y="38"/>
                  <a:pt x="83" y="31"/>
                </a:cubicBezTo>
                <a:cubicBezTo>
                  <a:pt x="93" y="24"/>
                  <a:pt x="103" y="18"/>
                  <a:pt x="115" y="14"/>
                </a:cubicBezTo>
                <a:cubicBezTo>
                  <a:pt x="126" y="9"/>
                  <a:pt x="137" y="5"/>
                  <a:pt x="149" y="3"/>
                </a:cubicBezTo>
                <a:cubicBezTo>
                  <a:pt x="161" y="1"/>
                  <a:pt x="173" y="0"/>
                  <a:pt x="186" y="0"/>
                </a:cubicBezTo>
                <a:lnTo>
                  <a:pt x="12629" y="0"/>
                </a:lnTo>
                <a:cubicBezTo>
                  <a:pt x="12641" y="0"/>
                  <a:pt x="12653" y="1"/>
                  <a:pt x="12665" y="3"/>
                </a:cubicBezTo>
                <a:cubicBezTo>
                  <a:pt x="12677" y="5"/>
                  <a:pt x="12689" y="9"/>
                  <a:pt x="12700" y="14"/>
                </a:cubicBezTo>
                <a:cubicBezTo>
                  <a:pt x="12711" y="18"/>
                  <a:pt x="12722" y="24"/>
                  <a:pt x="12732" y="31"/>
                </a:cubicBezTo>
                <a:cubicBezTo>
                  <a:pt x="12742" y="38"/>
                  <a:pt x="12752" y="45"/>
                  <a:pt x="12760" y="54"/>
                </a:cubicBezTo>
                <a:cubicBezTo>
                  <a:pt x="12769" y="63"/>
                  <a:pt x="12776" y="72"/>
                  <a:pt x="12783" y="82"/>
                </a:cubicBezTo>
                <a:cubicBezTo>
                  <a:pt x="12790" y="92"/>
                  <a:pt x="12796" y="103"/>
                  <a:pt x="12800" y="114"/>
                </a:cubicBezTo>
                <a:cubicBezTo>
                  <a:pt x="12805" y="125"/>
                  <a:pt x="12809" y="137"/>
                  <a:pt x="12811" y="149"/>
                </a:cubicBezTo>
                <a:cubicBezTo>
                  <a:pt x="12813" y="161"/>
                  <a:pt x="12815" y="173"/>
                  <a:pt x="12815" y="185"/>
                </a:cubicBezTo>
                <a:lnTo>
                  <a:pt x="12815" y="13696"/>
                </a:lnTo>
                <a:cubicBezTo>
                  <a:pt x="12815" y="13708"/>
                  <a:pt x="12813" y="13720"/>
                  <a:pt x="12811" y="13732"/>
                </a:cubicBezTo>
                <a:cubicBezTo>
                  <a:pt x="12809" y="13744"/>
                  <a:pt x="12805" y="13756"/>
                  <a:pt x="12800" y="13767"/>
                </a:cubicBezTo>
                <a:cubicBezTo>
                  <a:pt x="12796" y="13779"/>
                  <a:pt x="12790" y="13789"/>
                  <a:pt x="12783" y="13799"/>
                </a:cubicBezTo>
                <a:cubicBezTo>
                  <a:pt x="12776" y="13810"/>
                  <a:pt x="12769" y="13819"/>
                  <a:pt x="12760" y="13828"/>
                </a:cubicBezTo>
                <a:cubicBezTo>
                  <a:pt x="12752" y="13836"/>
                  <a:pt x="12742" y="13844"/>
                  <a:pt x="12732" y="13851"/>
                </a:cubicBezTo>
                <a:cubicBezTo>
                  <a:pt x="12722" y="13857"/>
                  <a:pt x="12711" y="13863"/>
                  <a:pt x="12700" y="13868"/>
                </a:cubicBezTo>
                <a:cubicBezTo>
                  <a:pt x="12689" y="13872"/>
                  <a:pt x="12677" y="13876"/>
                  <a:pt x="12665" y="13878"/>
                </a:cubicBezTo>
                <a:cubicBezTo>
                  <a:pt x="12653" y="13881"/>
                  <a:pt x="12641" y="13882"/>
                  <a:pt x="12629" y="13882"/>
                </a:cubicBezTo>
                <a:lnTo>
                  <a:pt x="186" y="13882"/>
                </a:lnTo>
                <a:cubicBezTo>
                  <a:pt x="173" y="13882"/>
                  <a:pt x="161" y="13881"/>
                  <a:pt x="149" y="13878"/>
                </a:cubicBezTo>
                <a:cubicBezTo>
                  <a:pt x="137" y="13876"/>
                  <a:pt x="126" y="13872"/>
                  <a:pt x="115" y="13868"/>
                </a:cubicBezTo>
                <a:cubicBezTo>
                  <a:pt x="103" y="13863"/>
                  <a:pt x="93" y="13857"/>
                  <a:pt x="83" y="13851"/>
                </a:cubicBezTo>
                <a:cubicBezTo>
                  <a:pt x="72" y="13844"/>
                  <a:pt x="63" y="13836"/>
                  <a:pt x="54" y="13828"/>
                </a:cubicBezTo>
                <a:cubicBezTo>
                  <a:pt x="46" y="13819"/>
                  <a:pt x="38" y="13810"/>
                  <a:pt x="31" y="13799"/>
                </a:cubicBezTo>
                <a:cubicBezTo>
                  <a:pt x="24" y="13789"/>
                  <a:pt x="19" y="13779"/>
                  <a:pt x="14" y="13767"/>
                </a:cubicBezTo>
                <a:cubicBezTo>
                  <a:pt x="9" y="13756"/>
                  <a:pt x="6" y="13744"/>
                  <a:pt x="4" y="13732"/>
                </a:cubicBezTo>
                <a:cubicBezTo>
                  <a:pt x="1" y="13720"/>
                  <a:pt x="0" y="13708"/>
                  <a:pt x="0" y="1369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17" name="文字框 716"/>
          <p:cNvSpPr txBox="1"/>
          <p:nvPr/>
        </p:nvSpPr>
        <p:spPr>
          <a:xfrm>
            <a:off x="730080" y="5578200"/>
            <a:ext cx="843480" cy="151200"/>
          </a:xfrm>
          <a:prstGeom prst="rect">
            <a:avLst/>
          </a:prstGeom>
          <a:noFill/>
          <a:ln w="0">
            <a:noFill/>
          </a:ln>
        </p:spPr>
        <p:txBody>
          <a:bodyPr wrap="none" lIns="0" tIns="0" rIns="0" bIns="0" anchor="t">
            <a:spAutoFit/>
          </a:bodyPr>
          <a:p>
            <a:r>
              <a:rPr lang="zh-CN" sz="950" b="0" u="none" strike="noStrike">
                <a:solidFill>
                  <a:srgbClr val="9CA3AF"/>
                </a:solidFill>
                <a:effectLst/>
                <a:uFillTx/>
                <a:latin typeface="WenQuanYiZenHei"/>
                <a:ea typeface="WenQuanYiZenHei"/>
              </a:rPr>
              <a:t>可能存在差异。</a:t>
            </a:r>
            <a:endParaRPr lang="en-US" sz="950" b="0" u="none" strike="noStrike">
              <a:solidFill>
                <a:srgbClr val="000000"/>
              </a:solidFill>
              <a:effectLst/>
              <a:uFillTx/>
              <a:latin typeface="Times New Roman" panose="02020603050405020304"/>
            </a:endParaRPr>
          </a:p>
        </p:txBody>
      </p:sp>
      <p:sp>
        <p:nvSpPr>
          <p:cNvPr id="718" name="文字框 717"/>
          <p:cNvSpPr txBox="1"/>
          <p:nvPr/>
        </p:nvSpPr>
        <p:spPr>
          <a:xfrm>
            <a:off x="5716080" y="1090080"/>
            <a:ext cx="467280" cy="195480"/>
          </a:xfrm>
          <a:prstGeom prst="rect">
            <a:avLst/>
          </a:prstGeom>
          <a:noFill/>
          <a:ln w="0">
            <a:noFill/>
          </a:ln>
        </p:spPr>
        <p:txBody>
          <a:bodyPr wrap="none" lIns="0" tIns="0" rIns="0" bIns="0" anchor="t">
            <a:spAutoFit/>
          </a:bodyPr>
          <a:p>
            <a:r>
              <a:rPr lang="en-US" sz="1320" b="1" u="none" strike="noStrike">
                <a:solidFill>
                  <a:srgbClr val="FCD34D"/>
                </a:solidFill>
                <a:effectLst/>
                <a:uFillTx/>
                <a:latin typeface="DejaVuSans"/>
                <a:ea typeface="DejaVuSans"/>
              </a:rPr>
              <a:t>2008</a:t>
            </a:r>
            <a:endParaRPr lang="en-US" sz="1320" b="0" u="none" strike="noStrike">
              <a:solidFill>
                <a:srgbClr val="000000"/>
              </a:solidFill>
              <a:effectLst/>
              <a:uFillTx/>
              <a:latin typeface="Times New Roman" panose="02020603050405020304"/>
            </a:endParaRPr>
          </a:p>
        </p:txBody>
      </p:sp>
      <p:pic>
        <p:nvPicPr>
          <p:cNvPr id="719" name="圖片 718"/>
          <p:cNvPicPr/>
          <p:nvPr/>
        </p:nvPicPr>
        <p:blipFill>
          <a:blip r:embed="rId8"/>
          <a:stretch>
            <a:fillRect/>
          </a:stretch>
        </p:blipFill>
        <p:spPr>
          <a:xfrm>
            <a:off x="5716080" y="1437480"/>
            <a:ext cx="4278240" cy="2757240"/>
          </a:xfrm>
          <a:prstGeom prst="rect">
            <a:avLst/>
          </a:prstGeom>
          <a:noFill/>
          <a:ln w="0">
            <a:noFill/>
          </a:ln>
        </p:spPr>
      </p:pic>
      <p:sp>
        <p:nvSpPr>
          <p:cNvPr id="720" name="任意多邊形 719"/>
          <p:cNvSpPr/>
          <p:nvPr/>
        </p:nvSpPr>
        <p:spPr>
          <a:xfrm>
            <a:off x="5715720" y="4378680"/>
            <a:ext cx="75600" cy="100800"/>
          </a:xfrm>
          <a:custGeom>
            <a:avLst/>
            <a:gdLst/>
            <a:ahLst/>
            <a:cxnLst/>
            <a:rect l="0" t="0" r="r" b="b"/>
            <a:pathLst>
              <a:path w="210" h="280">
                <a:moveTo>
                  <a:pt x="0" y="174"/>
                </a:moveTo>
                <a:lnTo>
                  <a:pt x="0" y="105"/>
                </a:lnTo>
                <a:cubicBezTo>
                  <a:pt x="0" y="91"/>
                  <a:pt x="3" y="77"/>
                  <a:pt x="8" y="65"/>
                </a:cubicBezTo>
                <a:cubicBezTo>
                  <a:pt x="13" y="52"/>
                  <a:pt x="21" y="41"/>
                  <a:pt x="31" y="31"/>
                </a:cubicBezTo>
                <a:cubicBezTo>
                  <a:pt x="42" y="21"/>
                  <a:pt x="53" y="13"/>
                  <a:pt x="66" y="8"/>
                </a:cubicBezTo>
                <a:cubicBezTo>
                  <a:pt x="79" y="3"/>
                  <a:pt x="92" y="0"/>
                  <a:pt x="106" y="0"/>
                </a:cubicBezTo>
                <a:cubicBezTo>
                  <a:pt x="120" y="0"/>
                  <a:pt x="133" y="3"/>
                  <a:pt x="146" y="8"/>
                </a:cubicBezTo>
                <a:cubicBezTo>
                  <a:pt x="158" y="13"/>
                  <a:pt x="170" y="21"/>
                  <a:pt x="180" y="31"/>
                </a:cubicBezTo>
                <a:cubicBezTo>
                  <a:pt x="189" y="41"/>
                  <a:pt x="197" y="52"/>
                  <a:pt x="202" y="65"/>
                </a:cubicBezTo>
                <a:cubicBezTo>
                  <a:pt x="207" y="77"/>
                  <a:pt x="210" y="91"/>
                  <a:pt x="210" y="105"/>
                </a:cubicBezTo>
                <a:lnTo>
                  <a:pt x="210" y="174"/>
                </a:lnTo>
                <a:cubicBezTo>
                  <a:pt x="210" y="188"/>
                  <a:pt x="207" y="201"/>
                  <a:pt x="202" y="215"/>
                </a:cubicBezTo>
                <a:cubicBezTo>
                  <a:pt x="197" y="228"/>
                  <a:pt x="189" y="239"/>
                  <a:pt x="180" y="249"/>
                </a:cubicBezTo>
                <a:cubicBezTo>
                  <a:pt x="170" y="259"/>
                  <a:pt x="158" y="266"/>
                  <a:pt x="146" y="272"/>
                </a:cubicBezTo>
                <a:cubicBezTo>
                  <a:pt x="133" y="277"/>
                  <a:pt x="120" y="280"/>
                  <a:pt x="106" y="280"/>
                </a:cubicBezTo>
                <a:cubicBezTo>
                  <a:pt x="92" y="280"/>
                  <a:pt x="79" y="277"/>
                  <a:pt x="66" y="272"/>
                </a:cubicBezTo>
                <a:cubicBezTo>
                  <a:pt x="53" y="266"/>
                  <a:pt x="42" y="259"/>
                  <a:pt x="31" y="249"/>
                </a:cubicBezTo>
                <a:cubicBezTo>
                  <a:pt x="21" y="239"/>
                  <a:pt x="13" y="228"/>
                  <a:pt x="8" y="215"/>
                </a:cubicBezTo>
                <a:cubicBezTo>
                  <a:pt x="3" y="201"/>
                  <a:pt x="0" y="188"/>
                  <a:pt x="0" y="174"/>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21" name="文字框 720"/>
          <p:cNvSpPr txBox="1"/>
          <p:nvPr/>
        </p:nvSpPr>
        <p:spPr>
          <a:xfrm>
            <a:off x="6181200" y="1084320"/>
            <a:ext cx="184464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年金融危机资产表现对比</a:t>
            </a:r>
            <a:endParaRPr lang="en-US" sz="1320" b="0" u="none" strike="noStrike">
              <a:solidFill>
                <a:srgbClr val="000000"/>
              </a:solidFill>
              <a:effectLst/>
              <a:uFillTx/>
              <a:latin typeface="Times New Roman" panose="02020603050405020304"/>
            </a:endParaRPr>
          </a:p>
        </p:txBody>
      </p:sp>
      <p:sp>
        <p:nvSpPr>
          <p:cNvPr id="722" name="文字框 721"/>
          <p:cNvSpPr txBox="1"/>
          <p:nvPr/>
        </p:nvSpPr>
        <p:spPr>
          <a:xfrm>
            <a:off x="5859720" y="4341960"/>
            <a:ext cx="14760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资本保全能力表现最佳：</a:t>
            </a:r>
            <a:endParaRPr lang="en-US" sz="1050" b="0" u="none" strike="noStrike">
              <a:solidFill>
                <a:srgbClr val="000000"/>
              </a:solidFill>
              <a:effectLst/>
              <a:uFillTx/>
              <a:latin typeface="Times New Roman" panose="02020603050405020304"/>
            </a:endParaRPr>
          </a:p>
        </p:txBody>
      </p:sp>
      <p:sp>
        <p:nvSpPr>
          <p:cNvPr id="723" name="文字框 722"/>
          <p:cNvSpPr txBox="1"/>
          <p:nvPr/>
        </p:nvSpPr>
        <p:spPr>
          <a:xfrm>
            <a:off x="7330680" y="43466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a:t>
            </a:r>
            <a:endParaRPr lang="en-US" sz="1050" b="0" u="none" strike="noStrike">
              <a:solidFill>
                <a:srgbClr val="000000"/>
              </a:solidFill>
              <a:effectLst/>
              <a:uFillTx/>
              <a:latin typeface="Times New Roman" panose="02020603050405020304"/>
            </a:endParaRPr>
          </a:p>
        </p:txBody>
      </p:sp>
      <p:sp>
        <p:nvSpPr>
          <p:cNvPr id="724" name="文字框 723"/>
          <p:cNvSpPr txBox="1"/>
          <p:nvPr/>
        </p:nvSpPr>
        <p:spPr>
          <a:xfrm>
            <a:off x="7373160" y="43419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政府债券和黄金在危机中实现了正收益，体</a:t>
            </a:r>
            <a:endParaRPr lang="en-US" sz="1050" b="0" u="none" strike="noStrike">
              <a:solidFill>
                <a:srgbClr val="000000"/>
              </a:solidFill>
              <a:effectLst/>
              <a:uFillTx/>
              <a:latin typeface="Times New Roman" panose="02020603050405020304"/>
            </a:endParaRPr>
          </a:p>
        </p:txBody>
      </p:sp>
      <p:sp>
        <p:nvSpPr>
          <p:cNvPr id="725" name="任意多邊形 724"/>
          <p:cNvSpPr/>
          <p:nvPr/>
        </p:nvSpPr>
        <p:spPr>
          <a:xfrm>
            <a:off x="5715720" y="4880160"/>
            <a:ext cx="67320" cy="100440"/>
          </a:xfrm>
          <a:custGeom>
            <a:avLst/>
            <a:gdLst/>
            <a:ahLst/>
            <a:cxnLst/>
            <a:rect l="0" t="0" r="r" b="b"/>
            <a:pathLst>
              <a:path w="187" h="279">
                <a:moveTo>
                  <a:pt x="0" y="186"/>
                </a:moveTo>
                <a:lnTo>
                  <a:pt x="0" y="93"/>
                </a:lnTo>
                <a:cubicBezTo>
                  <a:pt x="0" y="80"/>
                  <a:pt x="3" y="69"/>
                  <a:pt x="7" y="57"/>
                </a:cubicBezTo>
                <a:cubicBezTo>
                  <a:pt x="12" y="46"/>
                  <a:pt x="19" y="36"/>
                  <a:pt x="27" y="27"/>
                </a:cubicBezTo>
                <a:cubicBezTo>
                  <a:pt x="36" y="18"/>
                  <a:pt x="46" y="12"/>
                  <a:pt x="58" y="7"/>
                </a:cubicBezTo>
                <a:cubicBezTo>
                  <a:pt x="69" y="2"/>
                  <a:pt x="81" y="0"/>
                  <a:pt x="93" y="0"/>
                </a:cubicBezTo>
                <a:cubicBezTo>
                  <a:pt x="105" y="0"/>
                  <a:pt x="117" y="2"/>
                  <a:pt x="130" y="7"/>
                </a:cubicBezTo>
                <a:cubicBezTo>
                  <a:pt x="141" y="12"/>
                  <a:pt x="151" y="18"/>
                  <a:pt x="160" y="27"/>
                </a:cubicBezTo>
                <a:cubicBezTo>
                  <a:pt x="168" y="36"/>
                  <a:pt x="175" y="46"/>
                  <a:pt x="180" y="57"/>
                </a:cubicBezTo>
                <a:cubicBezTo>
                  <a:pt x="185" y="69"/>
                  <a:pt x="187" y="80"/>
                  <a:pt x="187" y="93"/>
                </a:cubicBezTo>
                <a:lnTo>
                  <a:pt x="187" y="186"/>
                </a:lnTo>
                <a:cubicBezTo>
                  <a:pt x="187" y="198"/>
                  <a:pt x="185" y="211"/>
                  <a:pt x="180" y="222"/>
                </a:cubicBezTo>
                <a:cubicBezTo>
                  <a:pt x="175" y="234"/>
                  <a:pt x="168" y="244"/>
                  <a:pt x="160" y="252"/>
                </a:cubicBezTo>
                <a:cubicBezTo>
                  <a:pt x="151" y="261"/>
                  <a:pt x="141" y="268"/>
                  <a:pt x="130" y="272"/>
                </a:cubicBezTo>
                <a:cubicBezTo>
                  <a:pt x="117" y="277"/>
                  <a:pt x="105" y="279"/>
                  <a:pt x="93" y="279"/>
                </a:cubicBezTo>
                <a:cubicBezTo>
                  <a:pt x="81" y="279"/>
                  <a:pt x="69" y="277"/>
                  <a:pt x="58" y="272"/>
                </a:cubicBezTo>
                <a:cubicBezTo>
                  <a:pt x="46" y="268"/>
                  <a:pt x="36" y="261"/>
                  <a:pt x="27" y="252"/>
                </a:cubicBezTo>
                <a:cubicBezTo>
                  <a:pt x="19" y="244"/>
                  <a:pt x="12" y="234"/>
                  <a:pt x="7" y="222"/>
                </a:cubicBezTo>
                <a:cubicBezTo>
                  <a:pt x="3" y="211"/>
                  <a:pt x="0" y="198"/>
                  <a:pt x="0" y="186"/>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26" name="文字框 725"/>
          <p:cNvSpPr txBox="1"/>
          <p:nvPr/>
        </p:nvSpPr>
        <p:spPr>
          <a:xfrm>
            <a:off x="5859720" y="454248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现出卓越的保本能力。</a:t>
            </a:r>
            <a:endParaRPr lang="en-US" sz="1050" b="0" u="none" strike="noStrike">
              <a:solidFill>
                <a:srgbClr val="000000"/>
              </a:solidFill>
              <a:effectLst/>
              <a:uFillTx/>
              <a:latin typeface="Times New Roman" panose="02020603050405020304"/>
            </a:endParaRPr>
          </a:p>
        </p:txBody>
      </p:sp>
      <p:sp>
        <p:nvSpPr>
          <p:cNvPr id="727" name="文字框 726"/>
          <p:cNvSpPr txBox="1"/>
          <p:nvPr/>
        </p:nvSpPr>
        <p:spPr>
          <a:xfrm>
            <a:off x="5851440" y="4843440"/>
            <a:ext cx="12078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风险资产损失严重：</a:t>
            </a:r>
            <a:endParaRPr lang="en-US" sz="1050" b="0" u="none" strike="noStrike">
              <a:solidFill>
                <a:srgbClr val="000000"/>
              </a:solidFill>
              <a:effectLst/>
              <a:uFillTx/>
              <a:latin typeface="Times New Roman" panose="02020603050405020304"/>
            </a:endParaRPr>
          </a:p>
        </p:txBody>
      </p:sp>
      <p:sp>
        <p:nvSpPr>
          <p:cNvPr id="728" name="文字框 727"/>
          <p:cNvSpPr txBox="1"/>
          <p:nvPr/>
        </p:nvSpPr>
        <p:spPr>
          <a:xfrm>
            <a:off x="7054920" y="484812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a:t>
            </a:r>
            <a:endParaRPr lang="en-US" sz="1050" b="0" u="none" strike="noStrike">
              <a:solidFill>
                <a:srgbClr val="000000"/>
              </a:solidFill>
              <a:effectLst/>
              <a:uFillTx/>
              <a:latin typeface="Times New Roman" panose="02020603050405020304"/>
            </a:endParaRPr>
          </a:p>
        </p:txBody>
      </p:sp>
      <p:sp>
        <p:nvSpPr>
          <p:cNvPr id="729" name="文字框 728"/>
          <p:cNvSpPr txBox="1"/>
          <p:nvPr/>
        </p:nvSpPr>
        <p:spPr>
          <a:xfrm>
            <a:off x="7097400" y="4843440"/>
            <a:ext cx="2817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股票等风险资产在危机中遭受重创，房地产因其</a:t>
            </a:r>
            <a:endParaRPr lang="en-US" sz="1050" b="0" u="none" strike="noStrike">
              <a:solidFill>
                <a:srgbClr val="000000"/>
              </a:solidFill>
              <a:effectLst/>
              <a:uFillTx/>
              <a:latin typeface="Times New Roman" panose="02020603050405020304"/>
            </a:endParaRPr>
          </a:p>
        </p:txBody>
      </p:sp>
      <p:sp>
        <p:nvSpPr>
          <p:cNvPr id="730" name="任意多邊形 729"/>
          <p:cNvSpPr/>
          <p:nvPr/>
        </p:nvSpPr>
        <p:spPr>
          <a:xfrm>
            <a:off x="5715720" y="5381640"/>
            <a:ext cx="75600" cy="100440"/>
          </a:xfrm>
          <a:custGeom>
            <a:avLst/>
            <a:gdLst/>
            <a:ahLst/>
            <a:cxnLst/>
            <a:rect l="0" t="0" r="r" b="b"/>
            <a:pathLst>
              <a:path w="210" h="279">
                <a:moveTo>
                  <a:pt x="0" y="174"/>
                </a:moveTo>
                <a:lnTo>
                  <a:pt x="0" y="104"/>
                </a:lnTo>
                <a:cubicBezTo>
                  <a:pt x="0" y="90"/>
                  <a:pt x="3" y="77"/>
                  <a:pt x="8" y="64"/>
                </a:cubicBezTo>
                <a:cubicBezTo>
                  <a:pt x="13" y="51"/>
                  <a:pt x="21" y="40"/>
                  <a:pt x="31" y="30"/>
                </a:cubicBezTo>
                <a:cubicBezTo>
                  <a:pt x="42" y="21"/>
                  <a:pt x="53" y="13"/>
                  <a:pt x="66" y="8"/>
                </a:cubicBezTo>
                <a:cubicBezTo>
                  <a:pt x="79" y="2"/>
                  <a:pt x="92" y="0"/>
                  <a:pt x="106" y="0"/>
                </a:cubicBezTo>
                <a:cubicBezTo>
                  <a:pt x="120" y="0"/>
                  <a:pt x="133" y="2"/>
                  <a:pt x="146" y="8"/>
                </a:cubicBezTo>
                <a:cubicBezTo>
                  <a:pt x="158" y="13"/>
                  <a:pt x="170" y="21"/>
                  <a:pt x="180" y="30"/>
                </a:cubicBezTo>
                <a:cubicBezTo>
                  <a:pt x="189" y="40"/>
                  <a:pt x="197" y="51"/>
                  <a:pt x="202" y="64"/>
                </a:cubicBezTo>
                <a:cubicBezTo>
                  <a:pt x="207" y="77"/>
                  <a:pt x="210" y="90"/>
                  <a:pt x="210" y="104"/>
                </a:cubicBezTo>
                <a:lnTo>
                  <a:pt x="210" y="174"/>
                </a:lnTo>
                <a:cubicBezTo>
                  <a:pt x="210" y="188"/>
                  <a:pt x="207" y="201"/>
                  <a:pt x="202" y="215"/>
                </a:cubicBezTo>
                <a:cubicBezTo>
                  <a:pt x="197" y="228"/>
                  <a:pt x="189" y="239"/>
                  <a:pt x="180" y="249"/>
                </a:cubicBezTo>
                <a:cubicBezTo>
                  <a:pt x="170" y="258"/>
                  <a:pt x="158" y="266"/>
                  <a:pt x="146" y="271"/>
                </a:cubicBezTo>
                <a:cubicBezTo>
                  <a:pt x="133" y="277"/>
                  <a:pt x="120" y="279"/>
                  <a:pt x="106" y="279"/>
                </a:cubicBezTo>
                <a:cubicBezTo>
                  <a:pt x="92" y="279"/>
                  <a:pt x="79" y="277"/>
                  <a:pt x="66" y="271"/>
                </a:cubicBezTo>
                <a:cubicBezTo>
                  <a:pt x="53" y="266"/>
                  <a:pt x="42" y="258"/>
                  <a:pt x="31" y="249"/>
                </a:cubicBezTo>
                <a:cubicBezTo>
                  <a:pt x="21" y="239"/>
                  <a:pt x="13" y="228"/>
                  <a:pt x="8" y="215"/>
                </a:cubicBezTo>
                <a:cubicBezTo>
                  <a:pt x="3" y="201"/>
                  <a:pt x="0" y="188"/>
                  <a:pt x="0" y="174"/>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31" name="文字框 730"/>
          <p:cNvSpPr txBox="1"/>
          <p:nvPr/>
        </p:nvSpPr>
        <p:spPr>
          <a:xfrm>
            <a:off x="5851440" y="504396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在危机中的核心角色而大幅贬值。</a:t>
            </a:r>
            <a:endParaRPr lang="en-US" sz="1050" b="0" u="none" strike="noStrike">
              <a:solidFill>
                <a:srgbClr val="000000"/>
              </a:solidFill>
              <a:effectLst/>
              <a:uFillTx/>
              <a:latin typeface="Times New Roman" panose="02020603050405020304"/>
            </a:endParaRPr>
          </a:p>
        </p:txBody>
      </p:sp>
      <p:sp>
        <p:nvSpPr>
          <p:cNvPr id="732" name="文字框 731"/>
          <p:cNvSpPr txBox="1"/>
          <p:nvPr/>
        </p:nvSpPr>
        <p:spPr>
          <a:xfrm>
            <a:off x="5857920" y="5344920"/>
            <a:ext cx="12078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另类资产表现分化：</a:t>
            </a:r>
            <a:endParaRPr lang="en-US" sz="1050" b="0" u="none" strike="noStrike">
              <a:solidFill>
                <a:srgbClr val="000000"/>
              </a:solidFill>
              <a:effectLst/>
              <a:uFillTx/>
              <a:latin typeface="Times New Roman" panose="02020603050405020304"/>
            </a:endParaRPr>
          </a:p>
        </p:txBody>
      </p:sp>
      <p:sp>
        <p:nvSpPr>
          <p:cNvPr id="733" name="文字框 732"/>
          <p:cNvSpPr txBox="1"/>
          <p:nvPr/>
        </p:nvSpPr>
        <p:spPr>
          <a:xfrm>
            <a:off x="7061400" y="534960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a:t>
            </a:r>
            <a:endParaRPr lang="en-US" sz="1050" b="0" u="none" strike="noStrike">
              <a:solidFill>
                <a:srgbClr val="000000"/>
              </a:solidFill>
              <a:effectLst/>
              <a:uFillTx/>
              <a:latin typeface="Times New Roman" panose="02020603050405020304"/>
            </a:endParaRPr>
          </a:p>
        </p:txBody>
      </p:sp>
      <p:sp>
        <p:nvSpPr>
          <p:cNvPr id="734" name="文字框 733"/>
          <p:cNvSpPr txBox="1"/>
          <p:nvPr/>
        </p:nvSpPr>
        <p:spPr>
          <a:xfrm>
            <a:off x="7103880" y="5344920"/>
            <a:ext cx="2817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部分另类投资展现出韧性，但整体表现取决于具</a:t>
            </a:r>
            <a:endParaRPr lang="en-US" sz="1050" b="0" u="none" strike="noStrike">
              <a:solidFill>
                <a:srgbClr val="000000"/>
              </a:solidFill>
              <a:effectLst/>
              <a:uFillTx/>
              <a:latin typeface="Times New Roman" panose="02020603050405020304"/>
            </a:endParaRPr>
          </a:p>
        </p:txBody>
      </p:sp>
      <p:sp>
        <p:nvSpPr>
          <p:cNvPr id="735" name="文字框 734"/>
          <p:cNvSpPr txBox="1"/>
          <p:nvPr/>
        </p:nvSpPr>
        <p:spPr>
          <a:xfrm>
            <a:off x="5857920" y="554544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体投资策略和管理能力。</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6" name="圖片 735"/>
          <p:cNvPicPr/>
          <p:nvPr/>
        </p:nvPicPr>
        <p:blipFill>
          <a:blip r:embed="rId1"/>
          <a:stretch>
            <a:fillRect/>
          </a:stretch>
        </p:blipFill>
        <p:spPr>
          <a:xfrm>
            <a:off x="0" y="0"/>
            <a:ext cx="10696320" cy="7403760"/>
          </a:xfrm>
          <a:prstGeom prst="rect">
            <a:avLst/>
          </a:prstGeom>
          <a:noFill/>
          <a:ln w="0">
            <a:noFill/>
          </a:ln>
        </p:spPr>
      </p:pic>
      <p:pic>
        <p:nvPicPr>
          <p:cNvPr id="737" name="圖片 736"/>
          <p:cNvPicPr/>
          <p:nvPr/>
        </p:nvPicPr>
        <p:blipFill>
          <a:blip r:embed="rId2"/>
          <a:stretch>
            <a:fillRect/>
          </a:stretch>
        </p:blipFill>
        <p:spPr>
          <a:xfrm>
            <a:off x="534960" y="735480"/>
            <a:ext cx="3208680" cy="33120"/>
          </a:xfrm>
          <a:prstGeom prst="rect">
            <a:avLst/>
          </a:prstGeom>
          <a:noFill/>
          <a:ln w="0">
            <a:noFill/>
          </a:ln>
        </p:spPr>
      </p:pic>
      <p:sp>
        <p:nvSpPr>
          <p:cNvPr id="738" name="任意多邊形 737"/>
          <p:cNvSpPr/>
          <p:nvPr/>
        </p:nvSpPr>
        <p:spPr>
          <a:xfrm>
            <a:off x="547200" y="902520"/>
            <a:ext cx="3063240" cy="2983680"/>
          </a:xfrm>
          <a:custGeom>
            <a:avLst/>
            <a:gdLst/>
            <a:ahLst/>
            <a:cxnLst/>
            <a:rect l="0" t="0" r="r" b="b"/>
            <a:pathLst>
              <a:path w="8509" h="8288">
                <a:moveTo>
                  <a:pt x="0" y="8102"/>
                </a:moveTo>
                <a:lnTo>
                  <a:pt x="0" y="185"/>
                </a:lnTo>
                <a:cubicBezTo>
                  <a:pt x="0" y="173"/>
                  <a:pt x="1" y="161"/>
                  <a:pt x="3" y="149"/>
                </a:cubicBezTo>
                <a:cubicBezTo>
                  <a:pt x="5" y="137"/>
                  <a:pt x="8" y="125"/>
                  <a:pt x="11" y="114"/>
                </a:cubicBezTo>
                <a:cubicBezTo>
                  <a:pt x="15" y="103"/>
                  <a:pt x="20" y="92"/>
                  <a:pt x="25" y="82"/>
                </a:cubicBezTo>
                <a:cubicBezTo>
                  <a:pt x="31" y="72"/>
                  <a:pt x="37" y="63"/>
                  <a:pt x="44" y="54"/>
                </a:cubicBezTo>
                <a:cubicBezTo>
                  <a:pt x="51" y="45"/>
                  <a:pt x="59" y="38"/>
                  <a:pt x="67" y="31"/>
                </a:cubicBezTo>
                <a:cubicBezTo>
                  <a:pt x="75" y="24"/>
                  <a:pt x="84" y="18"/>
                  <a:pt x="93" y="14"/>
                </a:cubicBezTo>
                <a:cubicBezTo>
                  <a:pt x="102" y="9"/>
                  <a:pt x="112" y="5"/>
                  <a:pt x="121" y="3"/>
                </a:cubicBezTo>
                <a:cubicBezTo>
                  <a:pt x="131" y="1"/>
                  <a:pt x="141" y="0"/>
                  <a:pt x="151" y="0"/>
                </a:cubicBezTo>
                <a:lnTo>
                  <a:pt x="8323" y="0"/>
                </a:lnTo>
                <a:cubicBezTo>
                  <a:pt x="8335" y="0"/>
                  <a:pt x="8347" y="1"/>
                  <a:pt x="8359" y="3"/>
                </a:cubicBezTo>
                <a:cubicBezTo>
                  <a:pt x="8371" y="5"/>
                  <a:pt x="8383" y="9"/>
                  <a:pt x="8394" y="14"/>
                </a:cubicBezTo>
                <a:cubicBezTo>
                  <a:pt x="8405" y="18"/>
                  <a:pt x="8416" y="24"/>
                  <a:pt x="8426" y="31"/>
                </a:cubicBezTo>
                <a:cubicBezTo>
                  <a:pt x="8436" y="38"/>
                  <a:pt x="8446" y="45"/>
                  <a:pt x="8454" y="54"/>
                </a:cubicBezTo>
                <a:cubicBezTo>
                  <a:pt x="8463" y="63"/>
                  <a:pt x="8470" y="72"/>
                  <a:pt x="8477" y="82"/>
                </a:cubicBezTo>
                <a:cubicBezTo>
                  <a:pt x="8484" y="92"/>
                  <a:pt x="8490" y="103"/>
                  <a:pt x="8494" y="114"/>
                </a:cubicBezTo>
                <a:cubicBezTo>
                  <a:pt x="8499" y="125"/>
                  <a:pt x="8503" y="137"/>
                  <a:pt x="8505" y="149"/>
                </a:cubicBezTo>
                <a:cubicBezTo>
                  <a:pt x="8507" y="161"/>
                  <a:pt x="8509" y="173"/>
                  <a:pt x="8509" y="185"/>
                </a:cubicBezTo>
                <a:lnTo>
                  <a:pt x="8509" y="8102"/>
                </a:lnTo>
                <a:cubicBezTo>
                  <a:pt x="8509" y="8114"/>
                  <a:pt x="8507" y="8126"/>
                  <a:pt x="8505" y="8138"/>
                </a:cubicBezTo>
                <a:cubicBezTo>
                  <a:pt x="8503" y="8150"/>
                  <a:pt x="8499" y="8162"/>
                  <a:pt x="8494" y="8173"/>
                </a:cubicBezTo>
                <a:cubicBezTo>
                  <a:pt x="8490" y="8184"/>
                  <a:pt x="8484" y="8195"/>
                  <a:pt x="8477" y="8205"/>
                </a:cubicBezTo>
                <a:cubicBezTo>
                  <a:pt x="8470" y="8215"/>
                  <a:pt x="8463" y="8225"/>
                  <a:pt x="8454" y="8233"/>
                </a:cubicBezTo>
                <a:cubicBezTo>
                  <a:pt x="8446" y="8242"/>
                  <a:pt x="8436" y="8249"/>
                  <a:pt x="8426" y="8256"/>
                </a:cubicBezTo>
                <a:cubicBezTo>
                  <a:pt x="8416" y="8263"/>
                  <a:pt x="8405" y="8269"/>
                  <a:pt x="8394" y="8273"/>
                </a:cubicBezTo>
                <a:cubicBezTo>
                  <a:pt x="8383" y="8278"/>
                  <a:pt x="8371" y="8282"/>
                  <a:pt x="8359" y="8284"/>
                </a:cubicBezTo>
                <a:cubicBezTo>
                  <a:pt x="8347" y="8286"/>
                  <a:pt x="8335" y="8288"/>
                  <a:pt x="8323" y="8288"/>
                </a:cubicBezTo>
                <a:lnTo>
                  <a:pt x="151" y="8288"/>
                </a:lnTo>
                <a:cubicBezTo>
                  <a:pt x="141" y="8288"/>
                  <a:pt x="131" y="8286"/>
                  <a:pt x="121" y="8284"/>
                </a:cubicBezTo>
                <a:cubicBezTo>
                  <a:pt x="112" y="8282"/>
                  <a:pt x="102" y="8278"/>
                  <a:pt x="93" y="8273"/>
                </a:cubicBezTo>
                <a:cubicBezTo>
                  <a:pt x="84" y="8269"/>
                  <a:pt x="75" y="8263"/>
                  <a:pt x="67" y="8256"/>
                </a:cubicBezTo>
                <a:cubicBezTo>
                  <a:pt x="59" y="8249"/>
                  <a:pt x="51" y="8242"/>
                  <a:pt x="44" y="8233"/>
                </a:cubicBezTo>
                <a:cubicBezTo>
                  <a:pt x="37" y="8225"/>
                  <a:pt x="31" y="8215"/>
                  <a:pt x="25" y="8205"/>
                </a:cubicBezTo>
                <a:cubicBezTo>
                  <a:pt x="20" y="8195"/>
                  <a:pt x="15" y="8184"/>
                  <a:pt x="11" y="8173"/>
                </a:cubicBezTo>
                <a:cubicBezTo>
                  <a:pt x="8" y="8162"/>
                  <a:pt x="5" y="8150"/>
                  <a:pt x="3" y="8138"/>
                </a:cubicBezTo>
                <a:cubicBezTo>
                  <a:pt x="1" y="8126"/>
                  <a:pt x="0" y="8114"/>
                  <a:pt x="0" y="8102"/>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39" name="任意多邊形 738"/>
          <p:cNvSpPr/>
          <p:nvPr/>
        </p:nvSpPr>
        <p:spPr>
          <a:xfrm>
            <a:off x="534600" y="902520"/>
            <a:ext cx="67320" cy="2983680"/>
          </a:xfrm>
          <a:custGeom>
            <a:avLst/>
            <a:gdLst/>
            <a:ahLst/>
            <a:cxnLst/>
            <a:rect l="0" t="0" r="r" b="b"/>
            <a:pathLst>
              <a:path w="187" h="8288">
                <a:moveTo>
                  <a:pt x="0" y="0"/>
                </a:moveTo>
                <a:lnTo>
                  <a:pt x="187" y="0"/>
                </a:lnTo>
                <a:lnTo>
                  <a:pt x="187" y="8288"/>
                </a:lnTo>
                <a:lnTo>
                  <a:pt x="0" y="8288"/>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40" name="任意多邊形 739"/>
          <p:cNvSpPr/>
          <p:nvPr/>
        </p:nvSpPr>
        <p:spPr>
          <a:xfrm>
            <a:off x="726840" y="1069560"/>
            <a:ext cx="401400" cy="401400"/>
          </a:xfrm>
          <a:custGeom>
            <a:avLst/>
            <a:gdLst/>
            <a:ahLst/>
            <a:cxnLst/>
            <a:rect l="0" t="0" r="r" b="b"/>
            <a:pathLst>
              <a:path w="1115" h="1115">
                <a:moveTo>
                  <a:pt x="1115" y="557"/>
                </a:moveTo>
                <a:cubicBezTo>
                  <a:pt x="1115" y="593"/>
                  <a:pt x="1112" y="630"/>
                  <a:pt x="1105" y="666"/>
                </a:cubicBezTo>
                <a:cubicBezTo>
                  <a:pt x="1097" y="701"/>
                  <a:pt x="1087" y="736"/>
                  <a:pt x="1073" y="770"/>
                </a:cubicBezTo>
                <a:cubicBezTo>
                  <a:pt x="1059" y="804"/>
                  <a:pt x="1042" y="836"/>
                  <a:pt x="1021" y="866"/>
                </a:cubicBezTo>
                <a:cubicBezTo>
                  <a:pt x="1001" y="897"/>
                  <a:pt x="978" y="925"/>
                  <a:pt x="952" y="952"/>
                </a:cubicBezTo>
                <a:cubicBezTo>
                  <a:pt x="926" y="978"/>
                  <a:pt x="898" y="1001"/>
                  <a:pt x="868" y="1021"/>
                </a:cubicBezTo>
                <a:cubicBezTo>
                  <a:pt x="837" y="1041"/>
                  <a:pt x="805" y="1059"/>
                  <a:pt x="771" y="1073"/>
                </a:cubicBezTo>
                <a:cubicBezTo>
                  <a:pt x="737" y="1087"/>
                  <a:pt x="702" y="1097"/>
                  <a:pt x="666" y="1104"/>
                </a:cubicBezTo>
                <a:cubicBezTo>
                  <a:pt x="630" y="1111"/>
                  <a:pt x="594" y="1115"/>
                  <a:pt x="557" y="1115"/>
                </a:cubicBezTo>
                <a:cubicBezTo>
                  <a:pt x="521" y="1115"/>
                  <a:pt x="484" y="1111"/>
                  <a:pt x="448" y="1104"/>
                </a:cubicBezTo>
                <a:cubicBezTo>
                  <a:pt x="413" y="1097"/>
                  <a:pt x="378" y="1087"/>
                  <a:pt x="344" y="1073"/>
                </a:cubicBezTo>
                <a:cubicBezTo>
                  <a:pt x="310" y="1059"/>
                  <a:pt x="278" y="1041"/>
                  <a:pt x="248" y="1021"/>
                </a:cubicBezTo>
                <a:cubicBezTo>
                  <a:pt x="217" y="1001"/>
                  <a:pt x="189" y="978"/>
                  <a:pt x="163" y="952"/>
                </a:cubicBezTo>
                <a:cubicBezTo>
                  <a:pt x="137" y="925"/>
                  <a:pt x="114" y="897"/>
                  <a:pt x="94" y="866"/>
                </a:cubicBezTo>
                <a:cubicBezTo>
                  <a:pt x="74" y="836"/>
                  <a:pt x="56" y="804"/>
                  <a:pt x="42" y="770"/>
                </a:cubicBezTo>
                <a:cubicBezTo>
                  <a:pt x="28" y="736"/>
                  <a:pt x="18" y="701"/>
                  <a:pt x="11" y="666"/>
                </a:cubicBezTo>
                <a:cubicBezTo>
                  <a:pt x="4" y="630"/>
                  <a:pt x="0" y="593"/>
                  <a:pt x="0" y="557"/>
                </a:cubicBezTo>
                <a:cubicBezTo>
                  <a:pt x="0" y="520"/>
                  <a:pt x="4" y="484"/>
                  <a:pt x="11" y="448"/>
                </a:cubicBezTo>
                <a:cubicBezTo>
                  <a:pt x="18" y="412"/>
                  <a:pt x="28" y="377"/>
                  <a:pt x="42" y="344"/>
                </a:cubicBezTo>
                <a:cubicBezTo>
                  <a:pt x="56" y="310"/>
                  <a:pt x="74" y="278"/>
                  <a:pt x="94" y="247"/>
                </a:cubicBezTo>
                <a:cubicBezTo>
                  <a:pt x="114" y="217"/>
                  <a:pt x="137" y="189"/>
                  <a:pt x="163" y="163"/>
                </a:cubicBezTo>
                <a:cubicBezTo>
                  <a:pt x="189" y="137"/>
                  <a:pt x="217" y="114"/>
                  <a:pt x="248" y="94"/>
                </a:cubicBezTo>
                <a:cubicBezTo>
                  <a:pt x="278" y="73"/>
                  <a:pt x="310" y="56"/>
                  <a:pt x="344" y="42"/>
                </a:cubicBezTo>
                <a:cubicBezTo>
                  <a:pt x="378" y="28"/>
                  <a:pt x="413" y="18"/>
                  <a:pt x="448" y="10"/>
                </a:cubicBezTo>
                <a:cubicBezTo>
                  <a:pt x="484" y="3"/>
                  <a:pt x="521" y="0"/>
                  <a:pt x="557" y="0"/>
                </a:cubicBezTo>
                <a:cubicBezTo>
                  <a:pt x="594" y="0"/>
                  <a:pt x="630" y="3"/>
                  <a:pt x="666" y="10"/>
                </a:cubicBezTo>
                <a:cubicBezTo>
                  <a:pt x="702" y="18"/>
                  <a:pt x="737" y="28"/>
                  <a:pt x="771" y="42"/>
                </a:cubicBezTo>
                <a:cubicBezTo>
                  <a:pt x="805" y="56"/>
                  <a:pt x="837" y="73"/>
                  <a:pt x="868" y="94"/>
                </a:cubicBezTo>
                <a:cubicBezTo>
                  <a:pt x="898" y="114"/>
                  <a:pt x="926" y="137"/>
                  <a:pt x="952" y="163"/>
                </a:cubicBezTo>
                <a:cubicBezTo>
                  <a:pt x="978" y="189"/>
                  <a:pt x="1001" y="217"/>
                  <a:pt x="1021" y="247"/>
                </a:cubicBezTo>
                <a:cubicBezTo>
                  <a:pt x="1042" y="278"/>
                  <a:pt x="1059" y="310"/>
                  <a:pt x="1073" y="344"/>
                </a:cubicBezTo>
                <a:cubicBezTo>
                  <a:pt x="1087" y="377"/>
                  <a:pt x="1097" y="412"/>
                  <a:pt x="1105" y="448"/>
                </a:cubicBezTo>
                <a:cubicBezTo>
                  <a:pt x="1112" y="484"/>
                  <a:pt x="1115" y="520"/>
                  <a:pt x="1115" y="557"/>
                </a:cubicBezTo>
                <a:close/>
              </a:path>
            </a:pathLst>
          </a:custGeom>
          <a:solidFill>
            <a:srgbClr val="1D4ED8"/>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41" name="圖片 740"/>
          <p:cNvPicPr/>
          <p:nvPr/>
        </p:nvPicPr>
        <p:blipFill>
          <a:blip r:embed="rId3"/>
          <a:stretch>
            <a:fillRect/>
          </a:stretch>
        </p:blipFill>
        <p:spPr>
          <a:xfrm>
            <a:off x="827280" y="1170000"/>
            <a:ext cx="200160" cy="200160"/>
          </a:xfrm>
          <a:prstGeom prst="rect">
            <a:avLst/>
          </a:prstGeom>
          <a:noFill/>
          <a:ln w="0">
            <a:noFill/>
          </a:ln>
        </p:spPr>
      </p:pic>
      <p:sp>
        <p:nvSpPr>
          <p:cNvPr id="742" name="文字框 741"/>
          <p:cNvSpPr txBox="1"/>
          <p:nvPr/>
        </p:nvSpPr>
        <p:spPr>
          <a:xfrm>
            <a:off x="534960" y="312120"/>
            <a:ext cx="300312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资产保本性：风险特征</a:t>
            </a:r>
            <a:endParaRPr lang="en-US" sz="2370" b="0" u="none" strike="noStrike">
              <a:solidFill>
                <a:srgbClr val="000000"/>
              </a:solidFill>
              <a:effectLst/>
              <a:uFillTx/>
              <a:latin typeface="Times New Roman" panose="02020603050405020304"/>
            </a:endParaRPr>
          </a:p>
        </p:txBody>
      </p:sp>
      <p:sp>
        <p:nvSpPr>
          <p:cNvPr id="743" name="文字框 742"/>
          <p:cNvSpPr txBox="1"/>
          <p:nvPr/>
        </p:nvSpPr>
        <p:spPr>
          <a:xfrm>
            <a:off x="1261800" y="1167840"/>
            <a:ext cx="3358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股票</a:t>
            </a:r>
            <a:endParaRPr lang="en-US" sz="1320" b="0" u="none" strike="noStrike">
              <a:solidFill>
                <a:srgbClr val="000000"/>
              </a:solidFill>
              <a:effectLst/>
              <a:uFillTx/>
              <a:latin typeface="Times New Roman" panose="02020603050405020304"/>
            </a:endParaRPr>
          </a:p>
        </p:txBody>
      </p:sp>
      <p:sp>
        <p:nvSpPr>
          <p:cNvPr id="744" name="文字框 743"/>
          <p:cNvSpPr txBox="1"/>
          <p:nvPr/>
        </p:nvSpPr>
        <p:spPr>
          <a:xfrm>
            <a:off x="727200" y="161784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主要风险来源：</a:t>
            </a:r>
            <a:endParaRPr lang="en-US" sz="1050" b="0" u="none" strike="noStrike">
              <a:solidFill>
                <a:srgbClr val="000000"/>
              </a:solidFill>
              <a:effectLst/>
              <a:uFillTx/>
              <a:latin typeface="Times New Roman" panose="02020603050405020304"/>
            </a:endParaRPr>
          </a:p>
        </p:txBody>
      </p:sp>
      <p:sp>
        <p:nvSpPr>
          <p:cNvPr id="745" name="文字框 744"/>
          <p:cNvSpPr txBox="1"/>
          <p:nvPr/>
        </p:nvSpPr>
        <p:spPr>
          <a:xfrm>
            <a:off x="727200" y="1851120"/>
            <a:ext cx="16437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市场系统性风险和企业盈利波动</a:t>
            </a:r>
            <a:endParaRPr lang="en-US" sz="920" b="0" u="none" strike="noStrike">
              <a:solidFill>
                <a:srgbClr val="000000"/>
              </a:solidFill>
              <a:effectLst/>
              <a:uFillTx/>
              <a:latin typeface="Times New Roman" panose="02020603050405020304"/>
            </a:endParaRPr>
          </a:p>
        </p:txBody>
      </p:sp>
      <p:sp>
        <p:nvSpPr>
          <p:cNvPr id="746" name="任意多邊形 745"/>
          <p:cNvSpPr/>
          <p:nvPr/>
        </p:nvSpPr>
        <p:spPr>
          <a:xfrm>
            <a:off x="1595880" y="2147400"/>
            <a:ext cx="100800" cy="100800"/>
          </a:xfrm>
          <a:custGeom>
            <a:avLst/>
            <a:gdLst/>
            <a:ahLst/>
            <a:cxnLst/>
            <a:rect l="0" t="0" r="r" b="b"/>
            <a:pathLst>
              <a:path w="280" h="280">
                <a:moveTo>
                  <a:pt x="280" y="141"/>
                </a:moveTo>
                <a:cubicBezTo>
                  <a:pt x="280" y="159"/>
                  <a:pt x="276" y="177"/>
                  <a:pt x="269" y="194"/>
                </a:cubicBezTo>
                <a:cubicBezTo>
                  <a:pt x="262" y="211"/>
                  <a:pt x="252" y="226"/>
                  <a:pt x="239" y="239"/>
                </a:cubicBezTo>
                <a:cubicBezTo>
                  <a:pt x="226" y="252"/>
                  <a:pt x="211" y="262"/>
                  <a:pt x="194" y="269"/>
                </a:cubicBezTo>
                <a:cubicBezTo>
                  <a:pt x="177" y="276"/>
                  <a:pt x="159" y="280"/>
                  <a:pt x="139" y="280"/>
                </a:cubicBezTo>
                <a:cubicBezTo>
                  <a:pt x="121" y="280"/>
                  <a:pt x="103" y="276"/>
                  <a:pt x="86" y="269"/>
                </a:cubicBezTo>
                <a:cubicBezTo>
                  <a:pt x="69" y="262"/>
                  <a:pt x="54" y="252"/>
                  <a:pt x="41" y="239"/>
                </a:cubicBezTo>
                <a:cubicBezTo>
                  <a:pt x="28" y="226"/>
                  <a:pt x="18" y="211"/>
                  <a:pt x="11" y="194"/>
                </a:cubicBezTo>
                <a:cubicBezTo>
                  <a:pt x="4" y="177"/>
                  <a:pt x="0" y="159"/>
                  <a:pt x="0" y="141"/>
                </a:cubicBezTo>
                <a:cubicBezTo>
                  <a:pt x="0" y="122"/>
                  <a:pt x="4" y="104"/>
                  <a:pt x="11" y="87"/>
                </a:cubicBezTo>
                <a:cubicBezTo>
                  <a:pt x="18" y="70"/>
                  <a:pt x="28" y="55"/>
                  <a:pt x="41" y="42"/>
                </a:cubicBezTo>
                <a:cubicBezTo>
                  <a:pt x="54" y="29"/>
                  <a:pt x="69" y="19"/>
                  <a:pt x="86" y="11"/>
                </a:cubicBezTo>
                <a:cubicBezTo>
                  <a:pt x="103" y="4"/>
                  <a:pt x="121" y="0"/>
                  <a:pt x="139" y="0"/>
                </a:cubicBezTo>
                <a:cubicBezTo>
                  <a:pt x="159" y="0"/>
                  <a:pt x="177" y="4"/>
                  <a:pt x="194" y="11"/>
                </a:cubicBezTo>
                <a:cubicBezTo>
                  <a:pt x="211" y="19"/>
                  <a:pt x="226" y="29"/>
                  <a:pt x="239" y="42"/>
                </a:cubicBezTo>
                <a:cubicBezTo>
                  <a:pt x="252" y="55"/>
                  <a:pt x="262" y="70"/>
                  <a:pt x="269" y="87"/>
                </a:cubicBezTo>
                <a:cubicBezTo>
                  <a:pt x="276" y="104"/>
                  <a:pt x="280" y="122"/>
                  <a:pt x="280" y="141"/>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747" name="文字框 746"/>
          <p:cNvSpPr txBox="1"/>
          <p:nvPr/>
        </p:nvSpPr>
        <p:spPr>
          <a:xfrm>
            <a:off x="727200" y="2119320"/>
            <a:ext cx="8053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波动性特征：</a:t>
            </a:r>
            <a:endParaRPr lang="en-US" sz="1050" b="0" u="none" strike="noStrike">
              <a:solidFill>
                <a:srgbClr val="000000"/>
              </a:solidFill>
              <a:effectLst/>
              <a:uFillTx/>
              <a:latin typeface="Times New Roman" panose="02020603050405020304"/>
            </a:endParaRPr>
          </a:p>
        </p:txBody>
      </p:sp>
      <p:sp>
        <p:nvSpPr>
          <p:cNvPr id="748" name="文字框 747"/>
          <p:cNvSpPr txBox="1"/>
          <p:nvPr/>
        </p:nvSpPr>
        <p:spPr>
          <a:xfrm>
            <a:off x="1763280" y="2119320"/>
            <a:ext cx="135000" cy="169560"/>
          </a:xfrm>
          <a:prstGeom prst="rect">
            <a:avLst/>
          </a:prstGeom>
          <a:noFill/>
          <a:ln w="0">
            <a:noFill/>
          </a:ln>
        </p:spPr>
        <p:txBody>
          <a:bodyPr wrap="none" lIns="0" tIns="0" rIns="0" bIns="0" anchor="t">
            <a:spAutoFit/>
          </a:bodyPr>
          <a:p>
            <a:r>
              <a:rPr lang="zh-CN" sz="1050" b="0" u="none" strike="noStrike">
                <a:solidFill>
                  <a:srgbClr val="000000"/>
                </a:solidFill>
                <a:effectLst/>
                <a:uFillTx/>
                <a:latin typeface="WenQuanYiZenHei"/>
                <a:ea typeface="WenQuanYiZenHei"/>
              </a:rPr>
              <a:t>高</a:t>
            </a:r>
            <a:endParaRPr lang="en-US" sz="1050" b="0" u="none" strike="noStrike">
              <a:solidFill>
                <a:srgbClr val="000000"/>
              </a:solidFill>
              <a:effectLst/>
              <a:uFillTx/>
              <a:latin typeface="Times New Roman" panose="02020603050405020304"/>
            </a:endParaRPr>
          </a:p>
        </p:txBody>
      </p:sp>
      <p:sp>
        <p:nvSpPr>
          <p:cNvPr id="749" name="文字框 748"/>
          <p:cNvSpPr txBox="1"/>
          <p:nvPr/>
        </p:nvSpPr>
        <p:spPr>
          <a:xfrm>
            <a:off x="727200" y="2352600"/>
            <a:ext cx="22302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高波动性意味着在危机中可能出现大幅回撤</a:t>
            </a:r>
            <a:endParaRPr lang="en-US" sz="920" b="0" u="none" strike="noStrike">
              <a:solidFill>
                <a:srgbClr val="000000"/>
              </a:solidFill>
              <a:effectLst/>
              <a:uFillTx/>
              <a:latin typeface="Times New Roman" panose="02020603050405020304"/>
            </a:endParaRPr>
          </a:p>
        </p:txBody>
      </p:sp>
      <p:sp>
        <p:nvSpPr>
          <p:cNvPr id="750" name="文字框 749"/>
          <p:cNvSpPr txBox="1"/>
          <p:nvPr/>
        </p:nvSpPr>
        <p:spPr>
          <a:xfrm>
            <a:off x="727200" y="262044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风险衡量指标：</a:t>
            </a:r>
            <a:endParaRPr lang="en-US" sz="1050" b="0" u="none" strike="noStrike">
              <a:solidFill>
                <a:srgbClr val="000000"/>
              </a:solidFill>
              <a:effectLst/>
              <a:uFillTx/>
              <a:latin typeface="Times New Roman" panose="02020603050405020304"/>
            </a:endParaRPr>
          </a:p>
        </p:txBody>
      </p:sp>
      <p:sp>
        <p:nvSpPr>
          <p:cNvPr id="751" name="任意多邊形 750"/>
          <p:cNvSpPr/>
          <p:nvPr/>
        </p:nvSpPr>
        <p:spPr>
          <a:xfrm>
            <a:off x="726840" y="3442680"/>
            <a:ext cx="2716200" cy="8640"/>
          </a:xfrm>
          <a:custGeom>
            <a:avLst/>
            <a:gdLst/>
            <a:ahLst/>
            <a:cxnLst/>
            <a:rect l="0" t="0" r="r" b="b"/>
            <a:pathLst>
              <a:path w="7545" h="24">
                <a:moveTo>
                  <a:pt x="0" y="0"/>
                </a:moveTo>
                <a:lnTo>
                  <a:pt x="7545" y="0"/>
                </a:lnTo>
                <a:lnTo>
                  <a:pt x="7545"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52" name="圖片 751"/>
          <p:cNvPicPr/>
          <p:nvPr/>
        </p:nvPicPr>
        <p:blipFill>
          <a:blip r:embed="rId4"/>
          <a:stretch>
            <a:fillRect/>
          </a:stretch>
        </p:blipFill>
        <p:spPr>
          <a:xfrm>
            <a:off x="727200" y="3568320"/>
            <a:ext cx="133200" cy="133200"/>
          </a:xfrm>
          <a:prstGeom prst="rect">
            <a:avLst/>
          </a:prstGeom>
          <a:noFill/>
          <a:ln w="0">
            <a:noFill/>
          </a:ln>
        </p:spPr>
      </p:pic>
      <p:sp>
        <p:nvSpPr>
          <p:cNvPr id="753" name="文字框 752"/>
          <p:cNvSpPr txBox="1"/>
          <p:nvPr/>
        </p:nvSpPr>
        <p:spPr>
          <a:xfrm>
            <a:off x="727200" y="2854080"/>
            <a:ext cx="9396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标准差和贝塔系数</a:t>
            </a:r>
            <a:endParaRPr lang="en-US" sz="920" b="0" u="none" strike="noStrike">
              <a:solidFill>
                <a:srgbClr val="000000"/>
              </a:solidFill>
              <a:effectLst/>
              <a:uFillTx/>
              <a:latin typeface="Times New Roman" panose="02020603050405020304"/>
            </a:endParaRPr>
          </a:p>
        </p:txBody>
      </p:sp>
      <p:sp>
        <p:nvSpPr>
          <p:cNvPr id="754" name="任意多邊形 753"/>
          <p:cNvSpPr/>
          <p:nvPr/>
        </p:nvSpPr>
        <p:spPr>
          <a:xfrm>
            <a:off x="3822840" y="902520"/>
            <a:ext cx="3063240" cy="2983680"/>
          </a:xfrm>
          <a:custGeom>
            <a:avLst/>
            <a:gdLst/>
            <a:ahLst/>
            <a:cxnLst/>
            <a:rect l="0" t="0" r="r" b="b"/>
            <a:pathLst>
              <a:path w="8509" h="8288">
                <a:moveTo>
                  <a:pt x="0" y="8102"/>
                </a:moveTo>
                <a:lnTo>
                  <a:pt x="0" y="185"/>
                </a:lnTo>
                <a:cubicBezTo>
                  <a:pt x="0" y="173"/>
                  <a:pt x="1" y="161"/>
                  <a:pt x="3" y="149"/>
                </a:cubicBezTo>
                <a:cubicBezTo>
                  <a:pt x="5" y="137"/>
                  <a:pt x="8" y="125"/>
                  <a:pt x="12" y="114"/>
                </a:cubicBezTo>
                <a:cubicBezTo>
                  <a:pt x="16" y="103"/>
                  <a:pt x="20" y="92"/>
                  <a:pt x="26" y="82"/>
                </a:cubicBezTo>
                <a:cubicBezTo>
                  <a:pt x="31" y="72"/>
                  <a:pt x="38" y="63"/>
                  <a:pt x="45" y="54"/>
                </a:cubicBezTo>
                <a:cubicBezTo>
                  <a:pt x="52" y="45"/>
                  <a:pt x="59" y="38"/>
                  <a:pt x="68" y="31"/>
                </a:cubicBezTo>
                <a:cubicBezTo>
                  <a:pt x="76" y="24"/>
                  <a:pt x="84" y="18"/>
                  <a:pt x="94" y="14"/>
                </a:cubicBezTo>
                <a:cubicBezTo>
                  <a:pt x="103" y="9"/>
                  <a:pt x="112" y="5"/>
                  <a:pt x="122" y="3"/>
                </a:cubicBezTo>
                <a:cubicBezTo>
                  <a:pt x="132" y="1"/>
                  <a:pt x="141" y="0"/>
                  <a:pt x="151" y="0"/>
                </a:cubicBezTo>
                <a:lnTo>
                  <a:pt x="8323" y="0"/>
                </a:lnTo>
                <a:cubicBezTo>
                  <a:pt x="8336" y="0"/>
                  <a:pt x="8348" y="1"/>
                  <a:pt x="8360" y="3"/>
                </a:cubicBezTo>
                <a:cubicBezTo>
                  <a:pt x="8372" y="5"/>
                  <a:pt x="8383" y="9"/>
                  <a:pt x="8394" y="14"/>
                </a:cubicBezTo>
                <a:cubicBezTo>
                  <a:pt x="8406" y="18"/>
                  <a:pt x="8416" y="24"/>
                  <a:pt x="8427" y="31"/>
                </a:cubicBezTo>
                <a:cubicBezTo>
                  <a:pt x="8437" y="38"/>
                  <a:pt x="8446" y="45"/>
                  <a:pt x="8455" y="54"/>
                </a:cubicBezTo>
                <a:cubicBezTo>
                  <a:pt x="8463" y="63"/>
                  <a:pt x="8471" y="72"/>
                  <a:pt x="8478" y="82"/>
                </a:cubicBezTo>
                <a:cubicBezTo>
                  <a:pt x="8485" y="92"/>
                  <a:pt x="8490" y="103"/>
                  <a:pt x="8495" y="114"/>
                </a:cubicBezTo>
                <a:cubicBezTo>
                  <a:pt x="8500" y="125"/>
                  <a:pt x="8503" y="137"/>
                  <a:pt x="8505" y="149"/>
                </a:cubicBezTo>
                <a:cubicBezTo>
                  <a:pt x="8508" y="161"/>
                  <a:pt x="8509" y="173"/>
                  <a:pt x="8509" y="185"/>
                </a:cubicBezTo>
                <a:lnTo>
                  <a:pt x="8509" y="8102"/>
                </a:lnTo>
                <a:cubicBezTo>
                  <a:pt x="8509" y="8114"/>
                  <a:pt x="8508" y="8126"/>
                  <a:pt x="8505" y="8138"/>
                </a:cubicBezTo>
                <a:cubicBezTo>
                  <a:pt x="8503" y="8150"/>
                  <a:pt x="8500" y="8162"/>
                  <a:pt x="8495" y="8173"/>
                </a:cubicBezTo>
                <a:cubicBezTo>
                  <a:pt x="8490" y="8184"/>
                  <a:pt x="8485" y="8195"/>
                  <a:pt x="8478" y="8205"/>
                </a:cubicBezTo>
                <a:cubicBezTo>
                  <a:pt x="8471" y="8215"/>
                  <a:pt x="8463" y="8225"/>
                  <a:pt x="8455" y="8233"/>
                </a:cubicBezTo>
                <a:cubicBezTo>
                  <a:pt x="8446" y="8242"/>
                  <a:pt x="8437" y="8249"/>
                  <a:pt x="8427" y="8256"/>
                </a:cubicBezTo>
                <a:cubicBezTo>
                  <a:pt x="8416" y="8263"/>
                  <a:pt x="8406" y="8269"/>
                  <a:pt x="8394" y="8273"/>
                </a:cubicBezTo>
                <a:cubicBezTo>
                  <a:pt x="8383" y="8278"/>
                  <a:pt x="8372" y="8282"/>
                  <a:pt x="8360" y="8284"/>
                </a:cubicBezTo>
                <a:cubicBezTo>
                  <a:pt x="8348" y="8286"/>
                  <a:pt x="8336" y="8288"/>
                  <a:pt x="8323" y="8288"/>
                </a:cubicBezTo>
                <a:lnTo>
                  <a:pt x="151" y="8288"/>
                </a:lnTo>
                <a:cubicBezTo>
                  <a:pt x="141" y="8288"/>
                  <a:pt x="132" y="8286"/>
                  <a:pt x="122" y="8284"/>
                </a:cubicBezTo>
                <a:cubicBezTo>
                  <a:pt x="112" y="8282"/>
                  <a:pt x="103" y="8278"/>
                  <a:pt x="94" y="8273"/>
                </a:cubicBezTo>
                <a:cubicBezTo>
                  <a:pt x="84" y="8269"/>
                  <a:pt x="76" y="8263"/>
                  <a:pt x="68" y="8256"/>
                </a:cubicBezTo>
                <a:cubicBezTo>
                  <a:pt x="59" y="8249"/>
                  <a:pt x="52" y="8242"/>
                  <a:pt x="45" y="8233"/>
                </a:cubicBezTo>
                <a:cubicBezTo>
                  <a:pt x="38" y="8225"/>
                  <a:pt x="31" y="8215"/>
                  <a:pt x="26" y="8205"/>
                </a:cubicBezTo>
                <a:cubicBezTo>
                  <a:pt x="20" y="8195"/>
                  <a:pt x="16" y="8184"/>
                  <a:pt x="12" y="8173"/>
                </a:cubicBezTo>
                <a:cubicBezTo>
                  <a:pt x="8" y="8162"/>
                  <a:pt x="5" y="8150"/>
                  <a:pt x="3" y="8138"/>
                </a:cubicBezTo>
                <a:cubicBezTo>
                  <a:pt x="1" y="8126"/>
                  <a:pt x="0" y="8114"/>
                  <a:pt x="0" y="8102"/>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55" name="任意多邊形 754"/>
          <p:cNvSpPr/>
          <p:nvPr/>
        </p:nvSpPr>
        <p:spPr>
          <a:xfrm>
            <a:off x="3810600" y="902520"/>
            <a:ext cx="66960" cy="2983680"/>
          </a:xfrm>
          <a:custGeom>
            <a:avLst/>
            <a:gdLst/>
            <a:ahLst/>
            <a:cxnLst/>
            <a:rect l="0" t="0" r="r" b="b"/>
            <a:pathLst>
              <a:path w="186" h="8288">
                <a:moveTo>
                  <a:pt x="142" y="14"/>
                </a:moveTo>
                <a:cubicBezTo>
                  <a:pt x="128" y="23"/>
                  <a:pt x="115" y="36"/>
                  <a:pt x="104" y="54"/>
                </a:cubicBezTo>
                <a:cubicBezTo>
                  <a:pt x="93" y="71"/>
                  <a:pt x="85" y="91"/>
                  <a:pt x="79" y="114"/>
                </a:cubicBezTo>
                <a:cubicBezTo>
                  <a:pt x="73" y="137"/>
                  <a:pt x="70" y="161"/>
                  <a:pt x="70" y="185"/>
                </a:cubicBezTo>
                <a:lnTo>
                  <a:pt x="70" y="8102"/>
                </a:lnTo>
                <a:cubicBezTo>
                  <a:pt x="70" y="8126"/>
                  <a:pt x="73" y="8150"/>
                  <a:pt x="79" y="8173"/>
                </a:cubicBezTo>
                <a:cubicBezTo>
                  <a:pt x="85" y="8196"/>
                  <a:pt x="93" y="8216"/>
                  <a:pt x="104" y="8233"/>
                </a:cubicBezTo>
                <a:cubicBezTo>
                  <a:pt x="115" y="8251"/>
                  <a:pt x="128" y="8264"/>
                  <a:pt x="142" y="8273"/>
                </a:cubicBezTo>
                <a:cubicBezTo>
                  <a:pt x="156" y="8283"/>
                  <a:pt x="171" y="8288"/>
                  <a:pt x="186" y="8288"/>
                </a:cubicBezTo>
                <a:cubicBezTo>
                  <a:pt x="162" y="8288"/>
                  <a:pt x="138" y="8283"/>
                  <a:pt x="115" y="8273"/>
                </a:cubicBezTo>
                <a:cubicBezTo>
                  <a:pt x="93" y="8264"/>
                  <a:pt x="72" y="8251"/>
                  <a:pt x="55" y="8233"/>
                </a:cubicBezTo>
                <a:cubicBezTo>
                  <a:pt x="37" y="8216"/>
                  <a:pt x="23" y="8196"/>
                  <a:pt x="14" y="8173"/>
                </a:cubicBezTo>
                <a:cubicBezTo>
                  <a:pt x="4" y="8150"/>
                  <a:pt x="0" y="8126"/>
                  <a:pt x="0" y="8102"/>
                </a:cubicBezTo>
                <a:lnTo>
                  <a:pt x="0" y="185"/>
                </a:lnTo>
                <a:cubicBezTo>
                  <a:pt x="0" y="161"/>
                  <a:pt x="4" y="137"/>
                  <a:pt x="14" y="114"/>
                </a:cubicBezTo>
                <a:cubicBezTo>
                  <a:pt x="23" y="91"/>
                  <a:pt x="37" y="71"/>
                  <a:pt x="55" y="54"/>
                </a:cubicBezTo>
                <a:cubicBezTo>
                  <a:pt x="72" y="36"/>
                  <a:pt x="93" y="23"/>
                  <a:pt x="115" y="14"/>
                </a:cubicBezTo>
                <a:cubicBezTo>
                  <a:pt x="138" y="4"/>
                  <a:pt x="162" y="0"/>
                  <a:pt x="186" y="0"/>
                </a:cubicBezTo>
                <a:cubicBezTo>
                  <a:pt x="171" y="0"/>
                  <a:pt x="156" y="4"/>
                  <a:pt x="142"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56" name="任意多邊形 755"/>
          <p:cNvSpPr/>
          <p:nvPr/>
        </p:nvSpPr>
        <p:spPr>
          <a:xfrm>
            <a:off x="4002840" y="1069560"/>
            <a:ext cx="401400" cy="401400"/>
          </a:xfrm>
          <a:custGeom>
            <a:avLst/>
            <a:gdLst/>
            <a:ahLst/>
            <a:cxnLst/>
            <a:rect l="0" t="0" r="r" b="b"/>
            <a:pathLst>
              <a:path w="1115" h="1115">
                <a:moveTo>
                  <a:pt x="1115" y="557"/>
                </a:moveTo>
                <a:cubicBezTo>
                  <a:pt x="1115" y="593"/>
                  <a:pt x="1111" y="630"/>
                  <a:pt x="1104" y="666"/>
                </a:cubicBezTo>
                <a:cubicBezTo>
                  <a:pt x="1097" y="701"/>
                  <a:pt x="1086" y="736"/>
                  <a:pt x="1072" y="770"/>
                </a:cubicBezTo>
                <a:cubicBezTo>
                  <a:pt x="1058" y="804"/>
                  <a:pt x="1041" y="836"/>
                  <a:pt x="1021" y="866"/>
                </a:cubicBezTo>
                <a:cubicBezTo>
                  <a:pt x="1001" y="897"/>
                  <a:pt x="977" y="925"/>
                  <a:pt x="952" y="952"/>
                </a:cubicBezTo>
                <a:cubicBezTo>
                  <a:pt x="926" y="978"/>
                  <a:pt x="898" y="1001"/>
                  <a:pt x="867" y="1021"/>
                </a:cubicBezTo>
                <a:cubicBezTo>
                  <a:pt x="837" y="1041"/>
                  <a:pt x="805" y="1059"/>
                  <a:pt x="771" y="1073"/>
                </a:cubicBezTo>
                <a:cubicBezTo>
                  <a:pt x="737" y="1087"/>
                  <a:pt x="702" y="1097"/>
                  <a:pt x="666" y="1104"/>
                </a:cubicBezTo>
                <a:cubicBezTo>
                  <a:pt x="630" y="1111"/>
                  <a:pt x="594" y="1115"/>
                  <a:pt x="557" y="1115"/>
                </a:cubicBezTo>
                <a:cubicBezTo>
                  <a:pt x="520" y="1115"/>
                  <a:pt x="484" y="1111"/>
                  <a:pt x="448" y="1104"/>
                </a:cubicBezTo>
                <a:cubicBezTo>
                  <a:pt x="412" y="1097"/>
                  <a:pt x="377" y="1087"/>
                  <a:pt x="343" y="1073"/>
                </a:cubicBezTo>
                <a:cubicBezTo>
                  <a:pt x="310" y="1059"/>
                  <a:pt x="278" y="1041"/>
                  <a:pt x="247" y="1021"/>
                </a:cubicBezTo>
                <a:cubicBezTo>
                  <a:pt x="217" y="1001"/>
                  <a:pt x="189" y="978"/>
                  <a:pt x="163" y="952"/>
                </a:cubicBezTo>
                <a:cubicBezTo>
                  <a:pt x="137" y="925"/>
                  <a:pt x="114" y="897"/>
                  <a:pt x="93" y="866"/>
                </a:cubicBezTo>
                <a:cubicBezTo>
                  <a:pt x="73" y="836"/>
                  <a:pt x="56" y="804"/>
                  <a:pt x="42" y="770"/>
                </a:cubicBezTo>
                <a:cubicBezTo>
                  <a:pt x="28" y="736"/>
                  <a:pt x="17" y="701"/>
                  <a:pt x="10" y="666"/>
                </a:cubicBezTo>
                <a:cubicBezTo>
                  <a:pt x="3" y="630"/>
                  <a:pt x="0" y="593"/>
                  <a:pt x="0" y="557"/>
                </a:cubicBezTo>
                <a:cubicBezTo>
                  <a:pt x="0" y="520"/>
                  <a:pt x="3" y="484"/>
                  <a:pt x="10" y="448"/>
                </a:cubicBezTo>
                <a:cubicBezTo>
                  <a:pt x="17" y="412"/>
                  <a:pt x="28" y="377"/>
                  <a:pt x="42" y="344"/>
                </a:cubicBezTo>
                <a:cubicBezTo>
                  <a:pt x="56" y="310"/>
                  <a:pt x="73" y="278"/>
                  <a:pt x="93" y="247"/>
                </a:cubicBezTo>
                <a:cubicBezTo>
                  <a:pt x="114" y="217"/>
                  <a:pt x="137" y="189"/>
                  <a:pt x="163" y="163"/>
                </a:cubicBezTo>
                <a:cubicBezTo>
                  <a:pt x="189" y="137"/>
                  <a:pt x="217" y="114"/>
                  <a:pt x="247" y="94"/>
                </a:cubicBezTo>
                <a:cubicBezTo>
                  <a:pt x="278" y="73"/>
                  <a:pt x="310" y="56"/>
                  <a:pt x="343" y="42"/>
                </a:cubicBezTo>
                <a:cubicBezTo>
                  <a:pt x="377" y="28"/>
                  <a:pt x="412" y="18"/>
                  <a:pt x="448" y="10"/>
                </a:cubicBezTo>
                <a:cubicBezTo>
                  <a:pt x="484" y="3"/>
                  <a:pt x="520" y="0"/>
                  <a:pt x="557" y="0"/>
                </a:cubicBezTo>
                <a:cubicBezTo>
                  <a:pt x="594" y="0"/>
                  <a:pt x="630" y="3"/>
                  <a:pt x="666" y="10"/>
                </a:cubicBezTo>
                <a:cubicBezTo>
                  <a:pt x="702" y="18"/>
                  <a:pt x="737" y="28"/>
                  <a:pt x="771" y="42"/>
                </a:cubicBezTo>
                <a:cubicBezTo>
                  <a:pt x="805" y="56"/>
                  <a:pt x="837" y="73"/>
                  <a:pt x="867" y="94"/>
                </a:cubicBezTo>
                <a:cubicBezTo>
                  <a:pt x="898" y="114"/>
                  <a:pt x="926" y="137"/>
                  <a:pt x="952" y="163"/>
                </a:cubicBezTo>
                <a:cubicBezTo>
                  <a:pt x="977" y="189"/>
                  <a:pt x="1001" y="217"/>
                  <a:pt x="1021" y="247"/>
                </a:cubicBezTo>
                <a:cubicBezTo>
                  <a:pt x="1041" y="278"/>
                  <a:pt x="1058" y="310"/>
                  <a:pt x="1072" y="344"/>
                </a:cubicBezTo>
                <a:cubicBezTo>
                  <a:pt x="1086" y="377"/>
                  <a:pt x="1097" y="412"/>
                  <a:pt x="1104" y="448"/>
                </a:cubicBezTo>
                <a:cubicBezTo>
                  <a:pt x="1111" y="484"/>
                  <a:pt x="1115" y="520"/>
                  <a:pt x="1115" y="557"/>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57" name="圖片 756"/>
          <p:cNvPicPr/>
          <p:nvPr/>
        </p:nvPicPr>
        <p:blipFill>
          <a:blip r:embed="rId5"/>
          <a:stretch>
            <a:fillRect/>
          </a:stretch>
        </p:blipFill>
        <p:spPr>
          <a:xfrm>
            <a:off x="4128120" y="1170000"/>
            <a:ext cx="150120" cy="200160"/>
          </a:xfrm>
          <a:prstGeom prst="rect">
            <a:avLst/>
          </a:prstGeom>
          <a:noFill/>
          <a:ln w="0">
            <a:noFill/>
          </a:ln>
        </p:spPr>
      </p:pic>
      <p:sp>
        <p:nvSpPr>
          <p:cNvPr id="758" name="文字框 757"/>
          <p:cNvSpPr txBox="1"/>
          <p:nvPr/>
        </p:nvSpPr>
        <p:spPr>
          <a:xfrm>
            <a:off x="927720" y="3564360"/>
            <a:ext cx="1056960" cy="148320"/>
          </a:xfrm>
          <a:prstGeom prst="rect">
            <a:avLst/>
          </a:prstGeom>
          <a:noFill/>
          <a:ln w="0">
            <a:noFill/>
          </a:ln>
        </p:spPr>
        <p:txBody>
          <a:bodyPr wrap="none" lIns="0" tIns="0" rIns="0" bIns="0" anchor="t">
            <a:spAutoFit/>
          </a:bodyPr>
          <a:p>
            <a:r>
              <a:rPr lang="zh-CN" sz="920" b="0" u="none" strike="noStrike">
                <a:solidFill>
                  <a:srgbClr val="FCA5A5"/>
                </a:solidFill>
                <a:effectLst/>
                <a:uFillTx/>
                <a:latin typeface="WenQuanYiZenHei"/>
                <a:ea typeface="WenQuanYiZenHei"/>
              </a:rPr>
              <a:t>危机中保本能力较弱</a:t>
            </a:r>
            <a:endParaRPr lang="en-US" sz="920" b="0" u="none" strike="noStrike">
              <a:solidFill>
                <a:srgbClr val="000000"/>
              </a:solidFill>
              <a:effectLst/>
              <a:uFillTx/>
              <a:latin typeface="Times New Roman" panose="02020603050405020304"/>
            </a:endParaRPr>
          </a:p>
        </p:txBody>
      </p:sp>
      <p:sp>
        <p:nvSpPr>
          <p:cNvPr id="759" name="文字框 758"/>
          <p:cNvSpPr txBox="1"/>
          <p:nvPr/>
        </p:nvSpPr>
        <p:spPr>
          <a:xfrm>
            <a:off x="4537800" y="1167840"/>
            <a:ext cx="3358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债券</a:t>
            </a:r>
            <a:endParaRPr lang="en-US" sz="1320" b="0" u="none" strike="noStrike">
              <a:solidFill>
                <a:srgbClr val="000000"/>
              </a:solidFill>
              <a:effectLst/>
              <a:uFillTx/>
              <a:latin typeface="Times New Roman" panose="02020603050405020304"/>
            </a:endParaRPr>
          </a:p>
        </p:txBody>
      </p:sp>
      <p:sp>
        <p:nvSpPr>
          <p:cNvPr id="760" name="文字框 759"/>
          <p:cNvSpPr txBox="1"/>
          <p:nvPr/>
        </p:nvSpPr>
        <p:spPr>
          <a:xfrm>
            <a:off x="4002840" y="161784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主要风险来源：</a:t>
            </a:r>
            <a:endParaRPr lang="en-US" sz="1050" b="0" u="none" strike="noStrike">
              <a:solidFill>
                <a:srgbClr val="000000"/>
              </a:solidFill>
              <a:effectLst/>
              <a:uFillTx/>
              <a:latin typeface="Times New Roman" panose="02020603050405020304"/>
            </a:endParaRPr>
          </a:p>
        </p:txBody>
      </p:sp>
      <p:sp>
        <p:nvSpPr>
          <p:cNvPr id="761" name="文字框 760"/>
          <p:cNvSpPr txBox="1"/>
          <p:nvPr/>
        </p:nvSpPr>
        <p:spPr>
          <a:xfrm>
            <a:off x="4002840" y="1851120"/>
            <a:ext cx="10569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利率风险和信用风险</a:t>
            </a:r>
            <a:endParaRPr lang="en-US" sz="920" b="0" u="none" strike="noStrike">
              <a:solidFill>
                <a:srgbClr val="000000"/>
              </a:solidFill>
              <a:effectLst/>
              <a:uFillTx/>
              <a:latin typeface="Times New Roman" panose="02020603050405020304"/>
            </a:endParaRPr>
          </a:p>
        </p:txBody>
      </p:sp>
      <p:sp>
        <p:nvSpPr>
          <p:cNvPr id="762" name="任意多邊形 761"/>
          <p:cNvSpPr/>
          <p:nvPr/>
        </p:nvSpPr>
        <p:spPr>
          <a:xfrm>
            <a:off x="4871880" y="2147400"/>
            <a:ext cx="100440" cy="100800"/>
          </a:xfrm>
          <a:custGeom>
            <a:avLst/>
            <a:gdLst/>
            <a:ahLst/>
            <a:cxnLst/>
            <a:rect l="0" t="0" r="r" b="b"/>
            <a:pathLst>
              <a:path w="279" h="280">
                <a:moveTo>
                  <a:pt x="279" y="141"/>
                </a:moveTo>
                <a:cubicBezTo>
                  <a:pt x="279" y="159"/>
                  <a:pt x="276" y="177"/>
                  <a:pt x="269" y="194"/>
                </a:cubicBezTo>
                <a:cubicBezTo>
                  <a:pt x="262" y="211"/>
                  <a:pt x="252" y="226"/>
                  <a:pt x="238" y="239"/>
                </a:cubicBezTo>
                <a:cubicBezTo>
                  <a:pt x="224" y="252"/>
                  <a:pt x="209" y="262"/>
                  <a:pt x="192" y="269"/>
                </a:cubicBezTo>
                <a:cubicBezTo>
                  <a:pt x="175" y="276"/>
                  <a:pt x="157" y="280"/>
                  <a:pt x="139" y="280"/>
                </a:cubicBezTo>
                <a:cubicBezTo>
                  <a:pt x="121" y="280"/>
                  <a:pt x="103" y="276"/>
                  <a:pt x="86" y="269"/>
                </a:cubicBezTo>
                <a:cubicBezTo>
                  <a:pt x="69" y="262"/>
                  <a:pt x="54" y="252"/>
                  <a:pt x="41" y="239"/>
                </a:cubicBezTo>
                <a:cubicBezTo>
                  <a:pt x="27" y="226"/>
                  <a:pt x="17" y="211"/>
                  <a:pt x="10" y="194"/>
                </a:cubicBezTo>
                <a:cubicBezTo>
                  <a:pt x="3" y="177"/>
                  <a:pt x="0" y="159"/>
                  <a:pt x="0" y="141"/>
                </a:cubicBezTo>
                <a:cubicBezTo>
                  <a:pt x="0" y="122"/>
                  <a:pt x="3" y="104"/>
                  <a:pt x="10" y="87"/>
                </a:cubicBezTo>
                <a:cubicBezTo>
                  <a:pt x="17" y="70"/>
                  <a:pt x="27" y="55"/>
                  <a:pt x="41" y="42"/>
                </a:cubicBezTo>
                <a:cubicBezTo>
                  <a:pt x="54" y="29"/>
                  <a:pt x="69" y="19"/>
                  <a:pt x="86" y="11"/>
                </a:cubicBezTo>
                <a:cubicBezTo>
                  <a:pt x="103" y="4"/>
                  <a:pt x="121" y="0"/>
                  <a:pt x="139" y="0"/>
                </a:cubicBezTo>
                <a:cubicBezTo>
                  <a:pt x="157" y="0"/>
                  <a:pt x="175" y="4"/>
                  <a:pt x="192" y="11"/>
                </a:cubicBezTo>
                <a:cubicBezTo>
                  <a:pt x="209" y="19"/>
                  <a:pt x="224" y="29"/>
                  <a:pt x="238" y="42"/>
                </a:cubicBezTo>
                <a:cubicBezTo>
                  <a:pt x="252" y="55"/>
                  <a:pt x="262" y="70"/>
                  <a:pt x="269" y="87"/>
                </a:cubicBezTo>
                <a:cubicBezTo>
                  <a:pt x="276" y="104"/>
                  <a:pt x="279" y="122"/>
                  <a:pt x="279" y="141"/>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63" name="文字框 762"/>
          <p:cNvSpPr txBox="1"/>
          <p:nvPr/>
        </p:nvSpPr>
        <p:spPr>
          <a:xfrm>
            <a:off x="4002840" y="2119320"/>
            <a:ext cx="8053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波动性特征：</a:t>
            </a:r>
            <a:endParaRPr lang="en-US" sz="1050" b="0" u="none" strike="noStrike">
              <a:solidFill>
                <a:srgbClr val="000000"/>
              </a:solidFill>
              <a:effectLst/>
              <a:uFillTx/>
              <a:latin typeface="Times New Roman" panose="02020603050405020304"/>
            </a:endParaRPr>
          </a:p>
        </p:txBody>
      </p:sp>
      <p:sp>
        <p:nvSpPr>
          <p:cNvPr id="764" name="文字框 763"/>
          <p:cNvSpPr txBox="1"/>
          <p:nvPr/>
        </p:nvSpPr>
        <p:spPr>
          <a:xfrm>
            <a:off x="5038920" y="2119320"/>
            <a:ext cx="268920" cy="169560"/>
          </a:xfrm>
          <a:prstGeom prst="rect">
            <a:avLst/>
          </a:prstGeom>
          <a:noFill/>
          <a:ln w="0">
            <a:noFill/>
          </a:ln>
        </p:spPr>
        <p:txBody>
          <a:bodyPr wrap="none" lIns="0" tIns="0" rIns="0" bIns="0" anchor="t">
            <a:spAutoFit/>
          </a:bodyPr>
          <a:p>
            <a:r>
              <a:rPr lang="zh-CN" sz="1050" b="0" u="none" strike="noStrike">
                <a:solidFill>
                  <a:srgbClr val="000000"/>
                </a:solidFill>
                <a:effectLst/>
                <a:uFillTx/>
                <a:latin typeface="WenQuanYiZenHei"/>
                <a:ea typeface="WenQuanYiZenHei"/>
              </a:rPr>
              <a:t>中等</a:t>
            </a:r>
            <a:endParaRPr lang="en-US" sz="1050" b="0" u="none" strike="noStrike">
              <a:solidFill>
                <a:srgbClr val="000000"/>
              </a:solidFill>
              <a:effectLst/>
              <a:uFillTx/>
              <a:latin typeface="Times New Roman" panose="02020603050405020304"/>
            </a:endParaRPr>
          </a:p>
        </p:txBody>
      </p:sp>
      <p:sp>
        <p:nvSpPr>
          <p:cNvPr id="765" name="文字框 764"/>
          <p:cNvSpPr txBox="1"/>
          <p:nvPr/>
        </p:nvSpPr>
        <p:spPr>
          <a:xfrm>
            <a:off x="4002840" y="2352600"/>
            <a:ext cx="26996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政府债券在危机时受追捧，企业债券面临违约风险上</a:t>
            </a:r>
            <a:endParaRPr lang="en-US" sz="920" b="0" u="none" strike="noStrike">
              <a:solidFill>
                <a:srgbClr val="000000"/>
              </a:solidFill>
              <a:effectLst/>
              <a:uFillTx/>
              <a:latin typeface="Times New Roman" panose="02020603050405020304"/>
            </a:endParaRPr>
          </a:p>
        </p:txBody>
      </p:sp>
      <p:sp>
        <p:nvSpPr>
          <p:cNvPr id="766" name="文字框 765"/>
          <p:cNvSpPr txBox="1"/>
          <p:nvPr/>
        </p:nvSpPr>
        <p:spPr>
          <a:xfrm>
            <a:off x="4002840" y="2519640"/>
            <a:ext cx="1180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升</a:t>
            </a:r>
            <a:endParaRPr lang="en-US" sz="920" b="0" u="none" strike="noStrike">
              <a:solidFill>
                <a:srgbClr val="000000"/>
              </a:solidFill>
              <a:effectLst/>
              <a:uFillTx/>
              <a:latin typeface="Times New Roman" panose="02020603050405020304"/>
            </a:endParaRPr>
          </a:p>
        </p:txBody>
      </p:sp>
      <p:sp>
        <p:nvSpPr>
          <p:cNvPr id="767" name="文字框 766"/>
          <p:cNvSpPr txBox="1"/>
          <p:nvPr/>
        </p:nvSpPr>
        <p:spPr>
          <a:xfrm>
            <a:off x="4002840" y="278784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价格特性：</a:t>
            </a:r>
            <a:endParaRPr lang="en-US" sz="1050" b="0" u="none" strike="noStrike">
              <a:solidFill>
                <a:srgbClr val="000000"/>
              </a:solidFill>
              <a:effectLst/>
              <a:uFillTx/>
              <a:latin typeface="Times New Roman" panose="02020603050405020304"/>
            </a:endParaRPr>
          </a:p>
        </p:txBody>
      </p:sp>
      <p:sp>
        <p:nvSpPr>
          <p:cNvPr id="768" name="文字框 767"/>
          <p:cNvSpPr txBox="1"/>
          <p:nvPr/>
        </p:nvSpPr>
        <p:spPr>
          <a:xfrm>
            <a:off x="4002840" y="3021120"/>
            <a:ext cx="26996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债券价格与利率呈反向关系，利率剧烈变动会影响价</a:t>
            </a:r>
            <a:endParaRPr lang="en-US" sz="920" b="0" u="none" strike="noStrike">
              <a:solidFill>
                <a:srgbClr val="000000"/>
              </a:solidFill>
              <a:effectLst/>
              <a:uFillTx/>
              <a:latin typeface="Times New Roman" panose="02020603050405020304"/>
            </a:endParaRPr>
          </a:p>
        </p:txBody>
      </p:sp>
      <p:sp>
        <p:nvSpPr>
          <p:cNvPr id="769" name="任意多邊形 768"/>
          <p:cNvSpPr/>
          <p:nvPr/>
        </p:nvSpPr>
        <p:spPr>
          <a:xfrm>
            <a:off x="4002840" y="3442680"/>
            <a:ext cx="2716200" cy="8640"/>
          </a:xfrm>
          <a:custGeom>
            <a:avLst/>
            <a:gdLst/>
            <a:ahLst/>
            <a:cxnLst/>
            <a:rect l="0" t="0" r="r" b="b"/>
            <a:pathLst>
              <a:path w="7545" h="24">
                <a:moveTo>
                  <a:pt x="0" y="0"/>
                </a:moveTo>
                <a:lnTo>
                  <a:pt x="7545" y="0"/>
                </a:lnTo>
                <a:lnTo>
                  <a:pt x="7545"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70" name="圖片 769"/>
          <p:cNvPicPr/>
          <p:nvPr/>
        </p:nvPicPr>
        <p:blipFill>
          <a:blip r:embed="rId6"/>
          <a:stretch>
            <a:fillRect/>
          </a:stretch>
        </p:blipFill>
        <p:spPr>
          <a:xfrm>
            <a:off x="4002840" y="3568320"/>
            <a:ext cx="133200" cy="133200"/>
          </a:xfrm>
          <a:prstGeom prst="rect">
            <a:avLst/>
          </a:prstGeom>
          <a:noFill/>
          <a:ln w="0">
            <a:noFill/>
          </a:ln>
        </p:spPr>
      </p:pic>
      <p:sp>
        <p:nvSpPr>
          <p:cNvPr id="771" name="文字框 770"/>
          <p:cNvSpPr txBox="1"/>
          <p:nvPr/>
        </p:nvSpPr>
        <p:spPr>
          <a:xfrm>
            <a:off x="4002840" y="3188160"/>
            <a:ext cx="1180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值</a:t>
            </a:r>
            <a:endParaRPr lang="en-US" sz="920" b="0" u="none" strike="noStrike">
              <a:solidFill>
                <a:srgbClr val="000000"/>
              </a:solidFill>
              <a:effectLst/>
              <a:uFillTx/>
              <a:latin typeface="Times New Roman" panose="02020603050405020304"/>
            </a:endParaRPr>
          </a:p>
        </p:txBody>
      </p:sp>
      <p:sp>
        <p:nvSpPr>
          <p:cNvPr id="772" name="任意多邊形 771"/>
          <p:cNvSpPr/>
          <p:nvPr/>
        </p:nvSpPr>
        <p:spPr>
          <a:xfrm>
            <a:off x="7098840" y="902520"/>
            <a:ext cx="3063240" cy="2983680"/>
          </a:xfrm>
          <a:custGeom>
            <a:avLst/>
            <a:gdLst/>
            <a:ahLst/>
            <a:cxnLst/>
            <a:rect l="0" t="0" r="r" b="b"/>
            <a:pathLst>
              <a:path w="8509" h="8288">
                <a:moveTo>
                  <a:pt x="0" y="8102"/>
                </a:moveTo>
                <a:lnTo>
                  <a:pt x="0" y="185"/>
                </a:lnTo>
                <a:cubicBezTo>
                  <a:pt x="0" y="173"/>
                  <a:pt x="1" y="161"/>
                  <a:pt x="3" y="149"/>
                </a:cubicBezTo>
                <a:cubicBezTo>
                  <a:pt x="5" y="137"/>
                  <a:pt x="8" y="125"/>
                  <a:pt x="11" y="114"/>
                </a:cubicBezTo>
                <a:cubicBezTo>
                  <a:pt x="15" y="103"/>
                  <a:pt x="20" y="92"/>
                  <a:pt x="25" y="82"/>
                </a:cubicBezTo>
                <a:cubicBezTo>
                  <a:pt x="31" y="72"/>
                  <a:pt x="37" y="63"/>
                  <a:pt x="44" y="54"/>
                </a:cubicBezTo>
                <a:cubicBezTo>
                  <a:pt x="51" y="45"/>
                  <a:pt x="59" y="38"/>
                  <a:pt x="67" y="31"/>
                </a:cubicBezTo>
                <a:cubicBezTo>
                  <a:pt x="75" y="24"/>
                  <a:pt x="84" y="18"/>
                  <a:pt x="93" y="14"/>
                </a:cubicBezTo>
                <a:cubicBezTo>
                  <a:pt x="102" y="9"/>
                  <a:pt x="112" y="5"/>
                  <a:pt x="121" y="3"/>
                </a:cubicBezTo>
                <a:cubicBezTo>
                  <a:pt x="131" y="1"/>
                  <a:pt x="141" y="0"/>
                  <a:pt x="151" y="0"/>
                </a:cubicBezTo>
                <a:lnTo>
                  <a:pt x="8323" y="0"/>
                </a:lnTo>
                <a:cubicBezTo>
                  <a:pt x="8335" y="0"/>
                  <a:pt x="8347" y="1"/>
                  <a:pt x="8359" y="3"/>
                </a:cubicBezTo>
                <a:cubicBezTo>
                  <a:pt x="8371" y="5"/>
                  <a:pt x="8383" y="9"/>
                  <a:pt x="8394" y="14"/>
                </a:cubicBezTo>
                <a:cubicBezTo>
                  <a:pt x="8405" y="18"/>
                  <a:pt x="8416" y="24"/>
                  <a:pt x="8426" y="31"/>
                </a:cubicBezTo>
                <a:cubicBezTo>
                  <a:pt x="8436" y="38"/>
                  <a:pt x="8446" y="45"/>
                  <a:pt x="8454" y="54"/>
                </a:cubicBezTo>
                <a:cubicBezTo>
                  <a:pt x="8463" y="63"/>
                  <a:pt x="8470" y="72"/>
                  <a:pt x="8477" y="82"/>
                </a:cubicBezTo>
                <a:cubicBezTo>
                  <a:pt x="8484" y="92"/>
                  <a:pt x="8490" y="103"/>
                  <a:pt x="8494" y="114"/>
                </a:cubicBezTo>
                <a:cubicBezTo>
                  <a:pt x="8499" y="125"/>
                  <a:pt x="8503" y="137"/>
                  <a:pt x="8505" y="149"/>
                </a:cubicBezTo>
                <a:cubicBezTo>
                  <a:pt x="8507" y="161"/>
                  <a:pt x="8509" y="173"/>
                  <a:pt x="8509" y="185"/>
                </a:cubicBezTo>
                <a:lnTo>
                  <a:pt x="8509" y="8102"/>
                </a:lnTo>
                <a:cubicBezTo>
                  <a:pt x="8509" y="8114"/>
                  <a:pt x="8507" y="8126"/>
                  <a:pt x="8505" y="8138"/>
                </a:cubicBezTo>
                <a:cubicBezTo>
                  <a:pt x="8503" y="8150"/>
                  <a:pt x="8499" y="8162"/>
                  <a:pt x="8494" y="8173"/>
                </a:cubicBezTo>
                <a:cubicBezTo>
                  <a:pt x="8490" y="8184"/>
                  <a:pt x="8484" y="8195"/>
                  <a:pt x="8477" y="8205"/>
                </a:cubicBezTo>
                <a:cubicBezTo>
                  <a:pt x="8470" y="8215"/>
                  <a:pt x="8463" y="8225"/>
                  <a:pt x="8454" y="8233"/>
                </a:cubicBezTo>
                <a:cubicBezTo>
                  <a:pt x="8446" y="8242"/>
                  <a:pt x="8436" y="8249"/>
                  <a:pt x="8426" y="8256"/>
                </a:cubicBezTo>
                <a:cubicBezTo>
                  <a:pt x="8416" y="8263"/>
                  <a:pt x="8405" y="8269"/>
                  <a:pt x="8394" y="8273"/>
                </a:cubicBezTo>
                <a:cubicBezTo>
                  <a:pt x="8383" y="8278"/>
                  <a:pt x="8371" y="8282"/>
                  <a:pt x="8359" y="8284"/>
                </a:cubicBezTo>
                <a:cubicBezTo>
                  <a:pt x="8347" y="8286"/>
                  <a:pt x="8335" y="8288"/>
                  <a:pt x="8323" y="8288"/>
                </a:cubicBezTo>
                <a:lnTo>
                  <a:pt x="151" y="8288"/>
                </a:lnTo>
                <a:cubicBezTo>
                  <a:pt x="141" y="8288"/>
                  <a:pt x="131" y="8286"/>
                  <a:pt x="121" y="8284"/>
                </a:cubicBezTo>
                <a:cubicBezTo>
                  <a:pt x="112" y="8282"/>
                  <a:pt x="102" y="8278"/>
                  <a:pt x="93" y="8273"/>
                </a:cubicBezTo>
                <a:cubicBezTo>
                  <a:pt x="84" y="8269"/>
                  <a:pt x="75" y="8263"/>
                  <a:pt x="67" y="8256"/>
                </a:cubicBezTo>
                <a:cubicBezTo>
                  <a:pt x="59" y="8249"/>
                  <a:pt x="51" y="8242"/>
                  <a:pt x="44" y="8233"/>
                </a:cubicBezTo>
                <a:cubicBezTo>
                  <a:pt x="37" y="8225"/>
                  <a:pt x="31" y="8215"/>
                  <a:pt x="25" y="8205"/>
                </a:cubicBezTo>
                <a:cubicBezTo>
                  <a:pt x="20" y="8195"/>
                  <a:pt x="15" y="8184"/>
                  <a:pt x="11" y="8173"/>
                </a:cubicBezTo>
                <a:cubicBezTo>
                  <a:pt x="8" y="8162"/>
                  <a:pt x="5" y="8150"/>
                  <a:pt x="3" y="8138"/>
                </a:cubicBezTo>
                <a:cubicBezTo>
                  <a:pt x="1" y="8126"/>
                  <a:pt x="0" y="8114"/>
                  <a:pt x="0" y="8102"/>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73" name="任意多邊形 772"/>
          <p:cNvSpPr/>
          <p:nvPr/>
        </p:nvSpPr>
        <p:spPr>
          <a:xfrm>
            <a:off x="7086240" y="902520"/>
            <a:ext cx="67320" cy="2983680"/>
          </a:xfrm>
          <a:custGeom>
            <a:avLst/>
            <a:gdLst/>
            <a:ahLst/>
            <a:cxnLst/>
            <a:rect l="0" t="0" r="r" b="b"/>
            <a:pathLst>
              <a:path w="187" h="8288">
                <a:moveTo>
                  <a:pt x="0" y="0"/>
                </a:moveTo>
                <a:lnTo>
                  <a:pt x="187" y="0"/>
                </a:lnTo>
                <a:lnTo>
                  <a:pt x="187" y="8288"/>
                </a:lnTo>
                <a:lnTo>
                  <a:pt x="0" y="8288"/>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74" name="任意多邊形 773"/>
          <p:cNvSpPr/>
          <p:nvPr/>
        </p:nvSpPr>
        <p:spPr>
          <a:xfrm>
            <a:off x="7278480" y="1069560"/>
            <a:ext cx="401400" cy="401400"/>
          </a:xfrm>
          <a:custGeom>
            <a:avLst/>
            <a:gdLst/>
            <a:ahLst/>
            <a:cxnLst/>
            <a:rect l="0" t="0" r="r" b="b"/>
            <a:pathLst>
              <a:path w="1115" h="1115">
                <a:moveTo>
                  <a:pt x="1115" y="557"/>
                </a:moveTo>
                <a:cubicBezTo>
                  <a:pt x="1115" y="593"/>
                  <a:pt x="1112" y="630"/>
                  <a:pt x="1105" y="666"/>
                </a:cubicBezTo>
                <a:cubicBezTo>
                  <a:pt x="1097" y="701"/>
                  <a:pt x="1087" y="736"/>
                  <a:pt x="1073" y="770"/>
                </a:cubicBezTo>
                <a:cubicBezTo>
                  <a:pt x="1059" y="804"/>
                  <a:pt x="1042" y="836"/>
                  <a:pt x="1021" y="866"/>
                </a:cubicBezTo>
                <a:cubicBezTo>
                  <a:pt x="1001" y="897"/>
                  <a:pt x="978" y="925"/>
                  <a:pt x="952" y="952"/>
                </a:cubicBezTo>
                <a:cubicBezTo>
                  <a:pt x="926" y="978"/>
                  <a:pt x="898" y="1001"/>
                  <a:pt x="868" y="1021"/>
                </a:cubicBezTo>
                <a:cubicBezTo>
                  <a:pt x="837" y="1041"/>
                  <a:pt x="805" y="1059"/>
                  <a:pt x="771" y="1073"/>
                </a:cubicBezTo>
                <a:cubicBezTo>
                  <a:pt x="738" y="1087"/>
                  <a:pt x="703" y="1097"/>
                  <a:pt x="667" y="1104"/>
                </a:cubicBezTo>
                <a:cubicBezTo>
                  <a:pt x="631" y="1111"/>
                  <a:pt x="595" y="1115"/>
                  <a:pt x="558" y="1115"/>
                </a:cubicBezTo>
                <a:cubicBezTo>
                  <a:pt x="522" y="1115"/>
                  <a:pt x="485" y="1111"/>
                  <a:pt x="449" y="1104"/>
                </a:cubicBezTo>
                <a:cubicBezTo>
                  <a:pt x="414" y="1097"/>
                  <a:pt x="378" y="1087"/>
                  <a:pt x="344" y="1073"/>
                </a:cubicBezTo>
                <a:cubicBezTo>
                  <a:pt x="310" y="1059"/>
                  <a:pt x="278" y="1041"/>
                  <a:pt x="248" y="1021"/>
                </a:cubicBezTo>
                <a:cubicBezTo>
                  <a:pt x="217" y="1001"/>
                  <a:pt x="189" y="978"/>
                  <a:pt x="163" y="952"/>
                </a:cubicBezTo>
                <a:cubicBezTo>
                  <a:pt x="137" y="925"/>
                  <a:pt x="114" y="897"/>
                  <a:pt x="94" y="866"/>
                </a:cubicBezTo>
                <a:cubicBezTo>
                  <a:pt x="74" y="836"/>
                  <a:pt x="56" y="804"/>
                  <a:pt x="42" y="770"/>
                </a:cubicBezTo>
                <a:cubicBezTo>
                  <a:pt x="28" y="736"/>
                  <a:pt x="18" y="701"/>
                  <a:pt x="11" y="666"/>
                </a:cubicBezTo>
                <a:cubicBezTo>
                  <a:pt x="4" y="630"/>
                  <a:pt x="0" y="593"/>
                  <a:pt x="0" y="557"/>
                </a:cubicBezTo>
                <a:cubicBezTo>
                  <a:pt x="0" y="520"/>
                  <a:pt x="4" y="484"/>
                  <a:pt x="11" y="448"/>
                </a:cubicBezTo>
                <a:cubicBezTo>
                  <a:pt x="18" y="412"/>
                  <a:pt x="28" y="377"/>
                  <a:pt x="42" y="344"/>
                </a:cubicBezTo>
                <a:cubicBezTo>
                  <a:pt x="56" y="310"/>
                  <a:pt x="74" y="278"/>
                  <a:pt x="94" y="247"/>
                </a:cubicBezTo>
                <a:cubicBezTo>
                  <a:pt x="114" y="217"/>
                  <a:pt x="137" y="189"/>
                  <a:pt x="163" y="163"/>
                </a:cubicBezTo>
                <a:cubicBezTo>
                  <a:pt x="189" y="137"/>
                  <a:pt x="217" y="114"/>
                  <a:pt x="248" y="94"/>
                </a:cubicBezTo>
                <a:cubicBezTo>
                  <a:pt x="278" y="73"/>
                  <a:pt x="310" y="56"/>
                  <a:pt x="344" y="42"/>
                </a:cubicBezTo>
                <a:cubicBezTo>
                  <a:pt x="378" y="28"/>
                  <a:pt x="414" y="18"/>
                  <a:pt x="449" y="10"/>
                </a:cubicBezTo>
                <a:cubicBezTo>
                  <a:pt x="485" y="3"/>
                  <a:pt x="522" y="0"/>
                  <a:pt x="558" y="0"/>
                </a:cubicBezTo>
                <a:cubicBezTo>
                  <a:pt x="595" y="0"/>
                  <a:pt x="631" y="3"/>
                  <a:pt x="667" y="10"/>
                </a:cubicBezTo>
                <a:cubicBezTo>
                  <a:pt x="703" y="18"/>
                  <a:pt x="738" y="28"/>
                  <a:pt x="771" y="42"/>
                </a:cubicBezTo>
                <a:cubicBezTo>
                  <a:pt x="805" y="56"/>
                  <a:pt x="837" y="73"/>
                  <a:pt x="868" y="94"/>
                </a:cubicBezTo>
                <a:cubicBezTo>
                  <a:pt x="898" y="114"/>
                  <a:pt x="926" y="137"/>
                  <a:pt x="952" y="163"/>
                </a:cubicBezTo>
                <a:cubicBezTo>
                  <a:pt x="978" y="189"/>
                  <a:pt x="1001" y="217"/>
                  <a:pt x="1021" y="247"/>
                </a:cubicBezTo>
                <a:cubicBezTo>
                  <a:pt x="1042" y="278"/>
                  <a:pt x="1059" y="310"/>
                  <a:pt x="1073" y="344"/>
                </a:cubicBezTo>
                <a:cubicBezTo>
                  <a:pt x="1087" y="377"/>
                  <a:pt x="1097" y="412"/>
                  <a:pt x="1105" y="448"/>
                </a:cubicBezTo>
                <a:cubicBezTo>
                  <a:pt x="1112" y="484"/>
                  <a:pt x="1115" y="520"/>
                  <a:pt x="1115" y="557"/>
                </a:cubicBezTo>
                <a:close/>
              </a:path>
            </a:pathLst>
          </a:custGeom>
          <a:solidFill>
            <a:srgbClr val="B45309"/>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75" name="圖片 774"/>
          <p:cNvPicPr/>
          <p:nvPr/>
        </p:nvPicPr>
        <p:blipFill>
          <a:blip r:embed="rId7"/>
          <a:stretch>
            <a:fillRect/>
          </a:stretch>
        </p:blipFill>
        <p:spPr>
          <a:xfrm>
            <a:off x="7370640" y="1170000"/>
            <a:ext cx="225360" cy="200160"/>
          </a:xfrm>
          <a:prstGeom prst="rect">
            <a:avLst/>
          </a:prstGeom>
          <a:noFill/>
          <a:ln w="0">
            <a:noFill/>
          </a:ln>
        </p:spPr>
      </p:pic>
      <p:sp>
        <p:nvSpPr>
          <p:cNvPr id="776" name="文字框 775"/>
          <p:cNvSpPr txBox="1"/>
          <p:nvPr/>
        </p:nvSpPr>
        <p:spPr>
          <a:xfrm>
            <a:off x="4203360" y="3564360"/>
            <a:ext cx="1409040" cy="148320"/>
          </a:xfrm>
          <a:prstGeom prst="rect">
            <a:avLst/>
          </a:prstGeom>
          <a:noFill/>
          <a:ln w="0">
            <a:noFill/>
          </a:ln>
        </p:spPr>
        <p:txBody>
          <a:bodyPr wrap="none" lIns="0" tIns="0" rIns="0" bIns="0" anchor="t">
            <a:spAutoFit/>
          </a:bodyPr>
          <a:p>
            <a:r>
              <a:rPr lang="zh-CN" sz="920" b="0" u="none" strike="noStrike">
                <a:solidFill>
                  <a:srgbClr val="6EE7B7"/>
                </a:solidFill>
                <a:effectLst/>
                <a:uFillTx/>
                <a:latin typeface="WenQuanYiZenHei"/>
                <a:ea typeface="WenQuanYiZenHei"/>
              </a:rPr>
              <a:t>高质量政府债券保本能力强</a:t>
            </a:r>
            <a:endParaRPr lang="en-US" sz="920" b="0" u="none" strike="noStrike">
              <a:solidFill>
                <a:srgbClr val="000000"/>
              </a:solidFill>
              <a:effectLst/>
              <a:uFillTx/>
              <a:latin typeface="Times New Roman" panose="02020603050405020304"/>
            </a:endParaRPr>
          </a:p>
        </p:txBody>
      </p:sp>
      <p:sp>
        <p:nvSpPr>
          <p:cNvPr id="777" name="文字框 776"/>
          <p:cNvSpPr txBox="1"/>
          <p:nvPr/>
        </p:nvSpPr>
        <p:spPr>
          <a:xfrm>
            <a:off x="7813440" y="1167840"/>
            <a:ext cx="50364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房地产</a:t>
            </a:r>
            <a:endParaRPr lang="en-US" sz="1320" b="0" u="none" strike="noStrike">
              <a:solidFill>
                <a:srgbClr val="000000"/>
              </a:solidFill>
              <a:effectLst/>
              <a:uFillTx/>
              <a:latin typeface="Times New Roman" panose="02020603050405020304"/>
            </a:endParaRPr>
          </a:p>
        </p:txBody>
      </p:sp>
      <p:sp>
        <p:nvSpPr>
          <p:cNvPr id="778" name="文字框 777"/>
          <p:cNvSpPr txBox="1"/>
          <p:nvPr/>
        </p:nvSpPr>
        <p:spPr>
          <a:xfrm>
            <a:off x="7278840" y="161784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主要风险来源：</a:t>
            </a:r>
            <a:endParaRPr lang="en-US" sz="1050" b="0" u="none" strike="noStrike">
              <a:solidFill>
                <a:srgbClr val="000000"/>
              </a:solidFill>
              <a:effectLst/>
              <a:uFillTx/>
              <a:latin typeface="Times New Roman" panose="02020603050405020304"/>
            </a:endParaRPr>
          </a:p>
        </p:txBody>
      </p:sp>
      <p:sp>
        <p:nvSpPr>
          <p:cNvPr id="779" name="文字框 778"/>
          <p:cNvSpPr txBox="1"/>
          <p:nvPr/>
        </p:nvSpPr>
        <p:spPr>
          <a:xfrm>
            <a:off x="7278840" y="1851120"/>
            <a:ext cx="21128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市场周期性风险、政策风险和流动性风险</a:t>
            </a:r>
            <a:endParaRPr lang="en-US" sz="920" b="0" u="none" strike="noStrike">
              <a:solidFill>
                <a:srgbClr val="000000"/>
              </a:solidFill>
              <a:effectLst/>
              <a:uFillTx/>
              <a:latin typeface="Times New Roman" panose="02020603050405020304"/>
            </a:endParaRPr>
          </a:p>
        </p:txBody>
      </p:sp>
      <p:sp>
        <p:nvSpPr>
          <p:cNvPr id="780" name="任意多邊形 779"/>
          <p:cNvSpPr/>
          <p:nvPr/>
        </p:nvSpPr>
        <p:spPr>
          <a:xfrm>
            <a:off x="8147520" y="2147400"/>
            <a:ext cx="100800" cy="100800"/>
          </a:xfrm>
          <a:custGeom>
            <a:avLst/>
            <a:gdLst/>
            <a:ahLst/>
            <a:cxnLst/>
            <a:rect l="0" t="0" r="r" b="b"/>
            <a:pathLst>
              <a:path w="280" h="280">
                <a:moveTo>
                  <a:pt x="280" y="141"/>
                </a:moveTo>
                <a:cubicBezTo>
                  <a:pt x="280" y="159"/>
                  <a:pt x="276" y="177"/>
                  <a:pt x="269" y="194"/>
                </a:cubicBezTo>
                <a:cubicBezTo>
                  <a:pt x="262" y="211"/>
                  <a:pt x="252" y="226"/>
                  <a:pt x="239" y="239"/>
                </a:cubicBezTo>
                <a:cubicBezTo>
                  <a:pt x="226" y="252"/>
                  <a:pt x="211" y="262"/>
                  <a:pt x="194" y="269"/>
                </a:cubicBezTo>
                <a:cubicBezTo>
                  <a:pt x="177" y="276"/>
                  <a:pt x="159" y="280"/>
                  <a:pt x="141" y="280"/>
                </a:cubicBezTo>
                <a:cubicBezTo>
                  <a:pt x="122" y="280"/>
                  <a:pt x="104" y="276"/>
                  <a:pt x="87" y="269"/>
                </a:cubicBezTo>
                <a:cubicBezTo>
                  <a:pt x="70" y="262"/>
                  <a:pt x="55" y="252"/>
                  <a:pt x="42" y="239"/>
                </a:cubicBezTo>
                <a:cubicBezTo>
                  <a:pt x="29" y="226"/>
                  <a:pt x="18" y="211"/>
                  <a:pt x="11" y="194"/>
                </a:cubicBezTo>
                <a:cubicBezTo>
                  <a:pt x="4" y="177"/>
                  <a:pt x="0" y="159"/>
                  <a:pt x="0" y="141"/>
                </a:cubicBezTo>
                <a:cubicBezTo>
                  <a:pt x="0" y="122"/>
                  <a:pt x="4" y="104"/>
                  <a:pt x="11" y="87"/>
                </a:cubicBezTo>
                <a:cubicBezTo>
                  <a:pt x="18" y="70"/>
                  <a:pt x="29" y="55"/>
                  <a:pt x="42" y="42"/>
                </a:cubicBezTo>
                <a:cubicBezTo>
                  <a:pt x="55" y="29"/>
                  <a:pt x="70" y="19"/>
                  <a:pt x="87" y="11"/>
                </a:cubicBezTo>
                <a:cubicBezTo>
                  <a:pt x="104" y="4"/>
                  <a:pt x="122" y="0"/>
                  <a:pt x="141" y="0"/>
                </a:cubicBezTo>
                <a:cubicBezTo>
                  <a:pt x="159" y="0"/>
                  <a:pt x="177" y="4"/>
                  <a:pt x="194" y="11"/>
                </a:cubicBezTo>
                <a:cubicBezTo>
                  <a:pt x="211" y="19"/>
                  <a:pt x="226" y="29"/>
                  <a:pt x="239" y="42"/>
                </a:cubicBezTo>
                <a:cubicBezTo>
                  <a:pt x="252" y="55"/>
                  <a:pt x="262" y="70"/>
                  <a:pt x="269" y="87"/>
                </a:cubicBezTo>
                <a:cubicBezTo>
                  <a:pt x="276" y="104"/>
                  <a:pt x="280" y="122"/>
                  <a:pt x="280" y="141"/>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81" name="文字框 780"/>
          <p:cNvSpPr txBox="1"/>
          <p:nvPr/>
        </p:nvSpPr>
        <p:spPr>
          <a:xfrm>
            <a:off x="7278840" y="2119320"/>
            <a:ext cx="8053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波动性特征：</a:t>
            </a:r>
            <a:endParaRPr lang="en-US" sz="1050" b="0" u="none" strike="noStrike">
              <a:solidFill>
                <a:srgbClr val="000000"/>
              </a:solidFill>
              <a:effectLst/>
              <a:uFillTx/>
              <a:latin typeface="Times New Roman" panose="02020603050405020304"/>
            </a:endParaRPr>
          </a:p>
        </p:txBody>
      </p:sp>
      <p:sp>
        <p:nvSpPr>
          <p:cNvPr id="782" name="文字框 781"/>
          <p:cNvSpPr txBox="1"/>
          <p:nvPr/>
        </p:nvSpPr>
        <p:spPr>
          <a:xfrm>
            <a:off x="8314920" y="2119320"/>
            <a:ext cx="268920" cy="169560"/>
          </a:xfrm>
          <a:prstGeom prst="rect">
            <a:avLst/>
          </a:prstGeom>
          <a:noFill/>
          <a:ln w="0">
            <a:noFill/>
          </a:ln>
        </p:spPr>
        <p:txBody>
          <a:bodyPr wrap="none" lIns="0" tIns="0" rIns="0" bIns="0" anchor="t">
            <a:spAutoFit/>
          </a:bodyPr>
          <a:p>
            <a:r>
              <a:rPr lang="zh-CN" sz="1050" b="0" u="none" strike="noStrike">
                <a:solidFill>
                  <a:srgbClr val="000000"/>
                </a:solidFill>
                <a:effectLst/>
                <a:uFillTx/>
                <a:latin typeface="WenQuanYiZenHei"/>
                <a:ea typeface="WenQuanYiZenHei"/>
              </a:rPr>
              <a:t>中等</a:t>
            </a:r>
            <a:endParaRPr lang="en-US" sz="1050" b="0" u="none" strike="noStrike">
              <a:solidFill>
                <a:srgbClr val="000000"/>
              </a:solidFill>
              <a:effectLst/>
              <a:uFillTx/>
              <a:latin typeface="Times New Roman" panose="02020603050405020304"/>
            </a:endParaRPr>
          </a:p>
        </p:txBody>
      </p:sp>
      <p:sp>
        <p:nvSpPr>
          <p:cNvPr id="783" name="文字框 782"/>
          <p:cNvSpPr txBox="1"/>
          <p:nvPr/>
        </p:nvSpPr>
        <p:spPr>
          <a:xfrm>
            <a:off x="7278840" y="2352600"/>
            <a:ext cx="19954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变现能力差，在危机期间难以快速出售</a:t>
            </a:r>
            <a:endParaRPr lang="en-US" sz="920" b="0" u="none" strike="noStrike">
              <a:solidFill>
                <a:srgbClr val="000000"/>
              </a:solidFill>
              <a:effectLst/>
              <a:uFillTx/>
              <a:latin typeface="Times New Roman" panose="02020603050405020304"/>
            </a:endParaRPr>
          </a:p>
        </p:txBody>
      </p:sp>
      <p:sp>
        <p:nvSpPr>
          <p:cNvPr id="784" name="文字框 783"/>
          <p:cNvSpPr txBox="1"/>
          <p:nvPr/>
        </p:nvSpPr>
        <p:spPr>
          <a:xfrm>
            <a:off x="7278840" y="2620440"/>
            <a:ext cx="53712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关联性：</a:t>
            </a:r>
            <a:endParaRPr lang="en-US" sz="1050" b="0" u="none" strike="noStrike">
              <a:solidFill>
                <a:srgbClr val="000000"/>
              </a:solidFill>
              <a:effectLst/>
              <a:uFillTx/>
              <a:latin typeface="Times New Roman" panose="02020603050405020304"/>
            </a:endParaRPr>
          </a:p>
        </p:txBody>
      </p:sp>
      <p:sp>
        <p:nvSpPr>
          <p:cNvPr id="785" name="任意多邊形 784"/>
          <p:cNvSpPr/>
          <p:nvPr/>
        </p:nvSpPr>
        <p:spPr>
          <a:xfrm>
            <a:off x="7278480" y="3442680"/>
            <a:ext cx="2716200" cy="8640"/>
          </a:xfrm>
          <a:custGeom>
            <a:avLst/>
            <a:gdLst/>
            <a:ahLst/>
            <a:cxnLst/>
            <a:rect l="0" t="0" r="r" b="b"/>
            <a:pathLst>
              <a:path w="7545" h="24">
                <a:moveTo>
                  <a:pt x="0" y="0"/>
                </a:moveTo>
                <a:lnTo>
                  <a:pt x="7545" y="0"/>
                </a:lnTo>
                <a:lnTo>
                  <a:pt x="7545"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86" name="圖片 785"/>
          <p:cNvPicPr/>
          <p:nvPr/>
        </p:nvPicPr>
        <p:blipFill>
          <a:blip r:embed="rId8"/>
          <a:stretch>
            <a:fillRect/>
          </a:stretch>
        </p:blipFill>
        <p:spPr>
          <a:xfrm>
            <a:off x="7278840" y="3568320"/>
            <a:ext cx="133200" cy="133200"/>
          </a:xfrm>
          <a:prstGeom prst="rect">
            <a:avLst/>
          </a:prstGeom>
          <a:noFill/>
          <a:ln w="0">
            <a:noFill/>
          </a:ln>
        </p:spPr>
      </p:pic>
      <p:sp>
        <p:nvSpPr>
          <p:cNvPr id="787" name="文字框 786"/>
          <p:cNvSpPr txBox="1"/>
          <p:nvPr/>
        </p:nvSpPr>
        <p:spPr>
          <a:xfrm>
            <a:off x="7278840" y="2854080"/>
            <a:ext cx="18781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价值与宏观经济和信贷环境高度相关</a:t>
            </a:r>
            <a:endParaRPr lang="en-US" sz="920" b="0" u="none" strike="noStrike">
              <a:solidFill>
                <a:srgbClr val="000000"/>
              </a:solidFill>
              <a:effectLst/>
              <a:uFillTx/>
              <a:latin typeface="Times New Roman" panose="02020603050405020304"/>
            </a:endParaRPr>
          </a:p>
        </p:txBody>
      </p:sp>
      <p:sp>
        <p:nvSpPr>
          <p:cNvPr id="788" name="任意多邊形 787"/>
          <p:cNvSpPr/>
          <p:nvPr/>
        </p:nvSpPr>
        <p:spPr>
          <a:xfrm>
            <a:off x="547200" y="4086360"/>
            <a:ext cx="3063240" cy="2816280"/>
          </a:xfrm>
          <a:custGeom>
            <a:avLst/>
            <a:gdLst/>
            <a:ahLst/>
            <a:cxnLst/>
            <a:rect l="0" t="0" r="r" b="b"/>
            <a:pathLst>
              <a:path w="8509" h="7823">
                <a:moveTo>
                  <a:pt x="0" y="7638"/>
                </a:moveTo>
                <a:lnTo>
                  <a:pt x="0" y="185"/>
                </a:lnTo>
                <a:cubicBezTo>
                  <a:pt x="0" y="173"/>
                  <a:pt x="1" y="161"/>
                  <a:pt x="3" y="149"/>
                </a:cubicBezTo>
                <a:cubicBezTo>
                  <a:pt x="5" y="137"/>
                  <a:pt x="8" y="126"/>
                  <a:pt x="11" y="114"/>
                </a:cubicBezTo>
                <a:cubicBezTo>
                  <a:pt x="15" y="103"/>
                  <a:pt x="20" y="92"/>
                  <a:pt x="25" y="82"/>
                </a:cubicBezTo>
                <a:cubicBezTo>
                  <a:pt x="31" y="72"/>
                  <a:pt x="37" y="63"/>
                  <a:pt x="44" y="54"/>
                </a:cubicBezTo>
                <a:cubicBezTo>
                  <a:pt x="51" y="45"/>
                  <a:pt x="59" y="38"/>
                  <a:pt x="67" y="31"/>
                </a:cubicBezTo>
                <a:cubicBezTo>
                  <a:pt x="75" y="24"/>
                  <a:pt x="84" y="18"/>
                  <a:pt x="93" y="14"/>
                </a:cubicBezTo>
                <a:cubicBezTo>
                  <a:pt x="102" y="9"/>
                  <a:pt x="112" y="6"/>
                  <a:pt x="121" y="3"/>
                </a:cubicBezTo>
                <a:cubicBezTo>
                  <a:pt x="131" y="1"/>
                  <a:pt x="141" y="0"/>
                  <a:pt x="151" y="0"/>
                </a:cubicBezTo>
                <a:lnTo>
                  <a:pt x="8323" y="0"/>
                </a:lnTo>
                <a:cubicBezTo>
                  <a:pt x="8335" y="0"/>
                  <a:pt x="8347" y="1"/>
                  <a:pt x="8359" y="3"/>
                </a:cubicBezTo>
                <a:cubicBezTo>
                  <a:pt x="8371" y="6"/>
                  <a:pt x="8383" y="9"/>
                  <a:pt x="8394" y="14"/>
                </a:cubicBezTo>
                <a:cubicBezTo>
                  <a:pt x="8405" y="18"/>
                  <a:pt x="8416" y="24"/>
                  <a:pt x="8426" y="31"/>
                </a:cubicBezTo>
                <a:cubicBezTo>
                  <a:pt x="8436" y="38"/>
                  <a:pt x="8446" y="45"/>
                  <a:pt x="8454" y="54"/>
                </a:cubicBezTo>
                <a:cubicBezTo>
                  <a:pt x="8463" y="63"/>
                  <a:pt x="8470" y="72"/>
                  <a:pt x="8477" y="82"/>
                </a:cubicBezTo>
                <a:cubicBezTo>
                  <a:pt x="8484" y="92"/>
                  <a:pt x="8490" y="103"/>
                  <a:pt x="8494" y="114"/>
                </a:cubicBezTo>
                <a:cubicBezTo>
                  <a:pt x="8499" y="126"/>
                  <a:pt x="8503" y="137"/>
                  <a:pt x="8505" y="149"/>
                </a:cubicBezTo>
                <a:cubicBezTo>
                  <a:pt x="8507" y="161"/>
                  <a:pt x="8509" y="173"/>
                  <a:pt x="8509" y="185"/>
                </a:cubicBezTo>
                <a:lnTo>
                  <a:pt x="8509" y="7638"/>
                </a:lnTo>
                <a:cubicBezTo>
                  <a:pt x="8509" y="7650"/>
                  <a:pt x="8507" y="7662"/>
                  <a:pt x="8505" y="7674"/>
                </a:cubicBezTo>
                <a:cubicBezTo>
                  <a:pt x="8503" y="7686"/>
                  <a:pt x="8499" y="7698"/>
                  <a:pt x="8494" y="7709"/>
                </a:cubicBezTo>
                <a:cubicBezTo>
                  <a:pt x="8490" y="7720"/>
                  <a:pt x="8484" y="7731"/>
                  <a:pt x="8477" y="7741"/>
                </a:cubicBezTo>
                <a:cubicBezTo>
                  <a:pt x="8470" y="7751"/>
                  <a:pt x="8463" y="7760"/>
                  <a:pt x="8454" y="7769"/>
                </a:cubicBezTo>
                <a:cubicBezTo>
                  <a:pt x="8446" y="7778"/>
                  <a:pt x="8436" y="7785"/>
                  <a:pt x="8426" y="7792"/>
                </a:cubicBezTo>
                <a:cubicBezTo>
                  <a:pt x="8416" y="7799"/>
                  <a:pt x="8405" y="7805"/>
                  <a:pt x="8394" y="7809"/>
                </a:cubicBezTo>
                <a:cubicBezTo>
                  <a:pt x="8383" y="7814"/>
                  <a:pt x="8371" y="7818"/>
                  <a:pt x="8359" y="7820"/>
                </a:cubicBezTo>
                <a:cubicBezTo>
                  <a:pt x="8347" y="7822"/>
                  <a:pt x="8335" y="7823"/>
                  <a:pt x="8323" y="7823"/>
                </a:cubicBezTo>
                <a:lnTo>
                  <a:pt x="151" y="7823"/>
                </a:lnTo>
                <a:cubicBezTo>
                  <a:pt x="141" y="7823"/>
                  <a:pt x="131" y="7822"/>
                  <a:pt x="121" y="7820"/>
                </a:cubicBezTo>
                <a:cubicBezTo>
                  <a:pt x="112" y="7818"/>
                  <a:pt x="102" y="7814"/>
                  <a:pt x="93" y="7809"/>
                </a:cubicBezTo>
                <a:cubicBezTo>
                  <a:pt x="84" y="7805"/>
                  <a:pt x="75" y="7799"/>
                  <a:pt x="67" y="7792"/>
                </a:cubicBezTo>
                <a:cubicBezTo>
                  <a:pt x="59" y="7785"/>
                  <a:pt x="51" y="7778"/>
                  <a:pt x="44" y="7769"/>
                </a:cubicBezTo>
                <a:cubicBezTo>
                  <a:pt x="37" y="7760"/>
                  <a:pt x="31" y="7751"/>
                  <a:pt x="25" y="7741"/>
                </a:cubicBezTo>
                <a:cubicBezTo>
                  <a:pt x="20" y="7731"/>
                  <a:pt x="15" y="7720"/>
                  <a:pt x="11" y="7709"/>
                </a:cubicBezTo>
                <a:cubicBezTo>
                  <a:pt x="8" y="7698"/>
                  <a:pt x="5" y="7686"/>
                  <a:pt x="3" y="7674"/>
                </a:cubicBezTo>
                <a:cubicBezTo>
                  <a:pt x="1" y="7662"/>
                  <a:pt x="0" y="7650"/>
                  <a:pt x="0" y="763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89" name="任意多邊形 788"/>
          <p:cNvSpPr/>
          <p:nvPr/>
        </p:nvSpPr>
        <p:spPr>
          <a:xfrm>
            <a:off x="534600" y="4086360"/>
            <a:ext cx="67320" cy="2816280"/>
          </a:xfrm>
          <a:custGeom>
            <a:avLst/>
            <a:gdLst/>
            <a:ahLst/>
            <a:cxnLst/>
            <a:rect l="0" t="0" r="r" b="b"/>
            <a:pathLst>
              <a:path w="187" h="7823">
                <a:moveTo>
                  <a:pt x="0" y="0"/>
                </a:moveTo>
                <a:lnTo>
                  <a:pt x="187" y="0"/>
                </a:lnTo>
                <a:lnTo>
                  <a:pt x="187" y="7823"/>
                </a:lnTo>
                <a:lnTo>
                  <a:pt x="0" y="7823"/>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790" name="任意多邊形 789"/>
          <p:cNvSpPr/>
          <p:nvPr/>
        </p:nvSpPr>
        <p:spPr>
          <a:xfrm>
            <a:off x="726840" y="4253400"/>
            <a:ext cx="401400" cy="401400"/>
          </a:xfrm>
          <a:custGeom>
            <a:avLst/>
            <a:gdLst/>
            <a:ahLst/>
            <a:cxnLst/>
            <a:rect l="0" t="0" r="r" b="b"/>
            <a:pathLst>
              <a:path w="1115" h="1115">
                <a:moveTo>
                  <a:pt x="1115" y="557"/>
                </a:moveTo>
                <a:cubicBezTo>
                  <a:pt x="1115" y="594"/>
                  <a:pt x="1112" y="630"/>
                  <a:pt x="1105" y="666"/>
                </a:cubicBezTo>
                <a:cubicBezTo>
                  <a:pt x="1097" y="702"/>
                  <a:pt x="1087" y="736"/>
                  <a:pt x="1073" y="770"/>
                </a:cubicBezTo>
                <a:cubicBezTo>
                  <a:pt x="1059" y="804"/>
                  <a:pt x="1042" y="836"/>
                  <a:pt x="1021" y="867"/>
                </a:cubicBezTo>
                <a:cubicBezTo>
                  <a:pt x="1001" y="897"/>
                  <a:pt x="978" y="925"/>
                  <a:pt x="952" y="951"/>
                </a:cubicBezTo>
                <a:cubicBezTo>
                  <a:pt x="926" y="977"/>
                  <a:pt x="898" y="1001"/>
                  <a:pt x="868" y="1021"/>
                </a:cubicBezTo>
                <a:cubicBezTo>
                  <a:pt x="837" y="1042"/>
                  <a:pt x="805" y="1059"/>
                  <a:pt x="771" y="1073"/>
                </a:cubicBezTo>
                <a:cubicBezTo>
                  <a:pt x="737" y="1087"/>
                  <a:pt x="702" y="1097"/>
                  <a:pt x="666" y="1104"/>
                </a:cubicBezTo>
                <a:cubicBezTo>
                  <a:pt x="630" y="1112"/>
                  <a:pt x="594" y="1115"/>
                  <a:pt x="557" y="1115"/>
                </a:cubicBezTo>
                <a:cubicBezTo>
                  <a:pt x="521" y="1115"/>
                  <a:pt x="484" y="1112"/>
                  <a:pt x="448" y="1104"/>
                </a:cubicBezTo>
                <a:cubicBezTo>
                  <a:pt x="413" y="1097"/>
                  <a:pt x="378" y="1087"/>
                  <a:pt x="344" y="1073"/>
                </a:cubicBezTo>
                <a:cubicBezTo>
                  <a:pt x="310" y="1059"/>
                  <a:pt x="278" y="1042"/>
                  <a:pt x="248" y="1021"/>
                </a:cubicBezTo>
                <a:cubicBezTo>
                  <a:pt x="217" y="1001"/>
                  <a:pt x="189" y="977"/>
                  <a:pt x="163" y="951"/>
                </a:cubicBezTo>
                <a:cubicBezTo>
                  <a:pt x="137" y="925"/>
                  <a:pt x="114" y="897"/>
                  <a:pt x="94" y="867"/>
                </a:cubicBezTo>
                <a:cubicBezTo>
                  <a:pt x="74" y="836"/>
                  <a:pt x="56" y="804"/>
                  <a:pt x="42" y="770"/>
                </a:cubicBezTo>
                <a:cubicBezTo>
                  <a:pt x="28" y="736"/>
                  <a:pt x="18" y="702"/>
                  <a:pt x="11" y="666"/>
                </a:cubicBezTo>
                <a:cubicBezTo>
                  <a:pt x="4" y="630"/>
                  <a:pt x="0" y="594"/>
                  <a:pt x="0" y="557"/>
                </a:cubicBezTo>
                <a:cubicBezTo>
                  <a:pt x="0" y="520"/>
                  <a:pt x="4" y="484"/>
                  <a:pt x="11" y="448"/>
                </a:cubicBezTo>
                <a:cubicBezTo>
                  <a:pt x="18" y="412"/>
                  <a:pt x="28" y="378"/>
                  <a:pt x="42" y="344"/>
                </a:cubicBezTo>
                <a:cubicBezTo>
                  <a:pt x="56" y="310"/>
                  <a:pt x="74" y="278"/>
                  <a:pt x="94" y="248"/>
                </a:cubicBezTo>
                <a:cubicBezTo>
                  <a:pt x="114" y="217"/>
                  <a:pt x="137" y="189"/>
                  <a:pt x="163" y="163"/>
                </a:cubicBezTo>
                <a:cubicBezTo>
                  <a:pt x="189" y="137"/>
                  <a:pt x="217" y="114"/>
                  <a:pt x="248" y="94"/>
                </a:cubicBezTo>
                <a:cubicBezTo>
                  <a:pt x="278" y="74"/>
                  <a:pt x="310" y="56"/>
                  <a:pt x="344" y="42"/>
                </a:cubicBezTo>
                <a:cubicBezTo>
                  <a:pt x="378" y="28"/>
                  <a:pt x="413" y="18"/>
                  <a:pt x="448" y="11"/>
                </a:cubicBezTo>
                <a:cubicBezTo>
                  <a:pt x="484" y="4"/>
                  <a:pt x="521" y="0"/>
                  <a:pt x="557" y="0"/>
                </a:cubicBezTo>
                <a:cubicBezTo>
                  <a:pt x="594" y="0"/>
                  <a:pt x="630" y="4"/>
                  <a:pt x="666" y="11"/>
                </a:cubicBezTo>
                <a:cubicBezTo>
                  <a:pt x="702" y="18"/>
                  <a:pt x="737" y="28"/>
                  <a:pt x="771" y="42"/>
                </a:cubicBezTo>
                <a:cubicBezTo>
                  <a:pt x="805" y="56"/>
                  <a:pt x="837" y="74"/>
                  <a:pt x="868" y="94"/>
                </a:cubicBezTo>
                <a:cubicBezTo>
                  <a:pt x="898" y="114"/>
                  <a:pt x="926" y="137"/>
                  <a:pt x="952" y="163"/>
                </a:cubicBezTo>
                <a:cubicBezTo>
                  <a:pt x="978" y="189"/>
                  <a:pt x="1001" y="217"/>
                  <a:pt x="1021" y="248"/>
                </a:cubicBezTo>
                <a:cubicBezTo>
                  <a:pt x="1042" y="278"/>
                  <a:pt x="1059" y="310"/>
                  <a:pt x="1073" y="344"/>
                </a:cubicBezTo>
                <a:cubicBezTo>
                  <a:pt x="1087" y="378"/>
                  <a:pt x="1097" y="412"/>
                  <a:pt x="1105" y="448"/>
                </a:cubicBezTo>
                <a:cubicBezTo>
                  <a:pt x="1112" y="484"/>
                  <a:pt x="1115" y="520"/>
                  <a:pt x="1115" y="557"/>
                </a:cubicBezTo>
                <a:close/>
              </a:path>
            </a:pathLst>
          </a:custGeom>
          <a:solidFill>
            <a:srgbClr val="B91C1C"/>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791" name="圖片 790"/>
          <p:cNvPicPr/>
          <p:nvPr/>
        </p:nvPicPr>
        <p:blipFill>
          <a:blip r:embed="rId9"/>
          <a:stretch>
            <a:fillRect/>
          </a:stretch>
        </p:blipFill>
        <p:spPr>
          <a:xfrm>
            <a:off x="827280" y="4353840"/>
            <a:ext cx="200160" cy="200160"/>
          </a:xfrm>
          <a:prstGeom prst="rect">
            <a:avLst/>
          </a:prstGeom>
          <a:noFill/>
          <a:ln w="0">
            <a:noFill/>
          </a:ln>
        </p:spPr>
      </p:pic>
      <p:sp>
        <p:nvSpPr>
          <p:cNvPr id="792" name="文字框 791"/>
          <p:cNvSpPr txBox="1"/>
          <p:nvPr/>
        </p:nvSpPr>
        <p:spPr>
          <a:xfrm>
            <a:off x="7479360" y="3564360"/>
            <a:ext cx="1291680" cy="148320"/>
          </a:xfrm>
          <a:prstGeom prst="rect">
            <a:avLst/>
          </a:prstGeom>
          <a:noFill/>
          <a:ln w="0">
            <a:noFill/>
          </a:ln>
        </p:spPr>
        <p:txBody>
          <a:bodyPr wrap="none" lIns="0" tIns="0" rIns="0" bIns="0" anchor="t">
            <a:spAutoFit/>
          </a:bodyPr>
          <a:p>
            <a:r>
              <a:rPr lang="zh-CN" sz="920" b="0" u="none" strike="noStrike">
                <a:solidFill>
                  <a:srgbClr val="FCD34D"/>
                </a:solidFill>
                <a:effectLst/>
                <a:uFillTx/>
                <a:latin typeface="WenQuanYiZenHei"/>
                <a:ea typeface="WenQuanYiZenHei"/>
              </a:rPr>
              <a:t>保本能力取决于危机根源</a:t>
            </a:r>
            <a:endParaRPr lang="en-US" sz="920" b="0" u="none" strike="noStrike">
              <a:solidFill>
                <a:srgbClr val="000000"/>
              </a:solidFill>
              <a:effectLst/>
              <a:uFillTx/>
              <a:latin typeface="Times New Roman" panose="02020603050405020304"/>
            </a:endParaRPr>
          </a:p>
        </p:txBody>
      </p:sp>
      <p:sp>
        <p:nvSpPr>
          <p:cNvPr id="793" name="文字框 792"/>
          <p:cNvSpPr txBox="1"/>
          <p:nvPr/>
        </p:nvSpPr>
        <p:spPr>
          <a:xfrm>
            <a:off x="1261800" y="435168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大宗商品</a:t>
            </a:r>
            <a:endParaRPr lang="en-US" sz="1320" b="0" u="none" strike="noStrike">
              <a:solidFill>
                <a:srgbClr val="000000"/>
              </a:solidFill>
              <a:effectLst/>
              <a:uFillTx/>
              <a:latin typeface="Times New Roman" panose="02020603050405020304"/>
            </a:endParaRPr>
          </a:p>
        </p:txBody>
      </p:sp>
      <p:sp>
        <p:nvSpPr>
          <p:cNvPr id="794" name="文字框 793"/>
          <p:cNvSpPr txBox="1"/>
          <p:nvPr/>
        </p:nvSpPr>
        <p:spPr>
          <a:xfrm>
            <a:off x="727200" y="480168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主要风险特征：</a:t>
            </a:r>
            <a:endParaRPr lang="en-US" sz="1050" b="0" u="none" strike="noStrike">
              <a:solidFill>
                <a:srgbClr val="000000"/>
              </a:solidFill>
              <a:effectLst/>
              <a:uFillTx/>
              <a:latin typeface="Times New Roman" panose="02020603050405020304"/>
            </a:endParaRPr>
          </a:p>
        </p:txBody>
      </p:sp>
      <p:sp>
        <p:nvSpPr>
          <p:cNvPr id="795" name="文字框 794"/>
          <p:cNvSpPr txBox="1"/>
          <p:nvPr/>
        </p:nvSpPr>
        <p:spPr>
          <a:xfrm>
            <a:off x="727200" y="5034960"/>
            <a:ext cx="18781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价格波动剧烈是其最显著的风险特征</a:t>
            </a:r>
            <a:endParaRPr lang="en-US" sz="920" b="0" u="none" strike="noStrike">
              <a:solidFill>
                <a:srgbClr val="000000"/>
              </a:solidFill>
              <a:effectLst/>
              <a:uFillTx/>
              <a:latin typeface="Times New Roman" panose="02020603050405020304"/>
            </a:endParaRPr>
          </a:p>
        </p:txBody>
      </p:sp>
      <p:sp>
        <p:nvSpPr>
          <p:cNvPr id="796" name="文字框 795"/>
          <p:cNvSpPr txBox="1"/>
          <p:nvPr/>
        </p:nvSpPr>
        <p:spPr>
          <a:xfrm>
            <a:off x="727200" y="530316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影响因素：</a:t>
            </a:r>
            <a:endParaRPr lang="en-US" sz="1050" b="0" u="none" strike="noStrike">
              <a:solidFill>
                <a:srgbClr val="000000"/>
              </a:solidFill>
              <a:effectLst/>
              <a:uFillTx/>
              <a:latin typeface="Times New Roman" panose="02020603050405020304"/>
            </a:endParaRPr>
          </a:p>
        </p:txBody>
      </p:sp>
      <p:sp>
        <p:nvSpPr>
          <p:cNvPr id="797" name="文字框 796"/>
          <p:cNvSpPr txBox="1"/>
          <p:nvPr/>
        </p:nvSpPr>
        <p:spPr>
          <a:xfrm>
            <a:off x="727200" y="5536440"/>
            <a:ext cx="26996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受全球供需、地缘政治和货币流动性等多重因素影响</a:t>
            </a:r>
            <a:endParaRPr lang="en-US" sz="920" b="0" u="none" strike="noStrike">
              <a:solidFill>
                <a:srgbClr val="000000"/>
              </a:solidFill>
              <a:effectLst/>
              <a:uFillTx/>
              <a:latin typeface="Times New Roman" panose="02020603050405020304"/>
            </a:endParaRPr>
          </a:p>
        </p:txBody>
      </p:sp>
      <p:sp>
        <p:nvSpPr>
          <p:cNvPr id="798" name="文字框 797"/>
          <p:cNvSpPr txBox="1"/>
          <p:nvPr/>
        </p:nvSpPr>
        <p:spPr>
          <a:xfrm>
            <a:off x="727200" y="580464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分化表现：</a:t>
            </a:r>
            <a:endParaRPr lang="en-US" sz="1050" b="0" u="none" strike="noStrike">
              <a:solidFill>
                <a:srgbClr val="000000"/>
              </a:solidFill>
              <a:effectLst/>
              <a:uFillTx/>
              <a:latin typeface="Times New Roman" panose="02020603050405020304"/>
            </a:endParaRPr>
          </a:p>
        </p:txBody>
      </p:sp>
      <p:sp>
        <p:nvSpPr>
          <p:cNvPr id="799" name="文字框 798"/>
          <p:cNvSpPr txBox="1"/>
          <p:nvPr/>
        </p:nvSpPr>
        <p:spPr>
          <a:xfrm>
            <a:off x="727200" y="6037920"/>
            <a:ext cx="26996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黄金等贵金属具有避险属性，工业类大宗商品在经济</a:t>
            </a:r>
            <a:endParaRPr lang="en-US" sz="920" b="0" u="none" strike="noStrike">
              <a:solidFill>
                <a:srgbClr val="000000"/>
              </a:solidFill>
              <a:effectLst/>
              <a:uFillTx/>
              <a:latin typeface="Times New Roman" panose="02020603050405020304"/>
            </a:endParaRPr>
          </a:p>
        </p:txBody>
      </p:sp>
      <p:sp>
        <p:nvSpPr>
          <p:cNvPr id="800" name="任意多邊形 799"/>
          <p:cNvSpPr/>
          <p:nvPr/>
        </p:nvSpPr>
        <p:spPr>
          <a:xfrm>
            <a:off x="726840" y="6459480"/>
            <a:ext cx="2716200" cy="8640"/>
          </a:xfrm>
          <a:custGeom>
            <a:avLst/>
            <a:gdLst/>
            <a:ahLst/>
            <a:cxnLst/>
            <a:rect l="0" t="0" r="r" b="b"/>
            <a:pathLst>
              <a:path w="7545" h="24">
                <a:moveTo>
                  <a:pt x="0" y="0"/>
                </a:moveTo>
                <a:lnTo>
                  <a:pt x="7545" y="0"/>
                </a:lnTo>
                <a:lnTo>
                  <a:pt x="7545"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01" name="圖片 800"/>
          <p:cNvPicPr/>
          <p:nvPr/>
        </p:nvPicPr>
        <p:blipFill>
          <a:blip r:embed="rId8"/>
          <a:stretch>
            <a:fillRect/>
          </a:stretch>
        </p:blipFill>
        <p:spPr>
          <a:xfrm>
            <a:off x="727200" y="6585120"/>
            <a:ext cx="133200" cy="133200"/>
          </a:xfrm>
          <a:prstGeom prst="rect">
            <a:avLst/>
          </a:prstGeom>
          <a:noFill/>
          <a:ln w="0">
            <a:noFill/>
          </a:ln>
        </p:spPr>
      </p:pic>
      <p:sp>
        <p:nvSpPr>
          <p:cNvPr id="802" name="文字框 801"/>
          <p:cNvSpPr txBox="1"/>
          <p:nvPr/>
        </p:nvSpPr>
        <p:spPr>
          <a:xfrm>
            <a:off x="727200" y="6204960"/>
            <a:ext cx="11743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衰退时需求会大幅萎缩</a:t>
            </a:r>
            <a:endParaRPr lang="en-US" sz="920" b="0" u="none" strike="noStrike">
              <a:solidFill>
                <a:srgbClr val="000000"/>
              </a:solidFill>
              <a:effectLst/>
              <a:uFillTx/>
              <a:latin typeface="Times New Roman" panose="02020603050405020304"/>
            </a:endParaRPr>
          </a:p>
        </p:txBody>
      </p:sp>
      <p:sp>
        <p:nvSpPr>
          <p:cNvPr id="803" name="任意多邊形 802"/>
          <p:cNvSpPr/>
          <p:nvPr/>
        </p:nvSpPr>
        <p:spPr>
          <a:xfrm>
            <a:off x="3822840" y="4086360"/>
            <a:ext cx="3063240" cy="2816280"/>
          </a:xfrm>
          <a:custGeom>
            <a:avLst/>
            <a:gdLst/>
            <a:ahLst/>
            <a:cxnLst/>
            <a:rect l="0" t="0" r="r" b="b"/>
            <a:pathLst>
              <a:path w="8509" h="7823">
                <a:moveTo>
                  <a:pt x="0" y="7638"/>
                </a:moveTo>
                <a:lnTo>
                  <a:pt x="0" y="185"/>
                </a:lnTo>
                <a:cubicBezTo>
                  <a:pt x="0" y="173"/>
                  <a:pt x="1" y="161"/>
                  <a:pt x="3" y="149"/>
                </a:cubicBezTo>
                <a:cubicBezTo>
                  <a:pt x="5" y="137"/>
                  <a:pt x="8" y="126"/>
                  <a:pt x="12" y="114"/>
                </a:cubicBezTo>
                <a:cubicBezTo>
                  <a:pt x="16" y="103"/>
                  <a:pt x="20" y="92"/>
                  <a:pt x="26" y="82"/>
                </a:cubicBezTo>
                <a:cubicBezTo>
                  <a:pt x="31" y="72"/>
                  <a:pt x="38" y="63"/>
                  <a:pt x="45" y="54"/>
                </a:cubicBezTo>
                <a:cubicBezTo>
                  <a:pt x="52" y="45"/>
                  <a:pt x="59" y="38"/>
                  <a:pt x="68" y="31"/>
                </a:cubicBezTo>
                <a:cubicBezTo>
                  <a:pt x="76" y="24"/>
                  <a:pt x="84" y="18"/>
                  <a:pt x="94" y="14"/>
                </a:cubicBezTo>
                <a:cubicBezTo>
                  <a:pt x="103" y="9"/>
                  <a:pt x="112" y="6"/>
                  <a:pt x="122" y="3"/>
                </a:cubicBezTo>
                <a:cubicBezTo>
                  <a:pt x="132" y="1"/>
                  <a:pt x="141" y="0"/>
                  <a:pt x="151" y="0"/>
                </a:cubicBezTo>
                <a:lnTo>
                  <a:pt x="8323" y="0"/>
                </a:lnTo>
                <a:cubicBezTo>
                  <a:pt x="8336" y="0"/>
                  <a:pt x="8348" y="1"/>
                  <a:pt x="8360" y="3"/>
                </a:cubicBezTo>
                <a:cubicBezTo>
                  <a:pt x="8372" y="6"/>
                  <a:pt x="8383" y="9"/>
                  <a:pt x="8394" y="14"/>
                </a:cubicBezTo>
                <a:cubicBezTo>
                  <a:pt x="8406" y="18"/>
                  <a:pt x="8416" y="24"/>
                  <a:pt x="8427" y="31"/>
                </a:cubicBezTo>
                <a:cubicBezTo>
                  <a:pt x="8437" y="38"/>
                  <a:pt x="8446" y="45"/>
                  <a:pt x="8455" y="54"/>
                </a:cubicBezTo>
                <a:cubicBezTo>
                  <a:pt x="8463" y="63"/>
                  <a:pt x="8471" y="72"/>
                  <a:pt x="8478" y="82"/>
                </a:cubicBezTo>
                <a:cubicBezTo>
                  <a:pt x="8485" y="92"/>
                  <a:pt x="8490" y="103"/>
                  <a:pt x="8495" y="114"/>
                </a:cubicBezTo>
                <a:cubicBezTo>
                  <a:pt x="8500" y="126"/>
                  <a:pt x="8503" y="137"/>
                  <a:pt x="8505" y="149"/>
                </a:cubicBezTo>
                <a:cubicBezTo>
                  <a:pt x="8508" y="161"/>
                  <a:pt x="8509" y="173"/>
                  <a:pt x="8509" y="185"/>
                </a:cubicBezTo>
                <a:lnTo>
                  <a:pt x="8509" y="7638"/>
                </a:lnTo>
                <a:cubicBezTo>
                  <a:pt x="8509" y="7650"/>
                  <a:pt x="8508" y="7662"/>
                  <a:pt x="8505" y="7674"/>
                </a:cubicBezTo>
                <a:cubicBezTo>
                  <a:pt x="8503" y="7686"/>
                  <a:pt x="8500" y="7698"/>
                  <a:pt x="8495" y="7709"/>
                </a:cubicBezTo>
                <a:cubicBezTo>
                  <a:pt x="8490" y="7720"/>
                  <a:pt x="8485" y="7731"/>
                  <a:pt x="8478" y="7741"/>
                </a:cubicBezTo>
                <a:cubicBezTo>
                  <a:pt x="8471" y="7751"/>
                  <a:pt x="8463" y="7760"/>
                  <a:pt x="8455" y="7769"/>
                </a:cubicBezTo>
                <a:cubicBezTo>
                  <a:pt x="8446" y="7778"/>
                  <a:pt x="8437" y="7785"/>
                  <a:pt x="8427" y="7792"/>
                </a:cubicBezTo>
                <a:cubicBezTo>
                  <a:pt x="8416" y="7799"/>
                  <a:pt x="8406" y="7805"/>
                  <a:pt x="8394" y="7809"/>
                </a:cubicBezTo>
                <a:cubicBezTo>
                  <a:pt x="8383" y="7814"/>
                  <a:pt x="8372" y="7818"/>
                  <a:pt x="8360" y="7820"/>
                </a:cubicBezTo>
                <a:cubicBezTo>
                  <a:pt x="8348" y="7822"/>
                  <a:pt x="8336" y="7823"/>
                  <a:pt x="8323" y="7823"/>
                </a:cubicBezTo>
                <a:lnTo>
                  <a:pt x="151" y="7823"/>
                </a:lnTo>
                <a:cubicBezTo>
                  <a:pt x="141" y="7823"/>
                  <a:pt x="132" y="7822"/>
                  <a:pt x="122" y="7820"/>
                </a:cubicBezTo>
                <a:cubicBezTo>
                  <a:pt x="112" y="7818"/>
                  <a:pt x="103" y="7814"/>
                  <a:pt x="94" y="7809"/>
                </a:cubicBezTo>
                <a:cubicBezTo>
                  <a:pt x="84" y="7805"/>
                  <a:pt x="76" y="7799"/>
                  <a:pt x="68" y="7792"/>
                </a:cubicBezTo>
                <a:cubicBezTo>
                  <a:pt x="59" y="7785"/>
                  <a:pt x="52" y="7778"/>
                  <a:pt x="45" y="7769"/>
                </a:cubicBezTo>
                <a:cubicBezTo>
                  <a:pt x="38" y="7760"/>
                  <a:pt x="31" y="7751"/>
                  <a:pt x="26" y="7741"/>
                </a:cubicBezTo>
                <a:cubicBezTo>
                  <a:pt x="20" y="7731"/>
                  <a:pt x="16" y="7720"/>
                  <a:pt x="12" y="7709"/>
                </a:cubicBezTo>
                <a:cubicBezTo>
                  <a:pt x="8" y="7698"/>
                  <a:pt x="5" y="7686"/>
                  <a:pt x="3" y="7674"/>
                </a:cubicBezTo>
                <a:cubicBezTo>
                  <a:pt x="1" y="7662"/>
                  <a:pt x="0" y="7650"/>
                  <a:pt x="0" y="763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04" name="任意多邊形 803"/>
          <p:cNvSpPr/>
          <p:nvPr/>
        </p:nvSpPr>
        <p:spPr>
          <a:xfrm>
            <a:off x="3810600" y="4086360"/>
            <a:ext cx="66960" cy="2816280"/>
          </a:xfrm>
          <a:custGeom>
            <a:avLst/>
            <a:gdLst/>
            <a:ahLst/>
            <a:cxnLst/>
            <a:rect l="0" t="0" r="r" b="b"/>
            <a:pathLst>
              <a:path w="186" h="7823">
                <a:moveTo>
                  <a:pt x="142" y="14"/>
                </a:moveTo>
                <a:cubicBezTo>
                  <a:pt x="128" y="23"/>
                  <a:pt x="115" y="37"/>
                  <a:pt x="104" y="54"/>
                </a:cubicBezTo>
                <a:cubicBezTo>
                  <a:pt x="93" y="71"/>
                  <a:pt x="85" y="92"/>
                  <a:pt x="79" y="114"/>
                </a:cubicBezTo>
                <a:cubicBezTo>
                  <a:pt x="73" y="137"/>
                  <a:pt x="70" y="161"/>
                  <a:pt x="70" y="185"/>
                </a:cubicBezTo>
                <a:lnTo>
                  <a:pt x="70" y="7638"/>
                </a:lnTo>
                <a:cubicBezTo>
                  <a:pt x="70" y="7662"/>
                  <a:pt x="73" y="7686"/>
                  <a:pt x="79" y="7709"/>
                </a:cubicBezTo>
                <a:cubicBezTo>
                  <a:pt x="85" y="7732"/>
                  <a:pt x="93" y="7752"/>
                  <a:pt x="104" y="7769"/>
                </a:cubicBezTo>
                <a:cubicBezTo>
                  <a:pt x="115" y="7787"/>
                  <a:pt x="128" y="7800"/>
                  <a:pt x="142" y="7809"/>
                </a:cubicBezTo>
                <a:cubicBezTo>
                  <a:pt x="156" y="7819"/>
                  <a:pt x="171" y="7823"/>
                  <a:pt x="186" y="7823"/>
                </a:cubicBezTo>
                <a:cubicBezTo>
                  <a:pt x="162" y="7823"/>
                  <a:pt x="138" y="7819"/>
                  <a:pt x="115" y="7809"/>
                </a:cubicBezTo>
                <a:cubicBezTo>
                  <a:pt x="93" y="7800"/>
                  <a:pt x="72" y="7787"/>
                  <a:pt x="55" y="7769"/>
                </a:cubicBezTo>
                <a:cubicBezTo>
                  <a:pt x="37" y="7752"/>
                  <a:pt x="23" y="7732"/>
                  <a:pt x="14" y="7709"/>
                </a:cubicBezTo>
                <a:cubicBezTo>
                  <a:pt x="4" y="7686"/>
                  <a:pt x="0" y="7662"/>
                  <a:pt x="0" y="7638"/>
                </a:cubicBezTo>
                <a:lnTo>
                  <a:pt x="0" y="185"/>
                </a:lnTo>
                <a:cubicBezTo>
                  <a:pt x="0" y="161"/>
                  <a:pt x="4" y="137"/>
                  <a:pt x="14" y="114"/>
                </a:cubicBezTo>
                <a:cubicBezTo>
                  <a:pt x="23" y="92"/>
                  <a:pt x="37" y="71"/>
                  <a:pt x="55" y="54"/>
                </a:cubicBezTo>
                <a:cubicBezTo>
                  <a:pt x="72" y="37"/>
                  <a:pt x="93" y="23"/>
                  <a:pt x="115" y="14"/>
                </a:cubicBezTo>
                <a:cubicBezTo>
                  <a:pt x="138" y="4"/>
                  <a:pt x="162" y="0"/>
                  <a:pt x="186" y="0"/>
                </a:cubicBezTo>
                <a:cubicBezTo>
                  <a:pt x="171" y="0"/>
                  <a:pt x="156" y="4"/>
                  <a:pt x="142"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05" name="任意多邊形 804"/>
          <p:cNvSpPr/>
          <p:nvPr/>
        </p:nvSpPr>
        <p:spPr>
          <a:xfrm>
            <a:off x="4002840" y="4253400"/>
            <a:ext cx="401400" cy="401400"/>
          </a:xfrm>
          <a:custGeom>
            <a:avLst/>
            <a:gdLst/>
            <a:ahLst/>
            <a:cxnLst/>
            <a:rect l="0" t="0" r="r" b="b"/>
            <a:pathLst>
              <a:path w="1115" h="1115">
                <a:moveTo>
                  <a:pt x="1115" y="557"/>
                </a:moveTo>
                <a:cubicBezTo>
                  <a:pt x="1115" y="594"/>
                  <a:pt x="1111" y="630"/>
                  <a:pt x="1104" y="666"/>
                </a:cubicBezTo>
                <a:cubicBezTo>
                  <a:pt x="1097" y="702"/>
                  <a:pt x="1086" y="736"/>
                  <a:pt x="1072" y="770"/>
                </a:cubicBezTo>
                <a:cubicBezTo>
                  <a:pt x="1058" y="804"/>
                  <a:pt x="1041" y="836"/>
                  <a:pt x="1021" y="867"/>
                </a:cubicBezTo>
                <a:cubicBezTo>
                  <a:pt x="1001" y="897"/>
                  <a:pt x="977" y="925"/>
                  <a:pt x="952" y="951"/>
                </a:cubicBezTo>
                <a:cubicBezTo>
                  <a:pt x="926" y="977"/>
                  <a:pt x="898" y="1001"/>
                  <a:pt x="867" y="1021"/>
                </a:cubicBezTo>
                <a:cubicBezTo>
                  <a:pt x="837" y="1042"/>
                  <a:pt x="805" y="1059"/>
                  <a:pt x="771" y="1073"/>
                </a:cubicBezTo>
                <a:cubicBezTo>
                  <a:pt x="737" y="1087"/>
                  <a:pt x="702" y="1097"/>
                  <a:pt x="666" y="1104"/>
                </a:cubicBezTo>
                <a:cubicBezTo>
                  <a:pt x="630" y="1112"/>
                  <a:pt x="594" y="1115"/>
                  <a:pt x="557" y="1115"/>
                </a:cubicBezTo>
                <a:cubicBezTo>
                  <a:pt x="520" y="1115"/>
                  <a:pt x="484" y="1112"/>
                  <a:pt x="448" y="1104"/>
                </a:cubicBezTo>
                <a:cubicBezTo>
                  <a:pt x="412" y="1097"/>
                  <a:pt x="377" y="1087"/>
                  <a:pt x="343" y="1073"/>
                </a:cubicBezTo>
                <a:cubicBezTo>
                  <a:pt x="310" y="1059"/>
                  <a:pt x="278" y="1042"/>
                  <a:pt x="247" y="1021"/>
                </a:cubicBezTo>
                <a:cubicBezTo>
                  <a:pt x="217" y="1001"/>
                  <a:pt x="189" y="977"/>
                  <a:pt x="163" y="951"/>
                </a:cubicBezTo>
                <a:cubicBezTo>
                  <a:pt x="137" y="925"/>
                  <a:pt x="114" y="897"/>
                  <a:pt x="93" y="867"/>
                </a:cubicBezTo>
                <a:cubicBezTo>
                  <a:pt x="73" y="836"/>
                  <a:pt x="56" y="804"/>
                  <a:pt x="42" y="770"/>
                </a:cubicBezTo>
                <a:cubicBezTo>
                  <a:pt x="28" y="736"/>
                  <a:pt x="17" y="702"/>
                  <a:pt x="10" y="666"/>
                </a:cubicBezTo>
                <a:cubicBezTo>
                  <a:pt x="3" y="630"/>
                  <a:pt x="0" y="594"/>
                  <a:pt x="0" y="557"/>
                </a:cubicBezTo>
                <a:cubicBezTo>
                  <a:pt x="0" y="520"/>
                  <a:pt x="3" y="484"/>
                  <a:pt x="10" y="448"/>
                </a:cubicBezTo>
                <a:cubicBezTo>
                  <a:pt x="17" y="412"/>
                  <a:pt x="28" y="378"/>
                  <a:pt x="42" y="344"/>
                </a:cubicBezTo>
                <a:cubicBezTo>
                  <a:pt x="56" y="310"/>
                  <a:pt x="73" y="278"/>
                  <a:pt x="93" y="248"/>
                </a:cubicBezTo>
                <a:cubicBezTo>
                  <a:pt x="114" y="217"/>
                  <a:pt x="137" y="189"/>
                  <a:pt x="163" y="163"/>
                </a:cubicBezTo>
                <a:cubicBezTo>
                  <a:pt x="189" y="137"/>
                  <a:pt x="217" y="114"/>
                  <a:pt x="247" y="94"/>
                </a:cubicBezTo>
                <a:cubicBezTo>
                  <a:pt x="278" y="74"/>
                  <a:pt x="310" y="56"/>
                  <a:pt x="343" y="42"/>
                </a:cubicBezTo>
                <a:cubicBezTo>
                  <a:pt x="377" y="28"/>
                  <a:pt x="412" y="18"/>
                  <a:pt x="448" y="11"/>
                </a:cubicBezTo>
                <a:cubicBezTo>
                  <a:pt x="484" y="4"/>
                  <a:pt x="520" y="0"/>
                  <a:pt x="557" y="0"/>
                </a:cubicBezTo>
                <a:cubicBezTo>
                  <a:pt x="594" y="0"/>
                  <a:pt x="630" y="4"/>
                  <a:pt x="666" y="11"/>
                </a:cubicBezTo>
                <a:cubicBezTo>
                  <a:pt x="702" y="18"/>
                  <a:pt x="737" y="28"/>
                  <a:pt x="771" y="42"/>
                </a:cubicBezTo>
                <a:cubicBezTo>
                  <a:pt x="805" y="56"/>
                  <a:pt x="837" y="74"/>
                  <a:pt x="867" y="94"/>
                </a:cubicBezTo>
                <a:cubicBezTo>
                  <a:pt x="898" y="114"/>
                  <a:pt x="926" y="137"/>
                  <a:pt x="952" y="163"/>
                </a:cubicBezTo>
                <a:cubicBezTo>
                  <a:pt x="977" y="189"/>
                  <a:pt x="1001" y="217"/>
                  <a:pt x="1021" y="248"/>
                </a:cubicBezTo>
                <a:cubicBezTo>
                  <a:pt x="1041" y="278"/>
                  <a:pt x="1058" y="310"/>
                  <a:pt x="1072" y="344"/>
                </a:cubicBezTo>
                <a:cubicBezTo>
                  <a:pt x="1086" y="378"/>
                  <a:pt x="1097" y="412"/>
                  <a:pt x="1104" y="448"/>
                </a:cubicBezTo>
                <a:cubicBezTo>
                  <a:pt x="1111" y="484"/>
                  <a:pt x="1115" y="520"/>
                  <a:pt x="1115" y="557"/>
                </a:cubicBezTo>
                <a:close/>
              </a:path>
            </a:pathLst>
          </a:custGeom>
          <a:solidFill>
            <a:srgbClr val="6D28D9"/>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06" name="圖片 805"/>
          <p:cNvPicPr/>
          <p:nvPr/>
        </p:nvPicPr>
        <p:blipFill>
          <a:blip r:embed="rId10"/>
          <a:stretch>
            <a:fillRect/>
          </a:stretch>
        </p:blipFill>
        <p:spPr>
          <a:xfrm>
            <a:off x="4103280" y="4353840"/>
            <a:ext cx="200160" cy="200160"/>
          </a:xfrm>
          <a:prstGeom prst="rect">
            <a:avLst/>
          </a:prstGeom>
          <a:noFill/>
          <a:ln w="0">
            <a:noFill/>
          </a:ln>
        </p:spPr>
      </p:pic>
      <p:sp>
        <p:nvSpPr>
          <p:cNvPr id="807" name="文字框 806"/>
          <p:cNvSpPr txBox="1"/>
          <p:nvPr/>
        </p:nvSpPr>
        <p:spPr>
          <a:xfrm>
            <a:off x="927720" y="6581160"/>
            <a:ext cx="1526400" cy="148320"/>
          </a:xfrm>
          <a:prstGeom prst="rect">
            <a:avLst/>
          </a:prstGeom>
          <a:noFill/>
          <a:ln w="0">
            <a:noFill/>
          </a:ln>
        </p:spPr>
        <p:txBody>
          <a:bodyPr wrap="none" lIns="0" tIns="0" rIns="0" bIns="0" anchor="t">
            <a:spAutoFit/>
          </a:bodyPr>
          <a:p>
            <a:r>
              <a:rPr lang="zh-CN" sz="920" b="0" u="none" strike="noStrike">
                <a:solidFill>
                  <a:srgbClr val="FCD34D"/>
                </a:solidFill>
                <a:effectLst/>
                <a:uFillTx/>
                <a:latin typeface="WenQuanYiZenHei"/>
                <a:ea typeface="WenQuanYiZenHei"/>
              </a:rPr>
              <a:t>保本能力因商品类型差异显著</a:t>
            </a:r>
            <a:endParaRPr lang="en-US" sz="920" b="0" u="none" strike="noStrike">
              <a:solidFill>
                <a:srgbClr val="000000"/>
              </a:solidFill>
              <a:effectLst/>
              <a:uFillTx/>
              <a:latin typeface="Times New Roman" panose="02020603050405020304"/>
            </a:endParaRPr>
          </a:p>
        </p:txBody>
      </p:sp>
      <p:sp>
        <p:nvSpPr>
          <p:cNvPr id="808" name="文字框 807"/>
          <p:cNvSpPr txBox="1"/>
          <p:nvPr/>
        </p:nvSpPr>
        <p:spPr>
          <a:xfrm>
            <a:off x="4537800" y="435168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另类投资</a:t>
            </a:r>
            <a:endParaRPr lang="en-US" sz="1320" b="0" u="none" strike="noStrike">
              <a:solidFill>
                <a:srgbClr val="000000"/>
              </a:solidFill>
              <a:effectLst/>
              <a:uFillTx/>
              <a:latin typeface="Times New Roman" panose="02020603050405020304"/>
            </a:endParaRPr>
          </a:p>
        </p:txBody>
      </p:sp>
      <p:sp>
        <p:nvSpPr>
          <p:cNvPr id="809" name="文字框 808"/>
          <p:cNvSpPr txBox="1"/>
          <p:nvPr/>
        </p:nvSpPr>
        <p:spPr>
          <a:xfrm>
            <a:off x="4002840" y="4801680"/>
            <a:ext cx="9396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主要风险来源：</a:t>
            </a:r>
            <a:endParaRPr lang="en-US" sz="1050" b="0" u="none" strike="noStrike">
              <a:solidFill>
                <a:srgbClr val="000000"/>
              </a:solidFill>
              <a:effectLst/>
              <a:uFillTx/>
              <a:latin typeface="Times New Roman" panose="02020603050405020304"/>
            </a:endParaRPr>
          </a:p>
        </p:txBody>
      </p:sp>
      <p:sp>
        <p:nvSpPr>
          <p:cNvPr id="810" name="文字框 809"/>
          <p:cNvSpPr txBox="1"/>
          <p:nvPr/>
        </p:nvSpPr>
        <p:spPr>
          <a:xfrm>
            <a:off x="4002840" y="5034960"/>
            <a:ext cx="14090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极低的流动性和估值不透明</a:t>
            </a:r>
            <a:endParaRPr lang="en-US" sz="920" b="0" u="none" strike="noStrike">
              <a:solidFill>
                <a:srgbClr val="000000"/>
              </a:solidFill>
              <a:effectLst/>
              <a:uFillTx/>
              <a:latin typeface="Times New Roman" panose="02020603050405020304"/>
            </a:endParaRPr>
          </a:p>
        </p:txBody>
      </p:sp>
      <p:sp>
        <p:nvSpPr>
          <p:cNvPr id="811" name="文字框 810"/>
          <p:cNvSpPr txBox="1"/>
          <p:nvPr/>
        </p:nvSpPr>
        <p:spPr>
          <a:xfrm>
            <a:off x="4002840" y="530316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锁定特性：</a:t>
            </a:r>
            <a:endParaRPr lang="en-US" sz="1050" b="0" u="none" strike="noStrike">
              <a:solidFill>
                <a:srgbClr val="000000"/>
              </a:solidFill>
              <a:effectLst/>
              <a:uFillTx/>
              <a:latin typeface="Times New Roman" panose="02020603050405020304"/>
            </a:endParaRPr>
          </a:p>
        </p:txBody>
      </p:sp>
      <p:sp>
        <p:nvSpPr>
          <p:cNvPr id="812" name="文字框 811"/>
          <p:cNvSpPr txBox="1"/>
          <p:nvPr/>
        </p:nvSpPr>
        <p:spPr>
          <a:xfrm>
            <a:off x="4002840" y="5536440"/>
            <a:ext cx="19954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私募股权基金通常有长达数年的锁定期</a:t>
            </a:r>
            <a:endParaRPr lang="en-US" sz="920" b="0" u="none" strike="noStrike">
              <a:solidFill>
                <a:srgbClr val="000000"/>
              </a:solidFill>
              <a:effectLst/>
              <a:uFillTx/>
              <a:latin typeface="Times New Roman" panose="02020603050405020304"/>
            </a:endParaRPr>
          </a:p>
        </p:txBody>
      </p:sp>
      <p:sp>
        <p:nvSpPr>
          <p:cNvPr id="813" name="文字框 812"/>
          <p:cNvSpPr txBox="1"/>
          <p:nvPr/>
        </p:nvSpPr>
        <p:spPr>
          <a:xfrm>
            <a:off x="4002840" y="580464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双面影响：</a:t>
            </a:r>
            <a:endParaRPr lang="en-US" sz="1050" b="0" u="none" strike="noStrike">
              <a:solidFill>
                <a:srgbClr val="000000"/>
              </a:solidFill>
              <a:effectLst/>
              <a:uFillTx/>
              <a:latin typeface="Times New Roman" panose="02020603050405020304"/>
            </a:endParaRPr>
          </a:p>
        </p:txBody>
      </p:sp>
      <p:sp>
        <p:nvSpPr>
          <p:cNvPr id="814" name="文字框 813"/>
          <p:cNvSpPr txBox="1"/>
          <p:nvPr/>
        </p:nvSpPr>
        <p:spPr>
          <a:xfrm>
            <a:off x="4002840" y="6037920"/>
            <a:ext cx="26996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非流动性避免了市场恐慌性抛售带来的价格暴跌，但</a:t>
            </a:r>
            <a:endParaRPr lang="en-US" sz="920" b="0" u="none" strike="noStrike">
              <a:solidFill>
                <a:srgbClr val="000000"/>
              </a:solidFill>
              <a:effectLst/>
              <a:uFillTx/>
              <a:latin typeface="Times New Roman" panose="02020603050405020304"/>
            </a:endParaRPr>
          </a:p>
        </p:txBody>
      </p:sp>
      <p:sp>
        <p:nvSpPr>
          <p:cNvPr id="815" name="任意多邊形 814"/>
          <p:cNvSpPr/>
          <p:nvPr/>
        </p:nvSpPr>
        <p:spPr>
          <a:xfrm>
            <a:off x="4002840" y="6459480"/>
            <a:ext cx="2716200" cy="8640"/>
          </a:xfrm>
          <a:custGeom>
            <a:avLst/>
            <a:gdLst/>
            <a:ahLst/>
            <a:cxnLst/>
            <a:rect l="0" t="0" r="r" b="b"/>
            <a:pathLst>
              <a:path w="7545" h="24">
                <a:moveTo>
                  <a:pt x="0" y="0"/>
                </a:moveTo>
                <a:lnTo>
                  <a:pt x="7545" y="0"/>
                </a:lnTo>
                <a:lnTo>
                  <a:pt x="7545"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16" name="圖片 815"/>
          <p:cNvPicPr/>
          <p:nvPr/>
        </p:nvPicPr>
        <p:blipFill>
          <a:blip r:embed="rId8"/>
          <a:stretch>
            <a:fillRect/>
          </a:stretch>
        </p:blipFill>
        <p:spPr>
          <a:xfrm>
            <a:off x="4002840" y="6585120"/>
            <a:ext cx="133200" cy="133200"/>
          </a:xfrm>
          <a:prstGeom prst="rect">
            <a:avLst/>
          </a:prstGeom>
          <a:noFill/>
          <a:ln w="0">
            <a:noFill/>
          </a:ln>
        </p:spPr>
      </p:pic>
      <p:sp>
        <p:nvSpPr>
          <p:cNvPr id="817" name="文字框 816"/>
          <p:cNvSpPr txBox="1"/>
          <p:nvPr/>
        </p:nvSpPr>
        <p:spPr>
          <a:xfrm>
            <a:off x="4002840" y="6204960"/>
            <a:ext cx="17611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也限制了在需要时获取现金的能力</a:t>
            </a:r>
            <a:endParaRPr lang="en-US" sz="920" b="0" u="none" strike="noStrike">
              <a:solidFill>
                <a:srgbClr val="000000"/>
              </a:solidFill>
              <a:effectLst/>
              <a:uFillTx/>
              <a:latin typeface="Times New Roman" panose="02020603050405020304"/>
            </a:endParaRPr>
          </a:p>
        </p:txBody>
      </p:sp>
      <p:sp>
        <p:nvSpPr>
          <p:cNvPr id="818" name="任意多邊形 817"/>
          <p:cNvSpPr/>
          <p:nvPr/>
        </p:nvSpPr>
        <p:spPr>
          <a:xfrm>
            <a:off x="7098840" y="4086360"/>
            <a:ext cx="3063240" cy="2816280"/>
          </a:xfrm>
          <a:custGeom>
            <a:avLst/>
            <a:gdLst/>
            <a:ahLst/>
            <a:cxnLst/>
            <a:rect l="0" t="0" r="r" b="b"/>
            <a:pathLst>
              <a:path w="8509" h="7823">
                <a:moveTo>
                  <a:pt x="0" y="7638"/>
                </a:moveTo>
                <a:lnTo>
                  <a:pt x="0" y="185"/>
                </a:lnTo>
                <a:cubicBezTo>
                  <a:pt x="0" y="173"/>
                  <a:pt x="1" y="161"/>
                  <a:pt x="3" y="149"/>
                </a:cubicBezTo>
                <a:cubicBezTo>
                  <a:pt x="5" y="137"/>
                  <a:pt x="8" y="126"/>
                  <a:pt x="11" y="114"/>
                </a:cubicBezTo>
                <a:cubicBezTo>
                  <a:pt x="15" y="103"/>
                  <a:pt x="20" y="92"/>
                  <a:pt x="25" y="82"/>
                </a:cubicBezTo>
                <a:cubicBezTo>
                  <a:pt x="31" y="72"/>
                  <a:pt x="37" y="63"/>
                  <a:pt x="44" y="54"/>
                </a:cubicBezTo>
                <a:cubicBezTo>
                  <a:pt x="51" y="45"/>
                  <a:pt x="59" y="38"/>
                  <a:pt x="67" y="31"/>
                </a:cubicBezTo>
                <a:cubicBezTo>
                  <a:pt x="75" y="24"/>
                  <a:pt x="84" y="18"/>
                  <a:pt x="93" y="14"/>
                </a:cubicBezTo>
                <a:cubicBezTo>
                  <a:pt x="102" y="9"/>
                  <a:pt x="112" y="6"/>
                  <a:pt x="121" y="3"/>
                </a:cubicBezTo>
                <a:cubicBezTo>
                  <a:pt x="131" y="1"/>
                  <a:pt x="141" y="0"/>
                  <a:pt x="151" y="0"/>
                </a:cubicBezTo>
                <a:lnTo>
                  <a:pt x="8323" y="0"/>
                </a:lnTo>
                <a:cubicBezTo>
                  <a:pt x="8335" y="0"/>
                  <a:pt x="8347" y="1"/>
                  <a:pt x="8359" y="3"/>
                </a:cubicBezTo>
                <a:cubicBezTo>
                  <a:pt x="8371" y="6"/>
                  <a:pt x="8383" y="9"/>
                  <a:pt x="8394" y="14"/>
                </a:cubicBezTo>
                <a:cubicBezTo>
                  <a:pt x="8405" y="18"/>
                  <a:pt x="8416" y="24"/>
                  <a:pt x="8426" y="31"/>
                </a:cubicBezTo>
                <a:cubicBezTo>
                  <a:pt x="8436" y="38"/>
                  <a:pt x="8446" y="45"/>
                  <a:pt x="8454" y="54"/>
                </a:cubicBezTo>
                <a:cubicBezTo>
                  <a:pt x="8463" y="63"/>
                  <a:pt x="8470" y="72"/>
                  <a:pt x="8477" y="82"/>
                </a:cubicBezTo>
                <a:cubicBezTo>
                  <a:pt x="8484" y="92"/>
                  <a:pt x="8490" y="103"/>
                  <a:pt x="8494" y="114"/>
                </a:cubicBezTo>
                <a:cubicBezTo>
                  <a:pt x="8499" y="126"/>
                  <a:pt x="8503" y="137"/>
                  <a:pt x="8505" y="149"/>
                </a:cubicBezTo>
                <a:cubicBezTo>
                  <a:pt x="8507" y="161"/>
                  <a:pt x="8509" y="173"/>
                  <a:pt x="8509" y="185"/>
                </a:cubicBezTo>
                <a:lnTo>
                  <a:pt x="8509" y="7638"/>
                </a:lnTo>
                <a:cubicBezTo>
                  <a:pt x="8509" y="7650"/>
                  <a:pt x="8507" y="7662"/>
                  <a:pt x="8505" y="7674"/>
                </a:cubicBezTo>
                <a:cubicBezTo>
                  <a:pt x="8503" y="7686"/>
                  <a:pt x="8499" y="7698"/>
                  <a:pt x="8494" y="7709"/>
                </a:cubicBezTo>
                <a:cubicBezTo>
                  <a:pt x="8490" y="7720"/>
                  <a:pt x="8484" y="7731"/>
                  <a:pt x="8477" y="7741"/>
                </a:cubicBezTo>
                <a:cubicBezTo>
                  <a:pt x="8470" y="7751"/>
                  <a:pt x="8463" y="7760"/>
                  <a:pt x="8454" y="7769"/>
                </a:cubicBezTo>
                <a:cubicBezTo>
                  <a:pt x="8446" y="7778"/>
                  <a:pt x="8436" y="7785"/>
                  <a:pt x="8426" y="7792"/>
                </a:cubicBezTo>
                <a:cubicBezTo>
                  <a:pt x="8416" y="7799"/>
                  <a:pt x="8405" y="7805"/>
                  <a:pt x="8394" y="7809"/>
                </a:cubicBezTo>
                <a:cubicBezTo>
                  <a:pt x="8383" y="7814"/>
                  <a:pt x="8371" y="7818"/>
                  <a:pt x="8359" y="7820"/>
                </a:cubicBezTo>
                <a:cubicBezTo>
                  <a:pt x="8347" y="7822"/>
                  <a:pt x="8335" y="7823"/>
                  <a:pt x="8323" y="7823"/>
                </a:cubicBezTo>
                <a:lnTo>
                  <a:pt x="151" y="7823"/>
                </a:lnTo>
                <a:cubicBezTo>
                  <a:pt x="141" y="7823"/>
                  <a:pt x="131" y="7822"/>
                  <a:pt x="121" y="7820"/>
                </a:cubicBezTo>
                <a:cubicBezTo>
                  <a:pt x="112" y="7818"/>
                  <a:pt x="102" y="7814"/>
                  <a:pt x="93" y="7809"/>
                </a:cubicBezTo>
                <a:cubicBezTo>
                  <a:pt x="84" y="7805"/>
                  <a:pt x="75" y="7799"/>
                  <a:pt x="67" y="7792"/>
                </a:cubicBezTo>
                <a:cubicBezTo>
                  <a:pt x="59" y="7785"/>
                  <a:pt x="51" y="7778"/>
                  <a:pt x="44" y="7769"/>
                </a:cubicBezTo>
                <a:cubicBezTo>
                  <a:pt x="37" y="7760"/>
                  <a:pt x="31" y="7751"/>
                  <a:pt x="25" y="7741"/>
                </a:cubicBezTo>
                <a:cubicBezTo>
                  <a:pt x="20" y="7731"/>
                  <a:pt x="15" y="7720"/>
                  <a:pt x="11" y="7709"/>
                </a:cubicBezTo>
                <a:cubicBezTo>
                  <a:pt x="8" y="7698"/>
                  <a:pt x="5" y="7686"/>
                  <a:pt x="3" y="7674"/>
                </a:cubicBezTo>
                <a:cubicBezTo>
                  <a:pt x="1" y="7662"/>
                  <a:pt x="0" y="7650"/>
                  <a:pt x="0" y="763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19" name="任意多邊形 818"/>
          <p:cNvSpPr/>
          <p:nvPr/>
        </p:nvSpPr>
        <p:spPr>
          <a:xfrm>
            <a:off x="7086240" y="4086360"/>
            <a:ext cx="67320" cy="2816280"/>
          </a:xfrm>
          <a:custGeom>
            <a:avLst/>
            <a:gdLst/>
            <a:ahLst/>
            <a:cxnLst/>
            <a:rect l="0" t="0" r="r" b="b"/>
            <a:pathLst>
              <a:path w="187" h="7823">
                <a:moveTo>
                  <a:pt x="0" y="0"/>
                </a:moveTo>
                <a:lnTo>
                  <a:pt x="187" y="0"/>
                </a:lnTo>
                <a:lnTo>
                  <a:pt x="187" y="7823"/>
                </a:lnTo>
                <a:lnTo>
                  <a:pt x="0" y="7823"/>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20" name="任意多邊形 819"/>
          <p:cNvSpPr/>
          <p:nvPr/>
        </p:nvSpPr>
        <p:spPr>
          <a:xfrm>
            <a:off x="7278480" y="4253400"/>
            <a:ext cx="401400" cy="401400"/>
          </a:xfrm>
          <a:custGeom>
            <a:avLst/>
            <a:gdLst/>
            <a:ahLst/>
            <a:cxnLst/>
            <a:rect l="0" t="0" r="r" b="b"/>
            <a:pathLst>
              <a:path w="1115" h="1115">
                <a:moveTo>
                  <a:pt x="1115" y="557"/>
                </a:moveTo>
                <a:cubicBezTo>
                  <a:pt x="1115" y="594"/>
                  <a:pt x="1112" y="630"/>
                  <a:pt x="1105" y="666"/>
                </a:cubicBezTo>
                <a:cubicBezTo>
                  <a:pt x="1097" y="702"/>
                  <a:pt x="1087" y="736"/>
                  <a:pt x="1073" y="770"/>
                </a:cubicBezTo>
                <a:cubicBezTo>
                  <a:pt x="1059" y="804"/>
                  <a:pt x="1042" y="836"/>
                  <a:pt x="1021" y="867"/>
                </a:cubicBezTo>
                <a:cubicBezTo>
                  <a:pt x="1001" y="897"/>
                  <a:pt x="978" y="925"/>
                  <a:pt x="952" y="951"/>
                </a:cubicBezTo>
                <a:cubicBezTo>
                  <a:pt x="926" y="977"/>
                  <a:pt x="898" y="1001"/>
                  <a:pt x="868" y="1021"/>
                </a:cubicBezTo>
                <a:cubicBezTo>
                  <a:pt x="837" y="1042"/>
                  <a:pt x="805" y="1059"/>
                  <a:pt x="771" y="1073"/>
                </a:cubicBezTo>
                <a:cubicBezTo>
                  <a:pt x="738" y="1087"/>
                  <a:pt x="703" y="1097"/>
                  <a:pt x="667" y="1104"/>
                </a:cubicBezTo>
                <a:cubicBezTo>
                  <a:pt x="631" y="1112"/>
                  <a:pt x="595" y="1115"/>
                  <a:pt x="558" y="1115"/>
                </a:cubicBezTo>
                <a:cubicBezTo>
                  <a:pt x="522" y="1115"/>
                  <a:pt x="485" y="1112"/>
                  <a:pt x="449" y="1104"/>
                </a:cubicBezTo>
                <a:cubicBezTo>
                  <a:pt x="414" y="1097"/>
                  <a:pt x="378" y="1087"/>
                  <a:pt x="344" y="1073"/>
                </a:cubicBezTo>
                <a:cubicBezTo>
                  <a:pt x="310" y="1059"/>
                  <a:pt x="278" y="1042"/>
                  <a:pt x="248" y="1021"/>
                </a:cubicBezTo>
                <a:cubicBezTo>
                  <a:pt x="217" y="1001"/>
                  <a:pt x="189" y="977"/>
                  <a:pt x="163" y="951"/>
                </a:cubicBezTo>
                <a:cubicBezTo>
                  <a:pt x="137" y="925"/>
                  <a:pt x="114" y="897"/>
                  <a:pt x="94" y="867"/>
                </a:cubicBezTo>
                <a:cubicBezTo>
                  <a:pt x="74" y="836"/>
                  <a:pt x="56" y="804"/>
                  <a:pt x="42" y="770"/>
                </a:cubicBezTo>
                <a:cubicBezTo>
                  <a:pt x="28" y="736"/>
                  <a:pt x="18" y="702"/>
                  <a:pt x="11" y="666"/>
                </a:cubicBezTo>
                <a:cubicBezTo>
                  <a:pt x="4" y="630"/>
                  <a:pt x="0" y="594"/>
                  <a:pt x="0" y="557"/>
                </a:cubicBezTo>
                <a:cubicBezTo>
                  <a:pt x="0" y="520"/>
                  <a:pt x="4" y="484"/>
                  <a:pt x="11" y="448"/>
                </a:cubicBezTo>
                <a:cubicBezTo>
                  <a:pt x="18" y="412"/>
                  <a:pt x="28" y="378"/>
                  <a:pt x="42" y="344"/>
                </a:cubicBezTo>
                <a:cubicBezTo>
                  <a:pt x="56" y="310"/>
                  <a:pt x="74" y="278"/>
                  <a:pt x="94" y="248"/>
                </a:cubicBezTo>
                <a:cubicBezTo>
                  <a:pt x="114" y="217"/>
                  <a:pt x="137" y="189"/>
                  <a:pt x="163" y="163"/>
                </a:cubicBezTo>
                <a:cubicBezTo>
                  <a:pt x="189" y="137"/>
                  <a:pt x="217" y="114"/>
                  <a:pt x="248" y="94"/>
                </a:cubicBezTo>
                <a:cubicBezTo>
                  <a:pt x="278" y="74"/>
                  <a:pt x="310" y="56"/>
                  <a:pt x="344" y="42"/>
                </a:cubicBezTo>
                <a:cubicBezTo>
                  <a:pt x="378" y="28"/>
                  <a:pt x="414" y="18"/>
                  <a:pt x="449" y="11"/>
                </a:cubicBezTo>
                <a:cubicBezTo>
                  <a:pt x="485" y="4"/>
                  <a:pt x="522" y="0"/>
                  <a:pt x="558" y="0"/>
                </a:cubicBezTo>
                <a:cubicBezTo>
                  <a:pt x="595" y="0"/>
                  <a:pt x="631" y="4"/>
                  <a:pt x="667" y="11"/>
                </a:cubicBezTo>
                <a:cubicBezTo>
                  <a:pt x="703" y="18"/>
                  <a:pt x="738" y="28"/>
                  <a:pt x="771" y="42"/>
                </a:cubicBezTo>
                <a:cubicBezTo>
                  <a:pt x="805" y="56"/>
                  <a:pt x="837" y="74"/>
                  <a:pt x="868" y="94"/>
                </a:cubicBezTo>
                <a:cubicBezTo>
                  <a:pt x="898" y="114"/>
                  <a:pt x="926" y="137"/>
                  <a:pt x="952" y="163"/>
                </a:cubicBezTo>
                <a:cubicBezTo>
                  <a:pt x="978" y="189"/>
                  <a:pt x="1001" y="217"/>
                  <a:pt x="1021" y="248"/>
                </a:cubicBezTo>
                <a:cubicBezTo>
                  <a:pt x="1042" y="278"/>
                  <a:pt x="1059" y="310"/>
                  <a:pt x="1073" y="344"/>
                </a:cubicBezTo>
                <a:cubicBezTo>
                  <a:pt x="1087" y="378"/>
                  <a:pt x="1097" y="412"/>
                  <a:pt x="1105" y="448"/>
                </a:cubicBezTo>
                <a:cubicBezTo>
                  <a:pt x="1112" y="484"/>
                  <a:pt x="1115" y="520"/>
                  <a:pt x="1115" y="557"/>
                </a:cubicBezTo>
                <a:close/>
              </a:path>
            </a:pathLst>
          </a:custGeom>
          <a:solidFill>
            <a:srgbClr val="37415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21" name="圖片 820"/>
          <p:cNvPicPr/>
          <p:nvPr/>
        </p:nvPicPr>
        <p:blipFill>
          <a:blip r:embed="rId11"/>
          <a:stretch>
            <a:fillRect/>
          </a:stretch>
        </p:blipFill>
        <p:spPr>
          <a:xfrm>
            <a:off x="7353720" y="4353840"/>
            <a:ext cx="250200" cy="200160"/>
          </a:xfrm>
          <a:prstGeom prst="rect">
            <a:avLst/>
          </a:prstGeom>
          <a:noFill/>
          <a:ln w="0">
            <a:noFill/>
          </a:ln>
        </p:spPr>
      </p:pic>
      <p:sp>
        <p:nvSpPr>
          <p:cNvPr id="822" name="文字框 821"/>
          <p:cNvSpPr txBox="1"/>
          <p:nvPr/>
        </p:nvSpPr>
        <p:spPr>
          <a:xfrm>
            <a:off x="4203360" y="6581160"/>
            <a:ext cx="1291680" cy="148320"/>
          </a:xfrm>
          <a:prstGeom prst="rect">
            <a:avLst/>
          </a:prstGeom>
          <a:noFill/>
          <a:ln w="0">
            <a:noFill/>
          </a:ln>
        </p:spPr>
        <p:txBody>
          <a:bodyPr wrap="none" lIns="0" tIns="0" rIns="0" bIns="0" anchor="t">
            <a:spAutoFit/>
          </a:bodyPr>
          <a:p>
            <a:r>
              <a:rPr lang="zh-CN" sz="920" b="0" u="none" strike="noStrike">
                <a:solidFill>
                  <a:srgbClr val="FCD34D"/>
                </a:solidFill>
                <a:effectLst/>
                <a:uFillTx/>
                <a:latin typeface="WenQuanYiZenHei"/>
                <a:ea typeface="WenQuanYiZenHei"/>
              </a:rPr>
              <a:t>保本能力高但流动性极差</a:t>
            </a:r>
            <a:endParaRPr lang="en-US" sz="920" b="0" u="none" strike="noStrike">
              <a:solidFill>
                <a:srgbClr val="000000"/>
              </a:solidFill>
              <a:effectLst/>
              <a:uFillTx/>
              <a:latin typeface="Times New Roman" panose="02020603050405020304"/>
            </a:endParaRPr>
          </a:p>
        </p:txBody>
      </p:sp>
      <p:pic>
        <p:nvPicPr>
          <p:cNvPr id="823" name="圖片 822"/>
          <p:cNvPicPr/>
          <p:nvPr/>
        </p:nvPicPr>
        <p:blipFill>
          <a:blip r:embed="rId12"/>
          <a:stretch>
            <a:fillRect/>
          </a:stretch>
        </p:blipFill>
        <p:spPr>
          <a:xfrm>
            <a:off x="7278840" y="4788360"/>
            <a:ext cx="2715480" cy="1403640"/>
          </a:xfrm>
          <a:prstGeom prst="rect">
            <a:avLst/>
          </a:prstGeom>
          <a:noFill/>
          <a:ln w="0">
            <a:noFill/>
          </a:ln>
        </p:spPr>
      </p:pic>
      <p:sp>
        <p:nvSpPr>
          <p:cNvPr id="824" name="任意多邊形 823"/>
          <p:cNvSpPr/>
          <p:nvPr/>
        </p:nvSpPr>
        <p:spPr>
          <a:xfrm>
            <a:off x="7278480" y="6292440"/>
            <a:ext cx="2716200" cy="8640"/>
          </a:xfrm>
          <a:custGeom>
            <a:avLst/>
            <a:gdLst/>
            <a:ahLst/>
            <a:cxnLst/>
            <a:rect l="0" t="0" r="r" b="b"/>
            <a:pathLst>
              <a:path w="7545" h="24">
                <a:moveTo>
                  <a:pt x="0" y="0"/>
                </a:moveTo>
                <a:lnTo>
                  <a:pt x="7545" y="0"/>
                </a:lnTo>
                <a:lnTo>
                  <a:pt x="7545"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825" name="文字框 824"/>
          <p:cNvSpPr txBox="1"/>
          <p:nvPr/>
        </p:nvSpPr>
        <p:spPr>
          <a:xfrm>
            <a:off x="7813440" y="4351680"/>
            <a:ext cx="100656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风险特征总结</a:t>
            </a:r>
            <a:endParaRPr lang="en-US" sz="1320" b="0" u="none" strike="noStrike">
              <a:solidFill>
                <a:srgbClr val="000000"/>
              </a:solidFill>
              <a:effectLst/>
              <a:uFillTx/>
              <a:latin typeface="Times New Roman" panose="02020603050405020304"/>
            </a:endParaRPr>
          </a:p>
        </p:txBody>
      </p:sp>
      <p:sp>
        <p:nvSpPr>
          <p:cNvPr id="826" name="文字框 825"/>
          <p:cNvSpPr txBox="1"/>
          <p:nvPr/>
        </p:nvSpPr>
        <p:spPr>
          <a:xfrm>
            <a:off x="7278840" y="6413760"/>
            <a:ext cx="26996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各类资产的风险特征决定了其在危机中的保本能力，</a:t>
            </a:r>
            <a:endParaRPr lang="en-US" sz="920" b="0" u="none" strike="noStrike">
              <a:solidFill>
                <a:srgbClr val="000000"/>
              </a:solidFill>
              <a:effectLst/>
              <a:uFillTx/>
              <a:latin typeface="Times New Roman" panose="02020603050405020304"/>
            </a:endParaRPr>
          </a:p>
        </p:txBody>
      </p:sp>
      <p:sp>
        <p:nvSpPr>
          <p:cNvPr id="827" name="文字框 826"/>
          <p:cNvSpPr txBox="1"/>
          <p:nvPr/>
        </p:nvSpPr>
        <p:spPr>
          <a:xfrm>
            <a:off x="7278840" y="6581160"/>
            <a:ext cx="24649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投资者应根据自身风险承受能力进行合理配置。</a:t>
            </a:r>
            <a:endParaRPr lang="en-US" sz="920" b="0" u="none" strike="noStrike">
              <a:solidFill>
                <a:srgbClr val="000000"/>
              </a:solidFill>
              <a:effectLst/>
              <a:uFillTx/>
              <a:latin typeface="Times New Roman" panose="02020603050405020304"/>
            </a:endParaRPr>
          </a:p>
        </p:txBody>
      </p:sp>
      <p:sp>
        <p:nvSpPr>
          <p:cNvPr id="828" name="文字框 827"/>
          <p:cNvSpPr txBox="1"/>
          <p:nvPr/>
        </p:nvSpPr>
        <p:spPr>
          <a:xfrm>
            <a:off x="534960" y="711576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829" name="文字框 828"/>
          <p:cNvSpPr txBox="1"/>
          <p:nvPr/>
        </p:nvSpPr>
        <p:spPr>
          <a:xfrm>
            <a:off x="9750240" y="7120080"/>
            <a:ext cx="22669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12 / 24</a:t>
            </a:r>
            <a:endParaRPr lang="en-US" sz="92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0" name="圖片 829"/>
          <p:cNvPicPr/>
          <p:nvPr/>
        </p:nvPicPr>
        <p:blipFill>
          <a:blip r:embed="rId1"/>
          <a:stretch>
            <a:fillRect/>
          </a:stretch>
        </p:blipFill>
        <p:spPr>
          <a:xfrm>
            <a:off x="0" y="0"/>
            <a:ext cx="10696320" cy="7152840"/>
          </a:xfrm>
          <a:prstGeom prst="rect">
            <a:avLst/>
          </a:prstGeom>
          <a:noFill/>
          <a:ln w="0">
            <a:noFill/>
          </a:ln>
        </p:spPr>
      </p:pic>
      <p:pic>
        <p:nvPicPr>
          <p:cNvPr id="831" name="圖片 830"/>
          <p:cNvPicPr/>
          <p:nvPr/>
        </p:nvPicPr>
        <p:blipFill>
          <a:blip r:embed="rId2"/>
          <a:stretch>
            <a:fillRect/>
          </a:stretch>
        </p:blipFill>
        <p:spPr>
          <a:xfrm>
            <a:off x="534960" y="735480"/>
            <a:ext cx="3208680" cy="33120"/>
          </a:xfrm>
          <a:prstGeom prst="rect">
            <a:avLst/>
          </a:prstGeom>
          <a:noFill/>
          <a:ln w="0">
            <a:noFill/>
          </a:ln>
        </p:spPr>
      </p:pic>
      <p:sp>
        <p:nvSpPr>
          <p:cNvPr id="832" name="任意多邊形 831"/>
          <p:cNvSpPr/>
          <p:nvPr/>
        </p:nvSpPr>
        <p:spPr>
          <a:xfrm>
            <a:off x="551520" y="902520"/>
            <a:ext cx="4696560" cy="2172960"/>
          </a:xfrm>
          <a:custGeom>
            <a:avLst/>
            <a:gdLst/>
            <a:ahLst/>
            <a:cxnLst/>
            <a:rect l="0" t="0" r="r" b="b"/>
            <a:pathLst>
              <a:path w="13046" h="6036">
                <a:moveTo>
                  <a:pt x="0" y="5850"/>
                </a:moveTo>
                <a:lnTo>
                  <a:pt x="0" y="185"/>
                </a:lnTo>
                <a:cubicBezTo>
                  <a:pt x="0" y="173"/>
                  <a:pt x="0" y="161"/>
                  <a:pt x="2" y="149"/>
                </a:cubicBezTo>
                <a:cubicBezTo>
                  <a:pt x="4" y="137"/>
                  <a:pt x="7" y="125"/>
                  <a:pt x="10" y="114"/>
                </a:cubicBezTo>
                <a:cubicBezTo>
                  <a:pt x="14" y="103"/>
                  <a:pt x="18" y="92"/>
                  <a:pt x="23" y="82"/>
                </a:cubicBezTo>
                <a:cubicBezTo>
                  <a:pt x="28" y="72"/>
                  <a:pt x="34" y="63"/>
                  <a:pt x="40" y="54"/>
                </a:cubicBezTo>
                <a:cubicBezTo>
                  <a:pt x="47" y="45"/>
                  <a:pt x="54" y="38"/>
                  <a:pt x="61" y="31"/>
                </a:cubicBezTo>
                <a:cubicBezTo>
                  <a:pt x="69" y="24"/>
                  <a:pt x="77" y="18"/>
                  <a:pt x="86" y="14"/>
                </a:cubicBezTo>
                <a:cubicBezTo>
                  <a:pt x="94" y="9"/>
                  <a:pt x="103" y="5"/>
                  <a:pt x="112" y="3"/>
                </a:cubicBezTo>
                <a:cubicBezTo>
                  <a:pt x="121" y="1"/>
                  <a:pt x="130" y="0"/>
                  <a:pt x="139" y="0"/>
                </a:cubicBezTo>
                <a:lnTo>
                  <a:pt x="12861" y="0"/>
                </a:lnTo>
                <a:cubicBezTo>
                  <a:pt x="12873" y="0"/>
                  <a:pt x="12885" y="1"/>
                  <a:pt x="12897" y="3"/>
                </a:cubicBezTo>
                <a:cubicBezTo>
                  <a:pt x="12909" y="5"/>
                  <a:pt x="12920" y="9"/>
                  <a:pt x="12932" y="14"/>
                </a:cubicBezTo>
                <a:cubicBezTo>
                  <a:pt x="12943" y="18"/>
                  <a:pt x="12954" y="24"/>
                  <a:pt x="12964" y="31"/>
                </a:cubicBezTo>
                <a:cubicBezTo>
                  <a:pt x="12974" y="38"/>
                  <a:pt x="12983" y="45"/>
                  <a:pt x="12992" y="54"/>
                </a:cubicBezTo>
                <a:cubicBezTo>
                  <a:pt x="13001" y="63"/>
                  <a:pt x="13008" y="72"/>
                  <a:pt x="13015" y="82"/>
                </a:cubicBezTo>
                <a:cubicBezTo>
                  <a:pt x="13022" y="92"/>
                  <a:pt x="13027" y="103"/>
                  <a:pt x="13032" y="114"/>
                </a:cubicBezTo>
                <a:cubicBezTo>
                  <a:pt x="13037" y="125"/>
                  <a:pt x="13040" y="137"/>
                  <a:pt x="13043" y="149"/>
                </a:cubicBezTo>
                <a:cubicBezTo>
                  <a:pt x="13045" y="161"/>
                  <a:pt x="13046" y="173"/>
                  <a:pt x="13046" y="185"/>
                </a:cubicBezTo>
                <a:lnTo>
                  <a:pt x="13046" y="5850"/>
                </a:lnTo>
                <a:cubicBezTo>
                  <a:pt x="13046" y="5862"/>
                  <a:pt x="13045" y="5874"/>
                  <a:pt x="13043" y="5886"/>
                </a:cubicBezTo>
                <a:cubicBezTo>
                  <a:pt x="13040" y="5898"/>
                  <a:pt x="13037" y="5910"/>
                  <a:pt x="13032" y="5921"/>
                </a:cubicBezTo>
                <a:cubicBezTo>
                  <a:pt x="13027" y="5933"/>
                  <a:pt x="13022" y="5943"/>
                  <a:pt x="13015" y="5953"/>
                </a:cubicBezTo>
                <a:cubicBezTo>
                  <a:pt x="13008" y="5964"/>
                  <a:pt x="13001" y="5973"/>
                  <a:pt x="12992" y="5982"/>
                </a:cubicBezTo>
                <a:cubicBezTo>
                  <a:pt x="12983" y="5990"/>
                  <a:pt x="12974" y="5998"/>
                  <a:pt x="12964" y="6005"/>
                </a:cubicBezTo>
                <a:cubicBezTo>
                  <a:pt x="12954" y="6011"/>
                  <a:pt x="12943" y="6017"/>
                  <a:pt x="12932" y="6022"/>
                </a:cubicBezTo>
                <a:cubicBezTo>
                  <a:pt x="12920" y="6026"/>
                  <a:pt x="12909" y="6030"/>
                  <a:pt x="12897" y="6032"/>
                </a:cubicBezTo>
                <a:cubicBezTo>
                  <a:pt x="12885" y="6035"/>
                  <a:pt x="12873" y="6036"/>
                  <a:pt x="12861" y="6036"/>
                </a:cubicBezTo>
                <a:lnTo>
                  <a:pt x="139" y="6036"/>
                </a:lnTo>
                <a:cubicBezTo>
                  <a:pt x="130" y="6036"/>
                  <a:pt x="121" y="6035"/>
                  <a:pt x="112" y="6032"/>
                </a:cubicBezTo>
                <a:cubicBezTo>
                  <a:pt x="103" y="6030"/>
                  <a:pt x="94" y="6026"/>
                  <a:pt x="86" y="6022"/>
                </a:cubicBezTo>
                <a:cubicBezTo>
                  <a:pt x="77" y="6017"/>
                  <a:pt x="69" y="6011"/>
                  <a:pt x="61" y="6005"/>
                </a:cubicBezTo>
                <a:cubicBezTo>
                  <a:pt x="54" y="5998"/>
                  <a:pt x="47" y="5990"/>
                  <a:pt x="40" y="5982"/>
                </a:cubicBezTo>
                <a:cubicBezTo>
                  <a:pt x="34" y="5973"/>
                  <a:pt x="28" y="5964"/>
                  <a:pt x="23" y="5953"/>
                </a:cubicBezTo>
                <a:cubicBezTo>
                  <a:pt x="18" y="5943"/>
                  <a:pt x="14" y="5933"/>
                  <a:pt x="10" y="5921"/>
                </a:cubicBezTo>
                <a:cubicBezTo>
                  <a:pt x="7" y="5910"/>
                  <a:pt x="4" y="5898"/>
                  <a:pt x="2" y="5886"/>
                </a:cubicBezTo>
                <a:cubicBezTo>
                  <a:pt x="0" y="5874"/>
                  <a:pt x="0" y="5862"/>
                  <a:pt x="0" y="585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33" name="任意多邊形 832"/>
          <p:cNvSpPr/>
          <p:nvPr/>
        </p:nvSpPr>
        <p:spPr>
          <a:xfrm>
            <a:off x="534600" y="902520"/>
            <a:ext cx="67320" cy="2172960"/>
          </a:xfrm>
          <a:custGeom>
            <a:avLst/>
            <a:gdLst/>
            <a:ahLst/>
            <a:cxnLst/>
            <a:rect l="0" t="0" r="r" b="b"/>
            <a:pathLst>
              <a:path w="187" h="6036">
                <a:moveTo>
                  <a:pt x="0" y="0"/>
                </a:moveTo>
                <a:lnTo>
                  <a:pt x="187" y="0"/>
                </a:lnTo>
                <a:lnTo>
                  <a:pt x="187" y="6036"/>
                </a:lnTo>
                <a:lnTo>
                  <a:pt x="0" y="6036"/>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34" name="任意多邊形 833"/>
          <p:cNvSpPr/>
          <p:nvPr/>
        </p:nvSpPr>
        <p:spPr>
          <a:xfrm>
            <a:off x="735120" y="1069560"/>
            <a:ext cx="501840" cy="501840"/>
          </a:xfrm>
          <a:custGeom>
            <a:avLst/>
            <a:gdLst/>
            <a:ahLst/>
            <a:cxnLst/>
            <a:rect l="0" t="0" r="r" b="b"/>
            <a:pathLst>
              <a:path w="1394" h="1394">
                <a:moveTo>
                  <a:pt x="1394" y="697"/>
                </a:moveTo>
                <a:cubicBezTo>
                  <a:pt x="1394" y="720"/>
                  <a:pt x="1393" y="743"/>
                  <a:pt x="1391" y="765"/>
                </a:cubicBezTo>
                <a:cubicBezTo>
                  <a:pt x="1388" y="788"/>
                  <a:pt x="1385" y="811"/>
                  <a:pt x="1381" y="833"/>
                </a:cubicBezTo>
                <a:cubicBezTo>
                  <a:pt x="1376" y="855"/>
                  <a:pt x="1371" y="877"/>
                  <a:pt x="1364" y="899"/>
                </a:cubicBezTo>
                <a:cubicBezTo>
                  <a:pt x="1357" y="921"/>
                  <a:pt x="1350" y="943"/>
                  <a:pt x="1341" y="964"/>
                </a:cubicBezTo>
                <a:cubicBezTo>
                  <a:pt x="1332" y="985"/>
                  <a:pt x="1323" y="1005"/>
                  <a:pt x="1312" y="1025"/>
                </a:cubicBezTo>
                <a:cubicBezTo>
                  <a:pt x="1301" y="1046"/>
                  <a:pt x="1289" y="1065"/>
                  <a:pt x="1277" y="1084"/>
                </a:cubicBezTo>
                <a:cubicBezTo>
                  <a:pt x="1264" y="1103"/>
                  <a:pt x="1250" y="1121"/>
                  <a:pt x="1236" y="1139"/>
                </a:cubicBezTo>
                <a:cubicBezTo>
                  <a:pt x="1221" y="1157"/>
                  <a:pt x="1206" y="1173"/>
                  <a:pt x="1190" y="1190"/>
                </a:cubicBezTo>
                <a:cubicBezTo>
                  <a:pt x="1174" y="1206"/>
                  <a:pt x="1157" y="1221"/>
                  <a:pt x="1139" y="1235"/>
                </a:cubicBezTo>
                <a:cubicBezTo>
                  <a:pt x="1122" y="1250"/>
                  <a:pt x="1103" y="1264"/>
                  <a:pt x="1085" y="1276"/>
                </a:cubicBezTo>
                <a:cubicBezTo>
                  <a:pt x="1066" y="1289"/>
                  <a:pt x="1046" y="1301"/>
                  <a:pt x="1026" y="1311"/>
                </a:cubicBezTo>
                <a:cubicBezTo>
                  <a:pt x="1006" y="1322"/>
                  <a:pt x="985" y="1332"/>
                  <a:pt x="964" y="1341"/>
                </a:cubicBezTo>
                <a:cubicBezTo>
                  <a:pt x="943" y="1349"/>
                  <a:pt x="922" y="1357"/>
                  <a:pt x="900" y="1364"/>
                </a:cubicBezTo>
                <a:cubicBezTo>
                  <a:pt x="878" y="1370"/>
                  <a:pt x="856" y="1376"/>
                  <a:pt x="833" y="1380"/>
                </a:cubicBezTo>
                <a:cubicBezTo>
                  <a:pt x="811" y="1385"/>
                  <a:pt x="789" y="1388"/>
                  <a:pt x="766" y="1390"/>
                </a:cubicBezTo>
                <a:cubicBezTo>
                  <a:pt x="743" y="1392"/>
                  <a:pt x="720" y="1394"/>
                  <a:pt x="698" y="1394"/>
                </a:cubicBezTo>
                <a:cubicBezTo>
                  <a:pt x="675" y="1394"/>
                  <a:pt x="652" y="1392"/>
                  <a:pt x="629" y="1390"/>
                </a:cubicBezTo>
                <a:cubicBezTo>
                  <a:pt x="607" y="1388"/>
                  <a:pt x="584" y="1385"/>
                  <a:pt x="562" y="1380"/>
                </a:cubicBezTo>
                <a:cubicBezTo>
                  <a:pt x="539" y="1376"/>
                  <a:pt x="517" y="1370"/>
                  <a:pt x="495" y="1364"/>
                </a:cubicBezTo>
                <a:cubicBezTo>
                  <a:pt x="474" y="1357"/>
                  <a:pt x="452" y="1349"/>
                  <a:pt x="431" y="1341"/>
                </a:cubicBezTo>
                <a:cubicBezTo>
                  <a:pt x="410" y="1332"/>
                  <a:pt x="389" y="1322"/>
                  <a:pt x="369" y="1311"/>
                </a:cubicBezTo>
                <a:cubicBezTo>
                  <a:pt x="349" y="1301"/>
                  <a:pt x="330" y="1289"/>
                  <a:pt x="311" y="1276"/>
                </a:cubicBezTo>
                <a:cubicBezTo>
                  <a:pt x="292" y="1264"/>
                  <a:pt x="273" y="1250"/>
                  <a:pt x="256" y="1235"/>
                </a:cubicBezTo>
                <a:cubicBezTo>
                  <a:pt x="238" y="1221"/>
                  <a:pt x="221" y="1206"/>
                  <a:pt x="205" y="1190"/>
                </a:cubicBezTo>
                <a:cubicBezTo>
                  <a:pt x="189" y="1173"/>
                  <a:pt x="174" y="1157"/>
                  <a:pt x="159" y="1139"/>
                </a:cubicBezTo>
                <a:cubicBezTo>
                  <a:pt x="145" y="1121"/>
                  <a:pt x="131" y="1103"/>
                  <a:pt x="119" y="1084"/>
                </a:cubicBezTo>
                <a:cubicBezTo>
                  <a:pt x="106" y="1065"/>
                  <a:pt x="94" y="1046"/>
                  <a:pt x="83" y="1025"/>
                </a:cubicBezTo>
                <a:cubicBezTo>
                  <a:pt x="73" y="1005"/>
                  <a:pt x="63" y="985"/>
                  <a:pt x="54" y="964"/>
                </a:cubicBezTo>
                <a:cubicBezTo>
                  <a:pt x="45" y="943"/>
                  <a:pt x="37" y="921"/>
                  <a:pt x="30" y="899"/>
                </a:cubicBezTo>
                <a:cubicBezTo>
                  <a:pt x="24" y="877"/>
                  <a:pt x="18" y="855"/>
                  <a:pt x="14" y="833"/>
                </a:cubicBezTo>
                <a:cubicBezTo>
                  <a:pt x="9" y="811"/>
                  <a:pt x="6" y="788"/>
                  <a:pt x="4" y="765"/>
                </a:cubicBezTo>
                <a:cubicBezTo>
                  <a:pt x="1" y="743"/>
                  <a:pt x="0" y="720"/>
                  <a:pt x="0" y="697"/>
                </a:cubicBezTo>
                <a:cubicBezTo>
                  <a:pt x="0" y="674"/>
                  <a:pt x="1" y="652"/>
                  <a:pt x="4" y="629"/>
                </a:cubicBezTo>
                <a:cubicBezTo>
                  <a:pt x="6" y="606"/>
                  <a:pt x="9" y="584"/>
                  <a:pt x="14" y="561"/>
                </a:cubicBezTo>
                <a:cubicBezTo>
                  <a:pt x="18" y="539"/>
                  <a:pt x="24" y="517"/>
                  <a:pt x="30" y="494"/>
                </a:cubicBezTo>
                <a:cubicBezTo>
                  <a:pt x="37" y="472"/>
                  <a:pt x="45" y="451"/>
                  <a:pt x="54" y="430"/>
                </a:cubicBezTo>
                <a:cubicBezTo>
                  <a:pt x="63" y="409"/>
                  <a:pt x="73" y="388"/>
                  <a:pt x="83" y="368"/>
                </a:cubicBezTo>
                <a:cubicBezTo>
                  <a:pt x="94" y="348"/>
                  <a:pt x="106" y="328"/>
                  <a:pt x="119" y="309"/>
                </a:cubicBezTo>
                <a:cubicBezTo>
                  <a:pt x="131" y="290"/>
                  <a:pt x="145" y="272"/>
                  <a:pt x="159" y="254"/>
                </a:cubicBezTo>
                <a:cubicBezTo>
                  <a:pt x="174" y="237"/>
                  <a:pt x="189" y="220"/>
                  <a:pt x="205" y="204"/>
                </a:cubicBezTo>
                <a:cubicBezTo>
                  <a:pt x="221" y="188"/>
                  <a:pt x="238" y="172"/>
                  <a:pt x="256" y="158"/>
                </a:cubicBezTo>
                <a:cubicBezTo>
                  <a:pt x="273" y="143"/>
                  <a:pt x="292" y="130"/>
                  <a:pt x="311" y="117"/>
                </a:cubicBezTo>
                <a:cubicBezTo>
                  <a:pt x="330" y="104"/>
                  <a:pt x="349" y="93"/>
                  <a:pt x="369" y="82"/>
                </a:cubicBezTo>
                <a:cubicBezTo>
                  <a:pt x="389" y="71"/>
                  <a:pt x="410" y="62"/>
                  <a:pt x="431" y="53"/>
                </a:cubicBezTo>
                <a:cubicBezTo>
                  <a:pt x="452" y="44"/>
                  <a:pt x="474" y="36"/>
                  <a:pt x="495" y="30"/>
                </a:cubicBezTo>
                <a:cubicBezTo>
                  <a:pt x="517" y="23"/>
                  <a:pt x="539" y="18"/>
                  <a:pt x="562" y="13"/>
                </a:cubicBezTo>
                <a:cubicBezTo>
                  <a:pt x="584" y="9"/>
                  <a:pt x="607" y="5"/>
                  <a:pt x="629" y="3"/>
                </a:cubicBezTo>
                <a:cubicBezTo>
                  <a:pt x="652" y="1"/>
                  <a:pt x="675" y="0"/>
                  <a:pt x="698" y="0"/>
                </a:cubicBezTo>
                <a:cubicBezTo>
                  <a:pt x="720" y="0"/>
                  <a:pt x="743" y="1"/>
                  <a:pt x="766" y="3"/>
                </a:cubicBezTo>
                <a:cubicBezTo>
                  <a:pt x="789" y="5"/>
                  <a:pt x="811" y="9"/>
                  <a:pt x="833" y="13"/>
                </a:cubicBezTo>
                <a:cubicBezTo>
                  <a:pt x="856" y="18"/>
                  <a:pt x="878" y="23"/>
                  <a:pt x="900" y="30"/>
                </a:cubicBezTo>
                <a:cubicBezTo>
                  <a:pt x="922" y="36"/>
                  <a:pt x="943" y="44"/>
                  <a:pt x="964" y="53"/>
                </a:cubicBezTo>
                <a:cubicBezTo>
                  <a:pt x="985" y="62"/>
                  <a:pt x="1006" y="71"/>
                  <a:pt x="1026" y="82"/>
                </a:cubicBezTo>
                <a:cubicBezTo>
                  <a:pt x="1046" y="93"/>
                  <a:pt x="1066" y="104"/>
                  <a:pt x="1085" y="117"/>
                </a:cubicBezTo>
                <a:cubicBezTo>
                  <a:pt x="1103" y="130"/>
                  <a:pt x="1122" y="143"/>
                  <a:pt x="1139" y="158"/>
                </a:cubicBezTo>
                <a:cubicBezTo>
                  <a:pt x="1157" y="172"/>
                  <a:pt x="1174" y="188"/>
                  <a:pt x="1190" y="204"/>
                </a:cubicBezTo>
                <a:cubicBezTo>
                  <a:pt x="1206" y="220"/>
                  <a:pt x="1221" y="237"/>
                  <a:pt x="1236" y="254"/>
                </a:cubicBezTo>
                <a:cubicBezTo>
                  <a:pt x="1250" y="272"/>
                  <a:pt x="1264" y="290"/>
                  <a:pt x="1277" y="309"/>
                </a:cubicBezTo>
                <a:cubicBezTo>
                  <a:pt x="1289" y="328"/>
                  <a:pt x="1301" y="348"/>
                  <a:pt x="1312" y="368"/>
                </a:cubicBezTo>
                <a:cubicBezTo>
                  <a:pt x="1323" y="388"/>
                  <a:pt x="1332" y="409"/>
                  <a:pt x="1341" y="430"/>
                </a:cubicBezTo>
                <a:cubicBezTo>
                  <a:pt x="1350" y="451"/>
                  <a:pt x="1357" y="472"/>
                  <a:pt x="1364" y="494"/>
                </a:cubicBezTo>
                <a:cubicBezTo>
                  <a:pt x="1371" y="517"/>
                  <a:pt x="1376" y="539"/>
                  <a:pt x="1381" y="561"/>
                </a:cubicBezTo>
                <a:cubicBezTo>
                  <a:pt x="1385" y="584"/>
                  <a:pt x="1388" y="606"/>
                  <a:pt x="1391" y="629"/>
                </a:cubicBezTo>
                <a:cubicBezTo>
                  <a:pt x="1393" y="652"/>
                  <a:pt x="1394" y="674"/>
                  <a:pt x="1394" y="697"/>
                </a:cubicBezTo>
                <a:close/>
              </a:path>
            </a:pathLst>
          </a:custGeom>
          <a:solidFill>
            <a:srgbClr val="1D4ED8"/>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35" name="圖片 834"/>
          <p:cNvPicPr/>
          <p:nvPr/>
        </p:nvPicPr>
        <p:blipFill>
          <a:blip r:embed="rId3"/>
          <a:stretch>
            <a:fillRect/>
          </a:stretch>
        </p:blipFill>
        <p:spPr>
          <a:xfrm>
            <a:off x="885960" y="1220040"/>
            <a:ext cx="200160" cy="200160"/>
          </a:xfrm>
          <a:prstGeom prst="rect">
            <a:avLst/>
          </a:prstGeom>
          <a:noFill/>
          <a:ln w="0">
            <a:noFill/>
          </a:ln>
        </p:spPr>
      </p:pic>
      <p:sp>
        <p:nvSpPr>
          <p:cNvPr id="836" name="文字框 835"/>
          <p:cNvSpPr txBox="1"/>
          <p:nvPr/>
        </p:nvSpPr>
        <p:spPr>
          <a:xfrm>
            <a:off x="534960" y="312120"/>
            <a:ext cx="300312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资产保本性：保本机制</a:t>
            </a:r>
            <a:endParaRPr lang="en-US" sz="2370" b="0" u="none" strike="noStrike">
              <a:solidFill>
                <a:srgbClr val="000000"/>
              </a:solidFill>
              <a:effectLst/>
              <a:uFillTx/>
              <a:latin typeface="Times New Roman" panose="02020603050405020304"/>
            </a:endParaRPr>
          </a:p>
        </p:txBody>
      </p:sp>
      <p:sp>
        <p:nvSpPr>
          <p:cNvPr id="837" name="文字框 836"/>
          <p:cNvSpPr txBox="1"/>
          <p:nvPr/>
        </p:nvSpPr>
        <p:spPr>
          <a:xfrm>
            <a:off x="1370520" y="1194120"/>
            <a:ext cx="80532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政府债券</a:t>
            </a:r>
            <a:endParaRPr lang="en-US" sz="1580" b="0" u="none" strike="noStrike">
              <a:solidFill>
                <a:srgbClr val="000000"/>
              </a:solidFill>
              <a:effectLst/>
              <a:uFillTx/>
              <a:latin typeface="Times New Roman" panose="02020603050405020304"/>
            </a:endParaRPr>
          </a:p>
        </p:txBody>
      </p:sp>
      <p:sp>
        <p:nvSpPr>
          <p:cNvPr id="838" name="文字框 837"/>
          <p:cNvSpPr txBox="1"/>
          <p:nvPr/>
        </p:nvSpPr>
        <p:spPr>
          <a:xfrm>
            <a:off x="735480" y="168480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政府债券的保本机制源于政府的信用背书，尤其是美国等主要经济体的国</a:t>
            </a:r>
            <a:endParaRPr lang="en-US" sz="1050" b="0" u="none" strike="noStrike">
              <a:solidFill>
                <a:srgbClr val="000000"/>
              </a:solidFill>
              <a:effectLst/>
              <a:uFillTx/>
              <a:latin typeface="Times New Roman" panose="02020603050405020304"/>
            </a:endParaRPr>
          </a:p>
        </p:txBody>
      </p:sp>
      <p:pic>
        <p:nvPicPr>
          <p:cNvPr id="839" name="圖片 838"/>
          <p:cNvPicPr/>
          <p:nvPr/>
        </p:nvPicPr>
        <p:blipFill>
          <a:blip r:embed="rId4"/>
          <a:stretch>
            <a:fillRect/>
          </a:stretch>
        </p:blipFill>
        <p:spPr>
          <a:xfrm>
            <a:off x="735480" y="2364840"/>
            <a:ext cx="133200" cy="133200"/>
          </a:xfrm>
          <a:prstGeom prst="rect">
            <a:avLst/>
          </a:prstGeom>
          <a:noFill/>
          <a:ln w="0">
            <a:noFill/>
          </a:ln>
        </p:spPr>
      </p:pic>
      <p:sp>
        <p:nvSpPr>
          <p:cNvPr id="840" name="文字框 839"/>
          <p:cNvSpPr txBox="1"/>
          <p:nvPr/>
        </p:nvSpPr>
        <p:spPr>
          <a:xfrm>
            <a:off x="735480" y="188532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债。</a:t>
            </a:r>
            <a:endParaRPr lang="en-US" sz="1050" b="0" u="none" strike="noStrike">
              <a:solidFill>
                <a:srgbClr val="000000"/>
              </a:solidFill>
              <a:effectLst/>
              <a:uFillTx/>
              <a:latin typeface="Times New Roman" panose="02020603050405020304"/>
            </a:endParaRPr>
          </a:p>
        </p:txBody>
      </p:sp>
      <p:sp>
        <p:nvSpPr>
          <p:cNvPr id="841" name="文字框 840"/>
          <p:cNvSpPr txBox="1"/>
          <p:nvPr/>
        </p:nvSpPr>
        <p:spPr>
          <a:xfrm>
            <a:off x="969480" y="2252880"/>
            <a:ext cx="8053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危机时期发生</a:t>
            </a:r>
            <a:endParaRPr lang="en-US" sz="1050" b="0" u="none" strike="noStrike">
              <a:solidFill>
                <a:srgbClr val="000000"/>
              </a:solidFill>
              <a:effectLst/>
              <a:uFillTx/>
              <a:latin typeface="Times New Roman" panose="02020603050405020304"/>
            </a:endParaRPr>
          </a:p>
        </p:txBody>
      </p:sp>
      <p:sp>
        <p:nvSpPr>
          <p:cNvPr id="842" name="文字框 841"/>
          <p:cNvSpPr txBox="1"/>
          <p:nvPr/>
        </p:nvSpPr>
        <p:spPr>
          <a:xfrm>
            <a:off x="1771560" y="2257560"/>
            <a:ext cx="133200" cy="157320"/>
          </a:xfrm>
          <a:prstGeom prst="rect">
            <a:avLst/>
          </a:prstGeom>
          <a:noFill/>
          <a:ln w="0">
            <a:noFill/>
          </a:ln>
        </p:spPr>
        <p:txBody>
          <a:bodyPr wrap="none" lIns="0" tIns="0" rIns="0" bIns="0" anchor="t">
            <a:spAutoFit/>
          </a:bodyPr>
          <a:p>
            <a:r>
              <a:rPr lang="en-US" sz="1050" b="0" u="none" strike="noStrike">
                <a:solidFill>
                  <a:srgbClr val="D1D5D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843" name="文字框 842"/>
          <p:cNvSpPr txBox="1"/>
          <p:nvPr/>
        </p:nvSpPr>
        <p:spPr>
          <a:xfrm>
            <a:off x="1833120" y="2252880"/>
            <a:ext cx="8053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向质量转移（</a:t>
            </a:r>
            <a:endParaRPr lang="en-US" sz="1050" b="0" u="none" strike="noStrike">
              <a:solidFill>
                <a:srgbClr val="000000"/>
              </a:solidFill>
              <a:effectLst/>
              <a:uFillTx/>
              <a:latin typeface="Times New Roman" panose="02020603050405020304"/>
            </a:endParaRPr>
          </a:p>
        </p:txBody>
      </p:sp>
      <p:sp>
        <p:nvSpPr>
          <p:cNvPr id="844" name="文字框 843"/>
          <p:cNvSpPr txBox="1"/>
          <p:nvPr/>
        </p:nvSpPr>
        <p:spPr>
          <a:xfrm>
            <a:off x="2635200" y="2257560"/>
            <a:ext cx="1074240" cy="157320"/>
          </a:xfrm>
          <a:prstGeom prst="rect">
            <a:avLst/>
          </a:prstGeom>
          <a:noFill/>
          <a:ln w="0">
            <a:noFill/>
          </a:ln>
        </p:spPr>
        <p:txBody>
          <a:bodyPr wrap="none" lIns="0" tIns="0" rIns="0" bIns="0" anchor="t">
            <a:spAutoFit/>
          </a:bodyPr>
          <a:p>
            <a:r>
              <a:rPr lang="en-US" sz="1050" b="0" u="none" strike="noStrike">
                <a:solidFill>
                  <a:srgbClr val="D1D5DB"/>
                </a:solidFill>
                <a:effectLst/>
                <a:uFillTx/>
                <a:latin typeface="DejaVuSans"/>
                <a:ea typeface="DejaVuSans"/>
              </a:rPr>
              <a:t>Flight to Quality</a:t>
            </a:r>
            <a:endParaRPr lang="en-US" sz="1050" b="0" u="none" strike="noStrike">
              <a:solidFill>
                <a:srgbClr val="000000"/>
              </a:solidFill>
              <a:effectLst/>
              <a:uFillTx/>
              <a:latin typeface="Times New Roman" panose="02020603050405020304"/>
            </a:endParaRPr>
          </a:p>
        </p:txBody>
      </p:sp>
      <p:sp>
        <p:nvSpPr>
          <p:cNvPr id="845" name="文字框 844"/>
          <p:cNvSpPr txBox="1"/>
          <p:nvPr/>
        </p:nvSpPr>
        <p:spPr>
          <a:xfrm>
            <a:off x="3705480" y="2252880"/>
            <a:ext cx="1350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a:t>
            </a:r>
            <a:endParaRPr lang="en-US" sz="1050" b="0" u="none" strike="noStrike">
              <a:solidFill>
                <a:srgbClr val="000000"/>
              </a:solidFill>
              <a:effectLst/>
              <a:uFillTx/>
              <a:latin typeface="Times New Roman" panose="02020603050405020304"/>
            </a:endParaRPr>
          </a:p>
        </p:txBody>
      </p:sp>
      <p:sp>
        <p:nvSpPr>
          <p:cNvPr id="846" name="文字框 845"/>
          <p:cNvSpPr txBox="1"/>
          <p:nvPr/>
        </p:nvSpPr>
        <p:spPr>
          <a:xfrm>
            <a:off x="3839400" y="2257560"/>
            <a:ext cx="133200" cy="157320"/>
          </a:xfrm>
          <a:prstGeom prst="rect">
            <a:avLst/>
          </a:prstGeom>
          <a:noFill/>
          <a:ln w="0">
            <a:noFill/>
          </a:ln>
        </p:spPr>
        <p:txBody>
          <a:bodyPr wrap="none" lIns="0" tIns="0" rIns="0" bIns="0" anchor="t">
            <a:spAutoFit/>
          </a:bodyPr>
          <a:p>
            <a:r>
              <a:rPr lang="en-US" sz="1050" b="0" u="none" strike="noStrike">
                <a:solidFill>
                  <a:srgbClr val="D1D5D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847" name="文字框 846"/>
          <p:cNvSpPr txBox="1"/>
          <p:nvPr/>
        </p:nvSpPr>
        <p:spPr>
          <a:xfrm>
            <a:off x="3900960" y="2252880"/>
            <a:ext cx="10735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现象，投资者抛售</a:t>
            </a:r>
            <a:endParaRPr lang="en-US" sz="1050" b="0" u="none" strike="noStrike">
              <a:solidFill>
                <a:srgbClr val="000000"/>
              </a:solidFill>
              <a:effectLst/>
              <a:uFillTx/>
              <a:latin typeface="Times New Roman" panose="02020603050405020304"/>
            </a:endParaRPr>
          </a:p>
        </p:txBody>
      </p:sp>
      <p:pic>
        <p:nvPicPr>
          <p:cNvPr id="848" name="圖片 847"/>
          <p:cNvPicPr/>
          <p:nvPr/>
        </p:nvPicPr>
        <p:blipFill>
          <a:blip r:embed="rId5"/>
          <a:stretch>
            <a:fillRect/>
          </a:stretch>
        </p:blipFill>
        <p:spPr>
          <a:xfrm>
            <a:off x="735480" y="2732760"/>
            <a:ext cx="100080" cy="133200"/>
          </a:xfrm>
          <a:prstGeom prst="rect">
            <a:avLst/>
          </a:prstGeom>
          <a:noFill/>
          <a:ln w="0">
            <a:noFill/>
          </a:ln>
        </p:spPr>
      </p:pic>
      <p:sp>
        <p:nvSpPr>
          <p:cNvPr id="849" name="文字框 848"/>
          <p:cNvSpPr txBox="1"/>
          <p:nvPr/>
        </p:nvSpPr>
        <p:spPr>
          <a:xfrm>
            <a:off x="969480" y="2453400"/>
            <a:ext cx="214668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风险资产，购入被视为无风险的国债</a:t>
            </a:r>
            <a:endParaRPr lang="en-US" sz="1050" b="0" u="none" strike="noStrike">
              <a:solidFill>
                <a:srgbClr val="000000"/>
              </a:solidFill>
              <a:effectLst/>
              <a:uFillTx/>
              <a:latin typeface="Times New Roman" panose="02020603050405020304"/>
            </a:endParaRPr>
          </a:p>
        </p:txBody>
      </p:sp>
      <p:sp>
        <p:nvSpPr>
          <p:cNvPr id="850" name="任意多邊形 849"/>
          <p:cNvSpPr/>
          <p:nvPr/>
        </p:nvSpPr>
        <p:spPr>
          <a:xfrm>
            <a:off x="5465160" y="902520"/>
            <a:ext cx="4696920" cy="2172960"/>
          </a:xfrm>
          <a:custGeom>
            <a:avLst/>
            <a:gdLst/>
            <a:ahLst/>
            <a:cxnLst/>
            <a:rect l="0" t="0" r="r" b="b"/>
            <a:pathLst>
              <a:path w="13047" h="6036">
                <a:moveTo>
                  <a:pt x="0" y="5850"/>
                </a:moveTo>
                <a:lnTo>
                  <a:pt x="0" y="185"/>
                </a:lnTo>
                <a:cubicBezTo>
                  <a:pt x="0" y="173"/>
                  <a:pt x="1" y="161"/>
                  <a:pt x="3" y="149"/>
                </a:cubicBezTo>
                <a:cubicBezTo>
                  <a:pt x="4" y="137"/>
                  <a:pt x="7" y="125"/>
                  <a:pt x="10" y="114"/>
                </a:cubicBezTo>
                <a:cubicBezTo>
                  <a:pt x="14" y="103"/>
                  <a:pt x="18" y="92"/>
                  <a:pt x="23" y="82"/>
                </a:cubicBezTo>
                <a:cubicBezTo>
                  <a:pt x="28" y="72"/>
                  <a:pt x="34" y="63"/>
                  <a:pt x="41" y="54"/>
                </a:cubicBezTo>
                <a:cubicBezTo>
                  <a:pt x="47" y="45"/>
                  <a:pt x="54" y="38"/>
                  <a:pt x="62" y="31"/>
                </a:cubicBezTo>
                <a:cubicBezTo>
                  <a:pt x="69" y="24"/>
                  <a:pt x="77" y="18"/>
                  <a:pt x="86" y="14"/>
                </a:cubicBezTo>
                <a:cubicBezTo>
                  <a:pt x="94" y="9"/>
                  <a:pt x="103" y="5"/>
                  <a:pt x="112" y="3"/>
                </a:cubicBezTo>
                <a:cubicBezTo>
                  <a:pt x="121" y="1"/>
                  <a:pt x="130" y="0"/>
                  <a:pt x="139" y="0"/>
                </a:cubicBezTo>
                <a:lnTo>
                  <a:pt x="12861" y="0"/>
                </a:lnTo>
                <a:cubicBezTo>
                  <a:pt x="12873" y="0"/>
                  <a:pt x="12885" y="1"/>
                  <a:pt x="12897" y="3"/>
                </a:cubicBezTo>
                <a:cubicBezTo>
                  <a:pt x="12909" y="5"/>
                  <a:pt x="12921" y="9"/>
                  <a:pt x="12932" y="14"/>
                </a:cubicBezTo>
                <a:cubicBezTo>
                  <a:pt x="12943" y="18"/>
                  <a:pt x="12954" y="24"/>
                  <a:pt x="12964" y="31"/>
                </a:cubicBezTo>
                <a:cubicBezTo>
                  <a:pt x="12974" y="38"/>
                  <a:pt x="12984" y="45"/>
                  <a:pt x="12992" y="54"/>
                </a:cubicBezTo>
                <a:cubicBezTo>
                  <a:pt x="13001" y="63"/>
                  <a:pt x="13008" y="72"/>
                  <a:pt x="13015" y="82"/>
                </a:cubicBezTo>
                <a:cubicBezTo>
                  <a:pt x="13022" y="92"/>
                  <a:pt x="13028" y="103"/>
                  <a:pt x="13032" y="114"/>
                </a:cubicBezTo>
                <a:cubicBezTo>
                  <a:pt x="13037" y="125"/>
                  <a:pt x="13041" y="137"/>
                  <a:pt x="13043" y="149"/>
                </a:cubicBezTo>
                <a:cubicBezTo>
                  <a:pt x="13045" y="161"/>
                  <a:pt x="13047" y="173"/>
                  <a:pt x="13047" y="185"/>
                </a:cubicBezTo>
                <a:lnTo>
                  <a:pt x="13047" y="5850"/>
                </a:lnTo>
                <a:cubicBezTo>
                  <a:pt x="13047" y="5862"/>
                  <a:pt x="13045" y="5874"/>
                  <a:pt x="13043" y="5886"/>
                </a:cubicBezTo>
                <a:cubicBezTo>
                  <a:pt x="13041" y="5898"/>
                  <a:pt x="13037" y="5910"/>
                  <a:pt x="13032" y="5921"/>
                </a:cubicBezTo>
                <a:cubicBezTo>
                  <a:pt x="13028" y="5933"/>
                  <a:pt x="13022" y="5943"/>
                  <a:pt x="13015" y="5953"/>
                </a:cubicBezTo>
                <a:cubicBezTo>
                  <a:pt x="13008" y="5964"/>
                  <a:pt x="13001" y="5973"/>
                  <a:pt x="12992" y="5982"/>
                </a:cubicBezTo>
                <a:cubicBezTo>
                  <a:pt x="12984" y="5990"/>
                  <a:pt x="12974" y="5998"/>
                  <a:pt x="12964" y="6005"/>
                </a:cubicBezTo>
                <a:cubicBezTo>
                  <a:pt x="12954" y="6011"/>
                  <a:pt x="12943" y="6017"/>
                  <a:pt x="12932" y="6022"/>
                </a:cubicBezTo>
                <a:cubicBezTo>
                  <a:pt x="12921" y="6026"/>
                  <a:pt x="12909" y="6030"/>
                  <a:pt x="12897" y="6032"/>
                </a:cubicBezTo>
                <a:cubicBezTo>
                  <a:pt x="12885" y="6035"/>
                  <a:pt x="12873" y="6036"/>
                  <a:pt x="12861" y="6036"/>
                </a:cubicBezTo>
                <a:lnTo>
                  <a:pt x="139" y="6036"/>
                </a:lnTo>
                <a:cubicBezTo>
                  <a:pt x="130" y="6036"/>
                  <a:pt x="121" y="6035"/>
                  <a:pt x="112" y="6032"/>
                </a:cubicBezTo>
                <a:cubicBezTo>
                  <a:pt x="103" y="6030"/>
                  <a:pt x="94" y="6026"/>
                  <a:pt x="86" y="6022"/>
                </a:cubicBezTo>
                <a:cubicBezTo>
                  <a:pt x="77" y="6017"/>
                  <a:pt x="69" y="6011"/>
                  <a:pt x="62" y="6005"/>
                </a:cubicBezTo>
                <a:cubicBezTo>
                  <a:pt x="54" y="5998"/>
                  <a:pt x="47" y="5990"/>
                  <a:pt x="41" y="5982"/>
                </a:cubicBezTo>
                <a:cubicBezTo>
                  <a:pt x="34" y="5973"/>
                  <a:pt x="28" y="5964"/>
                  <a:pt x="23" y="5953"/>
                </a:cubicBezTo>
                <a:cubicBezTo>
                  <a:pt x="18" y="5943"/>
                  <a:pt x="14" y="5933"/>
                  <a:pt x="10" y="5921"/>
                </a:cubicBezTo>
                <a:cubicBezTo>
                  <a:pt x="7" y="5910"/>
                  <a:pt x="4" y="5898"/>
                  <a:pt x="3" y="5886"/>
                </a:cubicBezTo>
                <a:cubicBezTo>
                  <a:pt x="1" y="5874"/>
                  <a:pt x="0" y="5862"/>
                  <a:pt x="0" y="585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51" name="任意多邊形 850"/>
          <p:cNvSpPr/>
          <p:nvPr/>
        </p:nvSpPr>
        <p:spPr>
          <a:xfrm>
            <a:off x="5448240" y="902520"/>
            <a:ext cx="67320" cy="2172960"/>
          </a:xfrm>
          <a:custGeom>
            <a:avLst/>
            <a:gdLst/>
            <a:ahLst/>
            <a:cxnLst/>
            <a:rect l="0" t="0" r="r" b="b"/>
            <a:pathLst>
              <a:path w="187" h="6036">
                <a:moveTo>
                  <a:pt x="0" y="0"/>
                </a:moveTo>
                <a:lnTo>
                  <a:pt x="187" y="0"/>
                </a:lnTo>
                <a:lnTo>
                  <a:pt x="187" y="6036"/>
                </a:lnTo>
                <a:lnTo>
                  <a:pt x="0" y="6036"/>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52" name="任意多邊形 851"/>
          <p:cNvSpPr/>
          <p:nvPr/>
        </p:nvSpPr>
        <p:spPr>
          <a:xfrm>
            <a:off x="5649120" y="1069560"/>
            <a:ext cx="501480" cy="501840"/>
          </a:xfrm>
          <a:custGeom>
            <a:avLst/>
            <a:gdLst/>
            <a:ahLst/>
            <a:cxnLst/>
            <a:rect l="0" t="0" r="r" b="b"/>
            <a:pathLst>
              <a:path w="1393" h="1394">
                <a:moveTo>
                  <a:pt x="1393" y="697"/>
                </a:moveTo>
                <a:cubicBezTo>
                  <a:pt x="1393" y="720"/>
                  <a:pt x="1392" y="743"/>
                  <a:pt x="1390" y="765"/>
                </a:cubicBezTo>
                <a:cubicBezTo>
                  <a:pt x="1388" y="788"/>
                  <a:pt x="1384" y="811"/>
                  <a:pt x="1380" y="833"/>
                </a:cubicBezTo>
                <a:cubicBezTo>
                  <a:pt x="1375" y="855"/>
                  <a:pt x="1370" y="877"/>
                  <a:pt x="1363" y="899"/>
                </a:cubicBezTo>
                <a:cubicBezTo>
                  <a:pt x="1357" y="921"/>
                  <a:pt x="1349" y="943"/>
                  <a:pt x="1340" y="964"/>
                </a:cubicBezTo>
                <a:cubicBezTo>
                  <a:pt x="1332" y="985"/>
                  <a:pt x="1322" y="1005"/>
                  <a:pt x="1311" y="1025"/>
                </a:cubicBezTo>
                <a:cubicBezTo>
                  <a:pt x="1300" y="1046"/>
                  <a:pt x="1289" y="1065"/>
                  <a:pt x="1276" y="1084"/>
                </a:cubicBezTo>
                <a:cubicBezTo>
                  <a:pt x="1263" y="1103"/>
                  <a:pt x="1250" y="1121"/>
                  <a:pt x="1235" y="1139"/>
                </a:cubicBezTo>
                <a:cubicBezTo>
                  <a:pt x="1221" y="1157"/>
                  <a:pt x="1205" y="1173"/>
                  <a:pt x="1189" y="1190"/>
                </a:cubicBezTo>
                <a:cubicBezTo>
                  <a:pt x="1173" y="1206"/>
                  <a:pt x="1156" y="1221"/>
                  <a:pt x="1139" y="1235"/>
                </a:cubicBezTo>
                <a:cubicBezTo>
                  <a:pt x="1121" y="1250"/>
                  <a:pt x="1103" y="1264"/>
                  <a:pt x="1084" y="1276"/>
                </a:cubicBezTo>
                <a:cubicBezTo>
                  <a:pt x="1065" y="1289"/>
                  <a:pt x="1045" y="1301"/>
                  <a:pt x="1025" y="1311"/>
                </a:cubicBezTo>
                <a:cubicBezTo>
                  <a:pt x="1005" y="1322"/>
                  <a:pt x="984" y="1332"/>
                  <a:pt x="963" y="1341"/>
                </a:cubicBezTo>
                <a:cubicBezTo>
                  <a:pt x="942" y="1349"/>
                  <a:pt x="921" y="1357"/>
                  <a:pt x="899" y="1364"/>
                </a:cubicBezTo>
                <a:cubicBezTo>
                  <a:pt x="877" y="1370"/>
                  <a:pt x="855" y="1376"/>
                  <a:pt x="833" y="1380"/>
                </a:cubicBezTo>
                <a:cubicBezTo>
                  <a:pt x="810" y="1385"/>
                  <a:pt x="788" y="1388"/>
                  <a:pt x="765" y="1390"/>
                </a:cubicBezTo>
                <a:cubicBezTo>
                  <a:pt x="742" y="1392"/>
                  <a:pt x="720" y="1394"/>
                  <a:pt x="697" y="1394"/>
                </a:cubicBezTo>
                <a:cubicBezTo>
                  <a:pt x="674" y="1394"/>
                  <a:pt x="651" y="1392"/>
                  <a:pt x="629" y="1390"/>
                </a:cubicBezTo>
                <a:cubicBezTo>
                  <a:pt x="606" y="1388"/>
                  <a:pt x="583" y="1385"/>
                  <a:pt x="561" y="1380"/>
                </a:cubicBezTo>
                <a:cubicBezTo>
                  <a:pt x="539" y="1376"/>
                  <a:pt x="517" y="1370"/>
                  <a:pt x="495" y="1364"/>
                </a:cubicBezTo>
                <a:cubicBezTo>
                  <a:pt x="473" y="1357"/>
                  <a:pt x="451" y="1349"/>
                  <a:pt x="430" y="1341"/>
                </a:cubicBezTo>
                <a:cubicBezTo>
                  <a:pt x="409" y="1332"/>
                  <a:pt x="389" y="1322"/>
                  <a:pt x="369" y="1311"/>
                </a:cubicBezTo>
                <a:cubicBezTo>
                  <a:pt x="349" y="1301"/>
                  <a:pt x="329" y="1289"/>
                  <a:pt x="309" y="1276"/>
                </a:cubicBezTo>
                <a:cubicBezTo>
                  <a:pt x="290" y="1264"/>
                  <a:pt x="272" y="1250"/>
                  <a:pt x="254" y="1235"/>
                </a:cubicBezTo>
                <a:cubicBezTo>
                  <a:pt x="236" y="1221"/>
                  <a:pt x="220" y="1206"/>
                  <a:pt x="203" y="1190"/>
                </a:cubicBezTo>
                <a:cubicBezTo>
                  <a:pt x="187" y="1173"/>
                  <a:pt x="172" y="1157"/>
                  <a:pt x="158" y="1139"/>
                </a:cubicBezTo>
                <a:cubicBezTo>
                  <a:pt x="143" y="1121"/>
                  <a:pt x="130" y="1103"/>
                  <a:pt x="117" y="1084"/>
                </a:cubicBezTo>
                <a:cubicBezTo>
                  <a:pt x="104" y="1065"/>
                  <a:pt x="93" y="1046"/>
                  <a:pt x="82" y="1025"/>
                </a:cubicBezTo>
                <a:cubicBezTo>
                  <a:pt x="71" y="1005"/>
                  <a:pt x="61" y="985"/>
                  <a:pt x="53" y="964"/>
                </a:cubicBezTo>
                <a:cubicBezTo>
                  <a:pt x="44" y="943"/>
                  <a:pt x="36" y="921"/>
                  <a:pt x="30" y="899"/>
                </a:cubicBezTo>
                <a:cubicBezTo>
                  <a:pt x="23" y="877"/>
                  <a:pt x="17" y="855"/>
                  <a:pt x="13" y="833"/>
                </a:cubicBezTo>
                <a:cubicBezTo>
                  <a:pt x="8" y="811"/>
                  <a:pt x="5" y="788"/>
                  <a:pt x="3" y="765"/>
                </a:cubicBezTo>
                <a:cubicBezTo>
                  <a:pt x="1" y="743"/>
                  <a:pt x="0" y="720"/>
                  <a:pt x="0" y="697"/>
                </a:cubicBezTo>
                <a:cubicBezTo>
                  <a:pt x="0" y="674"/>
                  <a:pt x="1" y="652"/>
                  <a:pt x="3" y="629"/>
                </a:cubicBezTo>
                <a:cubicBezTo>
                  <a:pt x="5" y="606"/>
                  <a:pt x="8" y="584"/>
                  <a:pt x="13" y="561"/>
                </a:cubicBezTo>
                <a:cubicBezTo>
                  <a:pt x="17" y="539"/>
                  <a:pt x="23" y="517"/>
                  <a:pt x="30" y="494"/>
                </a:cubicBezTo>
                <a:cubicBezTo>
                  <a:pt x="36" y="472"/>
                  <a:pt x="44" y="451"/>
                  <a:pt x="53" y="430"/>
                </a:cubicBezTo>
                <a:cubicBezTo>
                  <a:pt x="61" y="409"/>
                  <a:pt x="71" y="388"/>
                  <a:pt x="82" y="368"/>
                </a:cubicBezTo>
                <a:cubicBezTo>
                  <a:pt x="93" y="348"/>
                  <a:pt x="104" y="328"/>
                  <a:pt x="117" y="309"/>
                </a:cubicBezTo>
                <a:cubicBezTo>
                  <a:pt x="130" y="290"/>
                  <a:pt x="143" y="272"/>
                  <a:pt x="158" y="254"/>
                </a:cubicBezTo>
                <a:cubicBezTo>
                  <a:pt x="172" y="237"/>
                  <a:pt x="187" y="220"/>
                  <a:pt x="203" y="204"/>
                </a:cubicBezTo>
                <a:cubicBezTo>
                  <a:pt x="220" y="188"/>
                  <a:pt x="236" y="172"/>
                  <a:pt x="254" y="158"/>
                </a:cubicBezTo>
                <a:cubicBezTo>
                  <a:pt x="272" y="143"/>
                  <a:pt x="290" y="130"/>
                  <a:pt x="309" y="117"/>
                </a:cubicBezTo>
                <a:cubicBezTo>
                  <a:pt x="329" y="104"/>
                  <a:pt x="349" y="93"/>
                  <a:pt x="369" y="82"/>
                </a:cubicBezTo>
                <a:cubicBezTo>
                  <a:pt x="389" y="71"/>
                  <a:pt x="409" y="62"/>
                  <a:pt x="430" y="53"/>
                </a:cubicBezTo>
                <a:cubicBezTo>
                  <a:pt x="451" y="44"/>
                  <a:pt x="473" y="36"/>
                  <a:pt x="495" y="30"/>
                </a:cubicBezTo>
                <a:cubicBezTo>
                  <a:pt x="517" y="23"/>
                  <a:pt x="539" y="18"/>
                  <a:pt x="561" y="13"/>
                </a:cubicBezTo>
                <a:cubicBezTo>
                  <a:pt x="583" y="9"/>
                  <a:pt x="606" y="5"/>
                  <a:pt x="629" y="3"/>
                </a:cubicBezTo>
                <a:cubicBezTo>
                  <a:pt x="651" y="1"/>
                  <a:pt x="674" y="0"/>
                  <a:pt x="697" y="0"/>
                </a:cubicBezTo>
                <a:cubicBezTo>
                  <a:pt x="720" y="0"/>
                  <a:pt x="742" y="1"/>
                  <a:pt x="765" y="3"/>
                </a:cubicBezTo>
                <a:cubicBezTo>
                  <a:pt x="788" y="5"/>
                  <a:pt x="810" y="9"/>
                  <a:pt x="833" y="13"/>
                </a:cubicBezTo>
                <a:cubicBezTo>
                  <a:pt x="855" y="18"/>
                  <a:pt x="877" y="23"/>
                  <a:pt x="899" y="30"/>
                </a:cubicBezTo>
                <a:cubicBezTo>
                  <a:pt x="921" y="36"/>
                  <a:pt x="942" y="44"/>
                  <a:pt x="963" y="53"/>
                </a:cubicBezTo>
                <a:cubicBezTo>
                  <a:pt x="984" y="62"/>
                  <a:pt x="1005" y="71"/>
                  <a:pt x="1025" y="82"/>
                </a:cubicBezTo>
                <a:cubicBezTo>
                  <a:pt x="1045" y="93"/>
                  <a:pt x="1065" y="104"/>
                  <a:pt x="1084" y="117"/>
                </a:cubicBezTo>
                <a:cubicBezTo>
                  <a:pt x="1103" y="130"/>
                  <a:pt x="1121" y="143"/>
                  <a:pt x="1139" y="158"/>
                </a:cubicBezTo>
                <a:cubicBezTo>
                  <a:pt x="1156" y="172"/>
                  <a:pt x="1173" y="188"/>
                  <a:pt x="1189" y="204"/>
                </a:cubicBezTo>
                <a:cubicBezTo>
                  <a:pt x="1205" y="220"/>
                  <a:pt x="1221" y="237"/>
                  <a:pt x="1235" y="254"/>
                </a:cubicBezTo>
                <a:cubicBezTo>
                  <a:pt x="1250" y="272"/>
                  <a:pt x="1263" y="290"/>
                  <a:pt x="1276" y="309"/>
                </a:cubicBezTo>
                <a:cubicBezTo>
                  <a:pt x="1289" y="328"/>
                  <a:pt x="1300" y="348"/>
                  <a:pt x="1311" y="368"/>
                </a:cubicBezTo>
                <a:cubicBezTo>
                  <a:pt x="1322" y="388"/>
                  <a:pt x="1332" y="409"/>
                  <a:pt x="1340" y="430"/>
                </a:cubicBezTo>
                <a:cubicBezTo>
                  <a:pt x="1349" y="451"/>
                  <a:pt x="1357" y="472"/>
                  <a:pt x="1363" y="494"/>
                </a:cubicBezTo>
                <a:cubicBezTo>
                  <a:pt x="1370" y="517"/>
                  <a:pt x="1375" y="539"/>
                  <a:pt x="1380" y="561"/>
                </a:cubicBezTo>
                <a:cubicBezTo>
                  <a:pt x="1384" y="584"/>
                  <a:pt x="1388" y="606"/>
                  <a:pt x="1390" y="629"/>
                </a:cubicBezTo>
                <a:cubicBezTo>
                  <a:pt x="1392" y="652"/>
                  <a:pt x="1393" y="674"/>
                  <a:pt x="1393" y="697"/>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53" name="圖片 852"/>
          <p:cNvPicPr/>
          <p:nvPr/>
        </p:nvPicPr>
        <p:blipFill>
          <a:blip r:embed="rId6"/>
          <a:stretch>
            <a:fillRect/>
          </a:stretch>
        </p:blipFill>
        <p:spPr>
          <a:xfrm>
            <a:off x="5799600" y="1220040"/>
            <a:ext cx="200160" cy="200160"/>
          </a:xfrm>
          <a:prstGeom prst="rect">
            <a:avLst/>
          </a:prstGeom>
          <a:noFill/>
          <a:ln w="0">
            <a:noFill/>
          </a:ln>
        </p:spPr>
      </p:pic>
      <p:sp>
        <p:nvSpPr>
          <p:cNvPr id="854" name="文字框 853"/>
          <p:cNvSpPr txBox="1"/>
          <p:nvPr/>
        </p:nvSpPr>
        <p:spPr>
          <a:xfrm>
            <a:off x="936000" y="2720880"/>
            <a:ext cx="348768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投资者的避险情绪推高债券价格，形成保值甚至增值的效果</a:t>
            </a:r>
            <a:endParaRPr lang="en-US" sz="1050" b="0" u="none" strike="noStrike">
              <a:solidFill>
                <a:srgbClr val="000000"/>
              </a:solidFill>
              <a:effectLst/>
              <a:uFillTx/>
              <a:latin typeface="Times New Roman" panose="02020603050405020304"/>
            </a:endParaRPr>
          </a:p>
        </p:txBody>
      </p:sp>
      <p:sp>
        <p:nvSpPr>
          <p:cNvPr id="855" name="文字框 854"/>
          <p:cNvSpPr txBox="1"/>
          <p:nvPr/>
        </p:nvSpPr>
        <p:spPr>
          <a:xfrm>
            <a:off x="6284160" y="1194120"/>
            <a:ext cx="40320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黄金</a:t>
            </a:r>
            <a:endParaRPr lang="en-US" sz="1580" b="0" u="none" strike="noStrike">
              <a:solidFill>
                <a:srgbClr val="000000"/>
              </a:solidFill>
              <a:effectLst/>
              <a:uFillTx/>
              <a:latin typeface="Times New Roman" panose="02020603050405020304"/>
            </a:endParaRPr>
          </a:p>
        </p:txBody>
      </p:sp>
      <p:sp>
        <p:nvSpPr>
          <p:cNvPr id="856" name="文字框 855"/>
          <p:cNvSpPr txBox="1"/>
          <p:nvPr/>
        </p:nvSpPr>
        <p:spPr>
          <a:xfrm>
            <a:off x="5649120" y="168480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黄金作为一种超越主权信用的实物资产，其保本机制根植于稀缺性和全球</a:t>
            </a:r>
            <a:endParaRPr lang="en-US" sz="1050" b="0" u="none" strike="noStrike">
              <a:solidFill>
                <a:srgbClr val="000000"/>
              </a:solidFill>
              <a:effectLst/>
              <a:uFillTx/>
              <a:latin typeface="Times New Roman" panose="02020603050405020304"/>
            </a:endParaRPr>
          </a:p>
        </p:txBody>
      </p:sp>
      <p:pic>
        <p:nvPicPr>
          <p:cNvPr id="857" name="圖片 856"/>
          <p:cNvPicPr/>
          <p:nvPr/>
        </p:nvPicPr>
        <p:blipFill>
          <a:blip r:embed="rId7"/>
          <a:stretch>
            <a:fillRect/>
          </a:stretch>
        </p:blipFill>
        <p:spPr>
          <a:xfrm>
            <a:off x="5649120" y="2264760"/>
            <a:ext cx="133200" cy="133200"/>
          </a:xfrm>
          <a:prstGeom prst="rect">
            <a:avLst/>
          </a:prstGeom>
          <a:noFill/>
          <a:ln w="0">
            <a:noFill/>
          </a:ln>
        </p:spPr>
      </p:pic>
      <p:sp>
        <p:nvSpPr>
          <p:cNvPr id="858" name="文字框 857"/>
          <p:cNvSpPr txBox="1"/>
          <p:nvPr/>
        </p:nvSpPr>
        <p:spPr>
          <a:xfrm>
            <a:off x="5649120" y="188532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公认的价值储存功能。</a:t>
            </a:r>
            <a:endParaRPr lang="en-US" sz="1050" b="0" u="none" strike="noStrike">
              <a:solidFill>
                <a:srgbClr val="000000"/>
              </a:solidFill>
              <a:effectLst/>
              <a:uFillTx/>
              <a:latin typeface="Times New Roman" panose="02020603050405020304"/>
            </a:endParaRPr>
          </a:p>
        </p:txBody>
      </p:sp>
      <p:pic>
        <p:nvPicPr>
          <p:cNvPr id="859" name="圖片 858"/>
          <p:cNvPicPr/>
          <p:nvPr/>
        </p:nvPicPr>
        <p:blipFill>
          <a:blip r:embed="rId8"/>
          <a:stretch>
            <a:fillRect/>
          </a:stretch>
        </p:blipFill>
        <p:spPr>
          <a:xfrm>
            <a:off x="5649120" y="2532240"/>
            <a:ext cx="133200" cy="133200"/>
          </a:xfrm>
          <a:prstGeom prst="rect">
            <a:avLst/>
          </a:prstGeom>
          <a:noFill/>
          <a:ln w="0">
            <a:noFill/>
          </a:ln>
        </p:spPr>
      </p:pic>
      <p:sp>
        <p:nvSpPr>
          <p:cNvPr id="860" name="文字框 859"/>
          <p:cNvSpPr txBox="1"/>
          <p:nvPr/>
        </p:nvSpPr>
        <p:spPr>
          <a:xfrm>
            <a:off x="5883120" y="2252880"/>
            <a:ext cx="30852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被用作对冲系统性风险、通货膨胀和货币贬值的工具</a:t>
            </a:r>
            <a:endParaRPr lang="en-US" sz="1050" b="0" u="none" strike="noStrike">
              <a:solidFill>
                <a:srgbClr val="000000"/>
              </a:solidFill>
              <a:effectLst/>
              <a:uFillTx/>
              <a:latin typeface="Times New Roman" panose="02020603050405020304"/>
            </a:endParaRPr>
          </a:p>
        </p:txBody>
      </p:sp>
      <p:sp>
        <p:nvSpPr>
          <p:cNvPr id="861" name="文字框 860"/>
          <p:cNvSpPr txBox="1"/>
          <p:nvPr/>
        </p:nvSpPr>
        <p:spPr>
          <a:xfrm>
            <a:off x="5883120" y="2520360"/>
            <a:ext cx="22806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持有黄金是为了防范极端负面事件（即</a:t>
            </a:r>
            <a:endParaRPr lang="en-US" sz="1050" b="0" u="none" strike="noStrike">
              <a:solidFill>
                <a:srgbClr val="000000"/>
              </a:solidFill>
              <a:effectLst/>
              <a:uFillTx/>
              <a:latin typeface="Times New Roman" panose="02020603050405020304"/>
            </a:endParaRPr>
          </a:p>
        </p:txBody>
      </p:sp>
      <p:sp>
        <p:nvSpPr>
          <p:cNvPr id="862" name="文字框 861"/>
          <p:cNvSpPr txBox="1"/>
          <p:nvPr/>
        </p:nvSpPr>
        <p:spPr>
          <a:xfrm>
            <a:off x="8156160" y="2525040"/>
            <a:ext cx="133200" cy="157320"/>
          </a:xfrm>
          <a:prstGeom prst="rect">
            <a:avLst/>
          </a:prstGeom>
          <a:noFill/>
          <a:ln w="0">
            <a:noFill/>
          </a:ln>
        </p:spPr>
        <p:txBody>
          <a:bodyPr wrap="none" lIns="0" tIns="0" rIns="0" bIns="0" anchor="t">
            <a:spAutoFit/>
          </a:bodyPr>
          <a:p>
            <a:r>
              <a:rPr lang="en-US" sz="1050" b="0" u="none" strike="noStrike">
                <a:solidFill>
                  <a:srgbClr val="D1D5D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863" name="文字框 862"/>
          <p:cNvSpPr txBox="1"/>
          <p:nvPr/>
        </p:nvSpPr>
        <p:spPr>
          <a:xfrm>
            <a:off x="8217720" y="2520360"/>
            <a:ext cx="5371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尾部风险</a:t>
            </a:r>
            <a:endParaRPr lang="en-US" sz="1050" b="0" u="none" strike="noStrike">
              <a:solidFill>
                <a:srgbClr val="000000"/>
              </a:solidFill>
              <a:effectLst/>
              <a:uFillTx/>
              <a:latin typeface="Times New Roman" panose="02020603050405020304"/>
            </a:endParaRPr>
          </a:p>
        </p:txBody>
      </p:sp>
      <p:sp>
        <p:nvSpPr>
          <p:cNvPr id="864" name="文字框 863"/>
          <p:cNvSpPr txBox="1"/>
          <p:nvPr/>
        </p:nvSpPr>
        <p:spPr>
          <a:xfrm>
            <a:off x="8752320" y="2525040"/>
            <a:ext cx="133200" cy="157320"/>
          </a:xfrm>
          <a:prstGeom prst="rect">
            <a:avLst/>
          </a:prstGeom>
          <a:noFill/>
          <a:ln w="0">
            <a:noFill/>
          </a:ln>
        </p:spPr>
        <p:txBody>
          <a:bodyPr wrap="none" lIns="0" tIns="0" rIns="0" bIns="0" anchor="t">
            <a:spAutoFit/>
          </a:bodyPr>
          <a:p>
            <a:r>
              <a:rPr lang="en-US" sz="1050" b="0" u="none" strike="noStrike">
                <a:solidFill>
                  <a:srgbClr val="D1D5D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865" name="任意多邊形 864"/>
          <p:cNvSpPr/>
          <p:nvPr/>
        </p:nvSpPr>
        <p:spPr>
          <a:xfrm>
            <a:off x="551520" y="3275640"/>
            <a:ext cx="4696560" cy="2172960"/>
          </a:xfrm>
          <a:custGeom>
            <a:avLst/>
            <a:gdLst/>
            <a:ahLst/>
            <a:cxnLst/>
            <a:rect l="0" t="0" r="r" b="b"/>
            <a:pathLst>
              <a:path w="13046" h="6036">
                <a:moveTo>
                  <a:pt x="0" y="5850"/>
                </a:moveTo>
                <a:lnTo>
                  <a:pt x="0" y="186"/>
                </a:lnTo>
                <a:cubicBezTo>
                  <a:pt x="0" y="174"/>
                  <a:pt x="0" y="161"/>
                  <a:pt x="2" y="149"/>
                </a:cubicBezTo>
                <a:cubicBezTo>
                  <a:pt x="4" y="138"/>
                  <a:pt x="7" y="126"/>
                  <a:pt x="10" y="115"/>
                </a:cubicBezTo>
                <a:cubicBezTo>
                  <a:pt x="14" y="103"/>
                  <a:pt x="18" y="93"/>
                  <a:pt x="23" y="83"/>
                </a:cubicBezTo>
                <a:cubicBezTo>
                  <a:pt x="28" y="72"/>
                  <a:pt x="34" y="63"/>
                  <a:pt x="40" y="54"/>
                </a:cubicBezTo>
                <a:cubicBezTo>
                  <a:pt x="47" y="46"/>
                  <a:pt x="54" y="38"/>
                  <a:pt x="61" y="31"/>
                </a:cubicBezTo>
                <a:cubicBezTo>
                  <a:pt x="69" y="25"/>
                  <a:pt x="77" y="19"/>
                  <a:pt x="86" y="14"/>
                </a:cubicBezTo>
                <a:cubicBezTo>
                  <a:pt x="94" y="9"/>
                  <a:pt x="103" y="6"/>
                  <a:pt x="112" y="4"/>
                </a:cubicBezTo>
                <a:cubicBezTo>
                  <a:pt x="121" y="1"/>
                  <a:pt x="130" y="0"/>
                  <a:pt x="139" y="0"/>
                </a:cubicBezTo>
                <a:lnTo>
                  <a:pt x="12861" y="0"/>
                </a:lnTo>
                <a:cubicBezTo>
                  <a:pt x="12873" y="0"/>
                  <a:pt x="12885" y="1"/>
                  <a:pt x="12897" y="4"/>
                </a:cubicBezTo>
                <a:cubicBezTo>
                  <a:pt x="12909" y="6"/>
                  <a:pt x="12920" y="9"/>
                  <a:pt x="12932" y="14"/>
                </a:cubicBezTo>
                <a:cubicBezTo>
                  <a:pt x="12943" y="19"/>
                  <a:pt x="12954" y="25"/>
                  <a:pt x="12964" y="31"/>
                </a:cubicBezTo>
                <a:cubicBezTo>
                  <a:pt x="12974" y="38"/>
                  <a:pt x="12983" y="46"/>
                  <a:pt x="12992" y="54"/>
                </a:cubicBezTo>
                <a:cubicBezTo>
                  <a:pt x="13001" y="63"/>
                  <a:pt x="13008" y="72"/>
                  <a:pt x="13015" y="83"/>
                </a:cubicBezTo>
                <a:cubicBezTo>
                  <a:pt x="13022" y="93"/>
                  <a:pt x="13027" y="103"/>
                  <a:pt x="13032" y="115"/>
                </a:cubicBezTo>
                <a:cubicBezTo>
                  <a:pt x="13037" y="126"/>
                  <a:pt x="13040" y="138"/>
                  <a:pt x="13043" y="149"/>
                </a:cubicBezTo>
                <a:cubicBezTo>
                  <a:pt x="13045" y="161"/>
                  <a:pt x="13046" y="174"/>
                  <a:pt x="13046" y="186"/>
                </a:cubicBezTo>
                <a:lnTo>
                  <a:pt x="13046" y="5850"/>
                </a:lnTo>
                <a:cubicBezTo>
                  <a:pt x="13046" y="5862"/>
                  <a:pt x="13045" y="5874"/>
                  <a:pt x="13043" y="5886"/>
                </a:cubicBezTo>
                <a:cubicBezTo>
                  <a:pt x="13040" y="5898"/>
                  <a:pt x="13037" y="5910"/>
                  <a:pt x="13032" y="5921"/>
                </a:cubicBezTo>
                <a:cubicBezTo>
                  <a:pt x="13027" y="5932"/>
                  <a:pt x="13022" y="5943"/>
                  <a:pt x="13015" y="5953"/>
                </a:cubicBezTo>
                <a:cubicBezTo>
                  <a:pt x="13008" y="5963"/>
                  <a:pt x="13001" y="5972"/>
                  <a:pt x="12992" y="5981"/>
                </a:cubicBezTo>
                <a:cubicBezTo>
                  <a:pt x="12983" y="5991"/>
                  <a:pt x="12974" y="5998"/>
                  <a:pt x="12964" y="6005"/>
                </a:cubicBezTo>
                <a:cubicBezTo>
                  <a:pt x="12954" y="6012"/>
                  <a:pt x="12943" y="6018"/>
                  <a:pt x="12932" y="6022"/>
                </a:cubicBezTo>
                <a:cubicBezTo>
                  <a:pt x="12920" y="6027"/>
                  <a:pt x="12909" y="6030"/>
                  <a:pt x="12897" y="6033"/>
                </a:cubicBezTo>
                <a:cubicBezTo>
                  <a:pt x="12885" y="6035"/>
                  <a:pt x="12873" y="6036"/>
                  <a:pt x="12861" y="6036"/>
                </a:cubicBezTo>
                <a:lnTo>
                  <a:pt x="139" y="6036"/>
                </a:lnTo>
                <a:cubicBezTo>
                  <a:pt x="130" y="6036"/>
                  <a:pt x="121" y="6035"/>
                  <a:pt x="112" y="6033"/>
                </a:cubicBezTo>
                <a:cubicBezTo>
                  <a:pt x="103" y="6030"/>
                  <a:pt x="94" y="6027"/>
                  <a:pt x="86" y="6022"/>
                </a:cubicBezTo>
                <a:cubicBezTo>
                  <a:pt x="77" y="6018"/>
                  <a:pt x="69" y="6012"/>
                  <a:pt x="61" y="6005"/>
                </a:cubicBezTo>
                <a:cubicBezTo>
                  <a:pt x="54" y="5998"/>
                  <a:pt x="47" y="5991"/>
                  <a:pt x="40" y="5981"/>
                </a:cubicBezTo>
                <a:cubicBezTo>
                  <a:pt x="34" y="5972"/>
                  <a:pt x="28" y="5963"/>
                  <a:pt x="23" y="5953"/>
                </a:cubicBezTo>
                <a:cubicBezTo>
                  <a:pt x="18" y="5943"/>
                  <a:pt x="14" y="5932"/>
                  <a:pt x="10" y="5921"/>
                </a:cubicBezTo>
                <a:cubicBezTo>
                  <a:pt x="7" y="5910"/>
                  <a:pt x="4" y="5898"/>
                  <a:pt x="2" y="5886"/>
                </a:cubicBezTo>
                <a:cubicBezTo>
                  <a:pt x="0" y="5874"/>
                  <a:pt x="0" y="5862"/>
                  <a:pt x="0" y="585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66" name="任意多邊形 865"/>
          <p:cNvSpPr/>
          <p:nvPr/>
        </p:nvSpPr>
        <p:spPr>
          <a:xfrm>
            <a:off x="534600" y="3275640"/>
            <a:ext cx="67320" cy="2172960"/>
          </a:xfrm>
          <a:custGeom>
            <a:avLst/>
            <a:gdLst/>
            <a:ahLst/>
            <a:cxnLst/>
            <a:rect l="0" t="0" r="r" b="b"/>
            <a:pathLst>
              <a:path w="187" h="6036">
                <a:moveTo>
                  <a:pt x="0" y="0"/>
                </a:moveTo>
                <a:lnTo>
                  <a:pt x="187" y="0"/>
                </a:lnTo>
                <a:lnTo>
                  <a:pt x="187" y="6036"/>
                </a:lnTo>
                <a:lnTo>
                  <a:pt x="0" y="6036"/>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67" name="任意多邊形 866"/>
          <p:cNvSpPr/>
          <p:nvPr/>
        </p:nvSpPr>
        <p:spPr>
          <a:xfrm>
            <a:off x="735120" y="3442680"/>
            <a:ext cx="501840" cy="501840"/>
          </a:xfrm>
          <a:custGeom>
            <a:avLst/>
            <a:gdLst/>
            <a:ahLst/>
            <a:cxnLst/>
            <a:rect l="0" t="0" r="r" b="b"/>
            <a:pathLst>
              <a:path w="1394" h="1394">
                <a:moveTo>
                  <a:pt x="1394" y="697"/>
                </a:moveTo>
                <a:cubicBezTo>
                  <a:pt x="1394" y="719"/>
                  <a:pt x="1393" y="742"/>
                  <a:pt x="1391" y="765"/>
                </a:cubicBezTo>
                <a:cubicBezTo>
                  <a:pt x="1388" y="788"/>
                  <a:pt x="1385" y="810"/>
                  <a:pt x="1381" y="833"/>
                </a:cubicBezTo>
                <a:cubicBezTo>
                  <a:pt x="1376" y="855"/>
                  <a:pt x="1371" y="878"/>
                  <a:pt x="1364" y="900"/>
                </a:cubicBezTo>
                <a:cubicBezTo>
                  <a:pt x="1357" y="922"/>
                  <a:pt x="1350" y="943"/>
                  <a:pt x="1341" y="964"/>
                </a:cubicBezTo>
                <a:cubicBezTo>
                  <a:pt x="1332" y="985"/>
                  <a:pt x="1323" y="1006"/>
                  <a:pt x="1312" y="1026"/>
                </a:cubicBezTo>
                <a:cubicBezTo>
                  <a:pt x="1301" y="1046"/>
                  <a:pt x="1289" y="1066"/>
                  <a:pt x="1277" y="1085"/>
                </a:cubicBezTo>
                <a:cubicBezTo>
                  <a:pt x="1264" y="1104"/>
                  <a:pt x="1250" y="1122"/>
                  <a:pt x="1236" y="1139"/>
                </a:cubicBezTo>
                <a:cubicBezTo>
                  <a:pt x="1221" y="1157"/>
                  <a:pt x="1206" y="1174"/>
                  <a:pt x="1190" y="1190"/>
                </a:cubicBezTo>
                <a:cubicBezTo>
                  <a:pt x="1174" y="1206"/>
                  <a:pt x="1157" y="1222"/>
                  <a:pt x="1139" y="1236"/>
                </a:cubicBezTo>
                <a:cubicBezTo>
                  <a:pt x="1122" y="1250"/>
                  <a:pt x="1103" y="1264"/>
                  <a:pt x="1085" y="1277"/>
                </a:cubicBezTo>
                <a:cubicBezTo>
                  <a:pt x="1066" y="1289"/>
                  <a:pt x="1046" y="1301"/>
                  <a:pt x="1026" y="1312"/>
                </a:cubicBezTo>
                <a:cubicBezTo>
                  <a:pt x="1006" y="1323"/>
                  <a:pt x="985" y="1332"/>
                  <a:pt x="964" y="1341"/>
                </a:cubicBezTo>
                <a:cubicBezTo>
                  <a:pt x="943" y="1350"/>
                  <a:pt x="922" y="1357"/>
                  <a:pt x="900" y="1364"/>
                </a:cubicBezTo>
                <a:cubicBezTo>
                  <a:pt x="878" y="1371"/>
                  <a:pt x="856" y="1376"/>
                  <a:pt x="833" y="1381"/>
                </a:cubicBezTo>
                <a:cubicBezTo>
                  <a:pt x="811" y="1385"/>
                  <a:pt x="789" y="1388"/>
                  <a:pt x="766" y="1391"/>
                </a:cubicBezTo>
                <a:cubicBezTo>
                  <a:pt x="743" y="1393"/>
                  <a:pt x="720" y="1394"/>
                  <a:pt x="698" y="1394"/>
                </a:cubicBezTo>
                <a:cubicBezTo>
                  <a:pt x="675" y="1394"/>
                  <a:pt x="652" y="1393"/>
                  <a:pt x="629" y="1391"/>
                </a:cubicBezTo>
                <a:cubicBezTo>
                  <a:pt x="607" y="1388"/>
                  <a:pt x="584" y="1385"/>
                  <a:pt x="562" y="1381"/>
                </a:cubicBezTo>
                <a:cubicBezTo>
                  <a:pt x="539" y="1376"/>
                  <a:pt x="517" y="1371"/>
                  <a:pt x="495" y="1364"/>
                </a:cubicBezTo>
                <a:cubicBezTo>
                  <a:pt x="474" y="1357"/>
                  <a:pt x="452" y="1350"/>
                  <a:pt x="431" y="1341"/>
                </a:cubicBezTo>
                <a:cubicBezTo>
                  <a:pt x="410" y="1332"/>
                  <a:pt x="389" y="1323"/>
                  <a:pt x="369" y="1312"/>
                </a:cubicBezTo>
                <a:cubicBezTo>
                  <a:pt x="349" y="1301"/>
                  <a:pt x="330" y="1289"/>
                  <a:pt x="311" y="1277"/>
                </a:cubicBezTo>
                <a:cubicBezTo>
                  <a:pt x="292" y="1264"/>
                  <a:pt x="273" y="1250"/>
                  <a:pt x="256" y="1236"/>
                </a:cubicBezTo>
                <a:cubicBezTo>
                  <a:pt x="238" y="1222"/>
                  <a:pt x="221" y="1206"/>
                  <a:pt x="205" y="1190"/>
                </a:cubicBezTo>
                <a:cubicBezTo>
                  <a:pt x="189" y="1174"/>
                  <a:pt x="174" y="1157"/>
                  <a:pt x="159" y="1139"/>
                </a:cubicBezTo>
                <a:cubicBezTo>
                  <a:pt x="145" y="1122"/>
                  <a:pt x="131" y="1104"/>
                  <a:pt x="119" y="1085"/>
                </a:cubicBezTo>
                <a:cubicBezTo>
                  <a:pt x="106" y="1066"/>
                  <a:pt x="94" y="1046"/>
                  <a:pt x="83" y="1026"/>
                </a:cubicBezTo>
                <a:cubicBezTo>
                  <a:pt x="73" y="1006"/>
                  <a:pt x="63" y="985"/>
                  <a:pt x="54" y="964"/>
                </a:cubicBezTo>
                <a:cubicBezTo>
                  <a:pt x="45" y="943"/>
                  <a:pt x="37" y="922"/>
                  <a:pt x="30" y="900"/>
                </a:cubicBezTo>
                <a:cubicBezTo>
                  <a:pt x="24" y="878"/>
                  <a:pt x="18" y="855"/>
                  <a:pt x="14" y="833"/>
                </a:cubicBezTo>
                <a:cubicBezTo>
                  <a:pt x="9" y="810"/>
                  <a:pt x="6" y="788"/>
                  <a:pt x="4" y="765"/>
                </a:cubicBezTo>
                <a:cubicBezTo>
                  <a:pt x="1" y="742"/>
                  <a:pt x="0" y="719"/>
                  <a:pt x="0" y="697"/>
                </a:cubicBezTo>
                <a:cubicBezTo>
                  <a:pt x="0" y="674"/>
                  <a:pt x="1" y="651"/>
                  <a:pt x="4" y="628"/>
                </a:cubicBezTo>
                <a:cubicBezTo>
                  <a:pt x="6" y="606"/>
                  <a:pt x="9" y="583"/>
                  <a:pt x="14" y="561"/>
                </a:cubicBezTo>
                <a:cubicBezTo>
                  <a:pt x="18" y="538"/>
                  <a:pt x="24" y="516"/>
                  <a:pt x="30" y="495"/>
                </a:cubicBezTo>
                <a:cubicBezTo>
                  <a:pt x="37" y="473"/>
                  <a:pt x="45" y="451"/>
                  <a:pt x="54" y="430"/>
                </a:cubicBezTo>
                <a:cubicBezTo>
                  <a:pt x="63" y="409"/>
                  <a:pt x="73" y="389"/>
                  <a:pt x="83" y="368"/>
                </a:cubicBezTo>
                <a:cubicBezTo>
                  <a:pt x="94" y="348"/>
                  <a:pt x="106" y="329"/>
                  <a:pt x="119" y="310"/>
                </a:cubicBezTo>
                <a:cubicBezTo>
                  <a:pt x="131" y="291"/>
                  <a:pt x="145" y="273"/>
                  <a:pt x="159" y="255"/>
                </a:cubicBezTo>
                <a:cubicBezTo>
                  <a:pt x="174" y="237"/>
                  <a:pt x="189" y="220"/>
                  <a:pt x="205" y="204"/>
                </a:cubicBezTo>
                <a:cubicBezTo>
                  <a:pt x="221" y="188"/>
                  <a:pt x="238" y="173"/>
                  <a:pt x="256" y="158"/>
                </a:cubicBezTo>
                <a:cubicBezTo>
                  <a:pt x="273" y="144"/>
                  <a:pt x="292" y="130"/>
                  <a:pt x="311" y="118"/>
                </a:cubicBezTo>
                <a:cubicBezTo>
                  <a:pt x="330" y="105"/>
                  <a:pt x="349" y="93"/>
                  <a:pt x="369" y="83"/>
                </a:cubicBezTo>
                <a:cubicBezTo>
                  <a:pt x="389" y="72"/>
                  <a:pt x="410" y="62"/>
                  <a:pt x="431" y="53"/>
                </a:cubicBezTo>
                <a:cubicBezTo>
                  <a:pt x="452" y="45"/>
                  <a:pt x="474" y="37"/>
                  <a:pt x="495" y="30"/>
                </a:cubicBezTo>
                <a:cubicBezTo>
                  <a:pt x="517" y="24"/>
                  <a:pt x="539" y="18"/>
                  <a:pt x="562" y="14"/>
                </a:cubicBezTo>
                <a:cubicBezTo>
                  <a:pt x="584" y="9"/>
                  <a:pt x="607" y="6"/>
                  <a:pt x="629" y="4"/>
                </a:cubicBezTo>
                <a:cubicBezTo>
                  <a:pt x="652" y="1"/>
                  <a:pt x="675" y="0"/>
                  <a:pt x="698" y="0"/>
                </a:cubicBezTo>
                <a:cubicBezTo>
                  <a:pt x="720" y="0"/>
                  <a:pt x="743" y="1"/>
                  <a:pt x="766" y="4"/>
                </a:cubicBezTo>
                <a:cubicBezTo>
                  <a:pt x="789" y="6"/>
                  <a:pt x="811" y="9"/>
                  <a:pt x="833" y="14"/>
                </a:cubicBezTo>
                <a:cubicBezTo>
                  <a:pt x="856" y="18"/>
                  <a:pt x="878" y="24"/>
                  <a:pt x="900" y="30"/>
                </a:cubicBezTo>
                <a:cubicBezTo>
                  <a:pt x="922" y="37"/>
                  <a:pt x="943" y="45"/>
                  <a:pt x="964" y="53"/>
                </a:cubicBezTo>
                <a:cubicBezTo>
                  <a:pt x="985" y="62"/>
                  <a:pt x="1006" y="72"/>
                  <a:pt x="1026" y="83"/>
                </a:cubicBezTo>
                <a:cubicBezTo>
                  <a:pt x="1046" y="93"/>
                  <a:pt x="1066" y="105"/>
                  <a:pt x="1085" y="118"/>
                </a:cubicBezTo>
                <a:cubicBezTo>
                  <a:pt x="1103" y="130"/>
                  <a:pt x="1122" y="144"/>
                  <a:pt x="1139" y="158"/>
                </a:cubicBezTo>
                <a:cubicBezTo>
                  <a:pt x="1157" y="173"/>
                  <a:pt x="1174" y="188"/>
                  <a:pt x="1190" y="204"/>
                </a:cubicBezTo>
                <a:cubicBezTo>
                  <a:pt x="1206" y="220"/>
                  <a:pt x="1221" y="237"/>
                  <a:pt x="1236" y="255"/>
                </a:cubicBezTo>
                <a:cubicBezTo>
                  <a:pt x="1250" y="273"/>
                  <a:pt x="1264" y="291"/>
                  <a:pt x="1277" y="310"/>
                </a:cubicBezTo>
                <a:cubicBezTo>
                  <a:pt x="1289" y="329"/>
                  <a:pt x="1301" y="348"/>
                  <a:pt x="1312" y="368"/>
                </a:cubicBezTo>
                <a:cubicBezTo>
                  <a:pt x="1323" y="389"/>
                  <a:pt x="1332" y="409"/>
                  <a:pt x="1341" y="430"/>
                </a:cubicBezTo>
                <a:cubicBezTo>
                  <a:pt x="1350" y="451"/>
                  <a:pt x="1357" y="473"/>
                  <a:pt x="1364" y="495"/>
                </a:cubicBezTo>
                <a:cubicBezTo>
                  <a:pt x="1371" y="516"/>
                  <a:pt x="1376" y="538"/>
                  <a:pt x="1381" y="561"/>
                </a:cubicBezTo>
                <a:cubicBezTo>
                  <a:pt x="1385" y="583"/>
                  <a:pt x="1388" y="606"/>
                  <a:pt x="1391" y="628"/>
                </a:cubicBezTo>
                <a:cubicBezTo>
                  <a:pt x="1393" y="651"/>
                  <a:pt x="1394" y="674"/>
                  <a:pt x="1394" y="697"/>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68" name="圖片 867"/>
          <p:cNvPicPr/>
          <p:nvPr/>
        </p:nvPicPr>
        <p:blipFill>
          <a:blip r:embed="rId9"/>
          <a:stretch>
            <a:fillRect/>
          </a:stretch>
        </p:blipFill>
        <p:spPr>
          <a:xfrm>
            <a:off x="877320" y="3593520"/>
            <a:ext cx="225360" cy="200160"/>
          </a:xfrm>
          <a:prstGeom prst="rect">
            <a:avLst/>
          </a:prstGeom>
          <a:noFill/>
          <a:ln w="0">
            <a:noFill/>
          </a:ln>
        </p:spPr>
      </p:pic>
      <p:sp>
        <p:nvSpPr>
          <p:cNvPr id="869" name="文字框 868"/>
          <p:cNvSpPr txBox="1"/>
          <p:nvPr/>
        </p:nvSpPr>
        <p:spPr>
          <a:xfrm>
            <a:off x="8813880" y="2520360"/>
            <a:ext cx="1350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a:t>
            </a:r>
            <a:endParaRPr lang="en-US" sz="1050" b="0" u="none" strike="noStrike">
              <a:solidFill>
                <a:srgbClr val="000000"/>
              </a:solidFill>
              <a:effectLst/>
              <a:uFillTx/>
              <a:latin typeface="Times New Roman" panose="02020603050405020304"/>
            </a:endParaRPr>
          </a:p>
        </p:txBody>
      </p:sp>
      <p:sp>
        <p:nvSpPr>
          <p:cNvPr id="870" name="文字框 869"/>
          <p:cNvSpPr txBox="1"/>
          <p:nvPr/>
        </p:nvSpPr>
        <p:spPr>
          <a:xfrm>
            <a:off x="1370520" y="3567240"/>
            <a:ext cx="40320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现金</a:t>
            </a:r>
            <a:endParaRPr lang="en-US" sz="1580" b="0" u="none" strike="noStrike">
              <a:solidFill>
                <a:srgbClr val="000000"/>
              </a:solidFill>
              <a:effectLst/>
              <a:uFillTx/>
              <a:latin typeface="Times New Roman" panose="02020603050405020304"/>
            </a:endParaRPr>
          </a:p>
        </p:txBody>
      </p:sp>
      <p:sp>
        <p:nvSpPr>
          <p:cNvPr id="871" name="文字框 870"/>
          <p:cNvSpPr txBox="1"/>
          <p:nvPr/>
        </p:nvSpPr>
        <p:spPr>
          <a:xfrm>
            <a:off x="735480" y="405792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现金提供了最强的流动性和名义价值的绝对保证，在危机中起到重要的保</a:t>
            </a:r>
            <a:endParaRPr lang="en-US" sz="1050" b="0" u="none" strike="noStrike">
              <a:solidFill>
                <a:srgbClr val="000000"/>
              </a:solidFill>
              <a:effectLst/>
              <a:uFillTx/>
              <a:latin typeface="Times New Roman" panose="02020603050405020304"/>
            </a:endParaRPr>
          </a:p>
        </p:txBody>
      </p:sp>
      <p:pic>
        <p:nvPicPr>
          <p:cNvPr id="872" name="圖片 871"/>
          <p:cNvPicPr/>
          <p:nvPr/>
        </p:nvPicPr>
        <p:blipFill>
          <a:blip r:embed="rId10"/>
          <a:stretch>
            <a:fillRect/>
          </a:stretch>
        </p:blipFill>
        <p:spPr>
          <a:xfrm>
            <a:off x="735480" y="4637880"/>
            <a:ext cx="133200" cy="133200"/>
          </a:xfrm>
          <a:prstGeom prst="rect">
            <a:avLst/>
          </a:prstGeom>
          <a:noFill/>
          <a:ln w="0">
            <a:noFill/>
          </a:ln>
        </p:spPr>
      </p:pic>
      <p:sp>
        <p:nvSpPr>
          <p:cNvPr id="873" name="文字框 872"/>
          <p:cNvSpPr txBox="1"/>
          <p:nvPr/>
        </p:nvSpPr>
        <p:spPr>
          <a:xfrm>
            <a:off x="735480" y="425844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本作用。</a:t>
            </a:r>
            <a:endParaRPr lang="en-US" sz="1050" b="0" u="none" strike="noStrike">
              <a:solidFill>
                <a:srgbClr val="000000"/>
              </a:solidFill>
              <a:effectLst/>
              <a:uFillTx/>
              <a:latin typeface="Times New Roman" panose="02020603050405020304"/>
            </a:endParaRPr>
          </a:p>
        </p:txBody>
      </p:sp>
      <p:pic>
        <p:nvPicPr>
          <p:cNvPr id="874" name="圖片 873"/>
          <p:cNvPicPr/>
          <p:nvPr/>
        </p:nvPicPr>
        <p:blipFill>
          <a:blip r:embed="rId11"/>
          <a:stretch>
            <a:fillRect/>
          </a:stretch>
        </p:blipFill>
        <p:spPr>
          <a:xfrm>
            <a:off x="735480" y="5005800"/>
            <a:ext cx="133200" cy="133200"/>
          </a:xfrm>
          <a:prstGeom prst="rect">
            <a:avLst/>
          </a:prstGeom>
          <a:noFill/>
          <a:ln w="0">
            <a:noFill/>
          </a:ln>
        </p:spPr>
      </p:pic>
      <p:sp>
        <p:nvSpPr>
          <p:cNvPr id="875" name="文字框 874"/>
          <p:cNvSpPr txBox="1"/>
          <p:nvPr/>
        </p:nvSpPr>
        <p:spPr>
          <a:xfrm>
            <a:off x="969480" y="4626360"/>
            <a:ext cx="28170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在危机中持有现金可以避免资产价格下跌的损失</a:t>
            </a:r>
            <a:endParaRPr lang="en-US" sz="1050" b="0" u="none" strike="noStrike">
              <a:solidFill>
                <a:srgbClr val="000000"/>
              </a:solidFill>
              <a:effectLst/>
              <a:uFillTx/>
              <a:latin typeface="Times New Roman" panose="02020603050405020304"/>
            </a:endParaRPr>
          </a:p>
        </p:txBody>
      </p:sp>
      <p:sp>
        <p:nvSpPr>
          <p:cNvPr id="876" name="文字框 875"/>
          <p:cNvSpPr txBox="1"/>
          <p:nvPr/>
        </p:nvSpPr>
        <p:spPr>
          <a:xfrm>
            <a:off x="969480" y="4893480"/>
            <a:ext cx="402408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为捕捉未来投资机会提供弹药，但主要风险是通货膨胀导致的购买力</a:t>
            </a:r>
            <a:endParaRPr lang="en-US" sz="1050" b="0" u="none" strike="noStrike">
              <a:solidFill>
                <a:srgbClr val="000000"/>
              </a:solidFill>
              <a:effectLst/>
              <a:uFillTx/>
              <a:latin typeface="Times New Roman" panose="02020603050405020304"/>
            </a:endParaRPr>
          </a:p>
        </p:txBody>
      </p:sp>
      <p:sp>
        <p:nvSpPr>
          <p:cNvPr id="877" name="任意多邊形 876"/>
          <p:cNvSpPr/>
          <p:nvPr/>
        </p:nvSpPr>
        <p:spPr>
          <a:xfrm>
            <a:off x="5465160" y="3275640"/>
            <a:ext cx="4696920" cy="2172960"/>
          </a:xfrm>
          <a:custGeom>
            <a:avLst/>
            <a:gdLst/>
            <a:ahLst/>
            <a:cxnLst/>
            <a:rect l="0" t="0" r="r" b="b"/>
            <a:pathLst>
              <a:path w="13047" h="6036">
                <a:moveTo>
                  <a:pt x="0" y="5850"/>
                </a:moveTo>
                <a:lnTo>
                  <a:pt x="0" y="186"/>
                </a:lnTo>
                <a:cubicBezTo>
                  <a:pt x="0" y="174"/>
                  <a:pt x="1" y="161"/>
                  <a:pt x="3" y="149"/>
                </a:cubicBezTo>
                <a:cubicBezTo>
                  <a:pt x="4" y="138"/>
                  <a:pt x="7" y="126"/>
                  <a:pt x="10" y="115"/>
                </a:cubicBezTo>
                <a:cubicBezTo>
                  <a:pt x="14" y="103"/>
                  <a:pt x="18" y="93"/>
                  <a:pt x="23" y="83"/>
                </a:cubicBezTo>
                <a:cubicBezTo>
                  <a:pt x="28" y="72"/>
                  <a:pt x="34" y="63"/>
                  <a:pt x="41" y="54"/>
                </a:cubicBezTo>
                <a:cubicBezTo>
                  <a:pt x="47" y="46"/>
                  <a:pt x="54" y="38"/>
                  <a:pt x="62" y="31"/>
                </a:cubicBezTo>
                <a:cubicBezTo>
                  <a:pt x="69" y="25"/>
                  <a:pt x="77" y="19"/>
                  <a:pt x="86" y="14"/>
                </a:cubicBezTo>
                <a:cubicBezTo>
                  <a:pt x="94" y="9"/>
                  <a:pt x="103" y="6"/>
                  <a:pt x="112" y="4"/>
                </a:cubicBezTo>
                <a:cubicBezTo>
                  <a:pt x="121" y="1"/>
                  <a:pt x="130" y="0"/>
                  <a:pt x="139" y="0"/>
                </a:cubicBezTo>
                <a:lnTo>
                  <a:pt x="12861" y="0"/>
                </a:lnTo>
                <a:cubicBezTo>
                  <a:pt x="12873" y="0"/>
                  <a:pt x="12885" y="1"/>
                  <a:pt x="12897" y="4"/>
                </a:cubicBezTo>
                <a:cubicBezTo>
                  <a:pt x="12909" y="6"/>
                  <a:pt x="12921" y="9"/>
                  <a:pt x="12932" y="14"/>
                </a:cubicBezTo>
                <a:cubicBezTo>
                  <a:pt x="12943" y="19"/>
                  <a:pt x="12954" y="25"/>
                  <a:pt x="12964" y="31"/>
                </a:cubicBezTo>
                <a:cubicBezTo>
                  <a:pt x="12974" y="38"/>
                  <a:pt x="12984" y="46"/>
                  <a:pt x="12992" y="54"/>
                </a:cubicBezTo>
                <a:cubicBezTo>
                  <a:pt x="13001" y="63"/>
                  <a:pt x="13008" y="72"/>
                  <a:pt x="13015" y="83"/>
                </a:cubicBezTo>
                <a:cubicBezTo>
                  <a:pt x="13022" y="93"/>
                  <a:pt x="13028" y="103"/>
                  <a:pt x="13032" y="115"/>
                </a:cubicBezTo>
                <a:cubicBezTo>
                  <a:pt x="13037" y="126"/>
                  <a:pt x="13041" y="138"/>
                  <a:pt x="13043" y="149"/>
                </a:cubicBezTo>
                <a:cubicBezTo>
                  <a:pt x="13045" y="161"/>
                  <a:pt x="13047" y="174"/>
                  <a:pt x="13047" y="186"/>
                </a:cubicBezTo>
                <a:lnTo>
                  <a:pt x="13047" y="5850"/>
                </a:lnTo>
                <a:cubicBezTo>
                  <a:pt x="13047" y="5862"/>
                  <a:pt x="13045" y="5874"/>
                  <a:pt x="13043" y="5886"/>
                </a:cubicBezTo>
                <a:cubicBezTo>
                  <a:pt x="13041" y="5898"/>
                  <a:pt x="13037" y="5910"/>
                  <a:pt x="13032" y="5921"/>
                </a:cubicBezTo>
                <a:cubicBezTo>
                  <a:pt x="13028" y="5932"/>
                  <a:pt x="13022" y="5943"/>
                  <a:pt x="13015" y="5953"/>
                </a:cubicBezTo>
                <a:cubicBezTo>
                  <a:pt x="13008" y="5963"/>
                  <a:pt x="13001" y="5972"/>
                  <a:pt x="12992" y="5981"/>
                </a:cubicBezTo>
                <a:cubicBezTo>
                  <a:pt x="12984" y="5991"/>
                  <a:pt x="12974" y="5998"/>
                  <a:pt x="12964" y="6005"/>
                </a:cubicBezTo>
                <a:cubicBezTo>
                  <a:pt x="12954" y="6012"/>
                  <a:pt x="12943" y="6018"/>
                  <a:pt x="12932" y="6022"/>
                </a:cubicBezTo>
                <a:cubicBezTo>
                  <a:pt x="12921" y="6027"/>
                  <a:pt x="12909" y="6030"/>
                  <a:pt x="12897" y="6033"/>
                </a:cubicBezTo>
                <a:cubicBezTo>
                  <a:pt x="12885" y="6035"/>
                  <a:pt x="12873" y="6036"/>
                  <a:pt x="12861" y="6036"/>
                </a:cubicBezTo>
                <a:lnTo>
                  <a:pt x="139" y="6036"/>
                </a:lnTo>
                <a:cubicBezTo>
                  <a:pt x="130" y="6036"/>
                  <a:pt x="121" y="6035"/>
                  <a:pt x="112" y="6033"/>
                </a:cubicBezTo>
                <a:cubicBezTo>
                  <a:pt x="103" y="6030"/>
                  <a:pt x="94" y="6027"/>
                  <a:pt x="86" y="6022"/>
                </a:cubicBezTo>
                <a:cubicBezTo>
                  <a:pt x="77" y="6018"/>
                  <a:pt x="69" y="6012"/>
                  <a:pt x="62" y="6005"/>
                </a:cubicBezTo>
                <a:cubicBezTo>
                  <a:pt x="54" y="5998"/>
                  <a:pt x="47" y="5991"/>
                  <a:pt x="41" y="5981"/>
                </a:cubicBezTo>
                <a:cubicBezTo>
                  <a:pt x="34" y="5972"/>
                  <a:pt x="28" y="5963"/>
                  <a:pt x="23" y="5953"/>
                </a:cubicBezTo>
                <a:cubicBezTo>
                  <a:pt x="18" y="5943"/>
                  <a:pt x="14" y="5932"/>
                  <a:pt x="10" y="5921"/>
                </a:cubicBezTo>
                <a:cubicBezTo>
                  <a:pt x="7" y="5910"/>
                  <a:pt x="4" y="5898"/>
                  <a:pt x="3" y="5886"/>
                </a:cubicBezTo>
                <a:cubicBezTo>
                  <a:pt x="1" y="5874"/>
                  <a:pt x="0" y="5862"/>
                  <a:pt x="0" y="585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78" name="任意多邊形 877"/>
          <p:cNvSpPr/>
          <p:nvPr/>
        </p:nvSpPr>
        <p:spPr>
          <a:xfrm>
            <a:off x="5448240" y="3275640"/>
            <a:ext cx="67320" cy="2172960"/>
          </a:xfrm>
          <a:custGeom>
            <a:avLst/>
            <a:gdLst/>
            <a:ahLst/>
            <a:cxnLst/>
            <a:rect l="0" t="0" r="r" b="b"/>
            <a:pathLst>
              <a:path w="187" h="6036">
                <a:moveTo>
                  <a:pt x="0" y="0"/>
                </a:moveTo>
                <a:lnTo>
                  <a:pt x="187" y="0"/>
                </a:lnTo>
                <a:lnTo>
                  <a:pt x="187" y="6036"/>
                </a:lnTo>
                <a:lnTo>
                  <a:pt x="0" y="6036"/>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879" name="任意多邊形 878"/>
          <p:cNvSpPr/>
          <p:nvPr/>
        </p:nvSpPr>
        <p:spPr>
          <a:xfrm>
            <a:off x="5649120" y="3442680"/>
            <a:ext cx="501480" cy="501840"/>
          </a:xfrm>
          <a:custGeom>
            <a:avLst/>
            <a:gdLst/>
            <a:ahLst/>
            <a:cxnLst/>
            <a:rect l="0" t="0" r="r" b="b"/>
            <a:pathLst>
              <a:path w="1393" h="1394">
                <a:moveTo>
                  <a:pt x="1393" y="697"/>
                </a:moveTo>
                <a:cubicBezTo>
                  <a:pt x="1393" y="719"/>
                  <a:pt x="1392" y="742"/>
                  <a:pt x="1390" y="765"/>
                </a:cubicBezTo>
                <a:cubicBezTo>
                  <a:pt x="1388" y="788"/>
                  <a:pt x="1384" y="810"/>
                  <a:pt x="1380" y="833"/>
                </a:cubicBezTo>
                <a:cubicBezTo>
                  <a:pt x="1375" y="855"/>
                  <a:pt x="1370" y="878"/>
                  <a:pt x="1363" y="900"/>
                </a:cubicBezTo>
                <a:cubicBezTo>
                  <a:pt x="1357" y="922"/>
                  <a:pt x="1349" y="943"/>
                  <a:pt x="1340" y="964"/>
                </a:cubicBezTo>
                <a:cubicBezTo>
                  <a:pt x="1332" y="985"/>
                  <a:pt x="1322" y="1006"/>
                  <a:pt x="1311" y="1026"/>
                </a:cubicBezTo>
                <a:cubicBezTo>
                  <a:pt x="1300" y="1046"/>
                  <a:pt x="1289" y="1066"/>
                  <a:pt x="1276" y="1085"/>
                </a:cubicBezTo>
                <a:cubicBezTo>
                  <a:pt x="1263" y="1104"/>
                  <a:pt x="1250" y="1122"/>
                  <a:pt x="1235" y="1139"/>
                </a:cubicBezTo>
                <a:cubicBezTo>
                  <a:pt x="1221" y="1157"/>
                  <a:pt x="1205" y="1174"/>
                  <a:pt x="1189" y="1190"/>
                </a:cubicBezTo>
                <a:cubicBezTo>
                  <a:pt x="1173" y="1206"/>
                  <a:pt x="1156" y="1222"/>
                  <a:pt x="1139" y="1236"/>
                </a:cubicBezTo>
                <a:cubicBezTo>
                  <a:pt x="1121" y="1250"/>
                  <a:pt x="1103" y="1264"/>
                  <a:pt x="1084" y="1277"/>
                </a:cubicBezTo>
                <a:cubicBezTo>
                  <a:pt x="1065" y="1289"/>
                  <a:pt x="1045" y="1301"/>
                  <a:pt x="1025" y="1312"/>
                </a:cubicBezTo>
                <a:cubicBezTo>
                  <a:pt x="1005" y="1323"/>
                  <a:pt x="984" y="1332"/>
                  <a:pt x="963" y="1341"/>
                </a:cubicBezTo>
                <a:cubicBezTo>
                  <a:pt x="942" y="1350"/>
                  <a:pt x="921" y="1357"/>
                  <a:pt x="899" y="1364"/>
                </a:cubicBezTo>
                <a:cubicBezTo>
                  <a:pt x="877" y="1371"/>
                  <a:pt x="855" y="1376"/>
                  <a:pt x="833" y="1381"/>
                </a:cubicBezTo>
                <a:cubicBezTo>
                  <a:pt x="810" y="1385"/>
                  <a:pt x="788" y="1388"/>
                  <a:pt x="765" y="1391"/>
                </a:cubicBezTo>
                <a:cubicBezTo>
                  <a:pt x="742" y="1393"/>
                  <a:pt x="720" y="1394"/>
                  <a:pt x="697" y="1394"/>
                </a:cubicBezTo>
                <a:cubicBezTo>
                  <a:pt x="674" y="1394"/>
                  <a:pt x="651" y="1393"/>
                  <a:pt x="629" y="1391"/>
                </a:cubicBezTo>
                <a:cubicBezTo>
                  <a:pt x="606" y="1388"/>
                  <a:pt x="583" y="1385"/>
                  <a:pt x="561" y="1381"/>
                </a:cubicBezTo>
                <a:cubicBezTo>
                  <a:pt x="539" y="1376"/>
                  <a:pt x="517" y="1371"/>
                  <a:pt x="495" y="1364"/>
                </a:cubicBezTo>
                <a:cubicBezTo>
                  <a:pt x="473" y="1357"/>
                  <a:pt x="451" y="1350"/>
                  <a:pt x="430" y="1341"/>
                </a:cubicBezTo>
                <a:cubicBezTo>
                  <a:pt x="409" y="1332"/>
                  <a:pt x="389" y="1323"/>
                  <a:pt x="369" y="1312"/>
                </a:cubicBezTo>
                <a:cubicBezTo>
                  <a:pt x="349" y="1301"/>
                  <a:pt x="329" y="1289"/>
                  <a:pt x="309" y="1277"/>
                </a:cubicBezTo>
                <a:cubicBezTo>
                  <a:pt x="290" y="1264"/>
                  <a:pt x="272" y="1250"/>
                  <a:pt x="254" y="1236"/>
                </a:cubicBezTo>
                <a:cubicBezTo>
                  <a:pt x="236" y="1222"/>
                  <a:pt x="220" y="1206"/>
                  <a:pt x="203" y="1190"/>
                </a:cubicBezTo>
                <a:cubicBezTo>
                  <a:pt x="187" y="1174"/>
                  <a:pt x="172" y="1157"/>
                  <a:pt x="158" y="1139"/>
                </a:cubicBezTo>
                <a:cubicBezTo>
                  <a:pt x="143" y="1122"/>
                  <a:pt x="130" y="1104"/>
                  <a:pt x="117" y="1085"/>
                </a:cubicBezTo>
                <a:cubicBezTo>
                  <a:pt x="104" y="1066"/>
                  <a:pt x="93" y="1046"/>
                  <a:pt x="82" y="1026"/>
                </a:cubicBezTo>
                <a:cubicBezTo>
                  <a:pt x="71" y="1006"/>
                  <a:pt x="61" y="985"/>
                  <a:pt x="53" y="964"/>
                </a:cubicBezTo>
                <a:cubicBezTo>
                  <a:pt x="44" y="943"/>
                  <a:pt x="36" y="922"/>
                  <a:pt x="30" y="900"/>
                </a:cubicBezTo>
                <a:cubicBezTo>
                  <a:pt x="23" y="878"/>
                  <a:pt x="17" y="855"/>
                  <a:pt x="13" y="833"/>
                </a:cubicBezTo>
                <a:cubicBezTo>
                  <a:pt x="8" y="810"/>
                  <a:pt x="5" y="788"/>
                  <a:pt x="3" y="765"/>
                </a:cubicBezTo>
                <a:cubicBezTo>
                  <a:pt x="1" y="742"/>
                  <a:pt x="0" y="719"/>
                  <a:pt x="0" y="697"/>
                </a:cubicBezTo>
                <a:cubicBezTo>
                  <a:pt x="0" y="674"/>
                  <a:pt x="1" y="651"/>
                  <a:pt x="3" y="628"/>
                </a:cubicBezTo>
                <a:cubicBezTo>
                  <a:pt x="5" y="606"/>
                  <a:pt x="8" y="583"/>
                  <a:pt x="13" y="561"/>
                </a:cubicBezTo>
                <a:cubicBezTo>
                  <a:pt x="17" y="538"/>
                  <a:pt x="23" y="516"/>
                  <a:pt x="30" y="495"/>
                </a:cubicBezTo>
                <a:cubicBezTo>
                  <a:pt x="36" y="473"/>
                  <a:pt x="44" y="451"/>
                  <a:pt x="53" y="430"/>
                </a:cubicBezTo>
                <a:cubicBezTo>
                  <a:pt x="61" y="409"/>
                  <a:pt x="71" y="389"/>
                  <a:pt x="82" y="368"/>
                </a:cubicBezTo>
                <a:cubicBezTo>
                  <a:pt x="93" y="348"/>
                  <a:pt x="104" y="329"/>
                  <a:pt x="117" y="310"/>
                </a:cubicBezTo>
                <a:cubicBezTo>
                  <a:pt x="130" y="291"/>
                  <a:pt x="143" y="273"/>
                  <a:pt x="158" y="255"/>
                </a:cubicBezTo>
                <a:cubicBezTo>
                  <a:pt x="172" y="237"/>
                  <a:pt x="187" y="220"/>
                  <a:pt x="203" y="204"/>
                </a:cubicBezTo>
                <a:cubicBezTo>
                  <a:pt x="220" y="188"/>
                  <a:pt x="236" y="173"/>
                  <a:pt x="254" y="158"/>
                </a:cubicBezTo>
                <a:cubicBezTo>
                  <a:pt x="272" y="144"/>
                  <a:pt x="290" y="130"/>
                  <a:pt x="309" y="118"/>
                </a:cubicBezTo>
                <a:cubicBezTo>
                  <a:pt x="329" y="105"/>
                  <a:pt x="349" y="93"/>
                  <a:pt x="369" y="83"/>
                </a:cubicBezTo>
                <a:cubicBezTo>
                  <a:pt x="389" y="72"/>
                  <a:pt x="409" y="62"/>
                  <a:pt x="430" y="53"/>
                </a:cubicBezTo>
                <a:cubicBezTo>
                  <a:pt x="451" y="45"/>
                  <a:pt x="473" y="37"/>
                  <a:pt x="495" y="30"/>
                </a:cubicBezTo>
                <a:cubicBezTo>
                  <a:pt x="517" y="24"/>
                  <a:pt x="539" y="18"/>
                  <a:pt x="561" y="14"/>
                </a:cubicBezTo>
                <a:cubicBezTo>
                  <a:pt x="583" y="9"/>
                  <a:pt x="606" y="6"/>
                  <a:pt x="629" y="4"/>
                </a:cubicBezTo>
                <a:cubicBezTo>
                  <a:pt x="651" y="1"/>
                  <a:pt x="674" y="0"/>
                  <a:pt x="697" y="0"/>
                </a:cubicBezTo>
                <a:cubicBezTo>
                  <a:pt x="720" y="0"/>
                  <a:pt x="742" y="1"/>
                  <a:pt x="765" y="4"/>
                </a:cubicBezTo>
                <a:cubicBezTo>
                  <a:pt x="788" y="6"/>
                  <a:pt x="810" y="9"/>
                  <a:pt x="833" y="14"/>
                </a:cubicBezTo>
                <a:cubicBezTo>
                  <a:pt x="855" y="18"/>
                  <a:pt x="877" y="24"/>
                  <a:pt x="899" y="30"/>
                </a:cubicBezTo>
                <a:cubicBezTo>
                  <a:pt x="921" y="37"/>
                  <a:pt x="942" y="45"/>
                  <a:pt x="963" y="53"/>
                </a:cubicBezTo>
                <a:cubicBezTo>
                  <a:pt x="984" y="62"/>
                  <a:pt x="1005" y="72"/>
                  <a:pt x="1025" y="83"/>
                </a:cubicBezTo>
                <a:cubicBezTo>
                  <a:pt x="1045" y="93"/>
                  <a:pt x="1065" y="105"/>
                  <a:pt x="1084" y="118"/>
                </a:cubicBezTo>
                <a:cubicBezTo>
                  <a:pt x="1103" y="130"/>
                  <a:pt x="1121" y="144"/>
                  <a:pt x="1139" y="158"/>
                </a:cubicBezTo>
                <a:cubicBezTo>
                  <a:pt x="1156" y="173"/>
                  <a:pt x="1173" y="188"/>
                  <a:pt x="1189" y="204"/>
                </a:cubicBezTo>
                <a:cubicBezTo>
                  <a:pt x="1205" y="220"/>
                  <a:pt x="1221" y="237"/>
                  <a:pt x="1235" y="255"/>
                </a:cubicBezTo>
                <a:cubicBezTo>
                  <a:pt x="1250" y="273"/>
                  <a:pt x="1263" y="291"/>
                  <a:pt x="1276" y="310"/>
                </a:cubicBezTo>
                <a:cubicBezTo>
                  <a:pt x="1289" y="329"/>
                  <a:pt x="1300" y="348"/>
                  <a:pt x="1311" y="368"/>
                </a:cubicBezTo>
                <a:cubicBezTo>
                  <a:pt x="1322" y="389"/>
                  <a:pt x="1332" y="409"/>
                  <a:pt x="1340" y="430"/>
                </a:cubicBezTo>
                <a:cubicBezTo>
                  <a:pt x="1349" y="451"/>
                  <a:pt x="1357" y="473"/>
                  <a:pt x="1363" y="495"/>
                </a:cubicBezTo>
                <a:cubicBezTo>
                  <a:pt x="1370" y="516"/>
                  <a:pt x="1375" y="538"/>
                  <a:pt x="1380" y="561"/>
                </a:cubicBezTo>
                <a:cubicBezTo>
                  <a:pt x="1384" y="583"/>
                  <a:pt x="1388" y="606"/>
                  <a:pt x="1390" y="628"/>
                </a:cubicBezTo>
                <a:cubicBezTo>
                  <a:pt x="1392" y="651"/>
                  <a:pt x="1393" y="674"/>
                  <a:pt x="1393" y="697"/>
                </a:cubicBezTo>
                <a:close/>
              </a:path>
            </a:pathLst>
          </a:custGeom>
          <a:solidFill>
            <a:srgbClr val="4F46E5"/>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880" name="圖片 879"/>
          <p:cNvPicPr/>
          <p:nvPr/>
        </p:nvPicPr>
        <p:blipFill>
          <a:blip r:embed="rId12"/>
          <a:stretch>
            <a:fillRect/>
          </a:stretch>
        </p:blipFill>
        <p:spPr>
          <a:xfrm>
            <a:off x="5791320" y="3593520"/>
            <a:ext cx="225360" cy="200160"/>
          </a:xfrm>
          <a:prstGeom prst="rect">
            <a:avLst/>
          </a:prstGeom>
          <a:noFill/>
          <a:ln w="0">
            <a:noFill/>
          </a:ln>
        </p:spPr>
      </p:pic>
      <p:sp>
        <p:nvSpPr>
          <p:cNvPr id="881" name="文字框 880"/>
          <p:cNvSpPr txBox="1"/>
          <p:nvPr/>
        </p:nvSpPr>
        <p:spPr>
          <a:xfrm>
            <a:off x="969480" y="5094000"/>
            <a:ext cx="2689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侵蚀</a:t>
            </a:r>
            <a:endParaRPr lang="en-US" sz="1050" b="0" u="none" strike="noStrike">
              <a:solidFill>
                <a:srgbClr val="000000"/>
              </a:solidFill>
              <a:effectLst/>
              <a:uFillTx/>
              <a:latin typeface="Times New Roman" panose="02020603050405020304"/>
            </a:endParaRPr>
          </a:p>
        </p:txBody>
      </p:sp>
      <p:sp>
        <p:nvSpPr>
          <p:cNvPr id="882" name="文字框 881"/>
          <p:cNvSpPr txBox="1"/>
          <p:nvPr/>
        </p:nvSpPr>
        <p:spPr>
          <a:xfrm>
            <a:off x="6284160" y="3567240"/>
            <a:ext cx="120780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基础设施资产</a:t>
            </a:r>
            <a:endParaRPr lang="en-US" sz="1580" b="0" u="none" strike="noStrike">
              <a:solidFill>
                <a:srgbClr val="000000"/>
              </a:solidFill>
              <a:effectLst/>
              <a:uFillTx/>
              <a:latin typeface="Times New Roman" panose="02020603050405020304"/>
            </a:endParaRPr>
          </a:p>
        </p:txBody>
      </p:sp>
      <p:sp>
        <p:nvSpPr>
          <p:cNvPr id="883" name="文字框 882"/>
          <p:cNvSpPr txBox="1"/>
          <p:nvPr/>
        </p:nvSpPr>
        <p:spPr>
          <a:xfrm>
            <a:off x="5649120" y="405792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基础设施资产的保本能力来自其提供的基础性公共服务和稳定的合约关</a:t>
            </a:r>
            <a:endParaRPr lang="en-US" sz="1050" b="0" u="none" strike="noStrike">
              <a:solidFill>
                <a:srgbClr val="000000"/>
              </a:solidFill>
              <a:effectLst/>
              <a:uFillTx/>
              <a:latin typeface="Times New Roman" panose="02020603050405020304"/>
            </a:endParaRPr>
          </a:p>
        </p:txBody>
      </p:sp>
      <p:pic>
        <p:nvPicPr>
          <p:cNvPr id="884" name="圖片 883"/>
          <p:cNvPicPr/>
          <p:nvPr/>
        </p:nvPicPr>
        <p:blipFill>
          <a:blip r:embed="rId13"/>
          <a:stretch>
            <a:fillRect/>
          </a:stretch>
        </p:blipFill>
        <p:spPr>
          <a:xfrm>
            <a:off x="5649120" y="4637880"/>
            <a:ext cx="100080" cy="133200"/>
          </a:xfrm>
          <a:prstGeom prst="rect">
            <a:avLst/>
          </a:prstGeom>
          <a:noFill/>
          <a:ln w="0">
            <a:noFill/>
          </a:ln>
        </p:spPr>
      </p:pic>
      <p:sp>
        <p:nvSpPr>
          <p:cNvPr id="885" name="文字框 884"/>
          <p:cNvSpPr txBox="1"/>
          <p:nvPr/>
        </p:nvSpPr>
        <p:spPr>
          <a:xfrm>
            <a:off x="5649120" y="425844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系。</a:t>
            </a:r>
            <a:endParaRPr lang="en-US" sz="1050" b="0" u="none" strike="noStrike">
              <a:solidFill>
                <a:srgbClr val="000000"/>
              </a:solidFill>
              <a:effectLst/>
              <a:uFillTx/>
              <a:latin typeface="Times New Roman" panose="02020603050405020304"/>
            </a:endParaRPr>
          </a:p>
        </p:txBody>
      </p:sp>
      <p:pic>
        <p:nvPicPr>
          <p:cNvPr id="886" name="圖片 885"/>
          <p:cNvPicPr/>
          <p:nvPr/>
        </p:nvPicPr>
        <p:blipFill>
          <a:blip r:embed="rId14"/>
          <a:stretch>
            <a:fillRect/>
          </a:stretch>
        </p:blipFill>
        <p:spPr>
          <a:xfrm>
            <a:off x="5649120" y="4905360"/>
            <a:ext cx="166680" cy="133200"/>
          </a:xfrm>
          <a:prstGeom prst="rect">
            <a:avLst/>
          </a:prstGeom>
          <a:noFill/>
          <a:ln w="0">
            <a:noFill/>
          </a:ln>
        </p:spPr>
      </p:pic>
      <p:sp>
        <p:nvSpPr>
          <p:cNvPr id="887" name="文字框 886"/>
          <p:cNvSpPr txBox="1"/>
          <p:nvPr/>
        </p:nvSpPr>
        <p:spPr>
          <a:xfrm>
            <a:off x="5849640" y="4626360"/>
            <a:ext cx="348768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通常与政府或大型企业签订长期稳定合同，确保收益稳定性</a:t>
            </a:r>
            <a:endParaRPr lang="en-US" sz="1050" b="0" u="none" strike="noStrike">
              <a:solidFill>
                <a:srgbClr val="000000"/>
              </a:solidFill>
              <a:effectLst/>
              <a:uFillTx/>
              <a:latin typeface="Times New Roman" panose="02020603050405020304"/>
            </a:endParaRPr>
          </a:p>
        </p:txBody>
      </p:sp>
      <p:sp>
        <p:nvSpPr>
          <p:cNvPr id="888" name="任意多邊形 887"/>
          <p:cNvSpPr/>
          <p:nvPr/>
        </p:nvSpPr>
        <p:spPr>
          <a:xfrm>
            <a:off x="534600" y="5649120"/>
            <a:ext cx="9627480" cy="936000"/>
          </a:xfrm>
          <a:custGeom>
            <a:avLst/>
            <a:gdLst/>
            <a:ahLst/>
            <a:cxnLst/>
            <a:rect l="0" t="0" r="r" b="b"/>
            <a:pathLst>
              <a:path w="26743" h="2600">
                <a:moveTo>
                  <a:pt x="0" y="2415"/>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26557" y="0"/>
                </a:lnTo>
                <a:cubicBezTo>
                  <a:pt x="26569" y="0"/>
                  <a:pt x="26581" y="1"/>
                  <a:pt x="26593" y="3"/>
                </a:cubicBezTo>
                <a:cubicBezTo>
                  <a:pt x="26605" y="5"/>
                  <a:pt x="26617" y="9"/>
                  <a:pt x="26628" y="14"/>
                </a:cubicBezTo>
                <a:cubicBezTo>
                  <a:pt x="26639" y="18"/>
                  <a:pt x="26650" y="24"/>
                  <a:pt x="26660" y="31"/>
                </a:cubicBezTo>
                <a:cubicBezTo>
                  <a:pt x="26670" y="38"/>
                  <a:pt x="26680" y="45"/>
                  <a:pt x="26688" y="54"/>
                </a:cubicBezTo>
                <a:cubicBezTo>
                  <a:pt x="26697" y="63"/>
                  <a:pt x="26704" y="72"/>
                  <a:pt x="26711" y="82"/>
                </a:cubicBezTo>
                <a:cubicBezTo>
                  <a:pt x="26718" y="92"/>
                  <a:pt x="26724" y="103"/>
                  <a:pt x="26728" y="114"/>
                </a:cubicBezTo>
                <a:cubicBezTo>
                  <a:pt x="26733" y="125"/>
                  <a:pt x="26737" y="137"/>
                  <a:pt x="26739" y="149"/>
                </a:cubicBezTo>
                <a:cubicBezTo>
                  <a:pt x="26741" y="161"/>
                  <a:pt x="26743" y="173"/>
                  <a:pt x="26743" y="185"/>
                </a:cubicBezTo>
                <a:lnTo>
                  <a:pt x="26743" y="2415"/>
                </a:lnTo>
                <a:cubicBezTo>
                  <a:pt x="26743" y="2427"/>
                  <a:pt x="26741" y="2439"/>
                  <a:pt x="26739" y="2451"/>
                </a:cubicBezTo>
                <a:cubicBezTo>
                  <a:pt x="26737" y="2463"/>
                  <a:pt x="26733" y="2474"/>
                  <a:pt x="26728" y="2486"/>
                </a:cubicBezTo>
                <a:cubicBezTo>
                  <a:pt x="26724" y="2497"/>
                  <a:pt x="26718" y="2508"/>
                  <a:pt x="26711" y="2518"/>
                </a:cubicBezTo>
                <a:cubicBezTo>
                  <a:pt x="26704" y="2528"/>
                  <a:pt x="26697" y="2537"/>
                  <a:pt x="26688" y="2546"/>
                </a:cubicBezTo>
                <a:cubicBezTo>
                  <a:pt x="26680" y="2555"/>
                  <a:pt x="26670" y="2562"/>
                  <a:pt x="26660" y="2569"/>
                </a:cubicBezTo>
                <a:cubicBezTo>
                  <a:pt x="26650" y="2576"/>
                  <a:pt x="26639" y="2582"/>
                  <a:pt x="26628" y="2586"/>
                </a:cubicBezTo>
                <a:cubicBezTo>
                  <a:pt x="26617" y="2591"/>
                  <a:pt x="26605" y="2594"/>
                  <a:pt x="26593" y="2597"/>
                </a:cubicBezTo>
                <a:cubicBezTo>
                  <a:pt x="26581" y="2599"/>
                  <a:pt x="26569" y="2600"/>
                  <a:pt x="26557" y="2600"/>
                </a:cubicBezTo>
                <a:lnTo>
                  <a:pt x="186" y="2600"/>
                </a:lnTo>
                <a:cubicBezTo>
                  <a:pt x="174" y="2600"/>
                  <a:pt x="162" y="2599"/>
                  <a:pt x="150" y="2597"/>
                </a:cubicBezTo>
                <a:cubicBezTo>
                  <a:pt x="138" y="2594"/>
                  <a:pt x="126" y="2591"/>
                  <a:pt x="115" y="2586"/>
                </a:cubicBezTo>
                <a:cubicBezTo>
                  <a:pt x="104" y="2582"/>
                  <a:pt x="93" y="2576"/>
                  <a:pt x="83" y="2569"/>
                </a:cubicBezTo>
                <a:cubicBezTo>
                  <a:pt x="73" y="2562"/>
                  <a:pt x="63" y="2555"/>
                  <a:pt x="55" y="2546"/>
                </a:cubicBezTo>
                <a:cubicBezTo>
                  <a:pt x="46" y="2537"/>
                  <a:pt x="38" y="2528"/>
                  <a:pt x="31" y="2518"/>
                </a:cubicBezTo>
                <a:cubicBezTo>
                  <a:pt x="25" y="2508"/>
                  <a:pt x="19" y="2497"/>
                  <a:pt x="14" y="2486"/>
                </a:cubicBezTo>
                <a:cubicBezTo>
                  <a:pt x="10" y="2474"/>
                  <a:pt x="6" y="2463"/>
                  <a:pt x="4" y="2451"/>
                </a:cubicBezTo>
                <a:cubicBezTo>
                  <a:pt x="1" y="2439"/>
                  <a:pt x="0" y="2427"/>
                  <a:pt x="0" y="24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889" name="圖片 888"/>
          <p:cNvPicPr/>
          <p:nvPr/>
        </p:nvPicPr>
        <p:blipFill>
          <a:blip r:embed="rId15"/>
          <a:stretch>
            <a:fillRect/>
          </a:stretch>
        </p:blipFill>
        <p:spPr>
          <a:xfrm>
            <a:off x="668520" y="5816160"/>
            <a:ext cx="150120" cy="200160"/>
          </a:xfrm>
          <a:prstGeom prst="rect">
            <a:avLst/>
          </a:prstGeom>
          <a:noFill/>
          <a:ln w="0">
            <a:noFill/>
          </a:ln>
        </p:spPr>
      </p:pic>
      <p:sp>
        <p:nvSpPr>
          <p:cNvPr id="890" name="文字框 889"/>
          <p:cNvSpPr txBox="1"/>
          <p:nvPr/>
        </p:nvSpPr>
        <p:spPr>
          <a:xfrm>
            <a:off x="5916600" y="4893480"/>
            <a:ext cx="388980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合同往往包含价格调整机制，能够对冲通胀风险，提供稳定现金流</a:t>
            </a:r>
            <a:endParaRPr lang="en-US" sz="1050" b="0" u="none" strike="noStrike">
              <a:solidFill>
                <a:srgbClr val="000000"/>
              </a:solidFill>
              <a:effectLst/>
              <a:uFillTx/>
              <a:latin typeface="Times New Roman" panose="02020603050405020304"/>
            </a:endParaRPr>
          </a:p>
        </p:txBody>
      </p:sp>
      <p:sp>
        <p:nvSpPr>
          <p:cNvPr id="891" name="文字框 890"/>
          <p:cNvSpPr txBox="1"/>
          <p:nvPr/>
        </p:nvSpPr>
        <p:spPr>
          <a:xfrm>
            <a:off x="952560" y="5797440"/>
            <a:ext cx="67140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核心洞察</a:t>
            </a:r>
            <a:endParaRPr lang="en-US" sz="1320" b="0" u="none" strike="noStrike">
              <a:solidFill>
                <a:srgbClr val="000000"/>
              </a:solidFill>
              <a:effectLst/>
              <a:uFillTx/>
              <a:latin typeface="Times New Roman" panose="02020603050405020304"/>
            </a:endParaRPr>
          </a:p>
        </p:txBody>
      </p:sp>
      <p:sp>
        <p:nvSpPr>
          <p:cNvPr id="892" name="文字框 891"/>
          <p:cNvSpPr txBox="1"/>
          <p:nvPr/>
        </p:nvSpPr>
        <p:spPr>
          <a:xfrm>
            <a:off x="952560" y="6063480"/>
            <a:ext cx="898632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不同资产的保本机制各具特点，投资者应了解这些机制的优劣和适用情境，在金融危机中根据自身需求选择合适的避险工具。部分资产虽然在危机初期可</a:t>
            </a:r>
            <a:endParaRPr lang="en-US" sz="1050" b="0" u="none" strike="noStrike">
              <a:solidFill>
                <a:srgbClr val="000000"/>
              </a:solidFill>
              <a:effectLst/>
              <a:uFillTx/>
              <a:latin typeface="Times New Roman" panose="02020603050405020304"/>
            </a:endParaRPr>
          </a:p>
        </p:txBody>
      </p:sp>
      <p:sp>
        <p:nvSpPr>
          <p:cNvPr id="893" name="文字框 892"/>
          <p:cNvSpPr txBox="1"/>
          <p:nvPr/>
        </p:nvSpPr>
        <p:spPr>
          <a:xfrm>
            <a:off x="952560" y="6264000"/>
            <a:ext cx="4024080" cy="169560"/>
          </a:xfrm>
          <a:prstGeom prst="rect">
            <a:avLst/>
          </a:prstGeom>
          <a:noFill/>
          <a:ln w="0">
            <a:noFill/>
          </a:ln>
        </p:spPr>
        <p:txBody>
          <a:bodyPr wrap="none" lIns="0" tIns="0" rIns="0" bIns="0" anchor="t">
            <a:spAutoFit/>
          </a:bodyPr>
          <a:p>
            <a:r>
              <a:rPr lang="zh-CN" sz="1050" b="0" u="none" strike="noStrike">
                <a:solidFill>
                  <a:srgbClr val="D1D5DB"/>
                </a:solidFill>
                <a:effectLst/>
                <a:uFillTx/>
                <a:latin typeface="WenQuanYiZenHei"/>
                <a:ea typeface="WenQuanYiZenHei"/>
              </a:rPr>
              <a:t>能也会下跌（如黄金），但随后会因其内在机制而展现出避险功能。</a:t>
            </a:r>
            <a:endParaRPr lang="en-US" sz="1050" b="0" u="none" strike="noStrike">
              <a:solidFill>
                <a:srgbClr val="000000"/>
              </a:solidFill>
              <a:effectLst/>
              <a:uFillTx/>
              <a:latin typeface="Times New Roman" panose="02020603050405020304"/>
            </a:endParaRPr>
          </a:p>
        </p:txBody>
      </p:sp>
      <p:sp>
        <p:nvSpPr>
          <p:cNvPr id="894" name="文字框 893"/>
          <p:cNvSpPr txBox="1"/>
          <p:nvPr/>
        </p:nvSpPr>
        <p:spPr>
          <a:xfrm>
            <a:off x="534960" y="686520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895" name="文字框 894"/>
          <p:cNvSpPr txBox="1"/>
          <p:nvPr/>
        </p:nvSpPr>
        <p:spPr>
          <a:xfrm>
            <a:off x="9750240" y="6869160"/>
            <a:ext cx="226060"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13 / 24</a:t>
            </a:r>
            <a:endParaRPr lang="en-US" sz="92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6" name="圖片 895"/>
          <p:cNvPicPr/>
          <p:nvPr/>
        </p:nvPicPr>
        <p:blipFill>
          <a:blip r:embed="rId1"/>
          <a:stretch>
            <a:fillRect/>
          </a:stretch>
        </p:blipFill>
        <p:spPr>
          <a:xfrm>
            <a:off x="0" y="0"/>
            <a:ext cx="10696320" cy="6810480"/>
          </a:xfrm>
          <a:prstGeom prst="rect">
            <a:avLst/>
          </a:prstGeom>
          <a:noFill/>
          <a:ln w="0">
            <a:noFill/>
          </a:ln>
        </p:spPr>
      </p:pic>
      <p:pic>
        <p:nvPicPr>
          <p:cNvPr id="897" name="圖片 896"/>
          <p:cNvPicPr/>
          <p:nvPr/>
        </p:nvPicPr>
        <p:blipFill>
          <a:blip r:embed="rId2"/>
          <a:stretch>
            <a:fillRect/>
          </a:stretch>
        </p:blipFill>
        <p:spPr>
          <a:xfrm>
            <a:off x="534960" y="735480"/>
            <a:ext cx="3208680" cy="33120"/>
          </a:xfrm>
          <a:prstGeom prst="rect">
            <a:avLst/>
          </a:prstGeom>
          <a:noFill/>
          <a:ln w="0">
            <a:noFill/>
          </a:ln>
        </p:spPr>
      </p:pic>
      <p:sp>
        <p:nvSpPr>
          <p:cNvPr id="898" name="任意多邊形 897"/>
          <p:cNvSpPr/>
          <p:nvPr/>
        </p:nvSpPr>
        <p:spPr>
          <a:xfrm>
            <a:off x="551520" y="5774400"/>
            <a:ext cx="9610560" cy="468360"/>
          </a:xfrm>
          <a:custGeom>
            <a:avLst/>
            <a:gdLst/>
            <a:ahLst/>
            <a:cxnLst/>
            <a:rect l="0" t="0" r="r" b="b"/>
            <a:pathLst>
              <a:path w="26696" h="1301">
                <a:moveTo>
                  <a:pt x="0" y="1208"/>
                </a:moveTo>
                <a:lnTo>
                  <a:pt x="0" y="93"/>
                </a:lnTo>
                <a:cubicBezTo>
                  <a:pt x="0" y="80"/>
                  <a:pt x="1" y="68"/>
                  <a:pt x="3" y="57"/>
                </a:cubicBezTo>
                <a:cubicBezTo>
                  <a:pt x="5" y="46"/>
                  <a:pt x="9" y="36"/>
                  <a:pt x="13" y="27"/>
                </a:cubicBezTo>
                <a:cubicBezTo>
                  <a:pt x="18" y="18"/>
                  <a:pt x="23" y="11"/>
                  <a:pt x="28" y="7"/>
                </a:cubicBezTo>
                <a:cubicBezTo>
                  <a:pt x="34" y="2"/>
                  <a:pt x="40" y="0"/>
                  <a:pt x="46" y="0"/>
                </a:cubicBezTo>
                <a:lnTo>
                  <a:pt x="26603" y="0"/>
                </a:lnTo>
                <a:cubicBezTo>
                  <a:pt x="26615" y="0"/>
                  <a:pt x="26627" y="2"/>
                  <a:pt x="26638" y="7"/>
                </a:cubicBezTo>
                <a:cubicBezTo>
                  <a:pt x="26650" y="11"/>
                  <a:pt x="26660" y="18"/>
                  <a:pt x="26668" y="27"/>
                </a:cubicBezTo>
                <a:cubicBezTo>
                  <a:pt x="26677" y="36"/>
                  <a:pt x="26684" y="46"/>
                  <a:pt x="26689" y="57"/>
                </a:cubicBezTo>
                <a:cubicBezTo>
                  <a:pt x="26693" y="68"/>
                  <a:pt x="26696" y="80"/>
                  <a:pt x="26696" y="93"/>
                </a:cubicBezTo>
                <a:lnTo>
                  <a:pt x="26696" y="1208"/>
                </a:lnTo>
                <a:cubicBezTo>
                  <a:pt x="26696" y="1220"/>
                  <a:pt x="26693" y="1232"/>
                  <a:pt x="26689" y="1243"/>
                </a:cubicBezTo>
                <a:cubicBezTo>
                  <a:pt x="26684" y="1255"/>
                  <a:pt x="26677" y="1265"/>
                  <a:pt x="26668" y="1273"/>
                </a:cubicBezTo>
                <a:cubicBezTo>
                  <a:pt x="26660" y="1282"/>
                  <a:pt x="26650" y="1289"/>
                  <a:pt x="26638" y="1294"/>
                </a:cubicBezTo>
                <a:cubicBezTo>
                  <a:pt x="26627" y="1298"/>
                  <a:pt x="26615" y="1301"/>
                  <a:pt x="26603" y="1301"/>
                </a:cubicBezTo>
                <a:lnTo>
                  <a:pt x="46" y="1301"/>
                </a:lnTo>
                <a:cubicBezTo>
                  <a:pt x="40" y="1301"/>
                  <a:pt x="34" y="1298"/>
                  <a:pt x="28" y="1294"/>
                </a:cubicBezTo>
                <a:cubicBezTo>
                  <a:pt x="23" y="1289"/>
                  <a:pt x="18" y="1282"/>
                  <a:pt x="13" y="1273"/>
                </a:cubicBezTo>
                <a:cubicBezTo>
                  <a:pt x="9" y="1265"/>
                  <a:pt x="5" y="1255"/>
                  <a:pt x="3" y="1243"/>
                </a:cubicBezTo>
                <a:cubicBezTo>
                  <a:pt x="1" y="1232"/>
                  <a:pt x="0" y="1220"/>
                  <a:pt x="0" y="1208"/>
                </a:cubicBezTo>
                <a:close/>
              </a:path>
            </a:pathLst>
          </a:custGeom>
          <a:solidFill>
            <a:srgbClr val="D97706">
              <a:alpha val="2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899" name="任意多邊形 898"/>
          <p:cNvSpPr/>
          <p:nvPr/>
        </p:nvSpPr>
        <p:spPr>
          <a:xfrm>
            <a:off x="534600" y="5774400"/>
            <a:ext cx="33840" cy="468360"/>
          </a:xfrm>
          <a:custGeom>
            <a:avLst/>
            <a:gdLst/>
            <a:ahLst/>
            <a:cxnLst/>
            <a:rect l="0" t="0" r="r" b="b"/>
            <a:pathLst>
              <a:path w="94" h="1301">
                <a:moveTo>
                  <a:pt x="0" y="0"/>
                </a:moveTo>
                <a:lnTo>
                  <a:pt x="94" y="0"/>
                </a:lnTo>
                <a:lnTo>
                  <a:pt x="94" y="1301"/>
                </a:lnTo>
                <a:lnTo>
                  <a:pt x="0" y="1301"/>
                </a:lnTo>
                <a:lnTo>
                  <a:pt x="0" y="0"/>
                </a:ln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900" name="圖片 899"/>
          <p:cNvPicPr/>
          <p:nvPr/>
        </p:nvPicPr>
        <p:blipFill>
          <a:blip r:embed="rId3"/>
          <a:stretch>
            <a:fillRect/>
          </a:stretch>
        </p:blipFill>
        <p:spPr>
          <a:xfrm>
            <a:off x="702000" y="5908320"/>
            <a:ext cx="150120" cy="200160"/>
          </a:xfrm>
          <a:prstGeom prst="rect">
            <a:avLst/>
          </a:prstGeom>
          <a:noFill/>
          <a:ln w="0">
            <a:noFill/>
          </a:ln>
        </p:spPr>
      </p:pic>
      <p:sp>
        <p:nvSpPr>
          <p:cNvPr id="901" name="文字框 900"/>
          <p:cNvSpPr txBox="1"/>
          <p:nvPr/>
        </p:nvSpPr>
        <p:spPr>
          <a:xfrm>
            <a:off x="534960" y="312120"/>
            <a:ext cx="360360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收益率比较：危机期间表现</a:t>
            </a:r>
            <a:endParaRPr lang="en-US" sz="2370" b="0" u="none" strike="noStrike">
              <a:solidFill>
                <a:srgbClr val="000000"/>
              </a:solidFill>
              <a:effectLst/>
              <a:uFillTx/>
              <a:latin typeface="Times New Roman" panose="02020603050405020304"/>
            </a:endParaRPr>
          </a:p>
        </p:txBody>
      </p:sp>
      <p:sp>
        <p:nvSpPr>
          <p:cNvPr id="902" name="文字框 901"/>
          <p:cNvSpPr txBox="1"/>
          <p:nvPr/>
        </p:nvSpPr>
        <p:spPr>
          <a:xfrm>
            <a:off x="986040" y="5921640"/>
            <a:ext cx="671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关键发现：</a:t>
            </a:r>
            <a:endParaRPr lang="en-US" sz="1050" b="0" u="none" strike="noStrike">
              <a:solidFill>
                <a:srgbClr val="000000"/>
              </a:solidFill>
              <a:effectLst/>
              <a:uFillTx/>
              <a:latin typeface="Times New Roman" panose="02020603050405020304"/>
            </a:endParaRPr>
          </a:p>
        </p:txBody>
      </p:sp>
      <p:sp>
        <p:nvSpPr>
          <p:cNvPr id="903" name="文字框 902"/>
          <p:cNvSpPr txBox="1"/>
          <p:nvPr/>
        </p:nvSpPr>
        <p:spPr>
          <a:xfrm>
            <a:off x="1654560" y="5926320"/>
            <a:ext cx="133200" cy="157320"/>
          </a:xfrm>
          <a:prstGeom prst="rect">
            <a:avLst/>
          </a:prstGeom>
          <a:noFill/>
          <a:ln w="0">
            <a:noFill/>
          </a:ln>
        </p:spPr>
        <p:txBody>
          <a:bodyPr wrap="none" lIns="0" tIns="0" rIns="0" bIns="0" anchor="t">
            <a:spAutoFit/>
          </a:bodyPr>
          <a:p>
            <a:r>
              <a:rPr lang="en-US" sz="1050" b="0" u="none" strike="noStrike">
                <a:solidFill>
                  <a:srgbClr val="FFFFFF"/>
                </a:solidFill>
                <a:effectLst/>
                <a:uFillTx/>
                <a:latin typeface="DejaVuSans"/>
                <a:ea typeface="DejaVuSans"/>
              </a:rPr>
              <a:t> </a:t>
            </a:r>
            <a:endParaRPr lang="en-US" sz="1050" b="0" u="none" strike="noStrike">
              <a:solidFill>
                <a:srgbClr val="000000"/>
              </a:solidFill>
              <a:effectLst/>
              <a:uFillTx/>
              <a:latin typeface="Times New Roman" panose="02020603050405020304"/>
            </a:endParaRPr>
          </a:p>
        </p:txBody>
      </p:sp>
      <p:sp>
        <p:nvSpPr>
          <p:cNvPr id="904" name="文字框 903"/>
          <p:cNvSpPr txBox="1"/>
          <p:nvPr/>
        </p:nvSpPr>
        <p:spPr>
          <a:xfrm>
            <a:off x="1697040" y="5921640"/>
            <a:ext cx="29512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危机期间，避险资产与风险资产收益率差异可高达</a:t>
            </a:r>
            <a:endParaRPr lang="en-US" sz="1050" b="0" u="none" strike="noStrike">
              <a:solidFill>
                <a:srgbClr val="000000"/>
              </a:solidFill>
              <a:effectLst/>
              <a:uFillTx/>
              <a:latin typeface="Times New Roman" panose="02020603050405020304"/>
            </a:endParaRPr>
          </a:p>
        </p:txBody>
      </p:sp>
      <p:sp>
        <p:nvSpPr>
          <p:cNvPr id="905" name="文字框 904"/>
          <p:cNvSpPr txBox="1"/>
          <p:nvPr/>
        </p:nvSpPr>
        <p:spPr>
          <a:xfrm>
            <a:off x="4638600" y="5926320"/>
            <a:ext cx="171360" cy="157320"/>
          </a:xfrm>
          <a:prstGeom prst="rect">
            <a:avLst/>
          </a:prstGeom>
          <a:noFill/>
          <a:ln w="0">
            <a:noFill/>
          </a:ln>
        </p:spPr>
        <p:txBody>
          <a:bodyPr wrap="none" lIns="0" tIns="0" rIns="0" bIns="0" anchor="t">
            <a:spAutoFit/>
          </a:bodyPr>
          <a:p>
            <a:r>
              <a:rPr lang="en-US" sz="1050" b="0" u="none" strike="noStrike">
                <a:solidFill>
                  <a:srgbClr val="FFFFFF"/>
                </a:solidFill>
                <a:effectLst/>
                <a:uFillTx/>
                <a:latin typeface="DejaVuSans"/>
                <a:ea typeface="DejaVuSans"/>
              </a:rPr>
              <a:t>60</a:t>
            </a:r>
            <a:endParaRPr lang="en-US" sz="1050" b="0" u="none" strike="noStrike">
              <a:solidFill>
                <a:srgbClr val="000000"/>
              </a:solidFill>
              <a:effectLst/>
              <a:uFillTx/>
              <a:latin typeface="Times New Roman" panose="02020603050405020304"/>
            </a:endParaRPr>
          </a:p>
        </p:txBody>
      </p:sp>
      <p:sp>
        <p:nvSpPr>
          <p:cNvPr id="906" name="文字框 905"/>
          <p:cNvSpPr txBox="1"/>
          <p:nvPr/>
        </p:nvSpPr>
        <p:spPr>
          <a:xfrm>
            <a:off x="4808880" y="5921640"/>
            <a:ext cx="33534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个百分点，突显了在投资组合中配置避险资产的重要性。</a:t>
            </a:r>
            <a:endParaRPr lang="en-US" sz="1050" b="0" u="none" strike="noStrike">
              <a:solidFill>
                <a:srgbClr val="000000"/>
              </a:solidFill>
              <a:effectLst/>
              <a:uFillTx/>
              <a:latin typeface="Times New Roman" panose="02020603050405020304"/>
            </a:endParaRPr>
          </a:p>
        </p:txBody>
      </p:sp>
      <p:sp>
        <p:nvSpPr>
          <p:cNvPr id="907" name="文字框 906"/>
          <p:cNvSpPr txBox="1"/>
          <p:nvPr/>
        </p:nvSpPr>
        <p:spPr>
          <a:xfrm>
            <a:off x="534960" y="652248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908" name="任意多邊形 907"/>
          <p:cNvSpPr/>
          <p:nvPr/>
        </p:nvSpPr>
        <p:spPr>
          <a:xfrm>
            <a:off x="534600" y="902520"/>
            <a:ext cx="9627480" cy="3133800"/>
          </a:xfrm>
          <a:custGeom>
            <a:avLst/>
            <a:gdLst/>
            <a:ahLst/>
            <a:cxnLst/>
            <a:rect l="0" t="0" r="r" b="b"/>
            <a:pathLst>
              <a:path w="26743" h="8705">
                <a:moveTo>
                  <a:pt x="0" y="8520"/>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26557" y="0"/>
                </a:lnTo>
                <a:cubicBezTo>
                  <a:pt x="26569" y="0"/>
                  <a:pt x="26581" y="1"/>
                  <a:pt x="26593" y="3"/>
                </a:cubicBezTo>
                <a:cubicBezTo>
                  <a:pt x="26605" y="5"/>
                  <a:pt x="26617" y="9"/>
                  <a:pt x="26628" y="14"/>
                </a:cubicBezTo>
                <a:cubicBezTo>
                  <a:pt x="26639" y="18"/>
                  <a:pt x="26650" y="24"/>
                  <a:pt x="26660" y="31"/>
                </a:cubicBezTo>
                <a:cubicBezTo>
                  <a:pt x="26670" y="38"/>
                  <a:pt x="26680" y="45"/>
                  <a:pt x="26688" y="54"/>
                </a:cubicBezTo>
                <a:cubicBezTo>
                  <a:pt x="26697" y="63"/>
                  <a:pt x="26704" y="72"/>
                  <a:pt x="26711" y="82"/>
                </a:cubicBezTo>
                <a:cubicBezTo>
                  <a:pt x="26718" y="92"/>
                  <a:pt x="26724" y="103"/>
                  <a:pt x="26728" y="114"/>
                </a:cubicBezTo>
                <a:cubicBezTo>
                  <a:pt x="26733" y="125"/>
                  <a:pt x="26737" y="137"/>
                  <a:pt x="26739" y="149"/>
                </a:cubicBezTo>
                <a:cubicBezTo>
                  <a:pt x="26741" y="161"/>
                  <a:pt x="26743" y="173"/>
                  <a:pt x="26743" y="185"/>
                </a:cubicBezTo>
                <a:lnTo>
                  <a:pt x="26743" y="8520"/>
                </a:lnTo>
                <a:cubicBezTo>
                  <a:pt x="26743" y="8532"/>
                  <a:pt x="26741" y="8544"/>
                  <a:pt x="26739" y="8556"/>
                </a:cubicBezTo>
                <a:cubicBezTo>
                  <a:pt x="26737" y="8568"/>
                  <a:pt x="26733" y="8580"/>
                  <a:pt x="26728" y="8591"/>
                </a:cubicBezTo>
                <a:cubicBezTo>
                  <a:pt x="26724" y="8602"/>
                  <a:pt x="26718" y="8613"/>
                  <a:pt x="26711" y="8623"/>
                </a:cubicBezTo>
                <a:cubicBezTo>
                  <a:pt x="26704" y="8633"/>
                  <a:pt x="26697" y="8642"/>
                  <a:pt x="26688" y="8651"/>
                </a:cubicBezTo>
                <a:cubicBezTo>
                  <a:pt x="26680" y="8660"/>
                  <a:pt x="26670" y="8667"/>
                  <a:pt x="26660" y="8674"/>
                </a:cubicBezTo>
                <a:cubicBezTo>
                  <a:pt x="26650" y="8681"/>
                  <a:pt x="26639" y="8687"/>
                  <a:pt x="26628" y="8691"/>
                </a:cubicBezTo>
                <a:cubicBezTo>
                  <a:pt x="26617" y="8696"/>
                  <a:pt x="26605" y="8699"/>
                  <a:pt x="26593" y="8702"/>
                </a:cubicBezTo>
                <a:cubicBezTo>
                  <a:pt x="26581" y="8704"/>
                  <a:pt x="26569" y="8705"/>
                  <a:pt x="26557" y="8705"/>
                </a:cubicBezTo>
                <a:lnTo>
                  <a:pt x="186" y="8705"/>
                </a:lnTo>
                <a:cubicBezTo>
                  <a:pt x="174" y="8705"/>
                  <a:pt x="162" y="8704"/>
                  <a:pt x="150" y="8702"/>
                </a:cubicBezTo>
                <a:cubicBezTo>
                  <a:pt x="138" y="8699"/>
                  <a:pt x="126" y="8696"/>
                  <a:pt x="115" y="8691"/>
                </a:cubicBezTo>
                <a:cubicBezTo>
                  <a:pt x="104" y="8687"/>
                  <a:pt x="93" y="8681"/>
                  <a:pt x="83" y="8674"/>
                </a:cubicBezTo>
                <a:cubicBezTo>
                  <a:pt x="73" y="8667"/>
                  <a:pt x="63" y="8660"/>
                  <a:pt x="55" y="8651"/>
                </a:cubicBezTo>
                <a:cubicBezTo>
                  <a:pt x="46" y="8642"/>
                  <a:pt x="38" y="8633"/>
                  <a:pt x="31" y="8623"/>
                </a:cubicBezTo>
                <a:cubicBezTo>
                  <a:pt x="25" y="8613"/>
                  <a:pt x="19" y="8602"/>
                  <a:pt x="14" y="8591"/>
                </a:cubicBezTo>
                <a:cubicBezTo>
                  <a:pt x="10" y="8580"/>
                  <a:pt x="6" y="8568"/>
                  <a:pt x="4" y="8556"/>
                </a:cubicBezTo>
                <a:cubicBezTo>
                  <a:pt x="1" y="8544"/>
                  <a:pt x="0" y="8532"/>
                  <a:pt x="0" y="852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09" name="文字框 908"/>
          <p:cNvSpPr txBox="1"/>
          <p:nvPr/>
        </p:nvSpPr>
        <p:spPr>
          <a:xfrm>
            <a:off x="9750240" y="6526800"/>
            <a:ext cx="22923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14 / 24</a:t>
            </a:r>
            <a:endParaRPr lang="en-US" sz="920" b="0" u="none" strike="noStrike">
              <a:solidFill>
                <a:srgbClr val="000000"/>
              </a:solidFill>
              <a:effectLst/>
              <a:uFillTx/>
              <a:latin typeface="Times New Roman" panose="02020603050405020304"/>
            </a:endParaRPr>
          </a:p>
        </p:txBody>
      </p:sp>
      <p:sp>
        <p:nvSpPr>
          <p:cNvPr id="910" name="文字框 909"/>
          <p:cNvSpPr txBox="1"/>
          <p:nvPr/>
        </p:nvSpPr>
        <p:spPr>
          <a:xfrm>
            <a:off x="735480" y="1140120"/>
            <a:ext cx="467280" cy="195480"/>
          </a:xfrm>
          <a:prstGeom prst="rect">
            <a:avLst/>
          </a:prstGeom>
          <a:noFill/>
          <a:ln w="0">
            <a:noFill/>
          </a:ln>
        </p:spPr>
        <p:txBody>
          <a:bodyPr wrap="none" lIns="0" tIns="0" rIns="0" bIns="0" anchor="t">
            <a:spAutoFit/>
          </a:bodyPr>
          <a:p>
            <a:r>
              <a:rPr lang="en-US" sz="1320" b="1" u="none" strike="noStrike">
                <a:solidFill>
                  <a:srgbClr val="FCD34D"/>
                </a:solidFill>
                <a:effectLst/>
                <a:uFillTx/>
                <a:latin typeface="DejaVuSans"/>
                <a:ea typeface="DejaVuSans"/>
              </a:rPr>
              <a:t>2008</a:t>
            </a:r>
            <a:endParaRPr lang="en-US" sz="1320" b="0" u="none" strike="noStrike">
              <a:solidFill>
                <a:srgbClr val="000000"/>
              </a:solidFill>
              <a:effectLst/>
              <a:uFillTx/>
              <a:latin typeface="Times New Roman" panose="02020603050405020304"/>
            </a:endParaRPr>
          </a:p>
        </p:txBody>
      </p:sp>
      <p:sp>
        <p:nvSpPr>
          <p:cNvPr id="911" name="任意多邊形 910"/>
          <p:cNvSpPr/>
          <p:nvPr/>
        </p:nvSpPr>
        <p:spPr>
          <a:xfrm>
            <a:off x="8327160" y="1107000"/>
            <a:ext cx="677520" cy="251280"/>
          </a:xfrm>
          <a:custGeom>
            <a:avLst/>
            <a:gdLst/>
            <a:ahLst/>
            <a:cxnLst/>
            <a:rect l="0" t="0" r="r" b="b"/>
            <a:pathLst>
              <a:path w="1882" h="698">
                <a:moveTo>
                  <a:pt x="0" y="349"/>
                </a:moveTo>
                <a:cubicBezTo>
                  <a:pt x="0" y="327"/>
                  <a:pt x="3" y="304"/>
                  <a:pt x="7" y="281"/>
                </a:cubicBezTo>
                <a:cubicBezTo>
                  <a:pt x="11" y="259"/>
                  <a:pt x="18" y="237"/>
                  <a:pt x="27" y="216"/>
                </a:cubicBezTo>
                <a:cubicBezTo>
                  <a:pt x="36" y="195"/>
                  <a:pt x="46" y="175"/>
                  <a:pt x="59" y="156"/>
                </a:cubicBezTo>
                <a:cubicBezTo>
                  <a:pt x="72" y="137"/>
                  <a:pt x="86" y="119"/>
                  <a:pt x="102" y="103"/>
                </a:cubicBezTo>
                <a:cubicBezTo>
                  <a:pt x="118" y="87"/>
                  <a:pt x="136" y="73"/>
                  <a:pt x="155" y="60"/>
                </a:cubicBezTo>
                <a:cubicBezTo>
                  <a:pt x="174" y="46"/>
                  <a:pt x="194" y="35"/>
                  <a:pt x="215" y="27"/>
                </a:cubicBezTo>
                <a:cubicBezTo>
                  <a:pt x="236" y="18"/>
                  <a:pt x="258" y="11"/>
                  <a:pt x="281" y="7"/>
                </a:cubicBezTo>
                <a:cubicBezTo>
                  <a:pt x="303" y="2"/>
                  <a:pt x="326" y="0"/>
                  <a:pt x="349" y="0"/>
                </a:cubicBezTo>
                <a:lnTo>
                  <a:pt x="1533" y="0"/>
                </a:lnTo>
                <a:cubicBezTo>
                  <a:pt x="1556" y="0"/>
                  <a:pt x="1579" y="2"/>
                  <a:pt x="1601" y="7"/>
                </a:cubicBezTo>
                <a:cubicBezTo>
                  <a:pt x="1624" y="11"/>
                  <a:pt x="1645" y="18"/>
                  <a:pt x="1667" y="27"/>
                </a:cubicBezTo>
                <a:cubicBezTo>
                  <a:pt x="1688" y="35"/>
                  <a:pt x="1708" y="46"/>
                  <a:pt x="1727" y="60"/>
                </a:cubicBezTo>
                <a:cubicBezTo>
                  <a:pt x="1746" y="73"/>
                  <a:pt x="1763" y="87"/>
                  <a:pt x="1780" y="103"/>
                </a:cubicBezTo>
                <a:cubicBezTo>
                  <a:pt x="1796" y="119"/>
                  <a:pt x="1810" y="137"/>
                  <a:pt x="1823" y="156"/>
                </a:cubicBezTo>
                <a:cubicBezTo>
                  <a:pt x="1836" y="175"/>
                  <a:pt x="1846" y="195"/>
                  <a:pt x="1855" y="216"/>
                </a:cubicBezTo>
                <a:cubicBezTo>
                  <a:pt x="1864" y="237"/>
                  <a:pt x="1870" y="259"/>
                  <a:pt x="1875" y="281"/>
                </a:cubicBezTo>
                <a:cubicBezTo>
                  <a:pt x="1879" y="304"/>
                  <a:pt x="1882" y="327"/>
                  <a:pt x="1882" y="349"/>
                </a:cubicBezTo>
                <a:cubicBezTo>
                  <a:pt x="1882" y="372"/>
                  <a:pt x="1879" y="395"/>
                  <a:pt x="1875" y="417"/>
                </a:cubicBezTo>
                <a:cubicBezTo>
                  <a:pt x="1870" y="440"/>
                  <a:pt x="1864" y="462"/>
                  <a:pt x="1855" y="483"/>
                </a:cubicBezTo>
                <a:cubicBezTo>
                  <a:pt x="1846" y="504"/>
                  <a:pt x="1836" y="524"/>
                  <a:pt x="1823" y="543"/>
                </a:cubicBezTo>
                <a:cubicBezTo>
                  <a:pt x="1810" y="562"/>
                  <a:pt x="1796" y="579"/>
                  <a:pt x="1780" y="596"/>
                </a:cubicBezTo>
                <a:cubicBezTo>
                  <a:pt x="1763" y="612"/>
                  <a:pt x="1746" y="626"/>
                  <a:pt x="1727" y="639"/>
                </a:cubicBezTo>
                <a:cubicBezTo>
                  <a:pt x="1708" y="652"/>
                  <a:pt x="1688" y="662"/>
                  <a:pt x="1667" y="671"/>
                </a:cubicBezTo>
                <a:cubicBezTo>
                  <a:pt x="1645" y="680"/>
                  <a:pt x="1624" y="686"/>
                  <a:pt x="1601" y="691"/>
                </a:cubicBezTo>
                <a:cubicBezTo>
                  <a:pt x="1579" y="695"/>
                  <a:pt x="1556" y="698"/>
                  <a:pt x="1533" y="698"/>
                </a:cubicBezTo>
                <a:lnTo>
                  <a:pt x="349" y="698"/>
                </a:lnTo>
                <a:cubicBezTo>
                  <a:pt x="326" y="698"/>
                  <a:pt x="303" y="695"/>
                  <a:pt x="281" y="691"/>
                </a:cubicBezTo>
                <a:cubicBezTo>
                  <a:pt x="258" y="686"/>
                  <a:pt x="236" y="680"/>
                  <a:pt x="215" y="671"/>
                </a:cubicBezTo>
                <a:cubicBezTo>
                  <a:pt x="194" y="662"/>
                  <a:pt x="174" y="652"/>
                  <a:pt x="155" y="639"/>
                </a:cubicBezTo>
                <a:cubicBezTo>
                  <a:pt x="136" y="626"/>
                  <a:pt x="118" y="612"/>
                  <a:pt x="102" y="596"/>
                </a:cubicBezTo>
                <a:cubicBezTo>
                  <a:pt x="86" y="579"/>
                  <a:pt x="72" y="562"/>
                  <a:pt x="59" y="543"/>
                </a:cubicBezTo>
                <a:cubicBezTo>
                  <a:pt x="46" y="524"/>
                  <a:pt x="36" y="504"/>
                  <a:pt x="27" y="483"/>
                </a:cubicBezTo>
                <a:cubicBezTo>
                  <a:pt x="18" y="462"/>
                  <a:pt x="11" y="440"/>
                  <a:pt x="7" y="417"/>
                </a:cubicBezTo>
                <a:cubicBezTo>
                  <a:pt x="3" y="395"/>
                  <a:pt x="0" y="372"/>
                  <a:pt x="0" y="349"/>
                </a:cubicBezTo>
                <a:close/>
              </a:path>
            </a:pathLst>
          </a:custGeom>
          <a:solidFill>
            <a:srgbClr val="10B981">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12" name="任意多邊形 911"/>
          <p:cNvSpPr/>
          <p:nvPr/>
        </p:nvSpPr>
        <p:spPr>
          <a:xfrm>
            <a:off x="8327160" y="1107000"/>
            <a:ext cx="677520" cy="251280"/>
          </a:xfrm>
          <a:custGeom>
            <a:avLst/>
            <a:gdLst/>
            <a:ahLst/>
            <a:cxnLst/>
            <a:rect l="0" t="0" r="r" b="b"/>
            <a:pathLst>
              <a:path w="1882" h="698" fill="none">
                <a:moveTo>
                  <a:pt x="0" y="349"/>
                </a:moveTo>
                <a:cubicBezTo>
                  <a:pt x="0" y="327"/>
                  <a:pt x="3" y="304"/>
                  <a:pt x="7" y="281"/>
                </a:cubicBezTo>
                <a:cubicBezTo>
                  <a:pt x="11" y="259"/>
                  <a:pt x="18" y="237"/>
                  <a:pt x="27" y="216"/>
                </a:cubicBezTo>
                <a:cubicBezTo>
                  <a:pt x="36" y="195"/>
                  <a:pt x="46" y="175"/>
                  <a:pt x="59" y="156"/>
                </a:cubicBezTo>
                <a:cubicBezTo>
                  <a:pt x="72" y="137"/>
                  <a:pt x="86" y="119"/>
                  <a:pt x="102" y="103"/>
                </a:cubicBezTo>
                <a:cubicBezTo>
                  <a:pt x="118" y="87"/>
                  <a:pt x="136" y="73"/>
                  <a:pt x="155" y="60"/>
                </a:cubicBezTo>
                <a:cubicBezTo>
                  <a:pt x="174" y="46"/>
                  <a:pt x="194" y="35"/>
                  <a:pt x="215" y="27"/>
                </a:cubicBezTo>
                <a:cubicBezTo>
                  <a:pt x="236" y="18"/>
                  <a:pt x="258" y="11"/>
                  <a:pt x="281" y="7"/>
                </a:cubicBezTo>
                <a:cubicBezTo>
                  <a:pt x="303" y="2"/>
                  <a:pt x="326" y="0"/>
                  <a:pt x="349" y="0"/>
                </a:cubicBezTo>
                <a:lnTo>
                  <a:pt x="1533" y="0"/>
                </a:lnTo>
                <a:cubicBezTo>
                  <a:pt x="1556" y="0"/>
                  <a:pt x="1579" y="2"/>
                  <a:pt x="1601" y="7"/>
                </a:cubicBezTo>
                <a:cubicBezTo>
                  <a:pt x="1624" y="11"/>
                  <a:pt x="1645" y="18"/>
                  <a:pt x="1667" y="27"/>
                </a:cubicBezTo>
                <a:cubicBezTo>
                  <a:pt x="1688" y="35"/>
                  <a:pt x="1708" y="46"/>
                  <a:pt x="1727" y="60"/>
                </a:cubicBezTo>
                <a:cubicBezTo>
                  <a:pt x="1746" y="73"/>
                  <a:pt x="1763" y="87"/>
                  <a:pt x="1780" y="103"/>
                </a:cubicBezTo>
                <a:cubicBezTo>
                  <a:pt x="1796" y="119"/>
                  <a:pt x="1810" y="137"/>
                  <a:pt x="1823" y="156"/>
                </a:cubicBezTo>
                <a:cubicBezTo>
                  <a:pt x="1836" y="175"/>
                  <a:pt x="1846" y="195"/>
                  <a:pt x="1855" y="216"/>
                </a:cubicBezTo>
                <a:cubicBezTo>
                  <a:pt x="1864" y="237"/>
                  <a:pt x="1870" y="259"/>
                  <a:pt x="1875" y="281"/>
                </a:cubicBezTo>
                <a:cubicBezTo>
                  <a:pt x="1879" y="304"/>
                  <a:pt x="1882" y="327"/>
                  <a:pt x="1882" y="349"/>
                </a:cubicBezTo>
                <a:cubicBezTo>
                  <a:pt x="1882" y="372"/>
                  <a:pt x="1879" y="395"/>
                  <a:pt x="1875" y="417"/>
                </a:cubicBezTo>
                <a:cubicBezTo>
                  <a:pt x="1870" y="440"/>
                  <a:pt x="1864" y="462"/>
                  <a:pt x="1855" y="483"/>
                </a:cubicBezTo>
                <a:cubicBezTo>
                  <a:pt x="1846" y="504"/>
                  <a:pt x="1836" y="524"/>
                  <a:pt x="1823" y="543"/>
                </a:cubicBezTo>
                <a:cubicBezTo>
                  <a:pt x="1810" y="562"/>
                  <a:pt x="1796" y="579"/>
                  <a:pt x="1780" y="596"/>
                </a:cubicBezTo>
                <a:cubicBezTo>
                  <a:pt x="1763" y="612"/>
                  <a:pt x="1746" y="626"/>
                  <a:pt x="1727" y="639"/>
                </a:cubicBezTo>
                <a:cubicBezTo>
                  <a:pt x="1708" y="652"/>
                  <a:pt x="1688" y="662"/>
                  <a:pt x="1667" y="671"/>
                </a:cubicBezTo>
                <a:cubicBezTo>
                  <a:pt x="1645" y="680"/>
                  <a:pt x="1624" y="686"/>
                  <a:pt x="1601" y="691"/>
                </a:cubicBezTo>
                <a:cubicBezTo>
                  <a:pt x="1579" y="695"/>
                  <a:pt x="1556" y="698"/>
                  <a:pt x="1533" y="698"/>
                </a:cubicBezTo>
                <a:lnTo>
                  <a:pt x="349" y="698"/>
                </a:lnTo>
                <a:cubicBezTo>
                  <a:pt x="326" y="698"/>
                  <a:pt x="303" y="695"/>
                  <a:pt x="281" y="691"/>
                </a:cubicBezTo>
                <a:cubicBezTo>
                  <a:pt x="258" y="686"/>
                  <a:pt x="236" y="680"/>
                  <a:pt x="215" y="671"/>
                </a:cubicBezTo>
                <a:cubicBezTo>
                  <a:pt x="194" y="662"/>
                  <a:pt x="174" y="652"/>
                  <a:pt x="155" y="639"/>
                </a:cubicBezTo>
                <a:cubicBezTo>
                  <a:pt x="136" y="626"/>
                  <a:pt x="118" y="612"/>
                  <a:pt x="102" y="596"/>
                </a:cubicBezTo>
                <a:cubicBezTo>
                  <a:pt x="86" y="579"/>
                  <a:pt x="72" y="562"/>
                  <a:pt x="59" y="543"/>
                </a:cubicBezTo>
                <a:cubicBezTo>
                  <a:pt x="46" y="524"/>
                  <a:pt x="36" y="504"/>
                  <a:pt x="27" y="483"/>
                </a:cubicBezTo>
                <a:cubicBezTo>
                  <a:pt x="18" y="462"/>
                  <a:pt x="11" y="440"/>
                  <a:pt x="7" y="417"/>
                </a:cubicBezTo>
                <a:cubicBezTo>
                  <a:pt x="3" y="395"/>
                  <a:pt x="0" y="372"/>
                  <a:pt x="0" y="349"/>
                </a:cubicBezTo>
              </a:path>
            </a:pathLst>
          </a:custGeom>
          <a:ln w="8280">
            <a:solidFill>
              <a:srgbClr val="10B981"/>
            </a:solidFill>
            <a:miter/>
          </a:ln>
        </p:spPr>
        <p:txBody>
          <a:bodyPr lIns="3960" tIns="3960" rIns="3960" bIns="3960" anchor="t">
            <a:noAutofit/>
          </a:bodyPr>
          <a:p>
            <a:endParaRPr lang="en-US" sz="2400" b="0" u="none" strike="noStrike">
              <a:solidFill>
                <a:srgbClr val="000000"/>
              </a:solidFill>
              <a:effectLst/>
              <a:uFillTx/>
              <a:latin typeface="Times New Roman" panose="02020603050405020304"/>
            </a:endParaRPr>
          </a:p>
        </p:txBody>
      </p:sp>
      <p:sp>
        <p:nvSpPr>
          <p:cNvPr id="913" name="文字框 912"/>
          <p:cNvSpPr txBox="1"/>
          <p:nvPr/>
        </p:nvSpPr>
        <p:spPr>
          <a:xfrm>
            <a:off x="1200600" y="1134360"/>
            <a:ext cx="234756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年金融危机期间各类资产收益率</a:t>
            </a:r>
            <a:endParaRPr lang="en-US" sz="1320" b="0" u="none" strike="noStrike">
              <a:solidFill>
                <a:srgbClr val="000000"/>
              </a:solidFill>
              <a:effectLst/>
              <a:uFillTx/>
              <a:latin typeface="Times New Roman" panose="02020603050405020304"/>
            </a:endParaRPr>
          </a:p>
        </p:txBody>
      </p:sp>
      <p:sp>
        <p:nvSpPr>
          <p:cNvPr id="914" name="任意多邊形 913"/>
          <p:cNvSpPr/>
          <p:nvPr/>
        </p:nvSpPr>
        <p:spPr>
          <a:xfrm>
            <a:off x="9213120" y="1107000"/>
            <a:ext cx="677160" cy="251280"/>
          </a:xfrm>
          <a:custGeom>
            <a:avLst/>
            <a:gdLst/>
            <a:ahLst/>
            <a:cxnLst/>
            <a:rect l="0" t="0" r="r" b="b"/>
            <a:pathLst>
              <a:path w="1881" h="698">
                <a:moveTo>
                  <a:pt x="0" y="349"/>
                </a:moveTo>
                <a:cubicBezTo>
                  <a:pt x="0" y="327"/>
                  <a:pt x="2" y="304"/>
                  <a:pt x="7" y="281"/>
                </a:cubicBezTo>
                <a:cubicBezTo>
                  <a:pt x="11" y="259"/>
                  <a:pt x="18" y="237"/>
                  <a:pt x="26" y="216"/>
                </a:cubicBezTo>
                <a:cubicBezTo>
                  <a:pt x="35" y="195"/>
                  <a:pt x="46" y="175"/>
                  <a:pt x="59" y="156"/>
                </a:cubicBezTo>
                <a:cubicBezTo>
                  <a:pt x="71" y="137"/>
                  <a:pt x="86" y="119"/>
                  <a:pt x="102" y="103"/>
                </a:cubicBezTo>
                <a:cubicBezTo>
                  <a:pt x="118" y="87"/>
                  <a:pt x="136" y="73"/>
                  <a:pt x="155" y="60"/>
                </a:cubicBezTo>
                <a:cubicBezTo>
                  <a:pt x="174" y="46"/>
                  <a:pt x="194" y="35"/>
                  <a:pt x="215" y="27"/>
                </a:cubicBezTo>
                <a:cubicBezTo>
                  <a:pt x="236" y="18"/>
                  <a:pt x="258" y="11"/>
                  <a:pt x="280" y="7"/>
                </a:cubicBezTo>
                <a:cubicBezTo>
                  <a:pt x="303" y="2"/>
                  <a:pt x="325" y="0"/>
                  <a:pt x="348" y="0"/>
                </a:cubicBezTo>
                <a:lnTo>
                  <a:pt x="1532" y="0"/>
                </a:lnTo>
                <a:cubicBezTo>
                  <a:pt x="1555" y="0"/>
                  <a:pt x="1577" y="2"/>
                  <a:pt x="1600" y="7"/>
                </a:cubicBezTo>
                <a:cubicBezTo>
                  <a:pt x="1622" y="11"/>
                  <a:pt x="1644" y="18"/>
                  <a:pt x="1665" y="27"/>
                </a:cubicBezTo>
                <a:cubicBezTo>
                  <a:pt x="1687" y="35"/>
                  <a:pt x="1707" y="46"/>
                  <a:pt x="1726" y="60"/>
                </a:cubicBezTo>
                <a:cubicBezTo>
                  <a:pt x="1745" y="73"/>
                  <a:pt x="1763" y="87"/>
                  <a:pt x="1779" y="103"/>
                </a:cubicBezTo>
                <a:cubicBezTo>
                  <a:pt x="1795" y="119"/>
                  <a:pt x="1810" y="137"/>
                  <a:pt x="1822" y="156"/>
                </a:cubicBezTo>
                <a:cubicBezTo>
                  <a:pt x="1835" y="175"/>
                  <a:pt x="1846" y="195"/>
                  <a:pt x="1855" y="216"/>
                </a:cubicBezTo>
                <a:cubicBezTo>
                  <a:pt x="1863" y="237"/>
                  <a:pt x="1870" y="259"/>
                  <a:pt x="1874" y="281"/>
                </a:cubicBezTo>
                <a:cubicBezTo>
                  <a:pt x="1879" y="304"/>
                  <a:pt x="1881" y="327"/>
                  <a:pt x="1881" y="349"/>
                </a:cubicBezTo>
                <a:cubicBezTo>
                  <a:pt x="1881" y="372"/>
                  <a:pt x="1879" y="395"/>
                  <a:pt x="1874" y="417"/>
                </a:cubicBezTo>
                <a:cubicBezTo>
                  <a:pt x="1870" y="440"/>
                  <a:pt x="1863" y="462"/>
                  <a:pt x="1855" y="483"/>
                </a:cubicBezTo>
                <a:cubicBezTo>
                  <a:pt x="1846" y="504"/>
                  <a:pt x="1835" y="524"/>
                  <a:pt x="1822" y="543"/>
                </a:cubicBezTo>
                <a:cubicBezTo>
                  <a:pt x="1810" y="562"/>
                  <a:pt x="1795" y="579"/>
                  <a:pt x="1779" y="596"/>
                </a:cubicBezTo>
                <a:cubicBezTo>
                  <a:pt x="1763" y="612"/>
                  <a:pt x="1745" y="626"/>
                  <a:pt x="1726" y="639"/>
                </a:cubicBezTo>
                <a:cubicBezTo>
                  <a:pt x="1707" y="652"/>
                  <a:pt x="1687" y="662"/>
                  <a:pt x="1665" y="671"/>
                </a:cubicBezTo>
                <a:cubicBezTo>
                  <a:pt x="1644" y="680"/>
                  <a:pt x="1622" y="686"/>
                  <a:pt x="1600" y="691"/>
                </a:cubicBezTo>
                <a:cubicBezTo>
                  <a:pt x="1577" y="695"/>
                  <a:pt x="1555" y="698"/>
                  <a:pt x="1532" y="698"/>
                </a:cubicBezTo>
                <a:lnTo>
                  <a:pt x="348" y="698"/>
                </a:lnTo>
                <a:cubicBezTo>
                  <a:pt x="325" y="698"/>
                  <a:pt x="303" y="695"/>
                  <a:pt x="280" y="691"/>
                </a:cubicBezTo>
                <a:cubicBezTo>
                  <a:pt x="258" y="686"/>
                  <a:pt x="236" y="680"/>
                  <a:pt x="215" y="671"/>
                </a:cubicBezTo>
                <a:cubicBezTo>
                  <a:pt x="194" y="662"/>
                  <a:pt x="174" y="652"/>
                  <a:pt x="155" y="639"/>
                </a:cubicBezTo>
                <a:cubicBezTo>
                  <a:pt x="136" y="626"/>
                  <a:pt x="118" y="612"/>
                  <a:pt x="102" y="596"/>
                </a:cubicBezTo>
                <a:cubicBezTo>
                  <a:pt x="86" y="579"/>
                  <a:pt x="71" y="562"/>
                  <a:pt x="59" y="543"/>
                </a:cubicBezTo>
                <a:cubicBezTo>
                  <a:pt x="46" y="524"/>
                  <a:pt x="35" y="504"/>
                  <a:pt x="26" y="483"/>
                </a:cubicBezTo>
                <a:cubicBezTo>
                  <a:pt x="18" y="462"/>
                  <a:pt x="11" y="440"/>
                  <a:pt x="7" y="417"/>
                </a:cubicBezTo>
                <a:cubicBezTo>
                  <a:pt x="2" y="395"/>
                  <a:pt x="0" y="372"/>
                  <a:pt x="0" y="349"/>
                </a:cubicBezTo>
                <a:close/>
              </a:path>
            </a:pathLst>
          </a:custGeom>
          <a:solidFill>
            <a:srgbClr val="EF4444">
              <a:alpha val="2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915" name="任意多邊形 914"/>
          <p:cNvSpPr/>
          <p:nvPr/>
        </p:nvSpPr>
        <p:spPr>
          <a:xfrm>
            <a:off x="9213120" y="1107000"/>
            <a:ext cx="677160" cy="251280"/>
          </a:xfrm>
          <a:custGeom>
            <a:avLst/>
            <a:gdLst/>
            <a:ahLst/>
            <a:cxnLst/>
            <a:rect l="0" t="0" r="r" b="b"/>
            <a:pathLst>
              <a:path w="1881" h="698" fill="none">
                <a:moveTo>
                  <a:pt x="0" y="349"/>
                </a:moveTo>
                <a:cubicBezTo>
                  <a:pt x="0" y="327"/>
                  <a:pt x="2" y="304"/>
                  <a:pt x="7" y="281"/>
                </a:cubicBezTo>
                <a:cubicBezTo>
                  <a:pt x="11" y="259"/>
                  <a:pt x="18" y="237"/>
                  <a:pt x="26" y="216"/>
                </a:cubicBezTo>
                <a:cubicBezTo>
                  <a:pt x="35" y="195"/>
                  <a:pt x="46" y="175"/>
                  <a:pt x="59" y="156"/>
                </a:cubicBezTo>
                <a:cubicBezTo>
                  <a:pt x="71" y="137"/>
                  <a:pt x="86" y="119"/>
                  <a:pt x="102" y="103"/>
                </a:cubicBezTo>
                <a:cubicBezTo>
                  <a:pt x="118" y="87"/>
                  <a:pt x="136" y="73"/>
                  <a:pt x="155" y="60"/>
                </a:cubicBezTo>
                <a:cubicBezTo>
                  <a:pt x="174" y="46"/>
                  <a:pt x="194" y="35"/>
                  <a:pt x="215" y="27"/>
                </a:cubicBezTo>
                <a:cubicBezTo>
                  <a:pt x="236" y="18"/>
                  <a:pt x="258" y="11"/>
                  <a:pt x="280" y="7"/>
                </a:cubicBezTo>
                <a:cubicBezTo>
                  <a:pt x="303" y="2"/>
                  <a:pt x="325" y="0"/>
                  <a:pt x="348" y="0"/>
                </a:cubicBezTo>
                <a:lnTo>
                  <a:pt x="1532" y="0"/>
                </a:lnTo>
                <a:cubicBezTo>
                  <a:pt x="1555" y="0"/>
                  <a:pt x="1577" y="2"/>
                  <a:pt x="1600" y="7"/>
                </a:cubicBezTo>
                <a:cubicBezTo>
                  <a:pt x="1622" y="11"/>
                  <a:pt x="1644" y="18"/>
                  <a:pt x="1665" y="27"/>
                </a:cubicBezTo>
                <a:cubicBezTo>
                  <a:pt x="1687" y="35"/>
                  <a:pt x="1707" y="46"/>
                  <a:pt x="1726" y="60"/>
                </a:cubicBezTo>
                <a:cubicBezTo>
                  <a:pt x="1745" y="73"/>
                  <a:pt x="1763" y="87"/>
                  <a:pt x="1779" y="103"/>
                </a:cubicBezTo>
                <a:cubicBezTo>
                  <a:pt x="1795" y="119"/>
                  <a:pt x="1810" y="137"/>
                  <a:pt x="1822" y="156"/>
                </a:cubicBezTo>
                <a:cubicBezTo>
                  <a:pt x="1835" y="175"/>
                  <a:pt x="1846" y="195"/>
                  <a:pt x="1855" y="216"/>
                </a:cubicBezTo>
                <a:cubicBezTo>
                  <a:pt x="1863" y="237"/>
                  <a:pt x="1870" y="259"/>
                  <a:pt x="1874" y="281"/>
                </a:cubicBezTo>
                <a:cubicBezTo>
                  <a:pt x="1879" y="304"/>
                  <a:pt x="1881" y="327"/>
                  <a:pt x="1881" y="349"/>
                </a:cubicBezTo>
                <a:cubicBezTo>
                  <a:pt x="1881" y="372"/>
                  <a:pt x="1879" y="395"/>
                  <a:pt x="1874" y="417"/>
                </a:cubicBezTo>
                <a:cubicBezTo>
                  <a:pt x="1870" y="440"/>
                  <a:pt x="1863" y="462"/>
                  <a:pt x="1855" y="483"/>
                </a:cubicBezTo>
                <a:cubicBezTo>
                  <a:pt x="1846" y="504"/>
                  <a:pt x="1835" y="524"/>
                  <a:pt x="1822" y="543"/>
                </a:cubicBezTo>
                <a:cubicBezTo>
                  <a:pt x="1810" y="562"/>
                  <a:pt x="1795" y="579"/>
                  <a:pt x="1779" y="596"/>
                </a:cubicBezTo>
                <a:cubicBezTo>
                  <a:pt x="1763" y="612"/>
                  <a:pt x="1745" y="626"/>
                  <a:pt x="1726" y="639"/>
                </a:cubicBezTo>
                <a:cubicBezTo>
                  <a:pt x="1707" y="652"/>
                  <a:pt x="1687" y="662"/>
                  <a:pt x="1665" y="671"/>
                </a:cubicBezTo>
                <a:cubicBezTo>
                  <a:pt x="1644" y="680"/>
                  <a:pt x="1622" y="686"/>
                  <a:pt x="1600" y="691"/>
                </a:cubicBezTo>
                <a:cubicBezTo>
                  <a:pt x="1577" y="695"/>
                  <a:pt x="1555" y="698"/>
                  <a:pt x="1532" y="698"/>
                </a:cubicBezTo>
                <a:lnTo>
                  <a:pt x="348" y="698"/>
                </a:lnTo>
                <a:cubicBezTo>
                  <a:pt x="325" y="698"/>
                  <a:pt x="303" y="695"/>
                  <a:pt x="280" y="691"/>
                </a:cubicBezTo>
                <a:cubicBezTo>
                  <a:pt x="258" y="686"/>
                  <a:pt x="236" y="680"/>
                  <a:pt x="215" y="671"/>
                </a:cubicBezTo>
                <a:cubicBezTo>
                  <a:pt x="194" y="662"/>
                  <a:pt x="174" y="652"/>
                  <a:pt x="155" y="639"/>
                </a:cubicBezTo>
                <a:cubicBezTo>
                  <a:pt x="136" y="626"/>
                  <a:pt x="118" y="612"/>
                  <a:pt x="102" y="596"/>
                </a:cubicBezTo>
                <a:cubicBezTo>
                  <a:pt x="86" y="579"/>
                  <a:pt x="71" y="562"/>
                  <a:pt x="59" y="543"/>
                </a:cubicBezTo>
                <a:cubicBezTo>
                  <a:pt x="46" y="524"/>
                  <a:pt x="35" y="504"/>
                  <a:pt x="26" y="483"/>
                </a:cubicBezTo>
                <a:cubicBezTo>
                  <a:pt x="18" y="462"/>
                  <a:pt x="11" y="440"/>
                  <a:pt x="7" y="417"/>
                </a:cubicBezTo>
                <a:cubicBezTo>
                  <a:pt x="2" y="395"/>
                  <a:pt x="0" y="372"/>
                  <a:pt x="0" y="349"/>
                </a:cubicBezTo>
              </a:path>
            </a:pathLst>
          </a:custGeom>
          <a:ln w="8280">
            <a:solidFill>
              <a:srgbClr val="EF4444"/>
            </a:solidFill>
            <a:miter/>
          </a:ln>
        </p:spPr>
        <p:txBody>
          <a:bodyPr lIns="3960" tIns="3960" rIns="3960" bIns="3960" anchor="t">
            <a:noAutofit/>
          </a:bodyPr>
          <a:p>
            <a:endParaRPr lang="en-US" sz="2400" b="0" u="none" strike="noStrike">
              <a:solidFill>
                <a:srgbClr val="000000"/>
              </a:solidFill>
              <a:effectLst/>
              <a:uFillTx/>
              <a:latin typeface="Times New Roman" panose="02020603050405020304"/>
            </a:endParaRPr>
          </a:p>
        </p:txBody>
      </p:sp>
      <p:sp>
        <p:nvSpPr>
          <p:cNvPr id="916" name="文字框 915"/>
          <p:cNvSpPr txBox="1"/>
          <p:nvPr/>
        </p:nvSpPr>
        <p:spPr>
          <a:xfrm>
            <a:off x="8431920" y="1157400"/>
            <a:ext cx="470160" cy="148320"/>
          </a:xfrm>
          <a:prstGeom prst="rect">
            <a:avLst/>
          </a:prstGeom>
          <a:noFill/>
          <a:ln w="0">
            <a:noFill/>
          </a:ln>
        </p:spPr>
        <p:txBody>
          <a:bodyPr wrap="none" lIns="0" tIns="0" rIns="0" bIns="0" anchor="t">
            <a:spAutoFit/>
          </a:bodyPr>
          <a:p>
            <a:r>
              <a:rPr lang="zh-CN" sz="920" b="0" u="none" strike="noStrike">
                <a:solidFill>
                  <a:srgbClr val="10B981"/>
                </a:solidFill>
                <a:effectLst/>
                <a:uFillTx/>
                <a:latin typeface="WenQuanYiZenHei"/>
                <a:ea typeface="WenQuanYiZenHei"/>
              </a:rPr>
              <a:t>避险资产</a:t>
            </a:r>
            <a:endParaRPr lang="en-US" sz="920" b="0" u="none" strike="noStrike">
              <a:solidFill>
                <a:srgbClr val="000000"/>
              </a:solidFill>
              <a:effectLst/>
              <a:uFillTx/>
              <a:latin typeface="Times New Roman" panose="02020603050405020304"/>
            </a:endParaRPr>
          </a:p>
        </p:txBody>
      </p:sp>
      <p:pic>
        <p:nvPicPr>
          <p:cNvPr id="917" name="圖片 916"/>
          <p:cNvPicPr/>
          <p:nvPr/>
        </p:nvPicPr>
        <p:blipFill>
          <a:blip r:embed="rId4"/>
          <a:stretch>
            <a:fillRect/>
          </a:stretch>
        </p:blipFill>
        <p:spPr>
          <a:xfrm>
            <a:off x="735480" y="1495800"/>
            <a:ext cx="9225360" cy="2139120"/>
          </a:xfrm>
          <a:prstGeom prst="rect">
            <a:avLst/>
          </a:prstGeom>
          <a:noFill/>
          <a:ln w="0">
            <a:noFill/>
          </a:ln>
        </p:spPr>
      </p:pic>
      <p:sp>
        <p:nvSpPr>
          <p:cNvPr id="918" name="文字框 917"/>
          <p:cNvSpPr txBox="1"/>
          <p:nvPr/>
        </p:nvSpPr>
        <p:spPr>
          <a:xfrm>
            <a:off x="9317880" y="1157400"/>
            <a:ext cx="470160" cy="148320"/>
          </a:xfrm>
          <a:prstGeom prst="rect">
            <a:avLst/>
          </a:prstGeom>
          <a:noFill/>
          <a:ln w="0">
            <a:noFill/>
          </a:ln>
        </p:spPr>
        <p:txBody>
          <a:bodyPr wrap="none" lIns="0" tIns="0" rIns="0" bIns="0" anchor="t">
            <a:spAutoFit/>
          </a:bodyPr>
          <a:p>
            <a:r>
              <a:rPr lang="zh-CN" sz="920" b="0" u="none" strike="noStrike">
                <a:solidFill>
                  <a:srgbClr val="EF4444"/>
                </a:solidFill>
                <a:effectLst/>
                <a:uFillTx/>
                <a:latin typeface="WenQuanYiZenHei"/>
                <a:ea typeface="WenQuanYiZenHei"/>
              </a:rPr>
              <a:t>风险资产</a:t>
            </a:r>
            <a:endParaRPr lang="en-US" sz="920" b="0" u="none" strike="noStrike">
              <a:solidFill>
                <a:srgbClr val="000000"/>
              </a:solidFill>
              <a:effectLst/>
              <a:uFillTx/>
              <a:latin typeface="Times New Roman" panose="02020603050405020304"/>
            </a:endParaRPr>
          </a:p>
        </p:txBody>
      </p:sp>
      <p:sp>
        <p:nvSpPr>
          <p:cNvPr id="919" name="文字框 918"/>
          <p:cNvSpPr txBox="1"/>
          <p:nvPr/>
        </p:nvSpPr>
        <p:spPr>
          <a:xfrm>
            <a:off x="7900920" y="3705840"/>
            <a:ext cx="704880" cy="128520"/>
          </a:xfrm>
          <a:prstGeom prst="rect">
            <a:avLst/>
          </a:prstGeom>
          <a:noFill/>
          <a:ln w="0">
            <a:noFill/>
          </a:ln>
        </p:spPr>
        <p:txBody>
          <a:bodyPr wrap="none" lIns="0" tIns="0" rIns="0" bIns="0" anchor="t">
            <a:spAutoFit/>
          </a:bodyPr>
          <a:p>
            <a:r>
              <a:rPr lang="zh-CN" sz="790" b="0" u="none" strike="noStrike">
                <a:solidFill>
                  <a:srgbClr val="9CA3AF"/>
                </a:solidFill>
                <a:effectLst/>
                <a:uFillTx/>
                <a:latin typeface="WenQuanYiZenHei"/>
                <a:ea typeface="WenQuanYiZenHei"/>
              </a:rPr>
              <a:t>数据来源：基于</a:t>
            </a:r>
            <a:endParaRPr lang="en-US" sz="790" b="0" u="none" strike="noStrike">
              <a:solidFill>
                <a:srgbClr val="000000"/>
              </a:solidFill>
              <a:effectLst/>
              <a:uFillTx/>
              <a:latin typeface="Times New Roman" panose="02020603050405020304"/>
            </a:endParaRPr>
          </a:p>
        </p:txBody>
      </p:sp>
      <p:sp>
        <p:nvSpPr>
          <p:cNvPr id="920" name="文字框 919"/>
          <p:cNvSpPr txBox="1"/>
          <p:nvPr/>
        </p:nvSpPr>
        <p:spPr>
          <a:xfrm>
            <a:off x="8602920" y="3709080"/>
            <a:ext cx="256680" cy="117720"/>
          </a:xfrm>
          <a:prstGeom prst="rect">
            <a:avLst/>
          </a:prstGeom>
          <a:noFill/>
          <a:ln w="0">
            <a:noFill/>
          </a:ln>
        </p:spPr>
        <p:txBody>
          <a:bodyPr wrap="none" lIns="0" tIns="0" rIns="0" bIns="0" anchor="t">
            <a:spAutoFit/>
          </a:bodyPr>
          <a:p>
            <a:r>
              <a:rPr lang="en-US" sz="790" b="0" u="none" strike="noStrike">
                <a:solidFill>
                  <a:srgbClr val="9CA3AF"/>
                </a:solidFill>
                <a:effectLst/>
                <a:uFillTx/>
                <a:latin typeface="DejaVuSans"/>
                <a:ea typeface="DejaVuSans"/>
              </a:rPr>
              <a:t>2008</a:t>
            </a:r>
            <a:endParaRPr lang="en-US" sz="790" b="0" u="none" strike="noStrike">
              <a:solidFill>
                <a:srgbClr val="000000"/>
              </a:solidFill>
              <a:effectLst/>
              <a:uFillTx/>
              <a:latin typeface="Times New Roman" panose="02020603050405020304"/>
            </a:endParaRPr>
          </a:p>
        </p:txBody>
      </p:sp>
      <p:sp>
        <p:nvSpPr>
          <p:cNvPr id="921" name="任意多邊形 920"/>
          <p:cNvSpPr/>
          <p:nvPr/>
        </p:nvSpPr>
        <p:spPr>
          <a:xfrm>
            <a:off x="551520" y="4236840"/>
            <a:ext cx="4696560" cy="1270440"/>
          </a:xfrm>
          <a:custGeom>
            <a:avLst/>
            <a:gdLst/>
            <a:ahLst/>
            <a:cxnLst/>
            <a:rect l="0" t="0" r="r" b="b"/>
            <a:pathLst>
              <a:path w="13046" h="3529">
                <a:moveTo>
                  <a:pt x="0" y="3343"/>
                </a:moveTo>
                <a:lnTo>
                  <a:pt x="0" y="185"/>
                </a:lnTo>
                <a:cubicBezTo>
                  <a:pt x="0" y="173"/>
                  <a:pt x="0" y="161"/>
                  <a:pt x="2" y="149"/>
                </a:cubicBezTo>
                <a:cubicBezTo>
                  <a:pt x="4" y="137"/>
                  <a:pt x="7" y="125"/>
                  <a:pt x="10" y="114"/>
                </a:cubicBezTo>
                <a:cubicBezTo>
                  <a:pt x="14" y="103"/>
                  <a:pt x="18" y="92"/>
                  <a:pt x="23" y="82"/>
                </a:cubicBezTo>
                <a:cubicBezTo>
                  <a:pt x="28" y="72"/>
                  <a:pt x="34" y="63"/>
                  <a:pt x="40" y="54"/>
                </a:cubicBezTo>
                <a:cubicBezTo>
                  <a:pt x="47" y="45"/>
                  <a:pt x="54" y="38"/>
                  <a:pt x="61" y="31"/>
                </a:cubicBezTo>
                <a:cubicBezTo>
                  <a:pt x="69" y="24"/>
                  <a:pt x="77" y="18"/>
                  <a:pt x="86" y="14"/>
                </a:cubicBezTo>
                <a:cubicBezTo>
                  <a:pt x="94" y="9"/>
                  <a:pt x="103" y="5"/>
                  <a:pt x="112" y="3"/>
                </a:cubicBezTo>
                <a:cubicBezTo>
                  <a:pt x="121" y="1"/>
                  <a:pt x="130" y="0"/>
                  <a:pt x="139" y="0"/>
                </a:cubicBezTo>
                <a:lnTo>
                  <a:pt x="12861" y="0"/>
                </a:lnTo>
                <a:cubicBezTo>
                  <a:pt x="12873" y="0"/>
                  <a:pt x="12885" y="1"/>
                  <a:pt x="12897" y="3"/>
                </a:cubicBezTo>
                <a:cubicBezTo>
                  <a:pt x="12909" y="5"/>
                  <a:pt x="12920" y="9"/>
                  <a:pt x="12932" y="14"/>
                </a:cubicBezTo>
                <a:cubicBezTo>
                  <a:pt x="12943" y="18"/>
                  <a:pt x="12954" y="24"/>
                  <a:pt x="12964" y="31"/>
                </a:cubicBezTo>
                <a:cubicBezTo>
                  <a:pt x="12974" y="38"/>
                  <a:pt x="12983" y="45"/>
                  <a:pt x="12992" y="54"/>
                </a:cubicBezTo>
                <a:cubicBezTo>
                  <a:pt x="13001" y="63"/>
                  <a:pt x="13008" y="72"/>
                  <a:pt x="13015" y="82"/>
                </a:cubicBezTo>
                <a:cubicBezTo>
                  <a:pt x="13022" y="92"/>
                  <a:pt x="13027" y="103"/>
                  <a:pt x="13032" y="114"/>
                </a:cubicBezTo>
                <a:cubicBezTo>
                  <a:pt x="13037" y="125"/>
                  <a:pt x="13040" y="137"/>
                  <a:pt x="13043" y="149"/>
                </a:cubicBezTo>
                <a:cubicBezTo>
                  <a:pt x="13045" y="161"/>
                  <a:pt x="13046" y="173"/>
                  <a:pt x="13046" y="185"/>
                </a:cubicBezTo>
                <a:lnTo>
                  <a:pt x="13046" y="3343"/>
                </a:lnTo>
                <a:cubicBezTo>
                  <a:pt x="13046" y="3355"/>
                  <a:pt x="13045" y="3367"/>
                  <a:pt x="13043" y="3379"/>
                </a:cubicBezTo>
                <a:cubicBezTo>
                  <a:pt x="13040" y="3391"/>
                  <a:pt x="13037" y="3403"/>
                  <a:pt x="13032" y="3414"/>
                </a:cubicBezTo>
                <a:cubicBezTo>
                  <a:pt x="13027" y="3426"/>
                  <a:pt x="13022" y="3436"/>
                  <a:pt x="13015" y="3446"/>
                </a:cubicBezTo>
                <a:cubicBezTo>
                  <a:pt x="13008" y="3457"/>
                  <a:pt x="13001" y="3466"/>
                  <a:pt x="12992" y="3475"/>
                </a:cubicBezTo>
                <a:cubicBezTo>
                  <a:pt x="12983" y="3483"/>
                  <a:pt x="12974" y="3491"/>
                  <a:pt x="12964" y="3498"/>
                </a:cubicBezTo>
                <a:cubicBezTo>
                  <a:pt x="12954" y="3504"/>
                  <a:pt x="12943" y="3510"/>
                  <a:pt x="12932" y="3515"/>
                </a:cubicBezTo>
                <a:cubicBezTo>
                  <a:pt x="12920" y="3519"/>
                  <a:pt x="12909" y="3523"/>
                  <a:pt x="12897" y="3525"/>
                </a:cubicBezTo>
                <a:cubicBezTo>
                  <a:pt x="12885" y="3528"/>
                  <a:pt x="12873" y="3529"/>
                  <a:pt x="12861" y="3529"/>
                </a:cubicBezTo>
                <a:lnTo>
                  <a:pt x="139" y="3529"/>
                </a:lnTo>
                <a:cubicBezTo>
                  <a:pt x="130" y="3529"/>
                  <a:pt x="121" y="3528"/>
                  <a:pt x="112" y="3525"/>
                </a:cubicBezTo>
                <a:cubicBezTo>
                  <a:pt x="103" y="3523"/>
                  <a:pt x="94" y="3519"/>
                  <a:pt x="86" y="3515"/>
                </a:cubicBezTo>
                <a:cubicBezTo>
                  <a:pt x="77" y="3510"/>
                  <a:pt x="69" y="3504"/>
                  <a:pt x="61" y="3498"/>
                </a:cubicBezTo>
                <a:cubicBezTo>
                  <a:pt x="54" y="3491"/>
                  <a:pt x="47" y="3483"/>
                  <a:pt x="40" y="3475"/>
                </a:cubicBezTo>
                <a:cubicBezTo>
                  <a:pt x="34" y="3466"/>
                  <a:pt x="28" y="3457"/>
                  <a:pt x="23" y="3446"/>
                </a:cubicBezTo>
                <a:cubicBezTo>
                  <a:pt x="18" y="3436"/>
                  <a:pt x="14" y="3426"/>
                  <a:pt x="10" y="3414"/>
                </a:cubicBezTo>
                <a:cubicBezTo>
                  <a:pt x="7" y="3403"/>
                  <a:pt x="4" y="3391"/>
                  <a:pt x="2" y="3379"/>
                </a:cubicBezTo>
                <a:cubicBezTo>
                  <a:pt x="0" y="3367"/>
                  <a:pt x="0" y="3355"/>
                  <a:pt x="0" y="3343"/>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22" name="任意多邊形 921"/>
          <p:cNvSpPr/>
          <p:nvPr/>
        </p:nvSpPr>
        <p:spPr>
          <a:xfrm>
            <a:off x="534600" y="4236840"/>
            <a:ext cx="67320" cy="1270440"/>
          </a:xfrm>
          <a:custGeom>
            <a:avLst/>
            <a:gdLst/>
            <a:ahLst/>
            <a:cxnLst/>
            <a:rect l="0" t="0" r="r" b="b"/>
            <a:pathLst>
              <a:path w="187" h="3529">
                <a:moveTo>
                  <a:pt x="151" y="14"/>
                </a:moveTo>
                <a:cubicBezTo>
                  <a:pt x="140" y="23"/>
                  <a:pt x="130" y="36"/>
                  <a:pt x="121" y="54"/>
                </a:cubicBezTo>
                <a:cubicBezTo>
                  <a:pt x="112" y="71"/>
                  <a:pt x="106" y="91"/>
                  <a:pt x="101" y="114"/>
                </a:cubicBezTo>
                <a:cubicBezTo>
                  <a:pt x="96" y="137"/>
                  <a:pt x="94" y="161"/>
                  <a:pt x="94" y="185"/>
                </a:cubicBezTo>
                <a:lnTo>
                  <a:pt x="94" y="3343"/>
                </a:lnTo>
                <a:cubicBezTo>
                  <a:pt x="94" y="3368"/>
                  <a:pt x="96" y="3392"/>
                  <a:pt x="101" y="3414"/>
                </a:cubicBezTo>
                <a:cubicBezTo>
                  <a:pt x="106" y="3437"/>
                  <a:pt x="112" y="3457"/>
                  <a:pt x="121" y="3475"/>
                </a:cubicBezTo>
                <a:cubicBezTo>
                  <a:pt x="130" y="3492"/>
                  <a:pt x="140" y="3505"/>
                  <a:pt x="151" y="3515"/>
                </a:cubicBezTo>
                <a:cubicBezTo>
                  <a:pt x="163" y="3524"/>
                  <a:pt x="175" y="3529"/>
                  <a:pt x="187" y="3529"/>
                </a:cubicBezTo>
                <a:cubicBezTo>
                  <a:pt x="162" y="3529"/>
                  <a:pt x="139" y="3524"/>
                  <a:pt x="116" y="3515"/>
                </a:cubicBezTo>
                <a:cubicBezTo>
                  <a:pt x="93" y="3505"/>
                  <a:pt x="72" y="3492"/>
                  <a:pt x="55" y="3475"/>
                </a:cubicBezTo>
                <a:cubicBezTo>
                  <a:pt x="37" y="3457"/>
                  <a:pt x="24" y="3437"/>
                  <a:pt x="14" y="3414"/>
                </a:cubicBezTo>
                <a:cubicBezTo>
                  <a:pt x="5" y="3392"/>
                  <a:pt x="0" y="3368"/>
                  <a:pt x="0" y="3343"/>
                </a:cubicBezTo>
                <a:lnTo>
                  <a:pt x="0" y="185"/>
                </a:lnTo>
                <a:cubicBezTo>
                  <a:pt x="0" y="161"/>
                  <a:pt x="5" y="137"/>
                  <a:pt x="14" y="114"/>
                </a:cubicBezTo>
                <a:cubicBezTo>
                  <a:pt x="24" y="91"/>
                  <a:pt x="37" y="71"/>
                  <a:pt x="55" y="54"/>
                </a:cubicBezTo>
                <a:cubicBezTo>
                  <a:pt x="72" y="36"/>
                  <a:pt x="93" y="23"/>
                  <a:pt x="116" y="14"/>
                </a:cubicBezTo>
                <a:cubicBezTo>
                  <a:pt x="139" y="4"/>
                  <a:pt x="162" y="0"/>
                  <a:pt x="187" y="0"/>
                </a:cubicBezTo>
                <a:cubicBezTo>
                  <a:pt x="175" y="0"/>
                  <a:pt x="163" y="4"/>
                  <a:pt x="151" y="14"/>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923" name="圖片 922"/>
          <p:cNvPicPr/>
          <p:nvPr/>
        </p:nvPicPr>
        <p:blipFill>
          <a:blip r:embed="rId5"/>
          <a:stretch>
            <a:fillRect/>
          </a:stretch>
        </p:blipFill>
        <p:spPr>
          <a:xfrm>
            <a:off x="735480" y="4403880"/>
            <a:ext cx="250200" cy="250200"/>
          </a:xfrm>
          <a:prstGeom prst="rect">
            <a:avLst/>
          </a:prstGeom>
          <a:noFill/>
          <a:ln w="0">
            <a:noFill/>
          </a:ln>
        </p:spPr>
      </p:pic>
      <p:sp>
        <p:nvSpPr>
          <p:cNvPr id="924" name="文字框 923"/>
          <p:cNvSpPr txBox="1"/>
          <p:nvPr/>
        </p:nvSpPr>
        <p:spPr>
          <a:xfrm>
            <a:off x="8858160" y="3705840"/>
            <a:ext cx="1107000" cy="128520"/>
          </a:xfrm>
          <a:prstGeom prst="rect">
            <a:avLst/>
          </a:prstGeom>
          <a:noFill/>
          <a:ln w="0">
            <a:noFill/>
          </a:ln>
        </p:spPr>
        <p:txBody>
          <a:bodyPr wrap="none" lIns="0" tIns="0" rIns="0" bIns="0" anchor="t">
            <a:spAutoFit/>
          </a:bodyPr>
          <a:p>
            <a:r>
              <a:rPr lang="zh-CN" sz="790" b="0" u="none" strike="noStrike">
                <a:solidFill>
                  <a:srgbClr val="9CA3AF"/>
                </a:solidFill>
                <a:effectLst/>
                <a:uFillTx/>
                <a:latin typeface="WenQuanYiZenHei"/>
                <a:ea typeface="WenQuanYiZenHei"/>
              </a:rPr>
              <a:t>年全球金融危机期间表现</a:t>
            </a:r>
            <a:endParaRPr lang="en-US" sz="790" b="0" u="none" strike="noStrike">
              <a:solidFill>
                <a:srgbClr val="000000"/>
              </a:solidFill>
              <a:effectLst/>
              <a:uFillTx/>
              <a:latin typeface="Times New Roman" panose="02020603050405020304"/>
            </a:endParaRPr>
          </a:p>
        </p:txBody>
      </p:sp>
      <p:pic>
        <p:nvPicPr>
          <p:cNvPr id="925" name="圖片 924"/>
          <p:cNvPicPr/>
          <p:nvPr/>
        </p:nvPicPr>
        <p:blipFill>
          <a:blip r:embed="rId6"/>
          <a:stretch>
            <a:fillRect/>
          </a:stretch>
        </p:blipFill>
        <p:spPr>
          <a:xfrm>
            <a:off x="1119960" y="4738320"/>
            <a:ext cx="116640" cy="116640"/>
          </a:xfrm>
          <a:prstGeom prst="rect">
            <a:avLst/>
          </a:prstGeom>
          <a:noFill/>
          <a:ln w="0">
            <a:noFill/>
          </a:ln>
        </p:spPr>
      </p:pic>
      <p:sp>
        <p:nvSpPr>
          <p:cNvPr id="926" name="文字框 925"/>
          <p:cNvSpPr txBox="1"/>
          <p:nvPr/>
        </p:nvSpPr>
        <p:spPr>
          <a:xfrm>
            <a:off x="1119960" y="4426200"/>
            <a:ext cx="12078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避险资产表现分析</a:t>
            </a:r>
            <a:endParaRPr lang="en-US" sz="1180" b="0" u="none" strike="noStrike">
              <a:solidFill>
                <a:srgbClr val="000000"/>
              </a:solidFill>
              <a:effectLst/>
              <a:uFillTx/>
              <a:latin typeface="Times New Roman" panose="02020603050405020304"/>
            </a:endParaRPr>
          </a:p>
        </p:txBody>
      </p:sp>
      <p:sp>
        <p:nvSpPr>
          <p:cNvPr id="927" name="文字框 926"/>
          <p:cNvSpPr txBox="1"/>
          <p:nvPr/>
        </p:nvSpPr>
        <p:spPr>
          <a:xfrm>
            <a:off x="1303560" y="4717440"/>
            <a:ext cx="16437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美国国债表现最佳，回报率高达</a:t>
            </a:r>
            <a:endParaRPr lang="en-US" sz="920" b="0" u="none" strike="noStrike">
              <a:solidFill>
                <a:srgbClr val="000000"/>
              </a:solidFill>
              <a:effectLst/>
              <a:uFillTx/>
              <a:latin typeface="Times New Roman" panose="02020603050405020304"/>
            </a:endParaRPr>
          </a:p>
        </p:txBody>
      </p:sp>
      <p:sp>
        <p:nvSpPr>
          <p:cNvPr id="928" name="文字框 927"/>
          <p:cNvSpPr txBox="1"/>
          <p:nvPr/>
        </p:nvSpPr>
        <p:spPr>
          <a:xfrm>
            <a:off x="2941560" y="4721760"/>
            <a:ext cx="37368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20.1%</a:t>
            </a:r>
            <a:endParaRPr lang="en-US" sz="920" b="0" u="none" strike="noStrike">
              <a:solidFill>
                <a:srgbClr val="000000"/>
              </a:solidFill>
              <a:effectLst/>
              <a:uFillTx/>
              <a:latin typeface="Times New Roman" panose="02020603050405020304"/>
            </a:endParaRPr>
          </a:p>
        </p:txBody>
      </p:sp>
      <p:sp>
        <p:nvSpPr>
          <p:cNvPr id="929" name="文字框 928"/>
          <p:cNvSpPr txBox="1"/>
          <p:nvPr/>
        </p:nvSpPr>
        <p:spPr>
          <a:xfrm>
            <a:off x="3313080" y="4717440"/>
            <a:ext cx="9396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，体现了投资者的</a:t>
            </a:r>
            <a:endParaRPr lang="en-US" sz="920" b="0" u="none" strike="noStrike">
              <a:solidFill>
                <a:srgbClr val="000000"/>
              </a:solidFill>
              <a:effectLst/>
              <a:uFillTx/>
              <a:latin typeface="Times New Roman" panose="02020603050405020304"/>
            </a:endParaRPr>
          </a:p>
        </p:txBody>
      </p:sp>
      <p:sp>
        <p:nvSpPr>
          <p:cNvPr id="930" name="文字框 929"/>
          <p:cNvSpPr txBox="1"/>
          <p:nvPr/>
        </p:nvSpPr>
        <p:spPr>
          <a:xfrm>
            <a:off x="4249080" y="4721760"/>
            <a:ext cx="11664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a:t>
            </a:r>
            <a:endParaRPr lang="en-US" sz="920" b="0" u="none" strike="noStrike">
              <a:solidFill>
                <a:srgbClr val="000000"/>
              </a:solidFill>
              <a:effectLst/>
              <a:uFillTx/>
              <a:latin typeface="Times New Roman" panose="02020603050405020304"/>
            </a:endParaRPr>
          </a:p>
        </p:txBody>
      </p:sp>
      <p:sp>
        <p:nvSpPr>
          <p:cNvPr id="931" name="文字框 930"/>
          <p:cNvSpPr txBox="1"/>
          <p:nvPr/>
        </p:nvSpPr>
        <p:spPr>
          <a:xfrm>
            <a:off x="4303080" y="4717440"/>
            <a:ext cx="5875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向质量转移</a:t>
            </a:r>
            <a:endParaRPr lang="en-US" sz="920" b="0" u="none" strike="noStrike">
              <a:solidFill>
                <a:srgbClr val="000000"/>
              </a:solidFill>
              <a:effectLst/>
              <a:uFillTx/>
              <a:latin typeface="Times New Roman" panose="02020603050405020304"/>
            </a:endParaRPr>
          </a:p>
        </p:txBody>
      </p:sp>
      <p:pic>
        <p:nvPicPr>
          <p:cNvPr id="932" name="圖片 931"/>
          <p:cNvPicPr/>
          <p:nvPr/>
        </p:nvPicPr>
        <p:blipFill>
          <a:blip r:embed="rId6"/>
          <a:stretch>
            <a:fillRect/>
          </a:stretch>
        </p:blipFill>
        <p:spPr>
          <a:xfrm>
            <a:off x="1119960" y="4972320"/>
            <a:ext cx="116640" cy="116640"/>
          </a:xfrm>
          <a:prstGeom prst="rect">
            <a:avLst/>
          </a:prstGeom>
          <a:noFill/>
          <a:ln w="0">
            <a:noFill/>
          </a:ln>
        </p:spPr>
      </p:pic>
      <p:sp>
        <p:nvSpPr>
          <p:cNvPr id="933" name="文字框 932"/>
          <p:cNvSpPr txBox="1"/>
          <p:nvPr/>
        </p:nvSpPr>
        <p:spPr>
          <a:xfrm>
            <a:off x="4888080" y="4721760"/>
            <a:ext cx="11664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a:t>
            </a:r>
            <a:endParaRPr lang="en-US" sz="920" b="0" u="none" strike="noStrike">
              <a:solidFill>
                <a:srgbClr val="000000"/>
              </a:solidFill>
              <a:effectLst/>
              <a:uFillTx/>
              <a:latin typeface="Times New Roman" panose="02020603050405020304"/>
            </a:endParaRPr>
          </a:p>
        </p:txBody>
      </p:sp>
      <p:sp>
        <p:nvSpPr>
          <p:cNvPr id="934" name="文字框 933"/>
          <p:cNvSpPr txBox="1"/>
          <p:nvPr/>
        </p:nvSpPr>
        <p:spPr>
          <a:xfrm>
            <a:off x="1303560" y="4951440"/>
            <a:ext cx="7048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黄金价格上涨</a:t>
            </a:r>
            <a:endParaRPr lang="en-US" sz="920" b="0" u="none" strike="noStrike">
              <a:solidFill>
                <a:srgbClr val="000000"/>
              </a:solidFill>
              <a:effectLst/>
              <a:uFillTx/>
              <a:latin typeface="Times New Roman" panose="02020603050405020304"/>
            </a:endParaRPr>
          </a:p>
        </p:txBody>
      </p:sp>
      <p:sp>
        <p:nvSpPr>
          <p:cNvPr id="935" name="文字框 934"/>
          <p:cNvSpPr txBox="1"/>
          <p:nvPr/>
        </p:nvSpPr>
        <p:spPr>
          <a:xfrm>
            <a:off x="2005560" y="4955760"/>
            <a:ext cx="29880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5.5%</a:t>
            </a:r>
            <a:endParaRPr lang="en-US" sz="920" b="0" u="none" strike="noStrike">
              <a:solidFill>
                <a:srgbClr val="000000"/>
              </a:solidFill>
              <a:effectLst/>
              <a:uFillTx/>
              <a:latin typeface="Times New Roman" panose="02020603050405020304"/>
            </a:endParaRPr>
          </a:p>
        </p:txBody>
      </p:sp>
      <p:pic>
        <p:nvPicPr>
          <p:cNvPr id="936" name="圖片 935"/>
          <p:cNvPicPr/>
          <p:nvPr/>
        </p:nvPicPr>
        <p:blipFill>
          <a:blip r:embed="rId6"/>
          <a:stretch>
            <a:fillRect/>
          </a:stretch>
        </p:blipFill>
        <p:spPr>
          <a:xfrm>
            <a:off x="1119960" y="5206320"/>
            <a:ext cx="116640" cy="116640"/>
          </a:xfrm>
          <a:prstGeom prst="rect">
            <a:avLst/>
          </a:prstGeom>
          <a:noFill/>
          <a:ln w="0">
            <a:noFill/>
          </a:ln>
        </p:spPr>
      </p:pic>
      <p:sp>
        <p:nvSpPr>
          <p:cNvPr id="937" name="文字框 936"/>
          <p:cNvSpPr txBox="1"/>
          <p:nvPr/>
        </p:nvSpPr>
        <p:spPr>
          <a:xfrm>
            <a:off x="2302920" y="4951440"/>
            <a:ext cx="17611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，展现其作为传统避险工具的价值</a:t>
            </a:r>
            <a:endParaRPr lang="en-US" sz="920" b="0" u="none" strike="noStrike">
              <a:solidFill>
                <a:srgbClr val="000000"/>
              </a:solidFill>
              <a:effectLst/>
              <a:uFillTx/>
              <a:latin typeface="Times New Roman" panose="02020603050405020304"/>
            </a:endParaRPr>
          </a:p>
        </p:txBody>
      </p:sp>
      <p:sp>
        <p:nvSpPr>
          <p:cNvPr id="938" name="文字框 937"/>
          <p:cNvSpPr txBox="1"/>
          <p:nvPr/>
        </p:nvSpPr>
        <p:spPr>
          <a:xfrm>
            <a:off x="1303560" y="5185440"/>
            <a:ext cx="12916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现金（短期国库券）维持</a:t>
            </a:r>
            <a:endParaRPr lang="en-US" sz="920" b="0" u="none" strike="noStrike">
              <a:solidFill>
                <a:srgbClr val="000000"/>
              </a:solidFill>
              <a:effectLst/>
              <a:uFillTx/>
              <a:latin typeface="Times New Roman" panose="02020603050405020304"/>
            </a:endParaRPr>
          </a:p>
        </p:txBody>
      </p:sp>
      <p:sp>
        <p:nvSpPr>
          <p:cNvPr id="939" name="文字框 938"/>
          <p:cNvSpPr txBox="1"/>
          <p:nvPr/>
        </p:nvSpPr>
        <p:spPr>
          <a:xfrm>
            <a:off x="2590560" y="5189400"/>
            <a:ext cx="29880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1.5%</a:t>
            </a:r>
            <a:endParaRPr lang="en-US" sz="920" b="0" u="none" strike="noStrike">
              <a:solidFill>
                <a:srgbClr val="000000"/>
              </a:solidFill>
              <a:effectLst/>
              <a:uFillTx/>
              <a:latin typeface="Times New Roman" panose="02020603050405020304"/>
            </a:endParaRPr>
          </a:p>
        </p:txBody>
      </p:sp>
      <p:sp>
        <p:nvSpPr>
          <p:cNvPr id="940" name="任意多邊形 939"/>
          <p:cNvSpPr/>
          <p:nvPr/>
        </p:nvSpPr>
        <p:spPr>
          <a:xfrm>
            <a:off x="5465160" y="4236840"/>
            <a:ext cx="4696920" cy="1270440"/>
          </a:xfrm>
          <a:custGeom>
            <a:avLst/>
            <a:gdLst/>
            <a:ahLst/>
            <a:cxnLst/>
            <a:rect l="0" t="0" r="r" b="b"/>
            <a:pathLst>
              <a:path w="13047" h="3529">
                <a:moveTo>
                  <a:pt x="0" y="3343"/>
                </a:moveTo>
                <a:lnTo>
                  <a:pt x="0" y="185"/>
                </a:lnTo>
                <a:cubicBezTo>
                  <a:pt x="0" y="173"/>
                  <a:pt x="1" y="161"/>
                  <a:pt x="3" y="149"/>
                </a:cubicBezTo>
                <a:cubicBezTo>
                  <a:pt x="4" y="137"/>
                  <a:pt x="7" y="125"/>
                  <a:pt x="10" y="114"/>
                </a:cubicBezTo>
                <a:cubicBezTo>
                  <a:pt x="14" y="103"/>
                  <a:pt x="18" y="92"/>
                  <a:pt x="23" y="82"/>
                </a:cubicBezTo>
                <a:cubicBezTo>
                  <a:pt x="28" y="72"/>
                  <a:pt x="34" y="63"/>
                  <a:pt x="41" y="54"/>
                </a:cubicBezTo>
                <a:cubicBezTo>
                  <a:pt x="47" y="45"/>
                  <a:pt x="54" y="38"/>
                  <a:pt x="62" y="31"/>
                </a:cubicBezTo>
                <a:cubicBezTo>
                  <a:pt x="69" y="24"/>
                  <a:pt x="77" y="18"/>
                  <a:pt x="86" y="14"/>
                </a:cubicBezTo>
                <a:cubicBezTo>
                  <a:pt x="94" y="9"/>
                  <a:pt x="103" y="5"/>
                  <a:pt x="112" y="3"/>
                </a:cubicBezTo>
                <a:cubicBezTo>
                  <a:pt x="121" y="1"/>
                  <a:pt x="130" y="0"/>
                  <a:pt x="139" y="0"/>
                </a:cubicBezTo>
                <a:lnTo>
                  <a:pt x="12861" y="0"/>
                </a:lnTo>
                <a:cubicBezTo>
                  <a:pt x="12873" y="0"/>
                  <a:pt x="12885" y="1"/>
                  <a:pt x="12897" y="3"/>
                </a:cubicBezTo>
                <a:cubicBezTo>
                  <a:pt x="12909" y="5"/>
                  <a:pt x="12921" y="9"/>
                  <a:pt x="12932" y="14"/>
                </a:cubicBezTo>
                <a:cubicBezTo>
                  <a:pt x="12943" y="18"/>
                  <a:pt x="12954" y="24"/>
                  <a:pt x="12964" y="31"/>
                </a:cubicBezTo>
                <a:cubicBezTo>
                  <a:pt x="12974" y="38"/>
                  <a:pt x="12984" y="45"/>
                  <a:pt x="12992" y="54"/>
                </a:cubicBezTo>
                <a:cubicBezTo>
                  <a:pt x="13001" y="63"/>
                  <a:pt x="13008" y="72"/>
                  <a:pt x="13015" y="82"/>
                </a:cubicBezTo>
                <a:cubicBezTo>
                  <a:pt x="13022" y="92"/>
                  <a:pt x="13028" y="103"/>
                  <a:pt x="13032" y="114"/>
                </a:cubicBezTo>
                <a:cubicBezTo>
                  <a:pt x="13037" y="125"/>
                  <a:pt x="13041" y="137"/>
                  <a:pt x="13043" y="149"/>
                </a:cubicBezTo>
                <a:cubicBezTo>
                  <a:pt x="13045" y="161"/>
                  <a:pt x="13047" y="173"/>
                  <a:pt x="13047" y="185"/>
                </a:cubicBezTo>
                <a:lnTo>
                  <a:pt x="13047" y="3343"/>
                </a:lnTo>
                <a:cubicBezTo>
                  <a:pt x="13047" y="3355"/>
                  <a:pt x="13045" y="3367"/>
                  <a:pt x="13043" y="3379"/>
                </a:cubicBezTo>
                <a:cubicBezTo>
                  <a:pt x="13041" y="3391"/>
                  <a:pt x="13037" y="3403"/>
                  <a:pt x="13032" y="3414"/>
                </a:cubicBezTo>
                <a:cubicBezTo>
                  <a:pt x="13028" y="3426"/>
                  <a:pt x="13022" y="3436"/>
                  <a:pt x="13015" y="3446"/>
                </a:cubicBezTo>
                <a:cubicBezTo>
                  <a:pt x="13008" y="3457"/>
                  <a:pt x="13001" y="3466"/>
                  <a:pt x="12992" y="3475"/>
                </a:cubicBezTo>
                <a:cubicBezTo>
                  <a:pt x="12984" y="3483"/>
                  <a:pt x="12974" y="3491"/>
                  <a:pt x="12964" y="3498"/>
                </a:cubicBezTo>
                <a:cubicBezTo>
                  <a:pt x="12954" y="3504"/>
                  <a:pt x="12943" y="3510"/>
                  <a:pt x="12932" y="3515"/>
                </a:cubicBezTo>
                <a:cubicBezTo>
                  <a:pt x="12921" y="3519"/>
                  <a:pt x="12909" y="3523"/>
                  <a:pt x="12897" y="3525"/>
                </a:cubicBezTo>
                <a:cubicBezTo>
                  <a:pt x="12885" y="3528"/>
                  <a:pt x="12873" y="3529"/>
                  <a:pt x="12861" y="3529"/>
                </a:cubicBezTo>
                <a:lnTo>
                  <a:pt x="139" y="3529"/>
                </a:lnTo>
                <a:cubicBezTo>
                  <a:pt x="130" y="3529"/>
                  <a:pt x="121" y="3528"/>
                  <a:pt x="112" y="3525"/>
                </a:cubicBezTo>
                <a:cubicBezTo>
                  <a:pt x="103" y="3523"/>
                  <a:pt x="94" y="3519"/>
                  <a:pt x="86" y="3515"/>
                </a:cubicBezTo>
                <a:cubicBezTo>
                  <a:pt x="77" y="3510"/>
                  <a:pt x="69" y="3504"/>
                  <a:pt x="62" y="3498"/>
                </a:cubicBezTo>
                <a:cubicBezTo>
                  <a:pt x="54" y="3491"/>
                  <a:pt x="47" y="3483"/>
                  <a:pt x="41" y="3475"/>
                </a:cubicBezTo>
                <a:cubicBezTo>
                  <a:pt x="34" y="3466"/>
                  <a:pt x="28" y="3457"/>
                  <a:pt x="23" y="3446"/>
                </a:cubicBezTo>
                <a:cubicBezTo>
                  <a:pt x="18" y="3436"/>
                  <a:pt x="14" y="3426"/>
                  <a:pt x="10" y="3414"/>
                </a:cubicBezTo>
                <a:cubicBezTo>
                  <a:pt x="7" y="3403"/>
                  <a:pt x="4" y="3391"/>
                  <a:pt x="3" y="3379"/>
                </a:cubicBezTo>
                <a:cubicBezTo>
                  <a:pt x="1" y="3367"/>
                  <a:pt x="0" y="3355"/>
                  <a:pt x="0" y="3343"/>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41" name="任意多邊形 940"/>
          <p:cNvSpPr/>
          <p:nvPr/>
        </p:nvSpPr>
        <p:spPr>
          <a:xfrm>
            <a:off x="5448240" y="4236840"/>
            <a:ext cx="67320" cy="1270440"/>
          </a:xfrm>
          <a:custGeom>
            <a:avLst/>
            <a:gdLst/>
            <a:ahLst/>
            <a:cxnLst/>
            <a:rect l="0" t="0" r="r" b="b"/>
            <a:pathLst>
              <a:path w="187" h="3529">
                <a:moveTo>
                  <a:pt x="152" y="14"/>
                </a:moveTo>
                <a:cubicBezTo>
                  <a:pt x="140" y="23"/>
                  <a:pt x="130" y="36"/>
                  <a:pt x="120" y="54"/>
                </a:cubicBezTo>
                <a:cubicBezTo>
                  <a:pt x="112" y="71"/>
                  <a:pt x="105" y="91"/>
                  <a:pt x="100" y="114"/>
                </a:cubicBezTo>
                <a:cubicBezTo>
                  <a:pt x="96" y="137"/>
                  <a:pt x="93" y="161"/>
                  <a:pt x="93" y="185"/>
                </a:cubicBezTo>
                <a:lnTo>
                  <a:pt x="93" y="3343"/>
                </a:lnTo>
                <a:cubicBezTo>
                  <a:pt x="93" y="3368"/>
                  <a:pt x="96" y="3392"/>
                  <a:pt x="100" y="3414"/>
                </a:cubicBezTo>
                <a:cubicBezTo>
                  <a:pt x="105" y="3437"/>
                  <a:pt x="112" y="3457"/>
                  <a:pt x="120" y="3475"/>
                </a:cubicBezTo>
                <a:cubicBezTo>
                  <a:pt x="130" y="3492"/>
                  <a:pt x="140" y="3505"/>
                  <a:pt x="152" y="3515"/>
                </a:cubicBezTo>
                <a:cubicBezTo>
                  <a:pt x="163" y="3524"/>
                  <a:pt x="175" y="3529"/>
                  <a:pt x="187" y="3529"/>
                </a:cubicBezTo>
                <a:cubicBezTo>
                  <a:pt x="162" y="3529"/>
                  <a:pt x="139" y="3524"/>
                  <a:pt x="115" y="3515"/>
                </a:cubicBezTo>
                <a:cubicBezTo>
                  <a:pt x="92" y="3505"/>
                  <a:pt x="72" y="3492"/>
                  <a:pt x="55" y="3475"/>
                </a:cubicBezTo>
                <a:cubicBezTo>
                  <a:pt x="37" y="3457"/>
                  <a:pt x="24" y="3437"/>
                  <a:pt x="15" y="3414"/>
                </a:cubicBezTo>
                <a:cubicBezTo>
                  <a:pt x="5" y="3392"/>
                  <a:pt x="0" y="3368"/>
                  <a:pt x="0" y="3343"/>
                </a:cubicBezTo>
                <a:lnTo>
                  <a:pt x="0" y="185"/>
                </a:lnTo>
                <a:cubicBezTo>
                  <a:pt x="0" y="161"/>
                  <a:pt x="5" y="137"/>
                  <a:pt x="15" y="114"/>
                </a:cubicBezTo>
                <a:cubicBezTo>
                  <a:pt x="24" y="91"/>
                  <a:pt x="37" y="71"/>
                  <a:pt x="55" y="54"/>
                </a:cubicBezTo>
                <a:cubicBezTo>
                  <a:pt x="72" y="36"/>
                  <a:pt x="92" y="23"/>
                  <a:pt x="115" y="14"/>
                </a:cubicBezTo>
                <a:cubicBezTo>
                  <a:pt x="139" y="4"/>
                  <a:pt x="162" y="0"/>
                  <a:pt x="187" y="0"/>
                </a:cubicBezTo>
                <a:cubicBezTo>
                  <a:pt x="175" y="0"/>
                  <a:pt x="163" y="4"/>
                  <a:pt x="152" y="14"/>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942" name="圖片 941"/>
          <p:cNvPicPr/>
          <p:nvPr/>
        </p:nvPicPr>
        <p:blipFill>
          <a:blip r:embed="rId7"/>
          <a:stretch>
            <a:fillRect/>
          </a:stretch>
        </p:blipFill>
        <p:spPr>
          <a:xfrm>
            <a:off x="5649120" y="4403880"/>
            <a:ext cx="250200" cy="250200"/>
          </a:xfrm>
          <a:prstGeom prst="rect">
            <a:avLst/>
          </a:prstGeom>
          <a:noFill/>
          <a:ln w="0">
            <a:noFill/>
          </a:ln>
        </p:spPr>
      </p:pic>
      <p:sp>
        <p:nvSpPr>
          <p:cNvPr id="943" name="文字框 942"/>
          <p:cNvSpPr txBox="1"/>
          <p:nvPr/>
        </p:nvSpPr>
        <p:spPr>
          <a:xfrm>
            <a:off x="2887920" y="5185440"/>
            <a:ext cx="14090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的稳定收益，保障了流动性</a:t>
            </a:r>
            <a:endParaRPr lang="en-US" sz="920" b="0" u="none" strike="noStrike">
              <a:solidFill>
                <a:srgbClr val="000000"/>
              </a:solidFill>
              <a:effectLst/>
              <a:uFillTx/>
              <a:latin typeface="Times New Roman" panose="02020603050405020304"/>
            </a:endParaRPr>
          </a:p>
        </p:txBody>
      </p:sp>
      <p:pic>
        <p:nvPicPr>
          <p:cNvPr id="944" name="圖片 943"/>
          <p:cNvPicPr/>
          <p:nvPr/>
        </p:nvPicPr>
        <p:blipFill>
          <a:blip r:embed="rId8"/>
          <a:stretch>
            <a:fillRect/>
          </a:stretch>
        </p:blipFill>
        <p:spPr>
          <a:xfrm>
            <a:off x="6033600" y="4738320"/>
            <a:ext cx="116640" cy="116640"/>
          </a:xfrm>
          <a:prstGeom prst="rect">
            <a:avLst/>
          </a:prstGeom>
          <a:noFill/>
          <a:ln w="0">
            <a:noFill/>
          </a:ln>
        </p:spPr>
      </p:pic>
      <p:sp>
        <p:nvSpPr>
          <p:cNvPr id="945" name="文字框 944"/>
          <p:cNvSpPr txBox="1"/>
          <p:nvPr/>
        </p:nvSpPr>
        <p:spPr>
          <a:xfrm>
            <a:off x="6033600" y="4426200"/>
            <a:ext cx="12078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风险资产表现分析</a:t>
            </a:r>
            <a:endParaRPr lang="en-US" sz="1180" b="0" u="none" strike="noStrike">
              <a:solidFill>
                <a:srgbClr val="000000"/>
              </a:solidFill>
              <a:effectLst/>
              <a:uFillTx/>
              <a:latin typeface="Times New Roman" panose="02020603050405020304"/>
            </a:endParaRPr>
          </a:p>
        </p:txBody>
      </p:sp>
      <p:sp>
        <p:nvSpPr>
          <p:cNvPr id="946" name="文字框 945"/>
          <p:cNvSpPr txBox="1"/>
          <p:nvPr/>
        </p:nvSpPr>
        <p:spPr>
          <a:xfrm>
            <a:off x="6217560" y="4717440"/>
            <a:ext cx="10569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全球股市遭受重创，</a:t>
            </a:r>
            <a:endParaRPr lang="en-US" sz="920" b="0" u="none" strike="noStrike">
              <a:solidFill>
                <a:srgbClr val="000000"/>
              </a:solidFill>
              <a:effectLst/>
              <a:uFillTx/>
              <a:latin typeface="Times New Roman" panose="02020603050405020304"/>
            </a:endParaRPr>
          </a:p>
        </p:txBody>
      </p:sp>
      <p:sp>
        <p:nvSpPr>
          <p:cNvPr id="947" name="文字框 946"/>
          <p:cNvSpPr txBox="1"/>
          <p:nvPr/>
        </p:nvSpPr>
        <p:spPr>
          <a:xfrm>
            <a:off x="7270200" y="4721760"/>
            <a:ext cx="29304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MSCI</a:t>
            </a:r>
            <a:endParaRPr lang="en-US" sz="920" b="0" u="none" strike="noStrike">
              <a:solidFill>
                <a:srgbClr val="000000"/>
              </a:solidFill>
              <a:effectLst/>
              <a:uFillTx/>
              <a:latin typeface="Times New Roman" panose="02020603050405020304"/>
            </a:endParaRPr>
          </a:p>
        </p:txBody>
      </p:sp>
      <p:sp>
        <p:nvSpPr>
          <p:cNvPr id="948" name="文字框 947"/>
          <p:cNvSpPr txBox="1"/>
          <p:nvPr/>
        </p:nvSpPr>
        <p:spPr>
          <a:xfrm>
            <a:off x="7561800" y="4717440"/>
            <a:ext cx="7048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全球指数下跌</a:t>
            </a:r>
            <a:endParaRPr lang="en-US" sz="920" b="0" u="none" strike="noStrike">
              <a:solidFill>
                <a:srgbClr val="000000"/>
              </a:solidFill>
              <a:effectLst/>
              <a:uFillTx/>
              <a:latin typeface="Times New Roman" panose="02020603050405020304"/>
            </a:endParaRPr>
          </a:p>
        </p:txBody>
      </p:sp>
      <p:sp>
        <p:nvSpPr>
          <p:cNvPr id="949" name="文字框 948"/>
          <p:cNvSpPr txBox="1"/>
          <p:nvPr/>
        </p:nvSpPr>
        <p:spPr>
          <a:xfrm>
            <a:off x="8263800" y="4721760"/>
            <a:ext cx="26172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42%</a:t>
            </a:r>
            <a:endParaRPr lang="en-US" sz="920" b="0" u="none" strike="noStrike">
              <a:solidFill>
                <a:srgbClr val="000000"/>
              </a:solidFill>
              <a:effectLst/>
              <a:uFillTx/>
              <a:latin typeface="Times New Roman" panose="02020603050405020304"/>
            </a:endParaRPr>
          </a:p>
        </p:txBody>
      </p:sp>
      <p:pic>
        <p:nvPicPr>
          <p:cNvPr id="950" name="圖片 949"/>
          <p:cNvPicPr/>
          <p:nvPr/>
        </p:nvPicPr>
        <p:blipFill>
          <a:blip r:embed="rId8"/>
          <a:stretch>
            <a:fillRect/>
          </a:stretch>
        </p:blipFill>
        <p:spPr>
          <a:xfrm>
            <a:off x="6033600" y="4972320"/>
            <a:ext cx="116640" cy="116640"/>
          </a:xfrm>
          <a:prstGeom prst="rect">
            <a:avLst/>
          </a:prstGeom>
          <a:noFill/>
          <a:ln w="0">
            <a:noFill/>
          </a:ln>
        </p:spPr>
      </p:pic>
      <p:sp>
        <p:nvSpPr>
          <p:cNvPr id="951" name="文字框 950"/>
          <p:cNvSpPr txBox="1"/>
          <p:nvPr/>
        </p:nvSpPr>
        <p:spPr>
          <a:xfrm>
            <a:off x="8523720" y="4717440"/>
            <a:ext cx="8222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，损失最为严重</a:t>
            </a:r>
            <a:endParaRPr lang="en-US" sz="920" b="0" u="none" strike="noStrike">
              <a:solidFill>
                <a:srgbClr val="000000"/>
              </a:solidFill>
              <a:effectLst/>
              <a:uFillTx/>
              <a:latin typeface="Times New Roman" panose="02020603050405020304"/>
            </a:endParaRPr>
          </a:p>
        </p:txBody>
      </p:sp>
      <p:sp>
        <p:nvSpPr>
          <p:cNvPr id="952" name="文字框 951"/>
          <p:cNvSpPr txBox="1"/>
          <p:nvPr/>
        </p:nvSpPr>
        <p:spPr>
          <a:xfrm>
            <a:off x="6217560" y="4951440"/>
            <a:ext cx="8222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美国股市（标普</a:t>
            </a:r>
            <a:endParaRPr lang="en-US" sz="920" b="0" u="none" strike="noStrike">
              <a:solidFill>
                <a:srgbClr val="000000"/>
              </a:solidFill>
              <a:effectLst/>
              <a:uFillTx/>
              <a:latin typeface="Times New Roman" panose="02020603050405020304"/>
            </a:endParaRPr>
          </a:p>
        </p:txBody>
      </p:sp>
      <p:sp>
        <p:nvSpPr>
          <p:cNvPr id="953" name="文字框 952"/>
          <p:cNvSpPr txBox="1"/>
          <p:nvPr/>
        </p:nvSpPr>
        <p:spPr>
          <a:xfrm>
            <a:off x="7036200" y="4955760"/>
            <a:ext cx="22464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500</a:t>
            </a:r>
            <a:endParaRPr lang="en-US" sz="920" b="0" u="none" strike="noStrike">
              <a:solidFill>
                <a:srgbClr val="000000"/>
              </a:solidFill>
              <a:effectLst/>
              <a:uFillTx/>
              <a:latin typeface="Times New Roman" panose="02020603050405020304"/>
            </a:endParaRPr>
          </a:p>
        </p:txBody>
      </p:sp>
      <p:sp>
        <p:nvSpPr>
          <p:cNvPr id="954" name="文字框 953"/>
          <p:cNvSpPr txBox="1"/>
          <p:nvPr/>
        </p:nvSpPr>
        <p:spPr>
          <a:xfrm>
            <a:off x="7259760" y="4951440"/>
            <a:ext cx="7048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）也大幅下挫</a:t>
            </a:r>
            <a:endParaRPr lang="en-US" sz="920" b="0" u="none" strike="noStrike">
              <a:solidFill>
                <a:srgbClr val="000000"/>
              </a:solidFill>
              <a:effectLst/>
              <a:uFillTx/>
              <a:latin typeface="Times New Roman" panose="02020603050405020304"/>
            </a:endParaRPr>
          </a:p>
        </p:txBody>
      </p:sp>
      <p:sp>
        <p:nvSpPr>
          <p:cNvPr id="955" name="文字框 954"/>
          <p:cNvSpPr txBox="1"/>
          <p:nvPr/>
        </p:nvSpPr>
        <p:spPr>
          <a:xfrm>
            <a:off x="7961760" y="4955760"/>
            <a:ext cx="37368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38.5%</a:t>
            </a:r>
            <a:endParaRPr lang="en-US" sz="920" b="0" u="none" strike="noStrike">
              <a:solidFill>
                <a:srgbClr val="000000"/>
              </a:solidFill>
              <a:effectLst/>
              <a:uFillTx/>
              <a:latin typeface="Times New Roman" panose="02020603050405020304"/>
            </a:endParaRPr>
          </a:p>
        </p:txBody>
      </p:sp>
      <p:pic>
        <p:nvPicPr>
          <p:cNvPr id="956" name="圖片 955"/>
          <p:cNvPicPr/>
          <p:nvPr/>
        </p:nvPicPr>
        <p:blipFill>
          <a:blip r:embed="rId9"/>
          <a:stretch>
            <a:fillRect/>
          </a:stretch>
        </p:blipFill>
        <p:spPr>
          <a:xfrm>
            <a:off x="6033600" y="5206320"/>
            <a:ext cx="116640" cy="116640"/>
          </a:xfrm>
          <a:prstGeom prst="rect">
            <a:avLst/>
          </a:prstGeom>
          <a:noFill/>
          <a:ln w="0">
            <a:noFill/>
          </a:ln>
        </p:spPr>
      </p:pic>
      <p:sp>
        <p:nvSpPr>
          <p:cNvPr id="957" name="文字框 956"/>
          <p:cNvSpPr txBox="1"/>
          <p:nvPr/>
        </p:nvSpPr>
        <p:spPr>
          <a:xfrm>
            <a:off x="8333280" y="4951440"/>
            <a:ext cx="16437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，反映金融体系的核心受到冲击</a:t>
            </a:r>
            <a:endParaRPr lang="en-US" sz="920" b="0" u="none" strike="noStrike">
              <a:solidFill>
                <a:srgbClr val="000000"/>
              </a:solidFill>
              <a:effectLst/>
              <a:uFillTx/>
              <a:latin typeface="Times New Roman" panose="02020603050405020304"/>
            </a:endParaRPr>
          </a:p>
        </p:txBody>
      </p:sp>
      <p:sp>
        <p:nvSpPr>
          <p:cNvPr id="958" name="文字框 957"/>
          <p:cNvSpPr txBox="1"/>
          <p:nvPr/>
        </p:nvSpPr>
        <p:spPr>
          <a:xfrm>
            <a:off x="6217560" y="5185440"/>
            <a:ext cx="199548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防御性股票（消费必需品）虽然也下跌</a:t>
            </a:r>
            <a:endParaRPr lang="en-US" sz="920" b="0" u="none" strike="noStrike">
              <a:solidFill>
                <a:srgbClr val="000000"/>
              </a:solidFill>
              <a:effectLst/>
              <a:uFillTx/>
              <a:latin typeface="Times New Roman" panose="02020603050405020304"/>
            </a:endParaRPr>
          </a:p>
        </p:txBody>
      </p:sp>
      <p:sp>
        <p:nvSpPr>
          <p:cNvPr id="959" name="文字框 958"/>
          <p:cNvSpPr txBox="1"/>
          <p:nvPr/>
        </p:nvSpPr>
        <p:spPr>
          <a:xfrm>
            <a:off x="8206200" y="5189400"/>
            <a:ext cx="373680" cy="136080"/>
          </a:xfrm>
          <a:prstGeom prst="rect">
            <a:avLst/>
          </a:prstGeom>
          <a:noFill/>
          <a:ln w="0">
            <a:noFill/>
          </a:ln>
        </p:spPr>
        <p:txBody>
          <a:bodyPr wrap="none" lIns="0" tIns="0" rIns="0" bIns="0" anchor="t">
            <a:spAutoFit/>
          </a:bodyPr>
          <a:p>
            <a:r>
              <a:rPr lang="en-US" sz="920" b="0" u="none" strike="noStrike">
                <a:solidFill>
                  <a:srgbClr val="E5E7EB"/>
                </a:solidFill>
                <a:effectLst/>
                <a:uFillTx/>
                <a:latin typeface="DejaVuSans"/>
                <a:ea typeface="DejaVuSans"/>
              </a:rPr>
              <a:t>17.3%</a:t>
            </a:r>
            <a:endParaRPr lang="en-US" sz="920" b="0" u="none" strike="noStrike">
              <a:solidFill>
                <a:srgbClr val="000000"/>
              </a:solidFill>
              <a:effectLst/>
              <a:uFillTx/>
              <a:latin typeface="Times New Roman" panose="02020603050405020304"/>
            </a:endParaRPr>
          </a:p>
        </p:txBody>
      </p:sp>
      <p:sp>
        <p:nvSpPr>
          <p:cNvPr id="960" name="文字框 959"/>
          <p:cNvSpPr txBox="1"/>
          <p:nvPr/>
        </p:nvSpPr>
        <p:spPr>
          <a:xfrm>
            <a:off x="8578080" y="5185440"/>
            <a:ext cx="11743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，但表现明显优于大盘</a:t>
            </a:r>
            <a:endParaRPr lang="en-US" sz="92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1" name="圖片 960"/>
          <p:cNvPicPr/>
          <p:nvPr/>
        </p:nvPicPr>
        <p:blipFill>
          <a:blip r:embed="rId1"/>
          <a:stretch>
            <a:fillRect/>
          </a:stretch>
        </p:blipFill>
        <p:spPr>
          <a:xfrm>
            <a:off x="0" y="0"/>
            <a:ext cx="10696320" cy="7453800"/>
          </a:xfrm>
          <a:prstGeom prst="rect">
            <a:avLst/>
          </a:prstGeom>
          <a:noFill/>
          <a:ln w="0">
            <a:noFill/>
          </a:ln>
        </p:spPr>
      </p:pic>
      <p:pic>
        <p:nvPicPr>
          <p:cNvPr id="962" name="圖片 961"/>
          <p:cNvPicPr/>
          <p:nvPr/>
        </p:nvPicPr>
        <p:blipFill>
          <a:blip r:embed="rId2"/>
          <a:stretch>
            <a:fillRect/>
          </a:stretch>
        </p:blipFill>
        <p:spPr>
          <a:xfrm>
            <a:off x="534960" y="735480"/>
            <a:ext cx="3208680" cy="33120"/>
          </a:xfrm>
          <a:prstGeom prst="rect">
            <a:avLst/>
          </a:prstGeom>
          <a:noFill/>
          <a:ln w="0">
            <a:noFill/>
          </a:ln>
        </p:spPr>
      </p:pic>
      <p:pic>
        <p:nvPicPr>
          <p:cNvPr id="963" name="圖片 962"/>
          <p:cNvPicPr/>
          <p:nvPr/>
        </p:nvPicPr>
        <p:blipFill>
          <a:blip r:embed="rId3"/>
          <a:stretch>
            <a:fillRect/>
          </a:stretch>
        </p:blipFill>
        <p:spPr>
          <a:xfrm>
            <a:off x="534960" y="902520"/>
            <a:ext cx="9626400" cy="2139120"/>
          </a:xfrm>
          <a:prstGeom prst="rect">
            <a:avLst/>
          </a:prstGeom>
          <a:noFill/>
          <a:ln w="0">
            <a:noFill/>
          </a:ln>
        </p:spPr>
      </p:pic>
      <p:sp>
        <p:nvSpPr>
          <p:cNvPr id="964" name="任意多邊形 963"/>
          <p:cNvSpPr/>
          <p:nvPr/>
        </p:nvSpPr>
        <p:spPr>
          <a:xfrm>
            <a:off x="3567960" y="3125160"/>
            <a:ext cx="134280" cy="134280"/>
          </a:xfrm>
          <a:custGeom>
            <a:avLst/>
            <a:gdLst/>
            <a:ahLst/>
            <a:cxnLst/>
            <a:rect l="0" t="0" r="r" b="b"/>
            <a:pathLst>
              <a:path w="373" h="373">
                <a:moveTo>
                  <a:pt x="0" y="280"/>
                </a:moveTo>
                <a:lnTo>
                  <a:pt x="0" y="94"/>
                </a:lnTo>
                <a:cubicBezTo>
                  <a:pt x="0" y="82"/>
                  <a:pt x="3" y="70"/>
                  <a:pt x="8" y="59"/>
                </a:cubicBezTo>
                <a:cubicBezTo>
                  <a:pt x="12" y="47"/>
                  <a:pt x="19" y="36"/>
                  <a:pt x="28" y="27"/>
                </a:cubicBezTo>
                <a:cubicBezTo>
                  <a:pt x="36" y="19"/>
                  <a:pt x="46" y="12"/>
                  <a:pt x="58" y="7"/>
                </a:cubicBezTo>
                <a:cubicBezTo>
                  <a:pt x="69" y="3"/>
                  <a:pt x="81" y="0"/>
                  <a:pt x="93" y="0"/>
                </a:cubicBezTo>
                <a:lnTo>
                  <a:pt x="279" y="0"/>
                </a:lnTo>
                <a:cubicBezTo>
                  <a:pt x="291" y="0"/>
                  <a:pt x="304" y="3"/>
                  <a:pt x="316" y="7"/>
                </a:cubicBezTo>
                <a:cubicBezTo>
                  <a:pt x="327" y="12"/>
                  <a:pt x="337" y="19"/>
                  <a:pt x="346" y="27"/>
                </a:cubicBezTo>
                <a:cubicBezTo>
                  <a:pt x="354" y="36"/>
                  <a:pt x="361" y="47"/>
                  <a:pt x="366" y="59"/>
                </a:cubicBezTo>
                <a:cubicBezTo>
                  <a:pt x="371" y="70"/>
                  <a:pt x="373" y="82"/>
                  <a:pt x="373" y="94"/>
                </a:cubicBezTo>
                <a:lnTo>
                  <a:pt x="373" y="280"/>
                </a:lnTo>
                <a:cubicBezTo>
                  <a:pt x="373" y="292"/>
                  <a:pt x="371" y="304"/>
                  <a:pt x="366" y="315"/>
                </a:cubicBezTo>
                <a:cubicBezTo>
                  <a:pt x="361" y="327"/>
                  <a:pt x="354" y="337"/>
                  <a:pt x="346" y="345"/>
                </a:cubicBezTo>
                <a:cubicBezTo>
                  <a:pt x="337" y="354"/>
                  <a:pt x="327" y="361"/>
                  <a:pt x="316" y="366"/>
                </a:cubicBezTo>
                <a:cubicBezTo>
                  <a:pt x="304" y="370"/>
                  <a:pt x="291" y="373"/>
                  <a:pt x="279" y="373"/>
                </a:cubicBezTo>
                <a:lnTo>
                  <a:pt x="93" y="373"/>
                </a:lnTo>
                <a:cubicBezTo>
                  <a:pt x="81" y="373"/>
                  <a:pt x="69" y="370"/>
                  <a:pt x="58" y="366"/>
                </a:cubicBezTo>
                <a:cubicBezTo>
                  <a:pt x="46" y="361"/>
                  <a:pt x="36" y="354"/>
                  <a:pt x="28" y="345"/>
                </a:cubicBezTo>
                <a:cubicBezTo>
                  <a:pt x="19" y="337"/>
                  <a:pt x="12" y="327"/>
                  <a:pt x="8" y="315"/>
                </a:cubicBezTo>
                <a:cubicBezTo>
                  <a:pt x="3" y="304"/>
                  <a:pt x="0" y="292"/>
                  <a:pt x="0" y="280"/>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65" name="文字框 964"/>
          <p:cNvSpPr txBox="1"/>
          <p:nvPr/>
        </p:nvSpPr>
        <p:spPr>
          <a:xfrm>
            <a:off x="534960" y="312120"/>
            <a:ext cx="360360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收益率比较：长期收益潜力</a:t>
            </a:r>
            <a:endParaRPr lang="en-US" sz="2370" b="0" u="none" strike="noStrike">
              <a:solidFill>
                <a:srgbClr val="000000"/>
              </a:solidFill>
              <a:effectLst/>
              <a:uFillTx/>
              <a:latin typeface="Times New Roman" panose="02020603050405020304"/>
            </a:endParaRPr>
          </a:p>
        </p:txBody>
      </p:sp>
      <p:sp>
        <p:nvSpPr>
          <p:cNvPr id="966" name="任意多邊形 965"/>
          <p:cNvSpPr/>
          <p:nvPr/>
        </p:nvSpPr>
        <p:spPr>
          <a:xfrm>
            <a:off x="4838400" y="3125160"/>
            <a:ext cx="133920" cy="134280"/>
          </a:xfrm>
          <a:custGeom>
            <a:avLst/>
            <a:gdLst/>
            <a:ahLst/>
            <a:cxnLst/>
            <a:rect l="0" t="0" r="r" b="b"/>
            <a:pathLst>
              <a:path w="372" h="373">
                <a:moveTo>
                  <a:pt x="0" y="280"/>
                </a:moveTo>
                <a:lnTo>
                  <a:pt x="0" y="94"/>
                </a:lnTo>
                <a:cubicBezTo>
                  <a:pt x="0" y="82"/>
                  <a:pt x="2" y="70"/>
                  <a:pt x="7" y="59"/>
                </a:cubicBezTo>
                <a:cubicBezTo>
                  <a:pt x="12" y="47"/>
                  <a:pt x="18" y="36"/>
                  <a:pt x="27" y="27"/>
                </a:cubicBezTo>
                <a:cubicBezTo>
                  <a:pt x="36" y="19"/>
                  <a:pt x="46" y="12"/>
                  <a:pt x="57" y="7"/>
                </a:cubicBezTo>
                <a:cubicBezTo>
                  <a:pt x="69" y="3"/>
                  <a:pt x="80" y="0"/>
                  <a:pt x="93" y="0"/>
                </a:cubicBezTo>
                <a:lnTo>
                  <a:pt x="279" y="0"/>
                </a:lnTo>
                <a:cubicBezTo>
                  <a:pt x="292" y="0"/>
                  <a:pt x="304" y="3"/>
                  <a:pt x="315" y="7"/>
                </a:cubicBezTo>
                <a:cubicBezTo>
                  <a:pt x="326" y="12"/>
                  <a:pt x="336" y="19"/>
                  <a:pt x="345" y="27"/>
                </a:cubicBezTo>
                <a:cubicBezTo>
                  <a:pt x="354" y="36"/>
                  <a:pt x="360" y="47"/>
                  <a:pt x="365" y="59"/>
                </a:cubicBezTo>
                <a:cubicBezTo>
                  <a:pt x="370" y="70"/>
                  <a:pt x="372" y="82"/>
                  <a:pt x="372" y="94"/>
                </a:cubicBezTo>
                <a:lnTo>
                  <a:pt x="372" y="280"/>
                </a:lnTo>
                <a:cubicBezTo>
                  <a:pt x="372" y="292"/>
                  <a:pt x="370" y="304"/>
                  <a:pt x="365" y="315"/>
                </a:cubicBezTo>
                <a:cubicBezTo>
                  <a:pt x="360" y="327"/>
                  <a:pt x="354" y="337"/>
                  <a:pt x="345" y="345"/>
                </a:cubicBezTo>
                <a:cubicBezTo>
                  <a:pt x="336" y="354"/>
                  <a:pt x="326" y="361"/>
                  <a:pt x="315" y="366"/>
                </a:cubicBezTo>
                <a:cubicBezTo>
                  <a:pt x="304" y="370"/>
                  <a:pt x="292" y="373"/>
                  <a:pt x="279" y="373"/>
                </a:cubicBezTo>
                <a:lnTo>
                  <a:pt x="93" y="373"/>
                </a:lnTo>
                <a:cubicBezTo>
                  <a:pt x="80" y="373"/>
                  <a:pt x="69" y="370"/>
                  <a:pt x="57" y="366"/>
                </a:cubicBezTo>
                <a:cubicBezTo>
                  <a:pt x="46" y="361"/>
                  <a:pt x="36" y="354"/>
                  <a:pt x="27" y="345"/>
                </a:cubicBezTo>
                <a:cubicBezTo>
                  <a:pt x="18" y="337"/>
                  <a:pt x="12" y="327"/>
                  <a:pt x="7" y="315"/>
                </a:cubicBezTo>
                <a:cubicBezTo>
                  <a:pt x="2" y="304"/>
                  <a:pt x="0" y="292"/>
                  <a:pt x="0" y="280"/>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67" name="文字框 966"/>
          <p:cNvSpPr txBox="1"/>
          <p:nvPr/>
        </p:nvSpPr>
        <p:spPr>
          <a:xfrm>
            <a:off x="3768840" y="3121200"/>
            <a:ext cx="93960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风险资产（股票）</a:t>
            </a:r>
            <a:endParaRPr lang="en-US" sz="920" b="0" u="none" strike="noStrike">
              <a:solidFill>
                <a:srgbClr val="000000"/>
              </a:solidFill>
              <a:effectLst/>
              <a:uFillTx/>
              <a:latin typeface="Times New Roman" panose="02020603050405020304"/>
            </a:endParaRPr>
          </a:p>
        </p:txBody>
      </p:sp>
      <p:sp>
        <p:nvSpPr>
          <p:cNvPr id="968" name="任意多邊形 967"/>
          <p:cNvSpPr/>
          <p:nvPr/>
        </p:nvSpPr>
        <p:spPr>
          <a:xfrm>
            <a:off x="5406480" y="3125160"/>
            <a:ext cx="134280" cy="134280"/>
          </a:xfrm>
          <a:custGeom>
            <a:avLst/>
            <a:gdLst/>
            <a:ahLst/>
            <a:cxnLst/>
            <a:rect l="0" t="0" r="r" b="b"/>
            <a:pathLst>
              <a:path w="373" h="373">
                <a:moveTo>
                  <a:pt x="0" y="280"/>
                </a:moveTo>
                <a:lnTo>
                  <a:pt x="0" y="94"/>
                </a:lnTo>
                <a:cubicBezTo>
                  <a:pt x="0" y="82"/>
                  <a:pt x="3" y="70"/>
                  <a:pt x="7" y="59"/>
                </a:cubicBezTo>
                <a:cubicBezTo>
                  <a:pt x="13" y="47"/>
                  <a:pt x="20" y="36"/>
                  <a:pt x="29" y="27"/>
                </a:cubicBezTo>
                <a:cubicBezTo>
                  <a:pt x="37" y="19"/>
                  <a:pt x="47" y="12"/>
                  <a:pt x="59" y="7"/>
                </a:cubicBezTo>
                <a:cubicBezTo>
                  <a:pt x="70" y="3"/>
                  <a:pt x="82" y="0"/>
                  <a:pt x="94" y="0"/>
                </a:cubicBezTo>
                <a:lnTo>
                  <a:pt x="280" y="0"/>
                </a:lnTo>
                <a:cubicBezTo>
                  <a:pt x="292" y="0"/>
                  <a:pt x="304" y="3"/>
                  <a:pt x="315" y="7"/>
                </a:cubicBezTo>
                <a:cubicBezTo>
                  <a:pt x="327" y="12"/>
                  <a:pt x="337" y="19"/>
                  <a:pt x="346" y="27"/>
                </a:cubicBezTo>
                <a:cubicBezTo>
                  <a:pt x="354" y="36"/>
                  <a:pt x="361" y="47"/>
                  <a:pt x="366" y="59"/>
                </a:cubicBezTo>
                <a:cubicBezTo>
                  <a:pt x="370" y="70"/>
                  <a:pt x="373" y="82"/>
                  <a:pt x="373" y="94"/>
                </a:cubicBezTo>
                <a:lnTo>
                  <a:pt x="373" y="280"/>
                </a:lnTo>
                <a:cubicBezTo>
                  <a:pt x="373" y="292"/>
                  <a:pt x="370" y="304"/>
                  <a:pt x="366" y="315"/>
                </a:cubicBezTo>
                <a:cubicBezTo>
                  <a:pt x="361" y="327"/>
                  <a:pt x="354" y="337"/>
                  <a:pt x="346" y="345"/>
                </a:cubicBezTo>
                <a:cubicBezTo>
                  <a:pt x="337" y="354"/>
                  <a:pt x="327" y="361"/>
                  <a:pt x="315" y="366"/>
                </a:cubicBezTo>
                <a:cubicBezTo>
                  <a:pt x="304" y="370"/>
                  <a:pt x="292" y="373"/>
                  <a:pt x="280" y="373"/>
                </a:cubicBezTo>
                <a:lnTo>
                  <a:pt x="94" y="373"/>
                </a:lnTo>
                <a:cubicBezTo>
                  <a:pt x="82" y="373"/>
                  <a:pt x="70" y="370"/>
                  <a:pt x="59" y="366"/>
                </a:cubicBezTo>
                <a:cubicBezTo>
                  <a:pt x="47" y="361"/>
                  <a:pt x="37" y="354"/>
                  <a:pt x="29" y="345"/>
                </a:cubicBezTo>
                <a:cubicBezTo>
                  <a:pt x="20" y="337"/>
                  <a:pt x="13" y="327"/>
                  <a:pt x="7" y="315"/>
                </a:cubicBezTo>
                <a:cubicBezTo>
                  <a:pt x="3" y="304"/>
                  <a:pt x="0" y="292"/>
                  <a:pt x="0" y="280"/>
                </a:cubicBezTo>
                <a:close/>
              </a:path>
            </a:pathLst>
          </a:custGeom>
          <a:solidFill>
            <a:srgbClr val="3B82F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969" name="文字框 968"/>
          <p:cNvSpPr txBox="1"/>
          <p:nvPr/>
        </p:nvSpPr>
        <p:spPr>
          <a:xfrm>
            <a:off x="5038920" y="3121200"/>
            <a:ext cx="23544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黄金</a:t>
            </a:r>
            <a:endParaRPr lang="en-US" sz="920" b="0" u="none" strike="noStrike">
              <a:solidFill>
                <a:srgbClr val="000000"/>
              </a:solidFill>
              <a:effectLst/>
              <a:uFillTx/>
              <a:latin typeface="Times New Roman" panose="02020603050405020304"/>
            </a:endParaRPr>
          </a:p>
        </p:txBody>
      </p:sp>
      <p:sp>
        <p:nvSpPr>
          <p:cNvPr id="970" name="任意多邊形 969"/>
          <p:cNvSpPr/>
          <p:nvPr/>
        </p:nvSpPr>
        <p:spPr>
          <a:xfrm>
            <a:off x="6208920" y="3125160"/>
            <a:ext cx="133920" cy="134280"/>
          </a:xfrm>
          <a:custGeom>
            <a:avLst/>
            <a:gdLst/>
            <a:ahLst/>
            <a:cxnLst/>
            <a:rect l="0" t="0" r="r" b="b"/>
            <a:pathLst>
              <a:path w="372" h="373">
                <a:moveTo>
                  <a:pt x="0" y="280"/>
                </a:moveTo>
                <a:lnTo>
                  <a:pt x="0" y="94"/>
                </a:lnTo>
                <a:cubicBezTo>
                  <a:pt x="0" y="82"/>
                  <a:pt x="2" y="70"/>
                  <a:pt x="8" y="59"/>
                </a:cubicBezTo>
                <a:cubicBezTo>
                  <a:pt x="13" y="47"/>
                  <a:pt x="19" y="36"/>
                  <a:pt x="28" y="27"/>
                </a:cubicBezTo>
                <a:cubicBezTo>
                  <a:pt x="37" y="19"/>
                  <a:pt x="47" y="12"/>
                  <a:pt x="58" y="7"/>
                </a:cubicBezTo>
                <a:cubicBezTo>
                  <a:pt x="69" y="3"/>
                  <a:pt x="81" y="0"/>
                  <a:pt x="94" y="0"/>
                </a:cubicBezTo>
                <a:lnTo>
                  <a:pt x="279" y="0"/>
                </a:lnTo>
                <a:cubicBezTo>
                  <a:pt x="292" y="0"/>
                  <a:pt x="304" y="3"/>
                  <a:pt x="315" y="7"/>
                </a:cubicBezTo>
                <a:cubicBezTo>
                  <a:pt x="326" y="12"/>
                  <a:pt x="336" y="19"/>
                  <a:pt x="345" y="27"/>
                </a:cubicBezTo>
                <a:cubicBezTo>
                  <a:pt x="354" y="36"/>
                  <a:pt x="360" y="47"/>
                  <a:pt x="365" y="59"/>
                </a:cubicBezTo>
                <a:cubicBezTo>
                  <a:pt x="370" y="70"/>
                  <a:pt x="372" y="82"/>
                  <a:pt x="372" y="94"/>
                </a:cubicBezTo>
                <a:lnTo>
                  <a:pt x="372" y="280"/>
                </a:lnTo>
                <a:cubicBezTo>
                  <a:pt x="372" y="292"/>
                  <a:pt x="370" y="304"/>
                  <a:pt x="365" y="315"/>
                </a:cubicBezTo>
                <a:cubicBezTo>
                  <a:pt x="360" y="327"/>
                  <a:pt x="354" y="337"/>
                  <a:pt x="345" y="345"/>
                </a:cubicBezTo>
                <a:cubicBezTo>
                  <a:pt x="336" y="354"/>
                  <a:pt x="326" y="361"/>
                  <a:pt x="315" y="366"/>
                </a:cubicBezTo>
                <a:cubicBezTo>
                  <a:pt x="304" y="370"/>
                  <a:pt x="292" y="373"/>
                  <a:pt x="279" y="373"/>
                </a:cubicBezTo>
                <a:lnTo>
                  <a:pt x="94" y="373"/>
                </a:lnTo>
                <a:cubicBezTo>
                  <a:pt x="81" y="373"/>
                  <a:pt x="69" y="370"/>
                  <a:pt x="58" y="366"/>
                </a:cubicBezTo>
                <a:cubicBezTo>
                  <a:pt x="47" y="361"/>
                  <a:pt x="37" y="354"/>
                  <a:pt x="28" y="345"/>
                </a:cubicBezTo>
                <a:cubicBezTo>
                  <a:pt x="19" y="337"/>
                  <a:pt x="13" y="327"/>
                  <a:pt x="8" y="315"/>
                </a:cubicBezTo>
                <a:cubicBezTo>
                  <a:pt x="2" y="304"/>
                  <a:pt x="0" y="292"/>
                  <a:pt x="0" y="280"/>
                </a:cubicBezTo>
                <a:close/>
              </a:path>
            </a:pathLst>
          </a:custGeom>
          <a:solidFill>
            <a:srgbClr val="8B5CF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971" name="文字框 970"/>
          <p:cNvSpPr txBox="1"/>
          <p:nvPr/>
        </p:nvSpPr>
        <p:spPr>
          <a:xfrm>
            <a:off x="5607360" y="3121200"/>
            <a:ext cx="47016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政府债券</a:t>
            </a:r>
            <a:endParaRPr lang="en-US" sz="920" b="0" u="none" strike="noStrike">
              <a:solidFill>
                <a:srgbClr val="000000"/>
              </a:solidFill>
              <a:effectLst/>
              <a:uFillTx/>
              <a:latin typeface="Times New Roman" panose="02020603050405020304"/>
            </a:endParaRPr>
          </a:p>
        </p:txBody>
      </p:sp>
      <p:sp>
        <p:nvSpPr>
          <p:cNvPr id="972" name="任意多邊形 971"/>
          <p:cNvSpPr/>
          <p:nvPr/>
        </p:nvSpPr>
        <p:spPr>
          <a:xfrm>
            <a:off x="534600" y="6284160"/>
            <a:ext cx="9627480" cy="668880"/>
          </a:xfrm>
          <a:custGeom>
            <a:avLst/>
            <a:gdLst/>
            <a:ahLst/>
            <a:cxnLst/>
            <a:rect l="0" t="0" r="r" b="b"/>
            <a:pathLst>
              <a:path w="26743" h="1858">
                <a:moveTo>
                  <a:pt x="0" y="1672"/>
                </a:moveTo>
                <a:lnTo>
                  <a:pt x="0" y="185"/>
                </a:lnTo>
                <a:cubicBezTo>
                  <a:pt x="0" y="173"/>
                  <a:pt x="1" y="161"/>
                  <a:pt x="4" y="149"/>
                </a:cubicBezTo>
                <a:cubicBezTo>
                  <a:pt x="6" y="137"/>
                  <a:pt x="10" y="126"/>
                  <a:pt x="14" y="114"/>
                </a:cubicBezTo>
                <a:cubicBezTo>
                  <a:pt x="19" y="103"/>
                  <a:pt x="25" y="92"/>
                  <a:pt x="31" y="82"/>
                </a:cubicBezTo>
                <a:cubicBezTo>
                  <a:pt x="38" y="72"/>
                  <a:pt x="46" y="63"/>
                  <a:pt x="55" y="54"/>
                </a:cubicBezTo>
                <a:cubicBezTo>
                  <a:pt x="63" y="45"/>
                  <a:pt x="73" y="38"/>
                  <a:pt x="83" y="31"/>
                </a:cubicBezTo>
                <a:cubicBezTo>
                  <a:pt x="93" y="24"/>
                  <a:pt x="104" y="19"/>
                  <a:pt x="115" y="14"/>
                </a:cubicBezTo>
                <a:cubicBezTo>
                  <a:pt x="126" y="9"/>
                  <a:pt x="138" y="6"/>
                  <a:pt x="150" y="3"/>
                </a:cubicBezTo>
                <a:cubicBezTo>
                  <a:pt x="162" y="1"/>
                  <a:pt x="174" y="0"/>
                  <a:pt x="186" y="0"/>
                </a:cubicBezTo>
                <a:lnTo>
                  <a:pt x="26557" y="0"/>
                </a:lnTo>
                <a:cubicBezTo>
                  <a:pt x="26569" y="0"/>
                  <a:pt x="26581" y="1"/>
                  <a:pt x="26593" y="3"/>
                </a:cubicBezTo>
                <a:cubicBezTo>
                  <a:pt x="26605" y="6"/>
                  <a:pt x="26617" y="9"/>
                  <a:pt x="26628" y="14"/>
                </a:cubicBezTo>
                <a:cubicBezTo>
                  <a:pt x="26639" y="19"/>
                  <a:pt x="26650" y="24"/>
                  <a:pt x="26660" y="31"/>
                </a:cubicBezTo>
                <a:cubicBezTo>
                  <a:pt x="26670" y="38"/>
                  <a:pt x="26680" y="45"/>
                  <a:pt x="26688" y="54"/>
                </a:cubicBezTo>
                <a:cubicBezTo>
                  <a:pt x="26697" y="63"/>
                  <a:pt x="26704" y="72"/>
                  <a:pt x="26711" y="82"/>
                </a:cubicBezTo>
                <a:cubicBezTo>
                  <a:pt x="26718" y="92"/>
                  <a:pt x="26724" y="103"/>
                  <a:pt x="26728" y="114"/>
                </a:cubicBezTo>
                <a:cubicBezTo>
                  <a:pt x="26733" y="126"/>
                  <a:pt x="26737" y="137"/>
                  <a:pt x="26739" y="149"/>
                </a:cubicBezTo>
                <a:cubicBezTo>
                  <a:pt x="26741" y="161"/>
                  <a:pt x="26743" y="173"/>
                  <a:pt x="26743" y="185"/>
                </a:cubicBezTo>
                <a:lnTo>
                  <a:pt x="26743" y="1672"/>
                </a:lnTo>
                <a:cubicBezTo>
                  <a:pt x="26743" y="1684"/>
                  <a:pt x="26741" y="1696"/>
                  <a:pt x="26739" y="1708"/>
                </a:cubicBezTo>
                <a:cubicBezTo>
                  <a:pt x="26737" y="1720"/>
                  <a:pt x="26733" y="1732"/>
                  <a:pt x="26728" y="1743"/>
                </a:cubicBezTo>
                <a:cubicBezTo>
                  <a:pt x="26724" y="1754"/>
                  <a:pt x="26718" y="1765"/>
                  <a:pt x="26711" y="1775"/>
                </a:cubicBezTo>
                <a:cubicBezTo>
                  <a:pt x="26704" y="1785"/>
                  <a:pt x="26697" y="1795"/>
                  <a:pt x="26688" y="1803"/>
                </a:cubicBezTo>
                <a:cubicBezTo>
                  <a:pt x="26680" y="1812"/>
                  <a:pt x="26670" y="1820"/>
                  <a:pt x="26660" y="1826"/>
                </a:cubicBezTo>
                <a:cubicBezTo>
                  <a:pt x="26650" y="1833"/>
                  <a:pt x="26639" y="1839"/>
                  <a:pt x="26628" y="1844"/>
                </a:cubicBezTo>
                <a:cubicBezTo>
                  <a:pt x="26617" y="1848"/>
                  <a:pt x="26605" y="1852"/>
                  <a:pt x="26593" y="1854"/>
                </a:cubicBezTo>
                <a:cubicBezTo>
                  <a:pt x="26581" y="1857"/>
                  <a:pt x="26569" y="1858"/>
                  <a:pt x="26557" y="1858"/>
                </a:cubicBezTo>
                <a:lnTo>
                  <a:pt x="186" y="1858"/>
                </a:lnTo>
                <a:cubicBezTo>
                  <a:pt x="174" y="1858"/>
                  <a:pt x="162" y="1857"/>
                  <a:pt x="150" y="1854"/>
                </a:cubicBezTo>
                <a:cubicBezTo>
                  <a:pt x="138" y="1852"/>
                  <a:pt x="126" y="1848"/>
                  <a:pt x="115" y="1844"/>
                </a:cubicBezTo>
                <a:cubicBezTo>
                  <a:pt x="104" y="1839"/>
                  <a:pt x="93" y="1833"/>
                  <a:pt x="83" y="1826"/>
                </a:cubicBezTo>
                <a:cubicBezTo>
                  <a:pt x="73" y="1820"/>
                  <a:pt x="63" y="1812"/>
                  <a:pt x="55" y="1803"/>
                </a:cubicBezTo>
                <a:cubicBezTo>
                  <a:pt x="46" y="1795"/>
                  <a:pt x="38" y="1785"/>
                  <a:pt x="31" y="1775"/>
                </a:cubicBezTo>
                <a:cubicBezTo>
                  <a:pt x="25" y="1765"/>
                  <a:pt x="19" y="1754"/>
                  <a:pt x="14" y="1743"/>
                </a:cubicBezTo>
                <a:cubicBezTo>
                  <a:pt x="10" y="1732"/>
                  <a:pt x="6" y="1720"/>
                  <a:pt x="4" y="1708"/>
                </a:cubicBezTo>
                <a:cubicBezTo>
                  <a:pt x="1" y="1696"/>
                  <a:pt x="0" y="1684"/>
                  <a:pt x="0" y="1672"/>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973" name="圖片 972"/>
          <p:cNvPicPr/>
          <p:nvPr/>
        </p:nvPicPr>
        <p:blipFill>
          <a:blip r:embed="rId4"/>
          <a:stretch>
            <a:fillRect/>
          </a:stretch>
        </p:blipFill>
        <p:spPr>
          <a:xfrm>
            <a:off x="668520" y="6518160"/>
            <a:ext cx="150120" cy="200160"/>
          </a:xfrm>
          <a:prstGeom prst="rect">
            <a:avLst/>
          </a:prstGeom>
          <a:noFill/>
          <a:ln w="0">
            <a:noFill/>
          </a:ln>
        </p:spPr>
      </p:pic>
      <p:sp>
        <p:nvSpPr>
          <p:cNvPr id="974" name="文字框 973"/>
          <p:cNvSpPr txBox="1"/>
          <p:nvPr/>
        </p:nvSpPr>
        <p:spPr>
          <a:xfrm>
            <a:off x="6409440" y="3121200"/>
            <a:ext cx="587520" cy="148320"/>
          </a:xfrm>
          <a:prstGeom prst="rect">
            <a:avLst/>
          </a:prstGeom>
          <a:noFill/>
          <a:ln w="0">
            <a:noFill/>
          </a:ln>
        </p:spPr>
        <p:txBody>
          <a:bodyPr wrap="none" lIns="0" tIns="0" rIns="0" bIns="0" anchor="t">
            <a:spAutoFit/>
          </a:bodyPr>
          <a:p>
            <a:r>
              <a:rPr lang="zh-CN" sz="920" b="0" u="none" strike="noStrike">
                <a:solidFill>
                  <a:srgbClr val="E5E7EB"/>
                </a:solidFill>
                <a:effectLst/>
                <a:uFillTx/>
                <a:latin typeface="WenQuanYiZenHei"/>
                <a:ea typeface="WenQuanYiZenHei"/>
              </a:rPr>
              <a:t>防御性股票</a:t>
            </a:r>
            <a:endParaRPr lang="en-US" sz="920" b="0" u="none" strike="noStrike">
              <a:solidFill>
                <a:srgbClr val="000000"/>
              </a:solidFill>
              <a:effectLst/>
              <a:uFillTx/>
              <a:latin typeface="Times New Roman" panose="02020603050405020304"/>
            </a:endParaRPr>
          </a:p>
        </p:txBody>
      </p:sp>
      <p:sp>
        <p:nvSpPr>
          <p:cNvPr id="975" name="文字框 974"/>
          <p:cNvSpPr txBox="1"/>
          <p:nvPr/>
        </p:nvSpPr>
        <p:spPr>
          <a:xfrm>
            <a:off x="952560" y="6431400"/>
            <a:ext cx="80568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关键洞察：</a:t>
            </a:r>
            <a:r>
              <a:rPr lang="zh-CN" sz="1050" b="0" u="none" strike="noStrike">
                <a:solidFill>
                  <a:srgbClr val="E5E7EB"/>
                </a:solidFill>
                <a:effectLst/>
                <a:uFillTx/>
                <a:latin typeface="WenQuanYiZenHei"/>
                <a:ea typeface="WenQuanYiZenHei"/>
              </a:rPr>
              <a:t>从</a:t>
            </a:r>
            <a:endParaRPr lang="en-US" sz="1050" b="0" u="none" strike="noStrike">
              <a:solidFill>
                <a:srgbClr val="000000"/>
              </a:solidFill>
              <a:effectLst/>
              <a:uFillTx/>
              <a:latin typeface="Times New Roman" panose="02020603050405020304"/>
            </a:endParaRPr>
          </a:p>
        </p:txBody>
      </p:sp>
      <p:sp>
        <p:nvSpPr>
          <p:cNvPr id="976" name="文字框 975"/>
          <p:cNvSpPr txBox="1"/>
          <p:nvPr/>
        </p:nvSpPr>
        <p:spPr>
          <a:xfrm>
            <a:off x="1755000" y="643608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977" name="文字框 976"/>
          <p:cNvSpPr txBox="1"/>
          <p:nvPr/>
        </p:nvSpPr>
        <p:spPr>
          <a:xfrm>
            <a:off x="1816560" y="643140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失落的十年</a:t>
            </a:r>
            <a:endParaRPr lang="en-US" sz="1050" b="0" u="none" strike="noStrike">
              <a:solidFill>
                <a:srgbClr val="000000"/>
              </a:solidFill>
              <a:effectLst/>
              <a:uFillTx/>
              <a:latin typeface="Times New Roman" panose="02020603050405020304"/>
            </a:endParaRPr>
          </a:p>
        </p:txBody>
      </p:sp>
      <p:sp>
        <p:nvSpPr>
          <p:cNvPr id="978" name="文字框 977"/>
          <p:cNvSpPr txBox="1"/>
          <p:nvPr/>
        </p:nvSpPr>
        <p:spPr>
          <a:xfrm>
            <a:off x="2485080" y="643608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979" name="文字框 978"/>
          <p:cNvSpPr txBox="1"/>
          <p:nvPr/>
        </p:nvSpPr>
        <p:spPr>
          <a:xfrm>
            <a:off x="2546280" y="643140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a:t>
            </a:r>
            <a:endParaRPr lang="en-US" sz="1050" b="0" u="none" strike="noStrike">
              <a:solidFill>
                <a:srgbClr val="000000"/>
              </a:solidFill>
              <a:effectLst/>
              <a:uFillTx/>
              <a:latin typeface="Times New Roman" panose="02020603050405020304"/>
            </a:endParaRPr>
          </a:p>
        </p:txBody>
      </p:sp>
      <p:sp>
        <p:nvSpPr>
          <p:cNvPr id="980" name="文字框 979"/>
          <p:cNvSpPr txBox="1"/>
          <p:nvPr/>
        </p:nvSpPr>
        <p:spPr>
          <a:xfrm>
            <a:off x="2680200" y="6436080"/>
            <a:ext cx="3420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2000</a:t>
            </a:r>
            <a:endParaRPr lang="en-US" sz="1050" b="0" u="none" strike="noStrike">
              <a:solidFill>
                <a:srgbClr val="000000"/>
              </a:solidFill>
              <a:effectLst/>
              <a:uFillTx/>
              <a:latin typeface="Times New Roman" panose="02020603050405020304"/>
            </a:endParaRPr>
          </a:p>
        </p:txBody>
      </p:sp>
      <p:sp>
        <p:nvSpPr>
          <p:cNvPr id="981" name="文字框 980"/>
          <p:cNvSpPr txBox="1"/>
          <p:nvPr/>
        </p:nvSpPr>
        <p:spPr>
          <a:xfrm>
            <a:off x="3020400" y="643140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年至</a:t>
            </a:r>
            <a:endParaRPr lang="en-US" sz="1050" b="0" u="none" strike="noStrike">
              <a:solidFill>
                <a:srgbClr val="000000"/>
              </a:solidFill>
              <a:effectLst/>
              <a:uFillTx/>
              <a:latin typeface="Times New Roman" panose="02020603050405020304"/>
            </a:endParaRPr>
          </a:p>
        </p:txBody>
      </p:sp>
      <p:sp>
        <p:nvSpPr>
          <p:cNvPr id="982" name="文字框 981"/>
          <p:cNvSpPr txBox="1"/>
          <p:nvPr/>
        </p:nvSpPr>
        <p:spPr>
          <a:xfrm>
            <a:off x="3287880" y="6436080"/>
            <a:ext cx="3420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2009</a:t>
            </a:r>
            <a:endParaRPr lang="en-US" sz="1050" b="0" u="none" strike="noStrike">
              <a:solidFill>
                <a:srgbClr val="000000"/>
              </a:solidFill>
              <a:effectLst/>
              <a:uFillTx/>
              <a:latin typeface="Times New Roman" panose="02020603050405020304"/>
            </a:endParaRPr>
          </a:p>
        </p:txBody>
      </p:sp>
      <p:sp>
        <p:nvSpPr>
          <p:cNvPr id="983" name="文字框 982"/>
          <p:cNvSpPr txBox="1"/>
          <p:nvPr/>
        </p:nvSpPr>
        <p:spPr>
          <a:xfrm>
            <a:off x="3628080" y="6431400"/>
            <a:ext cx="63039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年）的案例可以看出，即使是最严重的危机后，优质资产最终也能恢复并创造新高。投资周期越长，资产配</a:t>
            </a:r>
            <a:endParaRPr lang="en-US" sz="1050" b="0" u="none" strike="noStrike">
              <a:solidFill>
                <a:srgbClr val="000000"/>
              </a:solidFill>
              <a:effectLst/>
              <a:uFillTx/>
              <a:latin typeface="Times New Roman" panose="02020603050405020304"/>
            </a:endParaRPr>
          </a:p>
        </p:txBody>
      </p:sp>
      <p:sp>
        <p:nvSpPr>
          <p:cNvPr id="984" name="文字框 983"/>
          <p:cNvSpPr txBox="1"/>
          <p:nvPr/>
        </p:nvSpPr>
        <p:spPr>
          <a:xfrm>
            <a:off x="952560" y="663192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置的重要性越超过短期市场时机的把握。</a:t>
            </a:r>
            <a:endParaRPr lang="en-US" sz="1050" b="0" u="none" strike="noStrike">
              <a:solidFill>
                <a:srgbClr val="000000"/>
              </a:solidFill>
              <a:effectLst/>
              <a:uFillTx/>
              <a:latin typeface="Times New Roman" panose="02020603050405020304"/>
            </a:endParaRPr>
          </a:p>
        </p:txBody>
      </p:sp>
      <p:sp>
        <p:nvSpPr>
          <p:cNvPr id="985" name="文字框 984"/>
          <p:cNvSpPr txBox="1"/>
          <p:nvPr/>
        </p:nvSpPr>
        <p:spPr>
          <a:xfrm>
            <a:off x="534960" y="716616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986" name="任意多邊形 985"/>
          <p:cNvSpPr/>
          <p:nvPr/>
        </p:nvSpPr>
        <p:spPr>
          <a:xfrm>
            <a:off x="551520" y="3242160"/>
            <a:ext cx="4696560" cy="1354320"/>
          </a:xfrm>
          <a:custGeom>
            <a:avLst/>
            <a:gdLst/>
            <a:ahLst/>
            <a:cxnLst/>
            <a:rect l="0" t="0" r="r" b="b"/>
            <a:pathLst>
              <a:path w="13046" h="3762">
                <a:moveTo>
                  <a:pt x="0" y="3576"/>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8"/>
                  <a:pt x="61" y="31"/>
                </a:cubicBezTo>
                <a:cubicBezTo>
                  <a:pt x="69" y="25"/>
                  <a:pt x="77" y="19"/>
                  <a:pt x="86" y="14"/>
                </a:cubicBezTo>
                <a:cubicBezTo>
                  <a:pt x="94" y="10"/>
                  <a:pt x="103" y="6"/>
                  <a:pt x="112" y="4"/>
                </a:cubicBezTo>
                <a:cubicBezTo>
                  <a:pt x="121" y="1"/>
                  <a:pt x="130" y="0"/>
                  <a:pt x="139" y="0"/>
                </a:cubicBezTo>
                <a:lnTo>
                  <a:pt x="12861" y="0"/>
                </a:lnTo>
                <a:cubicBezTo>
                  <a:pt x="12873" y="0"/>
                  <a:pt x="12885" y="1"/>
                  <a:pt x="12897" y="4"/>
                </a:cubicBezTo>
                <a:cubicBezTo>
                  <a:pt x="12909" y="6"/>
                  <a:pt x="12920" y="10"/>
                  <a:pt x="12932" y="14"/>
                </a:cubicBezTo>
                <a:cubicBezTo>
                  <a:pt x="12943" y="19"/>
                  <a:pt x="12954" y="25"/>
                  <a:pt x="12964" y="31"/>
                </a:cubicBezTo>
                <a:cubicBezTo>
                  <a:pt x="12974" y="38"/>
                  <a:pt x="12983" y="46"/>
                  <a:pt x="12992" y="55"/>
                </a:cubicBezTo>
                <a:cubicBezTo>
                  <a:pt x="13001" y="63"/>
                  <a:pt x="13008" y="73"/>
                  <a:pt x="13015" y="83"/>
                </a:cubicBezTo>
                <a:cubicBezTo>
                  <a:pt x="13022" y="93"/>
                  <a:pt x="13027" y="104"/>
                  <a:pt x="13032" y="115"/>
                </a:cubicBezTo>
                <a:cubicBezTo>
                  <a:pt x="13037" y="126"/>
                  <a:pt x="13040" y="138"/>
                  <a:pt x="13043" y="150"/>
                </a:cubicBezTo>
                <a:cubicBezTo>
                  <a:pt x="13045" y="162"/>
                  <a:pt x="13046" y="174"/>
                  <a:pt x="13046" y="186"/>
                </a:cubicBezTo>
                <a:lnTo>
                  <a:pt x="13046" y="3576"/>
                </a:lnTo>
                <a:cubicBezTo>
                  <a:pt x="13046" y="3588"/>
                  <a:pt x="13045" y="3600"/>
                  <a:pt x="13043" y="3612"/>
                </a:cubicBezTo>
                <a:cubicBezTo>
                  <a:pt x="13040" y="3624"/>
                  <a:pt x="13037" y="3636"/>
                  <a:pt x="13032" y="3647"/>
                </a:cubicBezTo>
                <a:cubicBezTo>
                  <a:pt x="13027" y="3658"/>
                  <a:pt x="13022" y="3669"/>
                  <a:pt x="13015" y="3679"/>
                </a:cubicBezTo>
                <a:cubicBezTo>
                  <a:pt x="13008" y="3689"/>
                  <a:pt x="13001" y="3699"/>
                  <a:pt x="12992" y="3707"/>
                </a:cubicBezTo>
                <a:cubicBezTo>
                  <a:pt x="12983" y="3716"/>
                  <a:pt x="12974" y="3724"/>
                  <a:pt x="12964" y="3730"/>
                </a:cubicBezTo>
                <a:cubicBezTo>
                  <a:pt x="12954" y="3737"/>
                  <a:pt x="12943" y="3743"/>
                  <a:pt x="12932" y="3748"/>
                </a:cubicBezTo>
                <a:cubicBezTo>
                  <a:pt x="12920" y="3752"/>
                  <a:pt x="12909" y="3756"/>
                  <a:pt x="12897" y="3758"/>
                </a:cubicBezTo>
                <a:cubicBezTo>
                  <a:pt x="12885" y="3760"/>
                  <a:pt x="12873" y="3762"/>
                  <a:pt x="12861" y="3762"/>
                </a:cubicBezTo>
                <a:lnTo>
                  <a:pt x="139" y="3762"/>
                </a:lnTo>
                <a:cubicBezTo>
                  <a:pt x="130" y="3762"/>
                  <a:pt x="121" y="3760"/>
                  <a:pt x="112" y="3758"/>
                </a:cubicBezTo>
                <a:cubicBezTo>
                  <a:pt x="103" y="3756"/>
                  <a:pt x="94" y="3752"/>
                  <a:pt x="86" y="3748"/>
                </a:cubicBezTo>
                <a:cubicBezTo>
                  <a:pt x="77" y="3743"/>
                  <a:pt x="69" y="3737"/>
                  <a:pt x="61" y="3730"/>
                </a:cubicBezTo>
                <a:cubicBezTo>
                  <a:pt x="54" y="3724"/>
                  <a:pt x="47" y="3716"/>
                  <a:pt x="40" y="3707"/>
                </a:cubicBezTo>
                <a:cubicBezTo>
                  <a:pt x="34" y="3699"/>
                  <a:pt x="28" y="3689"/>
                  <a:pt x="23" y="3679"/>
                </a:cubicBezTo>
                <a:cubicBezTo>
                  <a:pt x="18" y="3669"/>
                  <a:pt x="14" y="3658"/>
                  <a:pt x="10" y="3647"/>
                </a:cubicBezTo>
                <a:cubicBezTo>
                  <a:pt x="7" y="3636"/>
                  <a:pt x="4" y="3624"/>
                  <a:pt x="2" y="3612"/>
                </a:cubicBezTo>
                <a:cubicBezTo>
                  <a:pt x="0" y="3600"/>
                  <a:pt x="0" y="3588"/>
                  <a:pt x="0" y="357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87" name="任意多邊形 986"/>
          <p:cNvSpPr/>
          <p:nvPr/>
        </p:nvSpPr>
        <p:spPr>
          <a:xfrm>
            <a:off x="534600" y="3242160"/>
            <a:ext cx="67320" cy="1354320"/>
          </a:xfrm>
          <a:custGeom>
            <a:avLst/>
            <a:gdLst/>
            <a:ahLst/>
            <a:cxnLst/>
            <a:rect l="0" t="0" r="r" b="b"/>
            <a:pathLst>
              <a:path w="187" h="3762">
                <a:moveTo>
                  <a:pt x="151" y="14"/>
                </a:moveTo>
                <a:cubicBezTo>
                  <a:pt x="140" y="24"/>
                  <a:pt x="130" y="37"/>
                  <a:pt x="121" y="55"/>
                </a:cubicBezTo>
                <a:cubicBezTo>
                  <a:pt x="112" y="72"/>
                  <a:pt x="106" y="92"/>
                  <a:pt x="101" y="115"/>
                </a:cubicBezTo>
                <a:cubicBezTo>
                  <a:pt x="96" y="138"/>
                  <a:pt x="94" y="161"/>
                  <a:pt x="94" y="186"/>
                </a:cubicBezTo>
                <a:lnTo>
                  <a:pt x="94" y="3576"/>
                </a:lnTo>
                <a:cubicBezTo>
                  <a:pt x="94" y="3601"/>
                  <a:pt x="96" y="3624"/>
                  <a:pt x="101" y="3647"/>
                </a:cubicBezTo>
                <a:cubicBezTo>
                  <a:pt x="106" y="3670"/>
                  <a:pt x="112" y="3690"/>
                  <a:pt x="121" y="3707"/>
                </a:cubicBezTo>
                <a:cubicBezTo>
                  <a:pt x="130" y="3725"/>
                  <a:pt x="140" y="3738"/>
                  <a:pt x="151" y="3748"/>
                </a:cubicBezTo>
                <a:cubicBezTo>
                  <a:pt x="163" y="3757"/>
                  <a:pt x="175" y="3762"/>
                  <a:pt x="187" y="3762"/>
                </a:cubicBezTo>
                <a:cubicBezTo>
                  <a:pt x="162" y="3762"/>
                  <a:pt x="139" y="3757"/>
                  <a:pt x="116" y="3748"/>
                </a:cubicBezTo>
                <a:cubicBezTo>
                  <a:pt x="93" y="3738"/>
                  <a:pt x="72" y="3725"/>
                  <a:pt x="55" y="3707"/>
                </a:cubicBezTo>
                <a:cubicBezTo>
                  <a:pt x="37" y="3690"/>
                  <a:pt x="24" y="3670"/>
                  <a:pt x="14" y="3647"/>
                </a:cubicBezTo>
                <a:cubicBezTo>
                  <a:pt x="5" y="3624"/>
                  <a:pt x="0" y="3601"/>
                  <a:pt x="0" y="3576"/>
                </a:cubicBezTo>
                <a:lnTo>
                  <a:pt x="0" y="186"/>
                </a:lnTo>
                <a:cubicBezTo>
                  <a:pt x="0" y="161"/>
                  <a:pt x="5" y="138"/>
                  <a:pt x="14" y="115"/>
                </a:cubicBezTo>
                <a:cubicBezTo>
                  <a:pt x="24" y="92"/>
                  <a:pt x="37" y="72"/>
                  <a:pt x="55" y="55"/>
                </a:cubicBezTo>
                <a:cubicBezTo>
                  <a:pt x="72" y="37"/>
                  <a:pt x="93" y="24"/>
                  <a:pt x="116" y="14"/>
                </a:cubicBezTo>
                <a:cubicBezTo>
                  <a:pt x="139" y="5"/>
                  <a:pt x="162" y="0"/>
                  <a:pt x="187" y="0"/>
                </a:cubicBezTo>
                <a:cubicBezTo>
                  <a:pt x="175" y="0"/>
                  <a:pt x="163"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88" name="任意多邊形 987"/>
          <p:cNvSpPr/>
          <p:nvPr/>
        </p:nvSpPr>
        <p:spPr>
          <a:xfrm>
            <a:off x="701640" y="3376080"/>
            <a:ext cx="418320" cy="417960"/>
          </a:xfrm>
          <a:custGeom>
            <a:avLst/>
            <a:gdLst/>
            <a:ahLst/>
            <a:cxnLst/>
            <a:rect l="0" t="0" r="r" b="b"/>
            <a:pathLst>
              <a:path w="1162" h="1161">
                <a:moveTo>
                  <a:pt x="1162" y="581"/>
                </a:moveTo>
                <a:cubicBezTo>
                  <a:pt x="1162" y="600"/>
                  <a:pt x="1161" y="619"/>
                  <a:pt x="1159" y="638"/>
                </a:cubicBezTo>
                <a:cubicBezTo>
                  <a:pt x="1157" y="657"/>
                  <a:pt x="1155" y="675"/>
                  <a:pt x="1151" y="694"/>
                </a:cubicBezTo>
                <a:cubicBezTo>
                  <a:pt x="1147" y="713"/>
                  <a:pt x="1143" y="731"/>
                  <a:pt x="1137" y="749"/>
                </a:cubicBezTo>
                <a:cubicBezTo>
                  <a:pt x="1132" y="768"/>
                  <a:pt x="1125" y="785"/>
                  <a:pt x="1118" y="803"/>
                </a:cubicBezTo>
                <a:cubicBezTo>
                  <a:pt x="1111" y="821"/>
                  <a:pt x="1102" y="838"/>
                  <a:pt x="1094" y="854"/>
                </a:cubicBezTo>
                <a:cubicBezTo>
                  <a:pt x="1085" y="871"/>
                  <a:pt x="1075" y="888"/>
                  <a:pt x="1064" y="903"/>
                </a:cubicBezTo>
                <a:cubicBezTo>
                  <a:pt x="1054" y="919"/>
                  <a:pt x="1042" y="934"/>
                  <a:pt x="1030" y="949"/>
                </a:cubicBezTo>
                <a:cubicBezTo>
                  <a:pt x="1018" y="964"/>
                  <a:pt x="1006" y="978"/>
                  <a:pt x="992" y="991"/>
                </a:cubicBezTo>
                <a:cubicBezTo>
                  <a:pt x="979" y="1005"/>
                  <a:pt x="965" y="1017"/>
                  <a:pt x="949" y="1029"/>
                </a:cubicBezTo>
                <a:cubicBezTo>
                  <a:pt x="934" y="1042"/>
                  <a:pt x="919" y="1053"/>
                  <a:pt x="903" y="1063"/>
                </a:cubicBezTo>
                <a:cubicBezTo>
                  <a:pt x="887" y="1074"/>
                  <a:pt x="871" y="1084"/>
                  <a:pt x="854" y="1093"/>
                </a:cubicBezTo>
                <a:cubicBezTo>
                  <a:pt x="838" y="1102"/>
                  <a:pt x="820" y="1110"/>
                  <a:pt x="803" y="1117"/>
                </a:cubicBezTo>
                <a:cubicBezTo>
                  <a:pt x="785" y="1124"/>
                  <a:pt x="767" y="1131"/>
                  <a:pt x="749" y="1136"/>
                </a:cubicBezTo>
                <a:cubicBezTo>
                  <a:pt x="731" y="1142"/>
                  <a:pt x="713" y="1146"/>
                  <a:pt x="694" y="1150"/>
                </a:cubicBezTo>
                <a:cubicBezTo>
                  <a:pt x="675" y="1154"/>
                  <a:pt x="657" y="1157"/>
                  <a:pt x="638" y="1158"/>
                </a:cubicBezTo>
                <a:cubicBezTo>
                  <a:pt x="619" y="1160"/>
                  <a:pt x="600" y="1161"/>
                  <a:pt x="581" y="1161"/>
                </a:cubicBezTo>
                <a:cubicBezTo>
                  <a:pt x="562" y="1161"/>
                  <a:pt x="543" y="1160"/>
                  <a:pt x="524" y="1158"/>
                </a:cubicBezTo>
                <a:cubicBezTo>
                  <a:pt x="505" y="1157"/>
                  <a:pt x="486" y="1154"/>
                  <a:pt x="468" y="1150"/>
                </a:cubicBezTo>
                <a:cubicBezTo>
                  <a:pt x="449" y="1146"/>
                  <a:pt x="430" y="1142"/>
                  <a:pt x="412" y="1136"/>
                </a:cubicBezTo>
                <a:cubicBezTo>
                  <a:pt x="394" y="1131"/>
                  <a:pt x="376" y="1124"/>
                  <a:pt x="359" y="1117"/>
                </a:cubicBezTo>
                <a:cubicBezTo>
                  <a:pt x="341" y="1110"/>
                  <a:pt x="324" y="1102"/>
                  <a:pt x="307" y="1093"/>
                </a:cubicBezTo>
                <a:cubicBezTo>
                  <a:pt x="290" y="1084"/>
                  <a:pt x="274" y="1074"/>
                  <a:pt x="258" y="1063"/>
                </a:cubicBezTo>
                <a:cubicBezTo>
                  <a:pt x="243" y="1053"/>
                  <a:pt x="227" y="1042"/>
                  <a:pt x="213" y="1029"/>
                </a:cubicBezTo>
                <a:cubicBezTo>
                  <a:pt x="198" y="1017"/>
                  <a:pt x="184" y="1005"/>
                  <a:pt x="170" y="991"/>
                </a:cubicBezTo>
                <a:cubicBezTo>
                  <a:pt x="157" y="978"/>
                  <a:pt x="144" y="964"/>
                  <a:pt x="132" y="949"/>
                </a:cubicBezTo>
                <a:cubicBezTo>
                  <a:pt x="120" y="934"/>
                  <a:pt x="109" y="919"/>
                  <a:pt x="98" y="903"/>
                </a:cubicBezTo>
                <a:cubicBezTo>
                  <a:pt x="88" y="888"/>
                  <a:pt x="78" y="871"/>
                  <a:pt x="69" y="854"/>
                </a:cubicBezTo>
                <a:cubicBezTo>
                  <a:pt x="60" y="838"/>
                  <a:pt x="52" y="821"/>
                  <a:pt x="45" y="803"/>
                </a:cubicBezTo>
                <a:cubicBezTo>
                  <a:pt x="37" y="785"/>
                  <a:pt x="31" y="768"/>
                  <a:pt x="25" y="749"/>
                </a:cubicBezTo>
                <a:cubicBezTo>
                  <a:pt x="20" y="731"/>
                  <a:pt x="15" y="713"/>
                  <a:pt x="12" y="694"/>
                </a:cubicBezTo>
                <a:cubicBezTo>
                  <a:pt x="8" y="675"/>
                  <a:pt x="5" y="657"/>
                  <a:pt x="3" y="638"/>
                </a:cubicBezTo>
                <a:cubicBezTo>
                  <a:pt x="1" y="619"/>
                  <a:pt x="0" y="600"/>
                  <a:pt x="0" y="581"/>
                </a:cubicBezTo>
                <a:cubicBezTo>
                  <a:pt x="0" y="562"/>
                  <a:pt x="1" y="543"/>
                  <a:pt x="3" y="524"/>
                </a:cubicBezTo>
                <a:cubicBezTo>
                  <a:pt x="5" y="505"/>
                  <a:pt x="8" y="486"/>
                  <a:pt x="12" y="467"/>
                </a:cubicBezTo>
                <a:cubicBezTo>
                  <a:pt x="15" y="448"/>
                  <a:pt x="20" y="430"/>
                  <a:pt x="25" y="411"/>
                </a:cubicBezTo>
                <a:cubicBezTo>
                  <a:pt x="31" y="393"/>
                  <a:pt x="37" y="375"/>
                  <a:pt x="45" y="358"/>
                </a:cubicBezTo>
                <a:cubicBezTo>
                  <a:pt x="52" y="340"/>
                  <a:pt x="60" y="323"/>
                  <a:pt x="69" y="306"/>
                </a:cubicBezTo>
                <a:cubicBezTo>
                  <a:pt x="78" y="290"/>
                  <a:pt x="88" y="273"/>
                  <a:pt x="98" y="257"/>
                </a:cubicBezTo>
                <a:cubicBezTo>
                  <a:pt x="109" y="242"/>
                  <a:pt x="120" y="226"/>
                  <a:pt x="132" y="212"/>
                </a:cubicBezTo>
                <a:cubicBezTo>
                  <a:pt x="144" y="197"/>
                  <a:pt x="157" y="183"/>
                  <a:pt x="170" y="170"/>
                </a:cubicBezTo>
                <a:cubicBezTo>
                  <a:pt x="184" y="156"/>
                  <a:pt x="198" y="143"/>
                  <a:pt x="213" y="131"/>
                </a:cubicBezTo>
                <a:cubicBezTo>
                  <a:pt x="227" y="119"/>
                  <a:pt x="243" y="108"/>
                  <a:pt x="258" y="97"/>
                </a:cubicBezTo>
                <a:cubicBezTo>
                  <a:pt x="274" y="87"/>
                  <a:pt x="290" y="77"/>
                  <a:pt x="307" y="68"/>
                </a:cubicBezTo>
                <a:cubicBezTo>
                  <a:pt x="324" y="59"/>
                  <a:pt x="341" y="51"/>
                  <a:pt x="359" y="44"/>
                </a:cubicBezTo>
                <a:cubicBezTo>
                  <a:pt x="376" y="36"/>
                  <a:pt x="394" y="30"/>
                  <a:pt x="412" y="25"/>
                </a:cubicBezTo>
                <a:cubicBezTo>
                  <a:pt x="430" y="19"/>
                  <a:pt x="449" y="14"/>
                  <a:pt x="468" y="11"/>
                </a:cubicBezTo>
                <a:cubicBezTo>
                  <a:pt x="486" y="7"/>
                  <a:pt x="505" y="4"/>
                  <a:pt x="524" y="2"/>
                </a:cubicBezTo>
                <a:cubicBezTo>
                  <a:pt x="543" y="1"/>
                  <a:pt x="562" y="0"/>
                  <a:pt x="581" y="0"/>
                </a:cubicBezTo>
                <a:cubicBezTo>
                  <a:pt x="600" y="0"/>
                  <a:pt x="619" y="1"/>
                  <a:pt x="638" y="2"/>
                </a:cubicBezTo>
                <a:cubicBezTo>
                  <a:pt x="657" y="4"/>
                  <a:pt x="675" y="7"/>
                  <a:pt x="694" y="11"/>
                </a:cubicBezTo>
                <a:cubicBezTo>
                  <a:pt x="713" y="14"/>
                  <a:pt x="731" y="19"/>
                  <a:pt x="749" y="25"/>
                </a:cubicBezTo>
                <a:cubicBezTo>
                  <a:pt x="767" y="30"/>
                  <a:pt x="785" y="36"/>
                  <a:pt x="803" y="44"/>
                </a:cubicBezTo>
                <a:cubicBezTo>
                  <a:pt x="820" y="51"/>
                  <a:pt x="838" y="59"/>
                  <a:pt x="854" y="68"/>
                </a:cubicBezTo>
                <a:cubicBezTo>
                  <a:pt x="871" y="77"/>
                  <a:pt x="887" y="87"/>
                  <a:pt x="903" y="97"/>
                </a:cubicBezTo>
                <a:cubicBezTo>
                  <a:pt x="919" y="108"/>
                  <a:pt x="934" y="119"/>
                  <a:pt x="949" y="131"/>
                </a:cubicBezTo>
                <a:cubicBezTo>
                  <a:pt x="965" y="143"/>
                  <a:pt x="979" y="156"/>
                  <a:pt x="992" y="170"/>
                </a:cubicBezTo>
                <a:cubicBezTo>
                  <a:pt x="1006" y="183"/>
                  <a:pt x="1018" y="197"/>
                  <a:pt x="1030" y="212"/>
                </a:cubicBezTo>
                <a:cubicBezTo>
                  <a:pt x="1042" y="226"/>
                  <a:pt x="1054" y="242"/>
                  <a:pt x="1064" y="257"/>
                </a:cubicBezTo>
                <a:cubicBezTo>
                  <a:pt x="1075" y="273"/>
                  <a:pt x="1085" y="290"/>
                  <a:pt x="1094" y="306"/>
                </a:cubicBezTo>
                <a:cubicBezTo>
                  <a:pt x="1102" y="323"/>
                  <a:pt x="1111" y="340"/>
                  <a:pt x="1118" y="358"/>
                </a:cubicBezTo>
                <a:cubicBezTo>
                  <a:pt x="1125" y="375"/>
                  <a:pt x="1132" y="393"/>
                  <a:pt x="1137" y="411"/>
                </a:cubicBezTo>
                <a:cubicBezTo>
                  <a:pt x="1143" y="430"/>
                  <a:pt x="1147" y="448"/>
                  <a:pt x="1151" y="467"/>
                </a:cubicBezTo>
                <a:cubicBezTo>
                  <a:pt x="1155" y="486"/>
                  <a:pt x="1157" y="505"/>
                  <a:pt x="1159" y="524"/>
                </a:cubicBezTo>
                <a:cubicBezTo>
                  <a:pt x="1161" y="543"/>
                  <a:pt x="1162" y="562"/>
                  <a:pt x="1162" y="581"/>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989" name="圖片 988"/>
          <p:cNvPicPr/>
          <p:nvPr/>
        </p:nvPicPr>
        <p:blipFill>
          <a:blip r:embed="rId5"/>
          <a:stretch>
            <a:fillRect/>
          </a:stretch>
        </p:blipFill>
        <p:spPr>
          <a:xfrm>
            <a:off x="810720" y="3484800"/>
            <a:ext cx="200160" cy="200160"/>
          </a:xfrm>
          <a:prstGeom prst="rect">
            <a:avLst/>
          </a:prstGeom>
          <a:noFill/>
          <a:ln w="0">
            <a:noFill/>
          </a:ln>
        </p:spPr>
      </p:pic>
      <p:sp>
        <p:nvSpPr>
          <p:cNvPr id="990" name="文字框 989"/>
          <p:cNvSpPr txBox="1"/>
          <p:nvPr/>
        </p:nvSpPr>
        <p:spPr>
          <a:xfrm>
            <a:off x="9750240" y="7170120"/>
            <a:ext cx="22796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15 / 24</a:t>
            </a:r>
            <a:endParaRPr lang="en-US" sz="920" b="0" u="none" strike="noStrike">
              <a:solidFill>
                <a:srgbClr val="000000"/>
              </a:solidFill>
              <a:effectLst/>
              <a:uFillTx/>
              <a:latin typeface="Times New Roman" panose="02020603050405020304"/>
            </a:endParaRPr>
          </a:p>
        </p:txBody>
      </p:sp>
      <p:sp>
        <p:nvSpPr>
          <p:cNvPr id="991" name="文字框 990"/>
          <p:cNvSpPr txBox="1"/>
          <p:nvPr/>
        </p:nvSpPr>
        <p:spPr>
          <a:xfrm>
            <a:off x="1253520" y="339048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政府债券</a:t>
            </a:r>
            <a:endParaRPr lang="en-US" sz="1320" b="0" u="none" strike="noStrike">
              <a:solidFill>
                <a:srgbClr val="000000"/>
              </a:solidFill>
              <a:effectLst/>
              <a:uFillTx/>
              <a:latin typeface="Times New Roman" panose="02020603050405020304"/>
            </a:endParaRPr>
          </a:p>
        </p:txBody>
      </p:sp>
      <p:sp>
        <p:nvSpPr>
          <p:cNvPr id="992" name="文字框 991"/>
          <p:cNvSpPr txBox="1"/>
          <p:nvPr/>
        </p:nvSpPr>
        <p:spPr>
          <a:xfrm>
            <a:off x="1253520" y="3622680"/>
            <a:ext cx="12916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长期稳定，收益相对有限</a:t>
            </a:r>
            <a:endParaRPr lang="en-US" sz="920" b="0" u="none" strike="noStrike">
              <a:solidFill>
                <a:srgbClr val="000000"/>
              </a:solidFill>
              <a:effectLst/>
              <a:uFillTx/>
              <a:latin typeface="Times New Roman" panose="02020603050405020304"/>
            </a:endParaRPr>
          </a:p>
        </p:txBody>
      </p:sp>
      <p:sp>
        <p:nvSpPr>
          <p:cNvPr id="993" name="文字框 992"/>
          <p:cNvSpPr txBox="1"/>
          <p:nvPr/>
        </p:nvSpPr>
        <p:spPr>
          <a:xfrm>
            <a:off x="702000" y="387396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在危机后，随着央行采取宽松货币政策，利率走低，债券价格可能继续上</a:t>
            </a:r>
            <a:endParaRPr lang="en-US" sz="1050" b="0" u="none" strike="noStrike">
              <a:solidFill>
                <a:srgbClr val="000000"/>
              </a:solidFill>
              <a:effectLst/>
              <a:uFillTx/>
              <a:latin typeface="Times New Roman" panose="02020603050405020304"/>
            </a:endParaRPr>
          </a:p>
        </p:txBody>
      </p:sp>
      <p:sp>
        <p:nvSpPr>
          <p:cNvPr id="994" name="文字框 993"/>
          <p:cNvSpPr txBox="1"/>
          <p:nvPr/>
        </p:nvSpPr>
        <p:spPr>
          <a:xfrm>
            <a:off x="702000" y="407448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涨。然而，从长期来看，其收益率通常低于权益类资产，主要扮演稳定器和</a:t>
            </a:r>
            <a:endParaRPr lang="en-US" sz="1050" b="0" u="none" strike="noStrike">
              <a:solidFill>
                <a:srgbClr val="000000"/>
              </a:solidFill>
              <a:effectLst/>
              <a:uFillTx/>
              <a:latin typeface="Times New Roman" panose="02020603050405020304"/>
            </a:endParaRPr>
          </a:p>
        </p:txBody>
      </p:sp>
      <p:sp>
        <p:nvSpPr>
          <p:cNvPr id="995" name="任意多邊形 994"/>
          <p:cNvSpPr/>
          <p:nvPr/>
        </p:nvSpPr>
        <p:spPr>
          <a:xfrm>
            <a:off x="5465160" y="3242160"/>
            <a:ext cx="4696920" cy="1354320"/>
          </a:xfrm>
          <a:custGeom>
            <a:avLst/>
            <a:gdLst/>
            <a:ahLst/>
            <a:cxnLst/>
            <a:rect l="0" t="0" r="r" b="b"/>
            <a:pathLst>
              <a:path w="13047" h="3762">
                <a:moveTo>
                  <a:pt x="0" y="3576"/>
                </a:moveTo>
                <a:lnTo>
                  <a:pt x="0" y="186"/>
                </a:lnTo>
                <a:cubicBezTo>
                  <a:pt x="0" y="174"/>
                  <a:pt x="1" y="162"/>
                  <a:pt x="3" y="150"/>
                </a:cubicBezTo>
                <a:cubicBezTo>
                  <a:pt x="4" y="138"/>
                  <a:pt x="7" y="126"/>
                  <a:pt x="10" y="115"/>
                </a:cubicBezTo>
                <a:cubicBezTo>
                  <a:pt x="14" y="104"/>
                  <a:pt x="18" y="93"/>
                  <a:pt x="23" y="83"/>
                </a:cubicBezTo>
                <a:cubicBezTo>
                  <a:pt x="28" y="73"/>
                  <a:pt x="34" y="63"/>
                  <a:pt x="41" y="55"/>
                </a:cubicBezTo>
                <a:cubicBezTo>
                  <a:pt x="47" y="46"/>
                  <a:pt x="54" y="38"/>
                  <a:pt x="62" y="31"/>
                </a:cubicBezTo>
                <a:cubicBezTo>
                  <a:pt x="69" y="25"/>
                  <a:pt x="77" y="19"/>
                  <a:pt x="86" y="14"/>
                </a:cubicBezTo>
                <a:cubicBezTo>
                  <a:pt x="94" y="10"/>
                  <a:pt x="103" y="6"/>
                  <a:pt x="112" y="4"/>
                </a:cubicBezTo>
                <a:cubicBezTo>
                  <a:pt x="121" y="1"/>
                  <a:pt x="130" y="0"/>
                  <a:pt x="139" y="0"/>
                </a:cubicBezTo>
                <a:lnTo>
                  <a:pt x="12861" y="0"/>
                </a:lnTo>
                <a:cubicBezTo>
                  <a:pt x="12873" y="0"/>
                  <a:pt x="12885" y="1"/>
                  <a:pt x="12897" y="4"/>
                </a:cubicBezTo>
                <a:cubicBezTo>
                  <a:pt x="12909" y="6"/>
                  <a:pt x="12921" y="10"/>
                  <a:pt x="12932" y="14"/>
                </a:cubicBezTo>
                <a:cubicBezTo>
                  <a:pt x="12943" y="19"/>
                  <a:pt x="12954" y="25"/>
                  <a:pt x="12964" y="31"/>
                </a:cubicBezTo>
                <a:cubicBezTo>
                  <a:pt x="12974" y="38"/>
                  <a:pt x="12984" y="46"/>
                  <a:pt x="12992" y="55"/>
                </a:cubicBezTo>
                <a:cubicBezTo>
                  <a:pt x="13001" y="63"/>
                  <a:pt x="13008" y="73"/>
                  <a:pt x="13015" y="83"/>
                </a:cubicBezTo>
                <a:cubicBezTo>
                  <a:pt x="13022" y="93"/>
                  <a:pt x="13028" y="104"/>
                  <a:pt x="13032" y="115"/>
                </a:cubicBezTo>
                <a:cubicBezTo>
                  <a:pt x="13037" y="126"/>
                  <a:pt x="13041" y="138"/>
                  <a:pt x="13043" y="150"/>
                </a:cubicBezTo>
                <a:cubicBezTo>
                  <a:pt x="13045" y="162"/>
                  <a:pt x="13047" y="174"/>
                  <a:pt x="13047" y="186"/>
                </a:cubicBezTo>
                <a:lnTo>
                  <a:pt x="13047" y="3576"/>
                </a:lnTo>
                <a:cubicBezTo>
                  <a:pt x="13047" y="3588"/>
                  <a:pt x="13045" y="3600"/>
                  <a:pt x="13043" y="3612"/>
                </a:cubicBezTo>
                <a:cubicBezTo>
                  <a:pt x="13041" y="3624"/>
                  <a:pt x="13037" y="3636"/>
                  <a:pt x="13032" y="3647"/>
                </a:cubicBezTo>
                <a:cubicBezTo>
                  <a:pt x="13028" y="3658"/>
                  <a:pt x="13022" y="3669"/>
                  <a:pt x="13015" y="3679"/>
                </a:cubicBezTo>
                <a:cubicBezTo>
                  <a:pt x="13008" y="3689"/>
                  <a:pt x="13001" y="3699"/>
                  <a:pt x="12992" y="3707"/>
                </a:cubicBezTo>
                <a:cubicBezTo>
                  <a:pt x="12984" y="3716"/>
                  <a:pt x="12974" y="3724"/>
                  <a:pt x="12964" y="3730"/>
                </a:cubicBezTo>
                <a:cubicBezTo>
                  <a:pt x="12954" y="3737"/>
                  <a:pt x="12943" y="3743"/>
                  <a:pt x="12932" y="3748"/>
                </a:cubicBezTo>
                <a:cubicBezTo>
                  <a:pt x="12921" y="3752"/>
                  <a:pt x="12909" y="3756"/>
                  <a:pt x="12897" y="3758"/>
                </a:cubicBezTo>
                <a:cubicBezTo>
                  <a:pt x="12885" y="3760"/>
                  <a:pt x="12873" y="3762"/>
                  <a:pt x="12861" y="3762"/>
                </a:cubicBezTo>
                <a:lnTo>
                  <a:pt x="139" y="3762"/>
                </a:lnTo>
                <a:cubicBezTo>
                  <a:pt x="130" y="3762"/>
                  <a:pt x="121" y="3760"/>
                  <a:pt x="112" y="3758"/>
                </a:cubicBezTo>
                <a:cubicBezTo>
                  <a:pt x="103" y="3756"/>
                  <a:pt x="94" y="3752"/>
                  <a:pt x="86" y="3748"/>
                </a:cubicBezTo>
                <a:cubicBezTo>
                  <a:pt x="77" y="3743"/>
                  <a:pt x="69" y="3737"/>
                  <a:pt x="62" y="3730"/>
                </a:cubicBezTo>
                <a:cubicBezTo>
                  <a:pt x="54" y="3724"/>
                  <a:pt x="47" y="3716"/>
                  <a:pt x="41" y="3707"/>
                </a:cubicBezTo>
                <a:cubicBezTo>
                  <a:pt x="34" y="3699"/>
                  <a:pt x="28" y="3689"/>
                  <a:pt x="23" y="3679"/>
                </a:cubicBezTo>
                <a:cubicBezTo>
                  <a:pt x="18" y="3669"/>
                  <a:pt x="14" y="3658"/>
                  <a:pt x="10" y="3647"/>
                </a:cubicBezTo>
                <a:cubicBezTo>
                  <a:pt x="7" y="3636"/>
                  <a:pt x="4" y="3624"/>
                  <a:pt x="3" y="3612"/>
                </a:cubicBezTo>
                <a:cubicBezTo>
                  <a:pt x="1" y="3600"/>
                  <a:pt x="0" y="3588"/>
                  <a:pt x="0" y="357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96" name="任意多邊形 995"/>
          <p:cNvSpPr/>
          <p:nvPr/>
        </p:nvSpPr>
        <p:spPr>
          <a:xfrm>
            <a:off x="5448240" y="3242160"/>
            <a:ext cx="67320" cy="1354320"/>
          </a:xfrm>
          <a:custGeom>
            <a:avLst/>
            <a:gdLst/>
            <a:ahLst/>
            <a:cxnLst/>
            <a:rect l="0" t="0" r="r" b="b"/>
            <a:pathLst>
              <a:path w="187" h="3762">
                <a:moveTo>
                  <a:pt x="152" y="14"/>
                </a:moveTo>
                <a:cubicBezTo>
                  <a:pt x="140" y="24"/>
                  <a:pt x="130" y="37"/>
                  <a:pt x="120" y="55"/>
                </a:cubicBezTo>
                <a:cubicBezTo>
                  <a:pt x="112" y="72"/>
                  <a:pt x="105" y="92"/>
                  <a:pt x="100" y="115"/>
                </a:cubicBezTo>
                <a:cubicBezTo>
                  <a:pt x="96" y="138"/>
                  <a:pt x="93" y="161"/>
                  <a:pt x="93" y="186"/>
                </a:cubicBezTo>
                <a:lnTo>
                  <a:pt x="93" y="3576"/>
                </a:lnTo>
                <a:cubicBezTo>
                  <a:pt x="93" y="3601"/>
                  <a:pt x="96" y="3624"/>
                  <a:pt x="100" y="3647"/>
                </a:cubicBezTo>
                <a:cubicBezTo>
                  <a:pt x="105" y="3670"/>
                  <a:pt x="112" y="3690"/>
                  <a:pt x="120" y="3707"/>
                </a:cubicBezTo>
                <a:cubicBezTo>
                  <a:pt x="130" y="3725"/>
                  <a:pt x="140" y="3738"/>
                  <a:pt x="152" y="3748"/>
                </a:cubicBezTo>
                <a:cubicBezTo>
                  <a:pt x="163" y="3757"/>
                  <a:pt x="175" y="3762"/>
                  <a:pt x="187" y="3762"/>
                </a:cubicBezTo>
                <a:cubicBezTo>
                  <a:pt x="162" y="3762"/>
                  <a:pt x="139" y="3757"/>
                  <a:pt x="115" y="3748"/>
                </a:cubicBezTo>
                <a:cubicBezTo>
                  <a:pt x="92" y="3738"/>
                  <a:pt x="72" y="3725"/>
                  <a:pt x="55" y="3707"/>
                </a:cubicBezTo>
                <a:cubicBezTo>
                  <a:pt x="37" y="3690"/>
                  <a:pt x="24" y="3670"/>
                  <a:pt x="15" y="3647"/>
                </a:cubicBezTo>
                <a:cubicBezTo>
                  <a:pt x="5" y="3624"/>
                  <a:pt x="0" y="3601"/>
                  <a:pt x="0" y="3576"/>
                </a:cubicBezTo>
                <a:lnTo>
                  <a:pt x="0" y="186"/>
                </a:lnTo>
                <a:cubicBezTo>
                  <a:pt x="0" y="161"/>
                  <a:pt x="5" y="138"/>
                  <a:pt x="15" y="115"/>
                </a:cubicBezTo>
                <a:cubicBezTo>
                  <a:pt x="24" y="92"/>
                  <a:pt x="37" y="72"/>
                  <a:pt x="55" y="55"/>
                </a:cubicBezTo>
                <a:cubicBezTo>
                  <a:pt x="72" y="37"/>
                  <a:pt x="92" y="24"/>
                  <a:pt x="115" y="14"/>
                </a:cubicBezTo>
                <a:cubicBezTo>
                  <a:pt x="139" y="5"/>
                  <a:pt x="162" y="0"/>
                  <a:pt x="187" y="0"/>
                </a:cubicBezTo>
                <a:cubicBezTo>
                  <a:pt x="175" y="0"/>
                  <a:pt x="163" y="5"/>
                  <a:pt x="152"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997" name="任意多邊形 996"/>
          <p:cNvSpPr/>
          <p:nvPr/>
        </p:nvSpPr>
        <p:spPr>
          <a:xfrm>
            <a:off x="5615640" y="3376080"/>
            <a:ext cx="417960" cy="417960"/>
          </a:xfrm>
          <a:custGeom>
            <a:avLst/>
            <a:gdLst/>
            <a:ahLst/>
            <a:cxnLst/>
            <a:rect l="0" t="0" r="r" b="b"/>
            <a:pathLst>
              <a:path w="1161" h="1161">
                <a:moveTo>
                  <a:pt x="1161" y="581"/>
                </a:moveTo>
                <a:cubicBezTo>
                  <a:pt x="1161" y="600"/>
                  <a:pt x="1160" y="619"/>
                  <a:pt x="1159" y="638"/>
                </a:cubicBezTo>
                <a:cubicBezTo>
                  <a:pt x="1157" y="657"/>
                  <a:pt x="1154" y="675"/>
                  <a:pt x="1150" y="694"/>
                </a:cubicBezTo>
                <a:cubicBezTo>
                  <a:pt x="1146" y="713"/>
                  <a:pt x="1142" y="731"/>
                  <a:pt x="1136" y="749"/>
                </a:cubicBezTo>
                <a:cubicBezTo>
                  <a:pt x="1131" y="768"/>
                  <a:pt x="1124" y="785"/>
                  <a:pt x="1117" y="803"/>
                </a:cubicBezTo>
                <a:cubicBezTo>
                  <a:pt x="1110" y="821"/>
                  <a:pt x="1102" y="838"/>
                  <a:pt x="1093" y="854"/>
                </a:cubicBezTo>
                <a:cubicBezTo>
                  <a:pt x="1084" y="871"/>
                  <a:pt x="1074" y="888"/>
                  <a:pt x="1064" y="903"/>
                </a:cubicBezTo>
                <a:cubicBezTo>
                  <a:pt x="1053" y="919"/>
                  <a:pt x="1042" y="934"/>
                  <a:pt x="1030" y="949"/>
                </a:cubicBezTo>
                <a:cubicBezTo>
                  <a:pt x="1018" y="964"/>
                  <a:pt x="1005" y="978"/>
                  <a:pt x="991" y="991"/>
                </a:cubicBezTo>
                <a:cubicBezTo>
                  <a:pt x="978" y="1005"/>
                  <a:pt x="964" y="1017"/>
                  <a:pt x="949" y="1029"/>
                </a:cubicBezTo>
                <a:cubicBezTo>
                  <a:pt x="934" y="1042"/>
                  <a:pt x="919" y="1053"/>
                  <a:pt x="903" y="1063"/>
                </a:cubicBezTo>
                <a:cubicBezTo>
                  <a:pt x="888" y="1074"/>
                  <a:pt x="871" y="1084"/>
                  <a:pt x="855" y="1093"/>
                </a:cubicBezTo>
                <a:cubicBezTo>
                  <a:pt x="838" y="1102"/>
                  <a:pt x="821" y="1110"/>
                  <a:pt x="803" y="1117"/>
                </a:cubicBezTo>
                <a:cubicBezTo>
                  <a:pt x="786" y="1124"/>
                  <a:pt x="768" y="1131"/>
                  <a:pt x="749" y="1136"/>
                </a:cubicBezTo>
                <a:cubicBezTo>
                  <a:pt x="731" y="1142"/>
                  <a:pt x="713" y="1146"/>
                  <a:pt x="694" y="1150"/>
                </a:cubicBezTo>
                <a:cubicBezTo>
                  <a:pt x="676" y="1154"/>
                  <a:pt x="657" y="1157"/>
                  <a:pt x="638" y="1158"/>
                </a:cubicBezTo>
                <a:cubicBezTo>
                  <a:pt x="619" y="1160"/>
                  <a:pt x="600" y="1161"/>
                  <a:pt x="581" y="1161"/>
                </a:cubicBezTo>
                <a:cubicBezTo>
                  <a:pt x="562" y="1161"/>
                  <a:pt x="543" y="1160"/>
                  <a:pt x="524" y="1158"/>
                </a:cubicBezTo>
                <a:cubicBezTo>
                  <a:pt x="505" y="1157"/>
                  <a:pt x="486" y="1154"/>
                  <a:pt x="468" y="1150"/>
                </a:cubicBezTo>
                <a:cubicBezTo>
                  <a:pt x="449" y="1146"/>
                  <a:pt x="431" y="1142"/>
                  <a:pt x="413" y="1136"/>
                </a:cubicBezTo>
                <a:cubicBezTo>
                  <a:pt x="394" y="1131"/>
                  <a:pt x="376" y="1124"/>
                  <a:pt x="359" y="1117"/>
                </a:cubicBezTo>
                <a:cubicBezTo>
                  <a:pt x="341" y="1110"/>
                  <a:pt x="324" y="1102"/>
                  <a:pt x="307" y="1093"/>
                </a:cubicBezTo>
                <a:cubicBezTo>
                  <a:pt x="291" y="1084"/>
                  <a:pt x="274" y="1074"/>
                  <a:pt x="259" y="1063"/>
                </a:cubicBezTo>
                <a:cubicBezTo>
                  <a:pt x="243" y="1053"/>
                  <a:pt x="228" y="1042"/>
                  <a:pt x="213" y="1029"/>
                </a:cubicBezTo>
                <a:cubicBezTo>
                  <a:pt x="198" y="1017"/>
                  <a:pt x="184" y="1005"/>
                  <a:pt x="171" y="991"/>
                </a:cubicBezTo>
                <a:cubicBezTo>
                  <a:pt x="157" y="978"/>
                  <a:pt x="144" y="964"/>
                  <a:pt x="132" y="949"/>
                </a:cubicBezTo>
                <a:cubicBezTo>
                  <a:pt x="120" y="934"/>
                  <a:pt x="109" y="919"/>
                  <a:pt x="98" y="903"/>
                </a:cubicBezTo>
                <a:cubicBezTo>
                  <a:pt x="88" y="888"/>
                  <a:pt x="78" y="871"/>
                  <a:pt x="69" y="854"/>
                </a:cubicBezTo>
                <a:cubicBezTo>
                  <a:pt x="59" y="838"/>
                  <a:pt x="51" y="821"/>
                  <a:pt x="44" y="803"/>
                </a:cubicBezTo>
                <a:cubicBezTo>
                  <a:pt x="37" y="785"/>
                  <a:pt x="30" y="768"/>
                  <a:pt x="25" y="749"/>
                </a:cubicBezTo>
                <a:cubicBezTo>
                  <a:pt x="19" y="731"/>
                  <a:pt x="15" y="713"/>
                  <a:pt x="11" y="694"/>
                </a:cubicBezTo>
                <a:cubicBezTo>
                  <a:pt x="7" y="675"/>
                  <a:pt x="4" y="657"/>
                  <a:pt x="2" y="638"/>
                </a:cubicBezTo>
                <a:cubicBezTo>
                  <a:pt x="1" y="619"/>
                  <a:pt x="0" y="600"/>
                  <a:pt x="0" y="581"/>
                </a:cubicBezTo>
                <a:cubicBezTo>
                  <a:pt x="0" y="562"/>
                  <a:pt x="1" y="543"/>
                  <a:pt x="2" y="524"/>
                </a:cubicBezTo>
                <a:cubicBezTo>
                  <a:pt x="4" y="505"/>
                  <a:pt x="7" y="486"/>
                  <a:pt x="11" y="467"/>
                </a:cubicBezTo>
                <a:cubicBezTo>
                  <a:pt x="15" y="448"/>
                  <a:pt x="19" y="430"/>
                  <a:pt x="25" y="411"/>
                </a:cubicBezTo>
                <a:cubicBezTo>
                  <a:pt x="30" y="393"/>
                  <a:pt x="37" y="375"/>
                  <a:pt x="44" y="358"/>
                </a:cubicBezTo>
                <a:cubicBezTo>
                  <a:pt x="51" y="340"/>
                  <a:pt x="59" y="323"/>
                  <a:pt x="69" y="306"/>
                </a:cubicBezTo>
                <a:cubicBezTo>
                  <a:pt x="78" y="290"/>
                  <a:pt x="88" y="273"/>
                  <a:pt x="98" y="257"/>
                </a:cubicBezTo>
                <a:cubicBezTo>
                  <a:pt x="109" y="242"/>
                  <a:pt x="120" y="226"/>
                  <a:pt x="132" y="212"/>
                </a:cubicBezTo>
                <a:cubicBezTo>
                  <a:pt x="144" y="197"/>
                  <a:pt x="157" y="183"/>
                  <a:pt x="171" y="170"/>
                </a:cubicBezTo>
                <a:cubicBezTo>
                  <a:pt x="184" y="156"/>
                  <a:pt x="198" y="143"/>
                  <a:pt x="213" y="131"/>
                </a:cubicBezTo>
                <a:cubicBezTo>
                  <a:pt x="228" y="119"/>
                  <a:pt x="243" y="108"/>
                  <a:pt x="259" y="97"/>
                </a:cubicBezTo>
                <a:cubicBezTo>
                  <a:pt x="274" y="87"/>
                  <a:pt x="291" y="77"/>
                  <a:pt x="307" y="68"/>
                </a:cubicBezTo>
                <a:cubicBezTo>
                  <a:pt x="324" y="59"/>
                  <a:pt x="341" y="51"/>
                  <a:pt x="359" y="44"/>
                </a:cubicBezTo>
                <a:cubicBezTo>
                  <a:pt x="376" y="36"/>
                  <a:pt x="394" y="30"/>
                  <a:pt x="413" y="25"/>
                </a:cubicBezTo>
                <a:cubicBezTo>
                  <a:pt x="431" y="19"/>
                  <a:pt x="449" y="14"/>
                  <a:pt x="468" y="11"/>
                </a:cubicBezTo>
                <a:cubicBezTo>
                  <a:pt x="486" y="7"/>
                  <a:pt x="505" y="4"/>
                  <a:pt x="524" y="2"/>
                </a:cubicBezTo>
                <a:cubicBezTo>
                  <a:pt x="543" y="1"/>
                  <a:pt x="562" y="0"/>
                  <a:pt x="581" y="0"/>
                </a:cubicBezTo>
                <a:cubicBezTo>
                  <a:pt x="600" y="0"/>
                  <a:pt x="619" y="1"/>
                  <a:pt x="638" y="2"/>
                </a:cubicBezTo>
                <a:cubicBezTo>
                  <a:pt x="657" y="4"/>
                  <a:pt x="676" y="7"/>
                  <a:pt x="694" y="11"/>
                </a:cubicBezTo>
                <a:cubicBezTo>
                  <a:pt x="713" y="14"/>
                  <a:pt x="731" y="19"/>
                  <a:pt x="749" y="25"/>
                </a:cubicBezTo>
                <a:cubicBezTo>
                  <a:pt x="768" y="30"/>
                  <a:pt x="786" y="36"/>
                  <a:pt x="803" y="44"/>
                </a:cubicBezTo>
                <a:cubicBezTo>
                  <a:pt x="821" y="51"/>
                  <a:pt x="838" y="59"/>
                  <a:pt x="855" y="68"/>
                </a:cubicBezTo>
                <a:cubicBezTo>
                  <a:pt x="871" y="77"/>
                  <a:pt x="888" y="87"/>
                  <a:pt x="903" y="97"/>
                </a:cubicBezTo>
                <a:cubicBezTo>
                  <a:pt x="919" y="108"/>
                  <a:pt x="934" y="119"/>
                  <a:pt x="949" y="131"/>
                </a:cubicBezTo>
                <a:cubicBezTo>
                  <a:pt x="964" y="143"/>
                  <a:pt x="978" y="156"/>
                  <a:pt x="991" y="170"/>
                </a:cubicBezTo>
                <a:cubicBezTo>
                  <a:pt x="1005" y="183"/>
                  <a:pt x="1018" y="197"/>
                  <a:pt x="1030" y="212"/>
                </a:cubicBezTo>
                <a:cubicBezTo>
                  <a:pt x="1042" y="226"/>
                  <a:pt x="1053" y="242"/>
                  <a:pt x="1064" y="257"/>
                </a:cubicBezTo>
                <a:cubicBezTo>
                  <a:pt x="1074" y="273"/>
                  <a:pt x="1084" y="290"/>
                  <a:pt x="1093" y="306"/>
                </a:cubicBezTo>
                <a:cubicBezTo>
                  <a:pt x="1102" y="323"/>
                  <a:pt x="1110" y="340"/>
                  <a:pt x="1117" y="358"/>
                </a:cubicBezTo>
                <a:cubicBezTo>
                  <a:pt x="1124" y="375"/>
                  <a:pt x="1131" y="393"/>
                  <a:pt x="1136" y="411"/>
                </a:cubicBezTo>
                <a:cubicBezTo>
                  <a:pt x="1142" y="430"/>
                  <a:pt x="1146" y="448"/>
                  <a:pt x="1150" y="467"/>
                </a:cubicBezTo>
                <a:cubicBezTo>
                  <a:pt x="1154" y="486"/>
                  <a:pt x="1157" y="505"/>
                  <a:pt x="1159" y="524"/>
                </a:cubicBezTo>
                <a:cubicBezTo>
                  <a:pt x="1160" y="543"/>
                  <a:pt x="1161" y="562"/>
                  <a:pt x="1161" y="581"/>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998" name="圖片 997"/>
          <p:cNvPicPr/>
          <p:nvPr/>
        </p:nvPicPr>
        <p:blipFill>
          <a:blip r:embed="rId6"/>
          <a:stretch>
            <a:fillRect/>
          </a:stretch>
        </p:blipFill>
        <p:spPr>
          <a:xfrm>
            <a:off x="5724360" y="3484800"/>
            <a:ext cx="200160" cy="200160"/>
          </a:xfrm>
          <a:prstGeom prst="rect">
            <a:avLst/>
          </a:prstGeom>
          <a:noFill/>
          <a:ln w="0">
            <a:noFill/>
          </a:ln>
        </p:spPr>
      </p:pic>
      <p:sp>
        <p:nvSpPr>
          <p:cNvPr id="999" name="文字框 998"/>
          <p:cNvSpPr txBox="1"/>
          <p:nvPr/>
        </p:nvSpPr>
        <p:spPr>
          <a:xfrm>
            <a:off x="702000" y="427536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分散风险的角色，而非增长引擎。</a:t>
            </a:r>
            <a:endParaRPr lang="en-US" sz="1050" b="0" u="none" strike="noStrike">
              <a:solidFill>
                <a:srgbClr val="000000"/>
              </a:solidFill>
              <a:effectLst/>
              <a:uFillTx/>
              <a:latin typeface="Times New Roman" panose="02020603050405020304"/>
            </a:endParaRPr>
          </a:p>
        </p:txBody>
      </p:sp>
      <p:sp>
        <p:nvSpPr>
          <p:cNvPr id="1000" name="文字框 999"/>
          <p:cNvSpPr txBox="1"/>
          <p:nvPr/>
        </p:nvSpPr>
        <p:spPr>
          <a:xfrm>
            <a:off x="6167160" y="3390480"/>
            <a:ext cx="3358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黄金</a:t>
            </a:r>
            <a:endParaRPr lang="en-US" sz="1320" b="0" u="none" strike="noStrike">
              <a:solidFill>
                <a:srgbClr val="000000"/>
              </a:solidFill>
              <a:effectLst/>
              <a:uFillTx/>
              <a:latin typeface="Times New Roman" panose="02020603050405020304"/>
            </a:endParaRPr>
          </a:p>
        </p:txBody>
      </p:sp>
      <p:sp>
        <p:nvSpPr>
          <p:cNvPr id="1001" name="文字框 1000"/>
          <p:cNvSpPr txBox="1"/>
          <p:nvPr/>
        </p:nvSpPr>
        <p:spPr>
          <a:xfrm>
            <a:off x="6167160" y="3622680"/>
            <a:ext cx="152640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波动性较高，长期回报不确定</a:t>
            </a:r>
            <a:endParaRPr lang="en-US" sz="920" b="0" u="none" strike="noStrike">
              <a:solidFill>
                <a:srgbClr val="000000"/>
              </a:solidFill>
              <a:effectLst/>
              <a:uFillTx/>
              <a:latin typeface="Times New Roman" panose="02020603050405020304"/>
            </a:endParaRPr>
          </a:p>
        </p:txBody>
      </p:sp>
      <p:sp>
        <p:nvSpPr>
          <p:cNvPr id="1002" name="文字框 1001"/>
          <p:cNvSpPr txBox="1"/>
          <p:nvPr/>
        </p:nvSpPr>
        <p:spPr>
          <a:xfrm>
            <a:off x="5615640" y="387396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黄金在危机后的一段时间内可能继续保持强势，但其长期回报不确定性较</a:t>
            </a:r>
            <a:endParaRPr lang="en-US" sz="1050" b="0" u="none" strike="noStrike">
              <a:solidFill>
                <a:srgbClr val="000000"/>
              </a:solidFill>
              <a:effectLst/>
              <a:uFillTx/>
              <a:latin typeface="Times New Roman" panose="02020603050405020304"/>
            </a:endParaRPr>
          </a:p>
        </p:txBody>
      </p:sp>
      <p:sp>
        <p:nvSpPr>
          <p:cNvPr id="1003" name="文字框 1002"/>
          <p:cNvSpPr txBox="1"/>
          <p:nvPr/>
        </p:nvSpPr>
        <p:spPr>
          <a:xfrm>
            <a:off x="5615640" y="407448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高。黄金本身不产生利息或股息，其价格主要受市场情绪、通胀预期和美元</a:t>
            </a:r>
            <a:endParaRPr lang="en-US" sz="1050" b="0" u="none" strike="noStrike">
              <a:solidFill>
                <a:srgbClr val="000000"/>
              </a:solidFill>
              <a:effectLst/>
              <a:uFillTx/>
              <a:latin typeface="Times New Roman" panose="02020603050405020304"/>
            </a:endParaRPr>
          </a:p>
        </p:txBody>
      </p:sp>
      <p:sp>
        <p:nvSpPr>
          <p:cNvPr id="1004" name="任意多邊形 1003"/>
          <p:cNvSpPr/>
          <p:nvPr/>
        </p:nvSpPr>
        <p:spPr>
          <a:xfrm>
            <a:off x="551520" y="4796640"/>
            <a:ext cx="4696560" cy="1353960"/>
          </a:xfrm>
          <a:custGeom>
            <a:avLst/>
            <a:gdLst/>
            <a:ahLst/>
            <a:cxnLst/>
            <a:rect l="0" t="0" r="r" b="b"/>
            <a:pathLst>
              <a:path w="13046" h="3761">
                <a:moveTo>
                  <a:pt x="0" y="3575"/>
                </a:moveTo>
                <a:lnTo>
                  <a:pt x="0" y="185"/>
                </a:lnTo>
                <a:cubicBezTo>
                  <a:pt x="0" y="173"/>
                  <a:pt x="0" y="161"/>
                  <a:pt x="2" y="149"/>
                </a:cubicBezTo>
                <a:cubicBezTo>
                  <a:pt x="4" y="137"/>
                  <a:pt x="7" y="126"/>
                  <a:pt x="10" y="114"/>
                </a:cubicBezTo>
                <a:cubicBezTo>
                  <a:pt x="14" y="103"/>
                  <a:pt x="18" y="92"/>
                  <a:pt x="23" y="82"/>
                </a:cubicBezTo>
                <a:cubicBezTo>
                  <a:pt x="28" y="72"/>
                  <a:pt x="34" y="63"/>
                  <a:pt x="40" y="54"/>
                </a:cubicBezTo>
                <a:cubicBezTo>
                  <a:pt x="47" y="46"/>
                  <a:pt x="54" y="38"/>
                  <a:pt x="61" y="31"/>
                </a:cubicBezTo>
                <a:cubicBezTo>
                  <a:pt x="69" y="24"/>
                  <a:pt x="77" y="19"/>
                  <a:pt x="86" y="14"/>
                </a:cubicBezTo>
                <a:cubicBezTo>
                  <a:pt x="94" y="9"/>
                  <a:pt x="103" y="6"/>
                  <a:pt x="112" y="3"/>
                </a:cubicBezTo>
                <a:cubicBezTo>
                  <a:pt x="121" y="1"/>
                  <a:pt x="130" y="0"/>
                  <a:pt x="139" y="0"/>
                </a:cubicBezTo>
                <a:lnTo>
                  <a:pt x="12861" y="0"/>
                </a:lnTo>
                <a:cubicBezTo>
                  <a:pt x="12873" y="0"/>
                  <a:pt x="12885" y="1"/>
                  <a:pt x="12897" y="3"/>
                </a:cubicBezTo>
                <a:cubicBezTo>
                  <a:pt x="12909" y="6"/>
                  <a:pt x="12920" y="9"/>
                  <a:pt x="12932" y="14"/>
                </a:cubicBezTo>
                <a:cubicBezTo>
                  <a:pt x="12943" y="19"/>
                  <a:pt x="12954" y="24"/>
                  <a:pt x="12964" y="31"/>
                </a:cubicBezTo>
                <a:cubicBezTo>
                  <a:pt x="12974" y="38"/>
                  <a:pt x="12983" y="46"/>
                  <a:pt x="12992" y="54"/>
                </a:cubicBezTo>
                <a:cubicBezTo>
                  <a:pt x="13001" y="63"/>
                  <a:pt x="13008" y="72"/>
                  <a:pt x="13015" y="82"/>
                </a:cubicBezTo>
                <a:cubicBezTo>
                  <a:pt x="13022" y="92"/>
                  <a:pt x="13027" y="103"/>
                  <a:pt x="13032" y="114"/>
                </a:cubicBezTo>
                <a:cubicBezTo>
                  <a:pt x="13037" y="126"/>
                  <a:pt x="13040" y="137"/>
                  <a:pt x="13043" y="149"/>
                </a:cubicBezTo>
                <a:cubicBezTo>
                  <a:pt x="13045" y="161"/>
                  <a:pt x="13046" y="173"/>
                  <a:pt x="13046" y="185"/>
                </a:cubicBezTo>
                <a:lnTo>
                  <a:pt x="13046" y="3575"/>
                </a:lnTo>
                <a:cubicBezTo>
                  <a:pt x="13046" y="3587"/>
                  <a:pt x="13045" y="3600"/>
                  <a:pt x="13043" y="3612"/>
                </a:cubicBezTo>
                <a:cubicBezTo>
                  <a:pt x="13040" y="3624"/>
                  <a:pt x="13037" y="3635"/>
                  <a:pt x="13032" y="3647"/>
                </a:cubicBezTo>
                <a:cubicBezTo>
                  <a:pt x="13027" y="3658"/>
                  <a:pt x="13022" y="3669"/>
                  <a:pt x="13015" y="3679"/>
                </a:cubicBezTo>
                <a:cubicBezTo>
                  <a:pt x="13008" y="3689"/>
                  <a:pt x="13001" y="3698"/>
                  <a:pt x="12992" y="3707"/>
                </a:cubicBezTo>
                <a:cubicBezTo>
                  <a:pt x="12983" y="3716"/>
                  <a:pt x="12974" y="3723"/>
                  <a:pt x="12964" y="3730"/>
                </a:cubicBezTo>
                <a:cubicBezTo>
                  <a:pt x="12954" y="3737"/>
                  <a:pt x="12943" y="3743"/>
                  <a:pt x="12932" y="3747"/>
                </a:cubicBezTo>
                <a:cubicBezTo>
                  <a:pt x="12920" y="3752"/>
                  <a:pt x="12909" y="3755"/>
                  <a:pt x="12897" y="3758"/>
                </a:cubicBezTo>
                <a:cubicBezTo>
                  <a:pt x="12885" y="3760"/>
                  <a:pt x="12873" y="3761"/>
                  <a:pt x="12861" y="3761"/>
                </a:cubicBezTo>
                <a:lnTo>
                  <a:pt x="139" y="3761"/>
                </a:lnTo>
                <a:cubicBezTo>
                  <a:pt x="130" y="3761"/>
                  <a:pt x="121" y="3760"/>
                  <a:pt x="112" y="3758"/>
                </a:cubicBezTo>
                <a:cubicBezTo>
                  <a:pt x="103" y="3755"/>
                  <a:pt x="94" y="3752"/>
                  <a:pt x="86" y="3747"/>
                </a:cubicBezTo>
                <a:cubicBezTo>
                  <a:pt x="77" y="3743"/>
                  <a:pt x="69" y="3737"/>
                  <a:pt x="61" y="3730"/>
                </a:cubicBezTo>
                <a:cubicBezTo>
                  <a:pt x="54" y="3723"/>
                  <a:pt x="47" y="3716"/>
                  <a:pt x="40" y="3707"/>
                </a:cubicBezTo>
                <a:cubicBezTo>
                  <a:pt x="34" y="3698"/>
                  <a:pt x="28" y="3689"/>
                  <a:pt x="23" y="3679"/>
                </a:cubicBezTo>
                <a:cubicBezTo>
                  <a:pt x="18" y="3669"/>
                  <a:pt x="14" y="3658"/>
                  <a:pt x="10" y="3647"/>
                </a:cubicBezTo>
                <a:cubicBezTo>
                  <a:pt x="7" y="3635"/>
                  <a:pt x="4" y="3624"/>
                  <a:pt x="2" y="3612"/>
                </a:cubicBezTo>
                <a:cubicBezTo>
                  <a:pt x="0" y="3600"/>
                  <a:pt x="0" y="3587"/>
                  <a:pt x="0" y="357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05" name="任意多邊形 1004"/>
          <p:cNvSpPr/>
          <p:nvPr/>
        </p:nvSpPr>
        <p:spPr>
          <a:xfrm>
            <a:off x="534600" y="4796640"/>
            <a:ext cx="67320" cy="1353960"/>
          </a:xfrm>
          <a:custGeom>
            <a:avLst/>
            <a:gdLst/>
            <a:ahLst/>
            <a:cxnLst/>
            <a:rect l="0" t="0" r="r" b="b"/>
            <a:pathLst>
              <a:path w="187" h="3761">
                <a:moveTo>
                  <a:pt x="151" y="14"/>
                </a:moveTo>
                <a:cubicBezTo>
                  <a:pt x="140" y="23"/>
                  <a:pt x="130" y="37"/>
                  <a:pt x="121" y="54"/>
                </a:cubicBezTo>
                <a:cubicBezTo>
                  <a:pt x="112" y="72"/>
                  <a:pt x="106" y="92"/>
                  <a:pt x="101" y="114"/>
                </a:cubicBezTo>
                <a:cubicBezTo>
                  <a:pt x="96" y="137"/>
                  <a:pt x="94" y="161"/>
                  <a:pt x="94" y="185"/>
                </a:cubicBezTo>
                <a:lnTo>
                  <a:pt x="94" y="3575"/>
                </a:lnTo>
                <a:cubicBezTo>
                  <a:pt x="94" y="3600"/>
                  <a:pt x="96" y="3624"/>
                  <a:pt x="101" y="3647"/>
                </a:cubicBezTo>
                <a:cubicBezTo>
                  <a:pt x="106" y="3669"/>
                  <a:pt x="112" y="3690"/>
                  <a:pt x="121" y="3707"/>
                </a:cubicBezTo>
                <a:cubicBezTo>
                  <a:pt x="130" y="3724"/>
                  <a:pt x="140" y="3738"/>
                  <a:pt x="151" y="3747"/>
                </a:cubicBezTo>
                <a:cubicBezTo>
                  <a:pt x="163" y="3757"/>
                  <a:pt x="175" y="3761"/>
                  <a:pt x="187" y="3761"/>
                </a:cubicBezTo>
                <a:cubicBezTo>
                  <a:pt x="162" y="3761"/>
                  <a:pt x="139" y="3757"/>
                  <a:pt x="116" y="3747"/>
                </a:cubicBezTo>
                <a:cubicBezTo>
                  <a:pt x="93" y="3738"/>
                  <a:pt x="72" y="3724"/>
                  <a:pt x="55" y="3707"/>
                </a:cubicBezTo>
                <a:cubicBezTo>
                  <a:pt x="37" y="3690"/>
                  <a:pt x="24" y="3669"/>
                  <a:pt x="14" y="3647"/>
                </a:cubicBezTo>
                <a:cubicBezTo>
                  <a:pt x="5" y="3624"/>
                  <a:pt x="0" y="3600"/>
                  <a:pt x="0" y="3575"/>
                </a:cubicBezTo>
                <a:lnTo>
                  <a:pt x="0" y="185"/>
                </a:lnTo>
                <a:cubicBezTo>
                  <a:pt x="0" y="161"/>
                  <a:pt x="5" y="137"/>
                  <a:pt x="14" y="114"/>
                </a:cubicBezTo>
                <a:cubicBezTo>
                  <a:pt x="24" y="92"/>
                  <a:pt x="37" y="72"/>
                  <a:pt x="55" y="54"/>
                </a:cubicBezTo>
                <a:cubicBezTo>
                  <a:pt x="72" y="37"/>
                  <a:pt x="93" y="23"/>
                  <a:pt x="116" y="14"/>
                </a:cubicBezTo>
                <a:cubicBezTo>
                  <a:pt x="139" y="5"/>
                  <a:pt x="162" y="0"/>
                  <a:pt x="187" y="0"/>
                </a:cubicBezTo>
                <a:cubicBezTo>
                  <a:pt x="175" y="0"/>
                  <a:pt x="163"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06" name="任意多邊形 1005"/>
          <p:cNvSpPr/>
          <p:nvPr/>
        </p:nvSpPr>
        <p:spPr>
          <a:xfrm>
            <a:off x="701640" y="4930200"/>
            <a:ext cx="418320" cy="418320"/>
          </a:xfrm>
          <a:custGeom>
            <a:avLst/>
            <a:gdLst/>
            <a:ahLst/>
            <a:cxnLst/>
            <a:rect l="0" t="0" r="r" b="b"/>
            <a:pathLst>
              <a:path w="1162" h="1162">
                <a:moveTo>
                  <a:pt x="1162" y="581"/>
                </a:moveTo>
                <a:cubicBezTo>
                  <a:pt x="1162" y="600"/>
                  <a:pt x="1161" y="618"/>
                  <a:pt x="1159" y="637"/>
                </a:cubicBezTo>
                <a:cubicBezTo>
                  <a:pt x="1157" y="656"/>
                  <a:pt x="1155" y="675"/>
                  <a:pt x="1151" y="694"/>
                </a:cubicBezTo>
                <a:cubicBezTo>
                  <a:pt x="1147" y="712"/>
                  <a:pt x="1143" y="731"/>
                  <a:pt x="1137" y="749"/>
                </a:cubicBezTo>
                <a:cubicBezTo>
                  <a:pt x="1132" y="767"/>
                  <a:pt x="1125" y="785"/>
                  <a:pt x="1118" y="803"/>
                </a:cubicBezTo>
                <a:cubicBezTo>
                  <a:pt x="1111" y="821"/>
                  <a:pt x="1102" y="838"/>
                  <a:pt x="1094" y="855"/>
                </a:cubicBezTo>
                <a:cubicBezTo>
                  <a:pt x="1085" y="872"/>
                  <a:pt x="1075" y="888"/>
                  <a:pt x="1064" y="904"/>
                </a:cubicBezTo>
                <a:cubicBezTo>
                  <a:pt x="1054" y="920"/>
                  <a:pt x="1042" y="935"/>
                  <a:pt x="1030" y="950"/>
                </a:cubicBezTo>
                <a:cubicBezTo>
                  <a:pt x="1018" y="964"/>
                  <a:pt x="1006" y="978"/>
                  <a:pt x="992" y="992"/>
                </a:cubicBezTo>
                <a:cubicBezTo>
                  <a:pt x="979" y="1005"/>
                  <a:pt x="965" y="1018"/>
                  <a:pt x="949" y="1030"/>
                </a:cubicBezTo>
                <a:cubicBezTo>
                  <a:pt x="934" y="1042"/>
                  <a:pt x="919" y="1053"/>
                  <a:pt x="903" y="1064"/>
                </a:cubicBezTo>
                <a:cubicBezTo>
                  <a:pt x="887" y="1075"/>
                  <a:pt x="871" y="1084"/>
                  <a:pt x="854" y="1093"/>
                </a:cubicBezTo>
                <a:cubicBezTo>
                  <a:pt x="838" y="1102"/>
                  <a:pt x="820" y="1110"/>
                  <a:pt x="803" y="1118"/>
                </a:cubicBezTo>
                <a:cubicBezTo>
                  <a:pt x="785" y="1125"/>
                  <a:pt x="767" y="1131"/>
                  <a:pt x="749" y="1137"/>
                </a:cubicBezTo>
                <a:cubicBezTo>
                  <a:pt x="731" y="1142"/>
                  <a:pt x="713" y="1147"/>
                  <a:pt x="694" y="1151"/>
                </a:cubicBezTo>
                <a:cubicBezTo>
                  <a:pt x="675" y="1154"/>
                  <a:pt x="657" y="1157"/>
                  <a:pt x="638" y="1159"/>
                </a:cubicBezTo>
                <a:cubicBezTo>
                  <a:pt x="619" y="1161"/>
                  <a:pt x="600" y="1162"/>
                  <a:pt x="581" y="1162"/>
                </a:cubicBezTo>
                <a:cubicBezTo>
                  <a:pt x="562" y="1162"/>
                  <a:pt x="543" y="1161"/>
                  <a:pt x="524" y="1159"/>
                </a:cubicBezTo>
                <a:cubicBezTo>
                  <a:pt x="505" y="1157"/>
                  <a:pt x="486" y="1154"/>
                  <a:pt x="468" y="1151"/>
                </a:cubicBezTo>
                <a:cubicBezTo>
                  <a:pt x="449" y="1147"/>
                  <a:pt x="430" y="1142"/>
                  <a:pt x="412" y="1137"/>
                </a:cubicBezTo>
                <a:cubicBezTo>
                  <a:pt x="394" y="1131"/>
                  <a:pt x="376" y="1125"/>
                  <a:pt x="359" y="1118"/>
                </a:cubicBezTo>
                <a:cubicBezTo>
                  <a:pt x="341" y="1110"/>
                  <a:pt x="324" y="1102"/>
                  <a:pt x="307" y="1093"/>
                </a:cubicBezTo>
                <a:cubicBezTo>
                  <a:pt x="290" y="1084"/>
                  <a:pt x="274" y="1075"/>
                  <a:pt x="258" y="1064"/>
                </a:cubicBezTo>
                <a:cubicBezTo>
                  <a:pt x="243" y="1053"/>
                  <a:pt x="227" y="1042"/>
                  <a:pt x="213" y="1030"/>
                </a:cubicBezTo>
                <a:cubicBezTo>
                  <a:pt x="198" y="1018"/>
                  <a:pt x="184" y="1005"/>
                  <a:pt x="170" y="992"/>
                </a:cubicBezTo>
                <a:cubicBezTo>
                  <a:pt x="157" y="978"/>
                  <a:pt x="144" y="964"/>
                  <a:pt x="132" y="950"/>
                </a:cubicBezTo>
                <a:cubicBezTo>
                  <a:pt x="120" y="935"/>
                  <a:pt x="109" y="920"/>
                  <a:pt x="98" y="904"/>
                </a:cubicBezTo>
                <a:cubicBezTo>
                  <a:pt x="88" y="888"/>
                  <a:pt x="78" y="872"/>
                  <a:pt x="69" y="855"/>
                </a:cubicBezTo>
                <a:cubicBezTo>
                  <a:pt x="60" y="838"/>
                  <a:pt x="52" y="821"/>
                  <a:pt x="45" y="803"/>
                </a:cubicBezTo>
                <a:cubicBezTo>
                  <a:pt x="37" y="785"/>
                  <a:pt x="31" y="767"/>
                  <a:pt x="25" y="749"/>
                </a:cubicBezTo>
                <a:cubicBezTo>
                  <a:pt x="20" y="731"/>
                  <a:pt x="15" y="712"/>
                  <a:pt x="12" y="694"/>
                </a:cubicBezTo>
                <a:cubicBezTo>
                  <a:pt x="8" y="675"/>
                  <a:pt x="5" y="656"/>
                  <a:pt x="3" y="637"/>
                </a:cubicBezTo>
                <a:cubicBezTo>
                  <a:pt x="1" y="618"/>
                  <a:pt x="0" y="600"/>
                  <a:pt x="0" y="581"/>
                </a:cubicBezTo>
                <a:cubicBezTo>
                  <a:pt x="0" y="562"/>
                  <a:pt x="1" y="543"/>
                  <a:pt x="3" y="524"/>
                </a:cubicBezTo>
                <a:cubicBezTo>
                  <a:pt x="5" y="505"/>
                  <a:pt x="8" y="486"/>
                  <a:pt x="12" y="467"/>
                </a:cubicBezTo>
                <a:cubicBezTo>
                  <a:pt x="15" y="449"/>
                  <a:pt x="20" y="430"/>
                  <a:pt x="25" y="412"/>
                </a:cubicBezTo>
                <a:cubicBezTo>
                  <a:pt x="31" y="394"/>
                  <a:pt x="37" y="376"/>
                  <a:pt x="45" y="358"/>
                </a:cubicBezTo>
                <a:cubicBezTo>
                  <a:pt x="52" y="341"/>
                  <a:pt x="60" y="324"/>
                  <a:pt x="69" y="307"/>
                </a:cubicBezTo>
                <a:cubicBezTo>
                  <a:pt x="78" y="290"/>
                  <a:pt x="88" y="274"/>
                  <a:pt x="98" y="258"/>
                </a:cubicBezTo>
                <a:cubicBezTo>
                  <a:pt x="109" y="242"/>
                  <a:pt x="120" y="227"/>
                  <a:pt x="132" y="212"/>
                </a:cubicBezTo>
                <a:cubicBezTo>
                  <a:pt x="144" y="198"/>
                  <a:pt x="157" y="184"/>
                  <a:pt x="170" y="170"/>
                </a:cubicBezTo>
                <a:cubicBezTo>
                  <a:pt x="184" y="157"/>
                  <a:pt x="198" y="144"/>
                  <a:pt x="213" y="132"/>
                </a:cubicBezTo>
                <a:cubicBezTo>
                  <a:pt x="227" y="120"/>
                  <a:pt x="243" y="109"/>
                  <a:pt x="258" y="98"/>
                </a:cubicBezTo>
                <a:cubicBezTo>
                  <a:pt x="274" y="87"/>
                  <a:pt x="290" y="78"/>
                  <a:pt x="307" y="69"/>
                </a:cubicBezTo>
                <a:cubicBezTo>
                  <a:pt x="324" y="60"/>
                  <a:pt x="341" y="52"/>
                  <a:pt x="359" y="44"/>
                </a:cubicBezTo>
                <a:cubicBezTo>
                  <a:pt x="376" y="37"/>
                  <a:pt x="394" y="31"/>
                  <a:pt x="412" y="25"/>
                </a:cubicBezTo>
                <a:cubicBezTo>
                  <a:pt x="430" y="20"/>
                  <a:pt x="449" y="15"/>
                  <a:pt x="468" y="11"/>
                </a:cubicBezTo>
                <a:cubicBezTo>
                  <a:pt x="486" y="8"/>
                  <a:pt x="505" y="5"/>
                  <a:pt x="524" y="3"/>
                </a:cubicBezTo>
                <a:cubicBezTo>
                  <a:pt x="543" y="1"/>
                  <a:pt x="562" y="0"/>
                  <a:pt x="581" y="0"/>
                </a:cubicBezTo>
                <a:cubicBezTo>
                  <a:pt x="600" y="0"/>
                  <a:pt x="619" y="1"/>
                  <a:pt x="638" y="3"/>
                </a:cubicBezTo>
                <a:cubicBezTo>
                  <a:pt x="657" y="5"/>
                  <a:pt x="675" y="8"/>
                  <a:pt x="694" y="11"/>
                </a:cubicBezTo>
                <a:cubicBezTo>
                  <a:pt x="713" y="15"/>
                  <a:pt x="731" y="20"/>
                  <a:pt x="749" y="25"/>
                </a:cubicBezTo>
                <a:cubicBezTo>
                  <a:pt x="767" y="31"/>
                  <a:pt x="785" y="37"/>
                  <a:pt x="803" y="44"/>
                </a:cubicBezTo>
                <a:cubicBezTo>
                  <a:pt x="820" y="52"/>
                  <a:pt x="838" y="60"/>
                  <a:pt x="854" y="69"/>
                </a:cubicBezTo>
                <a:cubicBezTo>
                  <a:pt x="871" y="78"/>
                  <a:pt x="887" y="87"/>
                  <a:pt x="903" y="98"/>
                </a:cubicBezTo>
                <a:cubicBezTo>
                  <a:pt x="919" y="109"/>
                  <a:pt x="934" y="120"/>
                  <a:pt x="949" y="132"/>
                </a:cubicBezTo>
                <a:cubicBezTo>
                  <a:pt x="965" y="144"/>
                  <a:pt x="979" y="157"/>
                  <a:pt x="992" y="170"/>
                </a:cubicBezTo>
                <a:cubicBezTo>
                  <a:pt x="1006" y="184"/>
                  <a:pt x="1018" y="198"/>
                  <a:pt x="1030" y="212"/>
                </a:cubicBezTo>
                <a:cubicBezTo>
                  <a:pt x="1042" y="227"/>
                  <a:pt x="1054" y="242"/>
                  <a:pt x="1064" y="258"/>
                </a:cubicBezTo>
                <a:cubicBezTo>
                  <a:pt x="1075" y="274"/>
                  <a:pt x="1085" y="290"/>
                  <a:pt x="1094" y="307"/>
                </a:cubicBezTo>
                <a:cubicBezTo>
                  <a:pt x="1102" y="324"/>
                  <a:pt x="1111" y="341"/>
                  <a:pt x="1118" y="358"/>
                </a:cubicBezTo>
                <a:cubicBezTo>
                  <a:pt x="1125" y="376"/>
                  <a:pt x="1132" y="394"/>
                  <a:pt x="1137" y="412"/>
                </a:cubicBezTo>
                <a:cubicBezTo>
                  <a:pt x="1143" y="430"/>
                  <a:pt x="1147" y="449"/>
                  <a:pt x="1151" y="467"/>
                </a:cubicBezTo>
                <a:cubicBezTo>
                  <a:pt x="1155" y="486"/>
                  <a:pt x="1157" y="505"/>
                  <a:pt x="1159" y="524"/>
                </a:cubicBezTo>
                <a:cubicBezTo>
                  <a:pt x="1161" y="543"/>
                  <a:pt x="1162" y="562"/>
                  <a:pt x="1162" y="581"/>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007" name="圖片 1006"/>
          <p:cNvPicPr/>
          <p:nvPr/>
        </p:nvPicPr>
        <p:blipFill>
          <a:blip r:embed="rId7"/>
          <a:stretch>
            <a:fillRect/>
          </a:stretch>
        </p:blipFill>
        <p:spPr>
          <a:xfrm>
            <a:off x="810720" y="5038920"/>
            <a:ext cx="200160" cy="200160"/>
          </a:xfrm>
          <a:prstGeom prst="rect">
            <a:avLst/>
          </a:prstGeom>
          <a:noFill/>
          <a:ln w="0">
            <a:noFill/>
          </a:ln>
        </p:spPr>
      </p:pic>
      <p:sp>
        <p:nvSpPr>
          <p:cNvPr id="1008" name="文字框 1007"/>
          <p:cNvSpPr txBox="1"/>
          <p:nvPr/>
        </p:nvSpPr>
        <p:spPr>
          <a:xfrm>
            <a:off x="5615640" y="427536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汇率等因素驱动，波动性较大。</a:t>
            </a:r>
            <a:endParaRPr lang="en-US" sz="1050" b="0" u="none" strike="noStrike">
              <a:solidFill>
                <a:srgbClr val="000000"/>
              </a:solidFill>
              <a:effectLst/>
              <a:uFillTx/>
              <a:latin typeface="Times New Roman" panose="02020603050405020304"/>
            </a:endParaRPr>
          </a:p>
        </p:txBody>
      </p:sp>
      <p:sp>
        <p:nvSpPr>
          <p:cNvPr id="1009" name="文字框 1008"/>
          <p:cNvSpPr txBox="1"/>
          <p:nvPr/>
        </p:nvSpPr>
        <p:spPr>
          <a:xfrm>
            <a:off x="1253520" y="4944960"/>
            <a:ext cx="8388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防御性股票</a:t>
            </a:r>
            <a:endParaRPr lang="en-US" sz="1320" b="0" u="none" strike="noStrike">
              <a:solidFill>
                <a:srgbClr val="000000"/>
              </a:solidFill>
              <a:effectLst/>
              <a:uFillTx/>
              <a:latin typeface="Times New Roman" panose="02020603050405020304"/>
            </a:endParaRPr>
          </a:p>
        </p:txBody>
      </p:sp>
      <p:sp>
        <p:nvSpPr>
          <p:cNvPr id="1010" name="文字框 1009"/>
          <p:cNvSpPr txBox="1"/>
          <p:nvPr/>
        </p:nvSpPr>
        <p:spPr>
          <a:xfrm>
            <a:off x="1253520" y="5177160"/>
            <a:ext cx="12916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稳健增长，长期回报可靠</a:t>
            </a:r>
            <a:endParaRPr lang="en-US" sz="920" b="0" u="none" strike="noStrike">
              <a:solidFill>
                <a:srgbClr val="000000"/>
              </a:solidFill>
              <a:effectLst/>
              <a:uFillTx/>
              <a:latin typeface="Times New Roman" panose="02020603050405020304"/>
            </a:endParaRPr>
          </a:p>
        </p:txBody>
      </p:sp>
      <p:sp>
        <p:nvSpPr>
          <p:cNvPr id="1011" name="文字框 1010"/>
          <p:cNvSpPr txBox="1"/>
          <p:nvPr/>
        </p:nvSpPr>
        <p:spPr>
          <a:xfrm>
            <a:off x="702000" y="542844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这类公司通常拥有稳定的现金流和持续的需求，使其能够在经济复苏阶段稳</a:t>
            </a:r>
            <a:endParaRPr lang="en-US" sz="1050" b="0" u="none" strike="noStrike">
              <a:solidFill>
                <a:srgbClr val="000000"/>
              </a:solidFill>
              <a:effectLst/>
              <a:uFillTx/>
              <a:latin typeface="Times New Roman" panose="02020603050405020304"/>
            </a:endParaRPr>
          </a:p>
        </p:txBody>
      </p:sp>
      <p:sp>
        <p:nvSpPr>
          <p:cNvPr id="1012" name="文字框 1011"/>
          <p:cNvSpPr txBox="1"/>
          <p:nvPr/>
        </p:nvSpPr>
        <p:spPr>
          <a:xfrm>
            <a:off x="702000" y="5628960"/>
            <a:ext cx="3621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健增长。虽然其长期增长潜力可能不及高增长的科技股，但其</a:t>
            </a:r>
            <a:endParaRPr lang="en-US" sz="1050" b="0" u="none" strike="noStrike">
              <a:solidFill>
                <a:srgbClr val="000000"/>
              </a:solidFill>
              <a:effectLst/>
              <a:uFillTx/>
              <a:latin typeface="Times New Roman" panose="02020603050405020304"/>
            </a:endParaRPr>
          </a:p>
        </p:txBody>
      </p:sp>
      <p:sp>
        <p:nvSpPr>
          <p:cNvPr id="1013" name="文字框 1012"/>
          <p:cNvSpPr txBox="1"/>
          <p:nvPr/>
        </p:nvSpPr>
        <p:spPr>
          <a:xfrm>
            <a:off x="4312080" y="56336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014" name="文字框 1013"/>
          <p:cNvSpPr txBox="1"/>
          <p:nvPr/>
        </p:nvSpPr>
        <p:spPr>
          <a:xfrm>
            <a:off x="4373640" y="562896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慢而稳</a:t>
            </a:r>
            <a:endParaRPr lang="en-US" sz="1050" b="0" u="none" strike="noStrike">
              <a:solidFill>
                <a:srgbClr val="000000"/>
              </a:solidFill>
              <a:effectLst/>
              <a:uFillTx/>
              <a:latin typeface="Times New Roman" panose="02020603050405020304"/>
            </a:endParaRPr>
          </a:p>
        </p:txBody>
      </p:sp>
      <p:sp>
        <p:nvSpPr>
          <p:cNvPr id="1015" name="文字框 1014"/>
          <p:cNvSpPr txBox="1"/>
          <p:nvPr/>
        </p:nvSpPr>
        <p:spPr>
          <a:xfrm>
            <a:off x="4774680" y="56336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016" name="文字框 1015"/>
          <p:cNvSpPr txBox="1"/>
          <p:nvPr/>
        </p:nvSpPr>
        <p:spPr>
          <a:xfrm>
            <a:off x="4836240" y="56289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的特</a:t>
            </a:r>
            <a:endParaRPr lang="en-US" sz="1050" b="0" u="none" strike="noStrike">
              <a:solidFill>
                <a:srgbClr val="000000"/>
              </a:solidFill>
              <a:effectLst/>
              <a:uFillTx/>
              <a:latin typeface="Times New Roman" panose="02020603050405020304"/>
            </a:endParaRPr>
          </a:p>
        </p:txBody>
      </p:sp>
      <p:sp>
        <p:nvSpPr>
          <p:cNvPr id="1017" name="任意多邊形 1016"/>
          <p:cNvSpPr/>
          <p:nvPr/>
        </p:nvSpPr>
        <p:spPr>
          <a:xfrm>
            <a:off x="5465160" y="4796640"/>
            <a:ext cx="4696920" cy="1353960"/>
          </a:xfrm>
          <a:custGeom>
            <a:avLst/>
            <a:gdLst/>
            <a:ahLst/>
            <a:cxnLst/>
            <a:rect l="0" t="0" r="r" b="b"/>
            <a:pathLst>
              <a:path w="13047" h="3761">
                <a:moveTo>
                  <a:pt x="0" y="3575"/>
                </a:moveTo>
                <a:lnTo>
                  <a:pt x="0" y="185"/>
                </a:lnTo>
                <a:cubicBezTo>
                  <a:pt x="0" y="173"/>
                  <a:pt x="1" y="161"/>
                  <a:pt x="3" y="149"/>
                </a:cubicBezTo>
                <a:cubicBezTo>
                  <a:pt x="4" y="137"/>
                  <a:pt x="7" y="126"/>
                  <a:pt x="10" y="114"/>
                </a:cubicBezTo>
                <a:cubicBezTo>
                  <a:pt x="14" y="103"/>
                  <a:pt x="18" y="92"/>
                  <a:pt x="23" y="82"/>
                </a:cubicBezTo>
                <a:cubicBezTo>
                  <a:pt x="28" y="72"/>
                  <a:pt x="34" y="63"/>
                  <a:pt x="41" y="54"/>
                </a:cubicBezTo>
                <a:cubicBezTo>
                  <a:pt x="47" y="46"/>
                  <a:pt x="54" y="38"/>
                  <a:pt x="62" y="31"/>
                </a:cubicBezTo>
                <a:cubicBezTo>
                  <a:pt x="69" y="24"/>
                  <a:pt x="77" y="19"/>
                  <a:pt x="86" y="14"/>
                </a:cubicBezTo>
                <a:cubicBezTo>
                  <a:pt x="94" y="9"/>
                  <a:pt x="103" y="6"/>
                  <a:pt x="112" y="3"/>
                </a:cubicBezTo>
                <a:cubicBezTo>
                  <a:pt x="121" y="1"/>
                  <a:pt x="130" y="0"/>
                  <a:pt x="139" y="0"/>
                </a:cubicBezTo>
                <a:lnTo>
                  <a:pt x="12861" y="0"/>
                </a:lnTo>
                <a:cubicBezTo>
                  <a:pt x="12873" y="0"/>
                  <a:pt x="12885" y="1"/>
                  <a:pt x="12897" y="3"/>
                </a:cubicBezTo>
                <a:cubicBezTo>
                  <a:pt x="12909" y="6"/>
                  <a:pt x="12921" y="9"/>
                  <a:pt x="12932" y="14"/>
                </a:cubicBezTo>
                <a:cubicBezTo>
                  <a:pt x="12943" y="19"/>
                  <a:pt x="12954" y="24"/>
                  <a:pt x="12964" y="31"/>
                </a:cubicBezTo>
                <a:cubicBezTo>
                  <a:pt x="12974" y="38"/>
                  <a:pt x="12984" y="46"/>
                  <a:pt x="12992" y="54"/>
                </a:cubicBezTo>
                <a:cubicBezTo>
                  <a:pt x="13001" y="63"/>
                  <a:pt x="13008" y="72"/>
                  <a:pt x="13015" y="82"/>
                </a:cubicBezTo>
                <a:cubicBezTo>
                  <a:pt x="13022" y="92"/>
                  <a:pt x="13028" y="103"/>
                  <a:pt x="13032" y="114"/>
                </a:cubicBezTo>
                <a:cubicBezTo>
                  <a:pt x="13037" y="126"/>
                  <a:pt x="13041" y="137"/>
                  <a:pt x="13043" y="149"/>
                </a:cubicBezTo>
                <a:cubicBezTo>
                  <a:pt x="13045" y="161"/>
                  <a:pt x="13047" y="173"/>
                  <a:pt x="13047" y="185"/>
                </a:cubicBezTo>
                <a:lnTo>
                  <a:pt x="13047" y="3575"/>
                </a:lnTo>
                <a:cubicBezTo>
                  <a:pt x="13047" y="3587"/>
                  <a:pt x="13045" y="3600"/>
                  <a:pt x="13043" y="3612"/>
                </a:cubicBezTo>
                <a:cubicBezTo>
                  <a:pt x="13041" y="3624"/>
                  <a:pt x="13037" y="3635"/>
                  <a:pt x="13032" y="3647"/>
                </a:cubicBezTo>
                <a:cubicBezTo>
                  <a:pt x="13028" y="3658"/>
                  <a:pt x="13022" y="3669"/>
                  <a:pt x="13015" y="3679"/>
                </a:cubicBezTo>
                <a:cubicBezTo>
                  <a:pt x="13008" y="3689"/>
                  <a:pt x="13001" y="3698"/>
                  <a:pt x="12992" y="3707"/>
                </a:cubicBezTo>
                <a:cubicBezTo>
                  <a:pt x="12984" y="3716"/>
                  <a:pt x="12974" y="3723"/>
                  <a:pt x="12964" y="3730"/>
                </a:cubicBezTo>
                <a:cubicBezTo>
                  <a:pt x="12954" y="3737"/>
                  <a:pt x="12943" y="3743"/>
                  <a:pt x="12932" y="3747"/>
                </a:cubicBezTo>
                <a:cubicBezTo>
                  <a:pt x="12921" y="3752"/>
                  <a:pt x="12909" y="3755"/>
                  <a:pt x="12897" y="3758"/>
                </a:cubicBezTo>
                <a:cubicBezTo>
                  <a:pt x="12885" y="3760"/>
                  <a:pt x="12873" y="3761"/>
                  <a:pt x="12861" y="3761"/>
                </a:cubicBezTo>
                <a:lnTo>
                  <a:pt x="139" y="3761"/>
                </a:lnTo>
                <a:cubicBezTo>
                  <a:pt x="130" y="3761"/>
                  <a:pt x="121" y="3760"/>
                  <a:pt x="112" y="3758"/>
                </a:cubicBezTo>
                <a:cubicBezTo>
                  <a:pt x="103" y="3755"/>
                  <a:pt x="94" y="3752"/>
                  <a:pt x="86" y="3747"/>
                </a:cubicBezTo>
                <a:cubicBezTo>
                  <a:pt x="77" y="3743"/>
                  <a:pt x="69" y="3737"/>
                  <a:pt x="62" y="3730"/>
                </a:cubicBezTo>
                <a:cubicBezTo>
                  <a:pt x="54" y="3723"/>
                  <a:pt x="47" y="3716"/>
                  <a:pt x="41" y="3707"/>
                </a:cubicBezTo>
                <a:cubicBezTo>
                  <a:pt x="34" y="3698"/>
                  <a:pt x="28" y="3689"/>
                  <a:pt x="23" y="3679"/>
                </a:cubicBezTo>
                <a:cubicBezTo>
                  <a:pt x="18" y="3669"/>
                  <a:pt x="14" y="3658"/>
                  <a:pt x="10" y="3647"/>
                </a:cubicBezTo>
                <a:cubicBezTo>
                  <a:pt x="7" y="3635"/>
                  <a:pt x="4" y="3624"/>
                  <a:pt x="3" y="3612"/>
                </a:cubicBezTo>
                <a:cubicBezTo>
                  <a:pt x="1" y="3600"/>
                  <a:pt x="0" y="3587"/>
                  <a:pt x="0" y="357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18" name="任意多邊形 1017"/>
          <p:cNvSpPr/>
          <p:nvPr/>
        </p:nvSpPr>
        <p:spPr>
          <a:xfrm>
            <a:off x="5448240" y="4796640"/>
            <a:ext cx="67320" cy="1353960"/>
          </a:xfrm>
          <a:custGeom>
            <a:avLst/>
            <a:gdLst/>
            <a:ahLst/>
            <a:cxnLst/>
            <a:rect l="0" t="0" r="r" b="b"/>
            <a:pathLst>
              <a:path w="187" h="3761">
                <a:moveTo>
                  <a:pt x="152" y="14"/>
                </a:moveTo>
                <a:cubicBezTo>
                  <a:pt x="140" y="23"/>
                  <a:pt x="130" y="37"/>
                  <a:pt x="120" y="54"/>
                </a:cubicBezTo>
                <a:cubicBezTo>
                  <a:pt x="112" y="72"/>
                  <a:pt x="105" y="92"/>
                  <a:pt x="100" y="114"/>
                </a:cubicBezTo>
                <a:cubicBezTo>
                  <a:pt x="96" y="137"/>
                  <a:pt x="93" y="161"/>
                  <a:pt x="93" y="185"/>
                </a:cubicBezTo>
                <a:lnTo>
                  <a:pt x="93" y="3575"/>
                </a:lnTo>
                <a:cubicBezTo>
                  <a:pt x="93" y="3600"/>
                  <a:pt x="96" y="3624"/>
                  <a:pt x="100" y="3647"/>
                </a:cubicBezTo>
                <a:cubicBezTo>
                  <a:pt x="105" y="3669"/>
                  <a:pt x="112" y="3690"/>
                  <a:pt x="120" y="3707"/>
                </a:cubicBezTo>
                <a:cubicBezTo>
                  <a:pt x="130" y="3724"/>
                  <a:pt x="140" y="3738"/>
                  <a:pt x="152" y="3747"/>
                </a:cubicBezTo>
                <a:cubicBezTo>
                  <a:pt x="163" y="3757"/>
                  <a:pt x="175" y="3761"/>
                  <a:pt x="187" y="3761"/>
                </a:cubicBezTo>
                <a:cubicBezTo>
                  <a:pt x="162" y="3761"/>
                  <a:pt x="139" y="3757"/>
                  <a:pt x="115" y="3747"/>
                </a:cubicBezTo>
                <a:cubicBezTo>
                  <a:pt x="92" y="3738"/>
                  <a:pt x="72" y="3724"/>
                  <a:pt x="55" y="3707"/>
                </a:cubicBezTo>
                <a:cubicBezTo>
                  <a:pt x="37" y="3690"/>
                  <a:pt x="24" y="3669"/>
                  <a:pt x="15" y="3647"/>
                </a:cubicBezTo>
                <a:cubicBezTo>
                  <a:pt x="5" y="3624"/>
                  <a:pt x="0" y="3600"/>
                  <a:pt x="0" y="3575"/>
                </a:cubicBezTo>
                <a:lnTo>
                  <a:pt x="0" y="185"/>
                </a:lnTo>
                <a:cubicBezTo>
                  <a:pt x="0" y="161"/>
                  <a:pt x="5" y="137"/>
                  <a:pt x="15" y="114"/>
                </a:cubicBezTo>
                <a:cubicBezTo>
                  <a:pt x="24" y="92"/>
                  <a:pt x="37" y="72"/>
                  <a:pt x="55" y="54"/>
                </a:cubicBezTo>
                <a:cubicBezTo>
                  <a:pt x="72" y="37"/>
                  <a:pt x="92" y="23"/>
                  <a:pt x="115" y="14"/>
                </a:cubicBezTo>
                <a:cubicBezTo>
                  <a:pt x="139" y="5"/>
                  <a:pt x="162" y="0"/>
                  <a:pt x="187" y="0"/>
                </a:cubicBezTo>
                <a:cubicBezTo>
                  <a:pt x="175" y="0"/>
                  <a:pt x="163" y="5"/>
                  <a:pt x="152"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19" name="任意多邊形 1018"/>
          <p:cNvSpPr/>
          <p:nvPr/>
        </p:nvSpPr>
        <p:spPr>
          <a:xfrm>
            <a:off x="5615640" y="4930200"/>
            <a:ext cx="417960" cy="418320"/>
          </a:xfrm>
          <a:custGeom>
            <a:avLst/>
            <a:gdLst/>
            <a:ahLst/>
            <a:cxnLst/>
            <a:rect l="0" t="0" r="r" b="b"/>
            <a:pathLst>
              <a:path w="1161" h="1162">
                <a:moveTo>
                  <a:pt x="1161" y="581"/>
                </a:moveTo>
                <a:cubicBezTo>
                  <a:pt x="1161" y="600"/>
                  <a:pt x="1160" y="618"/>
                  <a:pt x="1159" y="637"/>
                </a:cubicBezTo>
                <a:cubicBezTo>
                  <a:pt x="1157" y="656"/>
                  <a:pt x="1154" y="675"/>
                  <a:pt x="1150" y="694"/>
                </a:cubicBezTo>
                <a:cubicBezTo>
                  <a:pt x="1146" y="712"/>
                  <a:pt x="1142" y="731"/>
                  <a:pt x="1136" y="749"/>
                </a:cubicBezTo>
                <a:cubicBezTo>
                  <a:pt x="1131" y="767"/>
                  <a:pt x="1124" y="785"/>
                  <a:pt x="1117" y="803"/>
                </a:cubicBezTo>
                <a:cubicBezTo>
                  <a:pt x="1110" y="821"/>
                  <a:pt x="1102" y="838"/>
                  <a:pt x="1093" y="855"/>
                </a:cubicBezTo>
                <a:cubicBezTo>
                  <a:pt x="1084" y="872"/>
                  <a:pt x="1074" y="888"/>
                  <a:pt x="1064" y="904"/>
                </a:cubicBezTo>
                <a:cubicBezTo>
                  <a:pt x="1053" y="920"/>
                  <a:pt x="1042" y="935"/>
                  <a:pt x="1030" y="950"/>
                </a:cubicBezTo>
                <a:cubicBezTo>
                  <a:pt x="1018" y="964"/>
                  <a:pt x="1005" y="978"/>
                  <a:pt x="991" y="992"/>
                </a:cubicBezTo>
                <a:cubicBezTo>
                  <a:pt x="978" y="1005"/>
                  <a:pt x="964" y="1018"/>
                  <a:pt x="949" y="1030"/>
                </a:cubicBezTo>
                <a:cubicBezTo>
                  <a:pt x="934" y="1042"/>
                  <a:pt x="919" y="1053"/>
                  <a:pt x="903" y="1064"/>
                </a:cubicBezTo>
                <a:cubicBezTo>
                  <a:pt x="888" y="1075"/>
                  <a:pt x="871" y="1084"/>
                  <a:pt x="855" y="1093"/>
                </a:cubicBezTo>
                <a:cubicBezTo>
                  <a:pt x="838" y="1102"/>
                  <a:pt x="821" y="1110"/>
                  <a:pt x="803" y="1118"/>
                </a:cubicBezTo>
                <a:cubicBezTo>
                  <a:pt x="786" y="1125"/>
                  <a:pt x="768" y="1131"/>
                  <a:pt x="749" y="1137"/>
                </a:cubicBezTo>
                <a:cubicBezTo>
                  <a:pt x="731" y="1142"/>
                  <a:pt x="713" y="1147"/>
                  <a:pt x="694" y="1151"/>
                </a:cubicBezTo>
                <a:cubicBezTo>
                  <a:pt x="676" y="1154"/>
                  <a:pt x="657" y="1157"/>
                  <a:pt x="638" y="1159"/>
                </a:cubicBezTo>
                <a:cubicBezTo>
                  <a:pt x="619" y="1161"/>
                  <a:pt x="600" y="1162"/>
                  <a:pt x="581" y="1162"/>
                </a:cubicBezTo>
                <a:cubicBezTo>
                  <a:pt x="562" y="1162"/>
                  <a:pt x="543" y="1161"/>
                  <a:pt x="524" y="1159"/>
                </a:cubicBezTo>
                <a:cubicBezTo>
                  <a:pt x="505" y="1157"/>
                  <a:pt x="486" y="1154"/>
                  <a:pt x="468" y="1151"/>
                </a:cubicBezTo>
                <a:cubicBezTo>
                  <a:pt x="449" y="1147"/>
                  <a:pt x="431" y="1142"/>
                  <a:pt x="413" y="1137"/>
                </a:cubicBezTo>
                <a:cubicBezTo>
                  <a:pt x="394" y="1131"/>
                  <a:pt x="376" y="1125"/>
                  <a:pt x="359" y="1118"/>
                </a:cubicBezTo>
                <a:cubicBezTo>
                  <a:pt x="341" y="1110"/>
                  <a:pt x="324" y="1102"/>
                  <a:pt x="307" y="1093"/>
                </a:cubicBezTo>
                <a:cubicBezTo>
                  <a:pt x="291" y="1084"/>
                  <a:pt x="274" y="1075"/>
                  <a:pt x="259" y="1064"/>
                </a:cubicBezTo>
                <a:cubicBezTo>
                  <a:pt x="243" y="1053"/>
                  <a:pt x="228" y="1042"/>
                  <a:pt x="213" y="1030"/>
                </a:cubicBezTo>
                <a:cubicBezTo>
                  <a:pt x="198" y="1018"/>
                  <a:pt x="184" y="1005"/>
                  <a:pt x="171" y="992"/>
                </a:cubicBezTo>
                <a:cubicBezTo>
                  <a:pt x="157" y="978"/>
                  <a:pt x="144" y="964"/>
                  <a:pt x="132" y="950"/>
                </a:cubicBezTo>
                <a:cubicBezTo>
                  <a:pt x="120" y="935"/>
                  <a:pt x="109" y="920"/>
                  <a:pt x="98" y="904"/>
                </a:cubicBezTo>
                <a:cubicBezTo>
                  <a:pt x="88" y="888"/>
                  <a:pt x="78" y="872"/>
                  <a:pt x="69" y="855"/>
                </a:cubicBezTo>
                <a:cubicBezTo>
                  <a:pt x="59" y="838"/>
                  <a:pt x="51" y="821"/>
                  <a:pt x="44" y="803"/>
                </a:cubicBezTo>
                <a:cubicBezTo>
                  <a:pt x="37" y="785"/>
                  <a:pt x="30" y="767"/>
                  <a:pt x="25" y="749"/>
                </a:cubicBezTo>
                <a:cubicBezTo>
                  <a:pt x="19" y="731"/>
                  <a:pt x="15" y="712"/>
                  <a:pt x="11" y="694"/>
                </a:cubicBezTo>
                <a:cubicBezTo>
                  <a:pt x="7" y="675"/>
                  <a:pt x="4" y="656"/>
                  <a:pt x="2" y="637"/>
                </a:cubicBezTo>
                <a:cubicBezTo>
                  <a:pt x="1" y="618"/>
                  <a:pt x="0" y="600"/>
                  <a:pt x="0" y="581"/>
                </a:cubicBezTo>
                <a:cubicBezTo>
                  <a:pt x="0" y="562"/>
                  <a:pt x="1" y="543"/>
                  <a:pt x="2" y="524"/>
                </a:cubicBezTo>
                <a:cubicBezTo>
                  <a:pt x="4" y="505"/>
                  <a:pt x="7" y="486"/>
                  <a:pt x="11" y="467"/>
                </a:cubicBezTo>
                <a:cubicBezTo>
                  <a:pt x="15" y="449"/>
                  <a:pt x="19" y="430"/>
                  <a:pt x="25" y="412"/>
                </a:cubicBezTo>
                <a:cubicBezTo>
                  <a:pt x="30" y="394"/>
                  <a:pt x="37" y="376"/>
                  <a:pt x="44" y="358"/>
                </a:cubicBezTo>
                <a:cubicBezTo>
                  <a:pt x="51" y="341"/>
                  <a:pt x="59" y="324"/>
                  <a:pt x="69" y="307"/>
                </a:cubicBezTo>
                <a:cubicBezTo>
                  <a:pt x="78" y="290"/>
                  <a:pt x="88" y="274"/>
                  <a:pt x="98" y="258"/>
                </a:cubicBezTo>
                <a:cubicBezTo>
                  <a:pt x="109" y="242"/>
                  <a:pt x="120" y="227"/>
                  <a:pt x="132" y="212"/>
                </a:cubicBezTo>
                <a:cubicBezTo>
                  <a:pt x="144" y="198"/>
                  <a:pt x="157" y="184"/>
                  <a:pt x="171" y="170"/>
                </a:cubicBezTo>
                <a:cubicBezTo>
                  <a:pt x="184" y="157"/>
                  <a:pt x="198" y="144"/>
                  <a:pt x="213" y="132"/>
                </a:cubicBezTo>
                <a:cubicBezTo>
                  <a:pt x="228" y="120"/>
                  <a:pt x="243" y="109"/>
                  <a:pt x="259" y="98"/>
                </a:cubicBezTo>
                <a:cubicBezTo>
                  <a:pt x="274" y="87"/>
                  <a:pt x="291" y="78"/>
                  <a:pt x="307" y="69"/>
                </a:cubicBezTo>
                <a:cubicBezTo>
                  <a:pt x="324" y="60"/>
                  <a:pt x="341" y="52"/>
                  <a:pt x="359" y="44"/>
                </a:cubicBezTo>
                <a:cubicBezTo>
                  <a:pt x="376" y="37"/>
                  <a:pt x="394" y="31"/>
                  <a:pt x="413" y="25"/>
                </a:cubicBezTo>
                <a:cubicBezTo>
                  <a:pt x="431" y="20"/>
                  <a:pt x="449" y="15"/>
                  <a:pt x="468" y="11"/>
                </a:cubicBezTo>
                <a:cubicBezTo>
                  <a:pt x="486" y="8"/>
                  <a:pt x="505" y="5"/>
                  <a:pt x="524" y="3"/>
                </a:cubicBezTo>
                <a:cubicBezTo>
                  <a:pt x="543" y="1"/>
                  <a:pt x="562" y="0"/>
                  <a:pt x="581" y="0"/>
                </a:cubicBezTo>
                <a:cubicBezTo>
                  <a:pt x="600" y="0"/>
                  <a:pt x="619" y="1"/>
                  <a:pt x="638" y="3"/>
                </a:cubicBezTo>
                <a:cubicBezTo>
                  <a:pt x="657" y="5"/>
                  <a:pt x="676" y="8"/>
                  <a:pt x="694" y="11"/>
                </a:cubicBezTo>
                <a:cubicBezTo>
                  <a:pt x="713" y="15"/>
                  <a:pt x="731" y="20"/>
                  <a:pt x="749" y="25"/>
                </a:cubicBezTo>
                <a:cubicBezTo>
                  <a:pt x="768" y="31"/>
                  <a:pt x="786" y="37"/>
                  <a:pt x="803" y="44"/>
                </a:cubicBezTo>
                <a:cubicBezTo>
                  <a:pt x="821" y="52"/>
                  <a:pt x="838" y="60"/>
                  <a:pt x="855" y="69"/>
                </a:cubicBezTo>
                <a:cubicBezTo>
                  <a:pt x="871" y="78"/>
                  <a:pt x="888" y="87"/>
                  <a:pt x="903" y="98"/>
                </a:cubicBezTo>
                <a:cubicBezTo>
                  <a:pt x="919" y="109"/>
                  <a:pt x="934" y="120"/>
                  <a:pt x="949" y="132"/>
                </a:cubicBezTo>
                <a:cubicBezTo>
                  <a:pt x="964" y="144"/>
                  <a:pt x="978" y="157"/>
                  <a:pt x="991" y="170"/>
                </a:cubicBezTo>
                <a:cubicBezTo>
                  <a:pt x="1005" y="184"/>
                  <a:pt x="1018" y="198"/>
                  <a:pt x="1030" y="212"/>
                </a:cubicBezTo>
                <a:cubicBezTo>
                  <a:pt x="1042" y="227"/>
                  <a:pt x="1053" y="242"/>
                  <a:pt x="1064" y="258"/>
                </a:cubicBezTo>
                <a:cubicBezTo>
                  <a:pt x="1074" y="274"/>
                  <a:pt x="1084" y="290"/>
                  <a:pt x="1093" y="307"/>
                </a:cubicBezTo>
                <a:cubicBezTo>
                  <a:pt x="1102" y="324"/>
                  <a:pt x="1110" y="341"/>
                  <a:pt x="1117" y="358"/>
                </a:cubicBezTo>
                <a:cubicBezTo>
                  <a:pt x="1124" y="376"/>
                  <a:pt x="1131" y="394"/>
                  <a:pt x="1136" y="412"/>
                </a:cubicBezTo>
                <a:cubicBezTo>
                  <a:pt x="1142" y="430"/>
                  <a:pt x="1146" y="449"/>
                  <a:pt x="1150" y="467"/>
                </a:cubicBezTo>
                <a:cubicBezTo>
                  <a:pt x="1154" y="486"/>
                  <a:pt x="1157" y="505"/>
                  <a:pt x="1159" y="524"/>
                </a:cubicBezTo>
                <a:cubicBezTo>
                  <a:pt x="1160" y="543"/>
                  <a:pt x="1161" y="562"/>
                  <a:pt x="1161" y="581"/>
                </a:cubicBezTo>
                <a:close/>
              </a:path>
            </a:pathLst>
          </a:custGeom>
          <a:solidFill>
            <a:srgbClr val="F6AD55">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020" name="圖片 1019"/>
          <p:cNvPicPr/>
          <p:nvPr/>
        </p:nvPicPr>
        <p:blipFill>
          <a:blip r:embed="rId8"/>
          <a:stretch>
            <a:fillRect/>
          </a:stretch>
        </p:blipFill>
        <p:spPr>
          <a:xfrm>
            <a:off x="5724360" y="5038920"/>
            <a:ext cx="200160" cy="200160"/>
          </a:xfrm>
          <a:prstGeom prst="rect">
            <a:avLst/>
          </a:prstGeom>
          <a:noFill/>
          <a:ln w="0">
            <a:noFill/>
          </a:ln>
        </p:spPr>
      </p:pic>
      <p:sp>
        <p:nvSpPr>
          <p:cNvPr id="1021" name="文字框 1020"/>
          <p:cNvSpPr txBox="1"/>
          <p:nvPr/>
        </p:nvSpPr>
        <p:spPr>
          <a:xfrm>
            <a:off x="702000" y="582948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性为投资者提供了可靠的长期回报。</a:t>
            </a:r>
            <a:endParaRPr lang="en-US" sz="1050" b="0" u="none" strike="noStrike">
              <a:solidFill>
                <a:srgbClr val="000000"/>
              </a:solidFill>
              <a:effectLst/>
              <a:uFillTx/>
              <a:latin typeface="Times New Roman" panose="02020603050405020304"/>
            </a:endParaRPr>
          </a:p>
        </p:txBody>
      </p:sp>
      <p:sp>
        <p:nvSpPr>
          <p:cNvPr id="1022" name="文字框 1021"/>
          <p:cNvSpPr txBox="1"/>
          <p:nvPr/>
        </p:nvSpPr>
        <p:spPr>
          <a:xfrm>
            <a:off x="6167160" y="4944960"/>
            <a:ext cx="184464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风险资产（如主流股市）</a:t>
            </a:r>
            <a:endParaRPr lang="en-US" sz="1320" b="0" u="none" strike="noStrike">
              <a:solidFill>
                <a:srgbClr val="000000"/>
              </a:solidFill>
              <a:effectLst/>
              <a:uFillTx/>
              <a:latin typeface="Times New Roman" panose="02020603050405020304"/>
            </a:endParaRPr>
          </a:p>
        </p:txBody>
      </p:sp>
      <p:sp>
        <p:nvSpPr>
          <p:cNvPr id="1023" name="文字框 1022"/>
          <p:cNvSpPr txBox="1"/>
          <p:nvPr/>
        </p:nvSpPr>
        <p:spPr>
          <a:xfrm>
            <a:off x="6167160" y="5177160"/>
            <a:ext cx="1291680" cy="148320"/>
          </a:xfrm>
          <a:prstGeom prst="rect">
            <a:avLst/>
          </a:prstGeom>
          <a:noFill/>
          <a:ln w="0">
            <a:noFill/>
          </a:ln>
        </p:spPr>
        <p:txBody>
          <a:bodyPr wrap="none" lIns="0" tIns="0" rIns="0" bIns="0" anchor="t">
            <a:spAutoFit/>
          </a:bodyPr>
          <a:p>
            <a:r>
              <a:rPr lang="zh-CN" sz="920" b="0" u="none" strike="noStrike">
                <a:solidFill>
                  <a:srgbClr val="D1D5DB"/>
                </a:solidFill>
                <a:effectLst/>
                <a:uFillTx/>
                <a:latin typeface="WenQuanYiZenHei"/>
                <a:ea typeface="WenQuanYiZenHei"/>
              </a:rPr>
              <a:t>强劲反弹，长期潜力最大</a:t>
            </a:r>
            <a:endParaRPr lang="en-US" sz="920" b="0" u="none" strike="noStrike">
              <a:solidFill>
                <a:srgbClr val="000000"/>
              </a:solidFill>
              <a:effectLst/>
              <a:uFillTx/>
              <a:latin typeface="Times New Roman" panose="02020603050405020304"/>
            </a:endParaRPr>
          </a:p>
        </p:txBody>
      </p:sp>
      <p:sp>
        <p:nvSpPr>
          <p:cNvPr id="1024" name="文字框 1023"/>
          <p:cNvSpPr txBox="1"/>
          <p:nvPr/>
        </p:nvSpPr>
        <p:spPr>
          <a:xfrm>
            <a:off x="5615640" y="542844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尽管在危机中跌幅最深，但从历史上看，股票市场在危机后往往展现出最强</a:t>
            </a:r>
            <a:endParaRPr lang="en-US" sz="1050" b="0" u="none" strike="noStrike">
              <a:solidFill>
                <a:srgbClr val="000000"/>
              </a:solidFill>
              <a:effectLst/>
              <a:uFillTx/>
              <a:latin typeface="Times New Roman" panose="02020603050405020304"/>
            </a:endParaRPr>
          </a:p>
        </p:txBody>
      </p:sp>
      <p:sp>
        <p:nvSpPr>
          <p:cNvPr id="1025" name="文字框 1024"/>
          <p:cNvSpPr txBox="1"/>
          <p:nvPr/>
        </p:nvSpPr>
        <p:spPr>
          <a:xfrm>
            <a:off x="5615640" y="5628960"/>
            <a:ext cx="44265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的反弹和恢复能力。对于具有长远眼光和风险承受能力的投资者而言，金融</a:t>
            </a:r>
            <a:endParaRPr lang="en-US" sz="1050" b="0" u="none" strike="noStrike">
              <a:solidFill>
                <a:srgbClr val="000000"/>
              </a:solidFill>
              <a:effectLst/>
              <a:uFillTx/>
              <a:latin typeface="Times New Roman" panose="02020603050405020304"/>
            </a:endParaRPr>
          </a:p>
        </p:txBody>
      </p:sp>
      <p:sp>
        <p:nvSpPr>
          <p:cNvPr id="1026" name="文字框 1025"/>
          <p:cNvSpPr txBox="1"/>
          <p:nvPr/>
        </p:nvSpPr>
        <p:spPr>
          <a:xfrm>
            <a:off x="5615640" y="5829480"/>
            <a:ext cx="3755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危机造成的市场低点反而可能是获取超额长期回报的战略机遇。</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圖片 1026"/>
          <p:cNvPicPr/>
          <p:nvPr/>
        </p:nvPicPr>
        <p:blipFill>
          <a:blip r:embed="rId1"/>
          <a:stretch>
            <a:fillRect/>
          </a:stretch>
        </p:blipFill>
        <p:spPr>
          <a:xfrm>
            <a:off x="0" y="0"/>
            <a:ext cx="10696320" cy="6785280"/>
          </a:xfrm>
          <a:prstGeom prst="rect">
            <a:avLst/>
          </a:prstGeom>
          <a:noFill/>
          <a:ln w="0">
            <a:noFill/>
          </a:ln>
        </p:spPr>
      </p:pic>
      <p:pic>
        <p:nvPicPr>
          <p:cNvPr id="1028" name="圖片 1027"/>
          <p:cNvPicPr/>
          <p:nvPr/>
        </p:nvPicPr>
        <p:blipFill>
          <a:blip r:embed="rId2"/>
          <a:stretch>
            <a:fillRect/>
          </a:stretch>
        </p:blipFill>
        <p:spPr>
          <a:xfrm>
            <a:off x="534960" y="735480"/>
            <a:ext cx="3208680" cy="33120"/>
          </a:xfrm>
          <a:prstGeom prst="rect">
            <a:avLst/>
          </a:prstGeom>
          <a:noFill/>
          <a:ln w="0">
            <a:noFill/>
          </a:ln>
        </p:spPr>
      </p:pic>
      <p:sp>
        <p:nvSpPr>
          <p:cNvPr id="1029" name="文字框 1028"/>
          <p:cNvSpPr txBox="1"/>
          <p:nvPr/>
        </p:nvSpPr>
        <p:spPr>
          <a:xfrm>
            <a:off x="534960" y="312120"/>
            <a:ext cx="390384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收益率比较：风险调整后收益</a:t>
            </a:r>
            <a:endParaRPr lang="en-US" sz="2370" b="0" u="none" strike="noStrike">
              <a:solidFill>
                <a:srgbClr val="000000"/>
              </a:solidFill>
              <a:effectLst/>
              <a:uFillTx/>
              <a:latin typeface="Times New Roman" panose="02020603050405020304"/>
            </a:endParaRPr>
          </a:p>
        </p:txBody>
      </p:sp>
      <p:sp>
        <p:nvSpPr>
          <p:cNvPr id="1030" name="文字框 1029"/>
          <p:cNvSpPr txBox="1"/>
          <p:nvPr/>
        </p:nvSpPr>
        <p:spPr>
          <a:xfrm>
            <a:off x="534960" y="649764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1031" name="任意多邊形 1030"/>
          <p:cNvSpPr/>
          <p:nvPr/>
        </p:nvSpPr>
        <p:spPr>
          <a:xfrm>
            <a:off x="534600" y="902520"/>
            <a:ext cx="4613400" cy="5382000"/>
          </a:xfrm>
          <a:custGeom>
            <a:avLst/>
            <a:gdLst/>
            <a:ahLst/>
            <a:cxnLst/>
            <a:rect l="0" t="0" r="r" b="b"/>
            <a:pathLst>
              <a:path w="12815" h="14950">
                <a:moveTo>
                  <a:pt x="0" y="14764"/>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5"/>
                  <a:pt x="150" y="3"/>
                </a:cubicBezTo>
                <a:cubicBezTo>
                  <a:pt x="162" y="1"/>
                  <a:pt x="174" y="0"/>
                  <a:pt x="186" y="0"/>
                </a:cubicBezTo>
                <a:lnTo>
                  <a:pt x="12629" y="0"/>
                </a:lnTo>
                <a:cubicBezTo>
                  <a:pt x="12641" y="0"/>
                  <a:pt x="12653" y="1"/>
                  <a:pt x="12665" y="3"/>
                </a:cubicBezTo>
                <a:cubicBezTo>
                  <a:pt x="12677" y="5"/>
                  <a:pt x="12689" y="9"/>
                  <a:pt x="12700" y="14"/>
                </a:cubicBezTo>
                <a:cubicBezTo>
                  <a:pt x="12711" y="18"/>
                  <a:pt x="12722" y="24"/>
                  <a:pt x="12732" y="31"/>
                </a:cubicBezTo>
                <a:cubicBezTo>
                  <a:pt x="12742" y="38"/>
                  <a:pt x="12752" y="45"/>
                  <a:pt x="12760" y="54"/>
                </a:cubicBezTo>
                <a:cubicBezTo>
                  <a:pt x="12769" y="63"/>
                  <a:pt x="12777" y="72"/>
                  <a:pt x="12783" y="82"/>
                </a:cubicBezTo>
                <a:cubicBezTo>
                  <a:pt x="12790" y="92"/>
                  <a:pt x="12796" y="103"/>
                  <a:pt x="12801" y="114"/>
                </a:cubicBezTo>
                <a:cubicBezTo>
                  <a:pt x="12805" y="125"/>
                  <a:pt x="12809" y="137"/>
                  <a:pt x="12811" y="149"/>
                </a:cubicBezTo>
                <a:cubicBezTo>
                  <a:pt x="12814" y="161"/>
                  <a:pt x="12815" y="173"/>
                  <a:pt x="12815" y="185"/>
                </a:cubicBezTo>
                <a:lnTo>
                  <a:pt x="12815" y="14764"/>
                </a:lnTo>
                <a:cubicBezTo>
                  <a:pt x="12815" y="14776"/>
                  <a:pt x="12814" y="14788"/>
                  <a:pt x="12811" y="14800"/>
                </a:cubicBezTo>
                <a:cubicBezTo>
                  <a:pt x="12809" y="14812"/>
                  <a:pt x="12805" y="14824"/>
                  <a:pt x="12801" y="14835"/>
                </a:cubicBezTo>
                <a:cubicBezTo>
                  <a:pt x="12796" y="14846"/>
                  <a:pt x="12790" y="14857"/>
                  <a:pt x="12783" y="14867"/>
                </a:cubicBezTo>
                <a:cubicBezTo>
                  <a:pt x="12777" y="14877"/>
                  <a:pt x="12769" y="14887"/>
                  <a:pt x="12760" y="14895"/>
                </a:cubicBezTo>
                <a:cubicBezTo>
                  <a:pt x="12752" y="14904"/>
                  <a:pt x="12742" y="14912"/>
                  <a:pt x="12732" y="14918"/>
                </a:cubicBezTo>
                <a:cubicBezTo>
                  <a:pt x="12722" y="14925"/>
                  <a:pt x="12711" y="14931"/>
                  <a:pt x="12700" y="14936"/>
                </a:cubicBezTo>
                <a:cubicBezTo>
                  <a:pt x="12689" y="14940"/>
                  <a:pt x="12677" y="14944"/>
                  <a:pt x="12665" y="14946"/>
                </a:cubicBezTo>
                <a:cubicBezTo>
                  <a:pt x="12653" y="14949"/>
                  <a:pt x="12641" y="14950"/>
                  <a:pt x="12629" y="14950"/>
                </a:cubicBezTo>
                <a:lnTo>
                  <a:pt x="186" y="14950"/>
                </a:lnTo>
                <a:cubicBezTo>
                  <a:pt x="174" y="14950"/>
                  <a:pt x="162" y="14949"/>
                  <a:pt x="150" y="14946"/>
                </a:cubicBezTo>
                <a:cubicBezTo>
                  <a:pt x="138" y="14944"/>
                  <a:pt x="126" y="14940"/>
                  <a:pt x="115" y="14936"/>
                </a:cubicBezTo>
                <a:cubicBezTo>
                  <a:pt x="104" y="14931"/>
                  <a:pt x="93" y="14925"/>
                  <a:pt x="83" y="14918"/>
                </a:cubicBezTo>
                <a:cubicBezTo>
                  <a:pt x="73" y="14912"/>
                  <a:pt x="63" y="14904"/>
                  <a:pt x="55" y="14895"/>
                </a:cubicBezTo>
                <a:cubicBezTo>
                  <a:pt x="46" y="14887"/>
                  <a:pt x="38" y="14877"/>
                  <a:pt x="31" y="14867"/>
                </a:cubicBezTo>
                <a:cubicBezTo>
                  <a:pt x="25" y="14857"/>
                  <a:pt x="19" y="14846"/>
                  <a:pt x="14" y="14835"/>
                </a:cubicBezTo>
                <a:cubicBezTo>
                  <a:pt x="10" y="14824"/>
                  <a:pt x="6" y="14812"/>
                  <a:pt x="4" y="14800"/>
                </a:cubicBezTo>
                <a:cubicBezTo>
                  <a:pt x="1" y="14788"/>
                  <a:pt x="0" y="14776"/>
                  <a:pt x="0" y="14764"/>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32" name="任意多邊形 1031"/>
          <p:cNvSpPr/>
          <p:nvPr/>
        </p:nvSpPr>
        <p:spPr>
          <a:xfrm>
            <a:off x="735120" y="2206080"/>
            <a:ext cx="4212360" cy="1370880"/>
          </a:xfrm>
          <a:custGeom>
            <a:avLst/>
            <a:gdLst/>
            <a:ahLst/>
            <a:cxnLst/>
            <a:rect l="0" t="0" r="r" b="b"/>
            <a:pathLst>
              <a:path w="11701" h="3808">
                <a:moveTo>
                  <a:pt x="0" y="3622"/>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1515" y="0"/>
                </a:lnTo>
                <a:cubicBezTo>
                  <a:pt x="11527" y="0"/>
                  <a:pt x="11539" y="1"/>
                  <a:pt x="11551" y="3"/>
                </a:cubicBezTo>
                <a:cubicBezTo>
                  <a:pt x="11563" y="6"/>
                  <a:pt x="11575" y="9"/>
                  <a:pt x="11586" y="14"/>
                </a:cubicBezTo>
                <a:cubicBezTo>
                  <a:pt x="11597" y="19"/>
                  <a:pt x="11608" y="24"/>
                  <a:pt x="11618" y="31"/>
                </a:cubicBezTo>
                <a:cubicBezTo>
                  <a:pt x="11628" y="38"/>
                  <a:pt x="11638" y="46"/>
                  <a:pt x="11646" y="54"/>
                </a:cubicBezTo>
                <a:cubicBezTo>
                  <a:pt x="11655" y="63"/>
                  <a:pt x="11663" y="72"/>
                  <a:pt x="11669" y="82"/>
                </a:cubicBezTo>
                <a:cubicBezTo>
                  <a:pt x="11676" y="92"/>
                  <a:pt x="11682" y="103"/>
                  <a:pt x="11686" y="114"/>
                </a:cubicBezTo>
                <a:cubicBezTo>
                  <a:pt x="11691" y="126"/>
                  <a:pt x="11695" y="137"/>
                  <a:pt x="11697" y="149"/>
                </a:cubicBezTo>
                <a:cubicBezTo>
                  <a:pt x="11699" y="161"/>
                  <a:pt x="11701" y="173"/>
                  <a:pt x="11701" y="185"/>
                </a:cubicBezTo>
                <a:lnTo>
                  <a:pt x="11701" y="3622"/>
                </a:lnTo>
                <a:cubicBezTo>
                  <a:pt x="11701" y="3634"/>
                  <a:pt x="11699" y="3646"/>
                  <a:pt x="11697" y="3658"/>
                </a:cubicBezTo>
                <a:cubicBezTo>
                  <a:pt x="11695" y="3670"/>
                  <a:pt x="11691" y="3682"/>
                  <a:pt x="11686" y="3693"/>
                </a:cubicBezTo>
                <a:cubicBezTo>
                  <a:pt x="11682" y="3704"/>
                  <a:pt x="11676" y="3715"/>
                  <a:pt x="11669" y="3725"/>
                </a:cubicBezTo>
                <a:cubicBezTo>
                  <a:pt x="11663" y="3735"/>
                  <a:pt x="11655" y="3745"/>
                  <a:pt x="11646" y="3753"/>
                </a:cubicBezTo>
                <a:cubicBezTo>
                  <a:pt x="11638" y="3762"/>
                  <a:pt x="11628" y="3770"/>
                  <a:pt x="11618" y="3776"/>
                </a:cubicBezTo>
                <a:cubicBezTo>
                  <a:pt x="11608" y="3783"/>
                  <a:pt x="11597" y="3789"/>
                  <a:pt x="11586" y="3794"/>
                </a:cubicBezTo>
                <a:cubicBezTo>
                  <a:pt x="11575" y="3798"/>
                  <a:pt x="11563" y="3802"/>
                  <a:pt x="11551" y="3804"/>
                </a:cubicBezTo>
                <a:cubicBezTo>
                  <a:pt x="11539" y="3806"/>
                  <a:pt x="11527" y="3808"/>
                  <a:pt x="11515" y="3808"/>
                </a:cubicBezTo>
                <a:lnTo>
                  <a:pt x="186" y="3808"/>
                </a:lnTo>
                <a:cubicBezTo>
                  <a:pt x="174" y="3808"/>
                  <a:pt x="162" y="3806"/>
                  <a:pt x="150" y="3804"/>
                </a:cubicBezTo>
                <a:cubicBezTo>
                  <a:pt x="138" y="3802"/>
                  <a:pt x="126" y="3798"/>
                  <a:pt x="115" y="3794"/>
                </a:cubicBezTo>
                <a:cubicBezTo>
                  <a:pt x="104" y="3789"/>
                  <a:pt x="93" y="3783"/>
                  <a:pt x="83" y="3776"/>
                </a:cubicBezTo>
                <a:cubicBezTo>
                  <a:pt x="73" y="3770"/>
                  <a:pt x="63" y="3762"/>
                  <a:pt x="55" y="3753"/>
                </a:cubicBezTo>
                <a:cubicBezTo>
                  <a:pt x="46" y="3745"/>
                  <a:pt x="38" y="3735"/>
                  <a:pt x="32" y="3725"/>
                </a:cubicBezTo>
                <a:cubicBezTo>
                  <a:pt x="25" y="3715"/>
                  <a:pt x="19" y="3704"/>
                  <a:pt x="14" y="3693"/>
                </a:cubicBezTo>
                <a:cubicBezTo>
                  <a:pt x="10" y="3682"/>
                  <a:pt x="6" y="3670"/>
                  <a:pt x="4" y="3658"/>
                </a:cubicBezTo>
                <a:cubicBezTo>
                  <a:pt x="1" y="3646"/>
                  <a:pt x="0" y="3634"/>
                  <a:pt x="0" y="3622"/>
                </a:cubicBezTo>
                <a:close/>
              </a:path>
            </a:pathLst>
          </a:custGeom>
          <a:solidFill>
            <a:srgbClr val="1E3A8A">
              <a:alpha val="5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1033" name="任意多邊形 1032"/>
          <p:cNvSpPr/>
          <p:nvPr/>
        </p:nvSpPr>
        <p:spPr>
          <a:xfrm>
            <a:off x="735120" y="3710160"/>
            <a:ext cx="4212360" cy="1370880"/>
          </a:xfrm>
          <a:custGeom>
            <a:avLst/>
            <a:gdLst/>
            <a:ahLst/>
            <a:cxnLst/>
            <a:rect l="0" t="0" r="r" b="b"/>
            <a:pathLst>
              <a:path w="11701" h="3808">
                <a:moveTo>
                  <a:pt x="0" y="3622"/>
                </a:moveTo>
                <a:lnTo>
                  <a:pt x="0" y="186"/>
                </a:lnTo>
                <a:cubicBezTo>
                  <a:pt x="0" y="174"/>
                  <a:pt x="1" y="162"/>
                  <a:pt x="4" y="150"/>
                </a:cubicBezTo>
                <a:cubicBezTo>
                  <a:pt x="6" y="138"/>
                  <a:pt x="10" y="126"/>
                  <a:pt x="14" y="115"/>
                </a:cubicBezTo>
                <a:cubicBezTo>
                  <a:pt x="19" y="103"/>
                  <a:pt x="25" y="93"/>
                  <a:pt x="32" y="83"/>
                </a:cubicBezTo>
                <a:cubicBezTo>
                  <a:pt x="38" y="72"/>
                  <a:pt x="46" y="63"/>
                  <a:pt x="55" y="54"/>
                </a:cubicBezTo>
                <a:cubicBezTo>
                  <a:pt x="63" y="46"/>
                  <a:pt x="73" y="38"/>
                  <a:pt x="83" y="31"/>
                </a:cubicBezTo>
                <a:cubicBezTo>
                  <a:pt x="93" y="25"/>
                  <a:pt x="104" y="19"/>
                  <a:pt x="115" y="14"/>
                </a:cubicBezTo>
                <a:cubicBezTo>
                  <a:pt x="126" y="10"/>
                  <a:pt x="138" y="6"/>
                  <a:pt x="150" y="4"/>
                </a:cubicBezTo>
                <a:cubicBezTo>
                  <a:pt x="162" y="1"/>
                  <a:pt x="174" y="0"/>
                  <a:pt x="186" y="0"/>
                </a:cubicBezTo>
                <a:lnTo>
                  <a:pt x="11515" y="0"/>
                </a:lnTo>
                <a:cubicBezTo>
                  <a:pt x="11527" y="0"/>
                  <a:pt x="11539" y="1"/>
                  <a:pt x="11551" y="4"/>
                </a:cubicBezTo>
                <a:cubicBezTo>
                  <a:pt x="11563" y="6"/>
                  <a:pt x="11575" y="10"/>
                  <a:pt x="11586" y="14"/>
                </a:cubicBezTo>
                <a:cubicBezTo>
                  <a:pt x="11597" y="19"/>
                  <a:pt x="11608" y="25"/>
                  <a:pt x="11618" y="31"/>
                </a:cubicBezTo>
                <a:cubicBezTo>
                  <a:pt x="11628" y="38"/>
                  <a:pt x="11638" y="46"/>
                  <a:pt x="11646" y="54"/>
                </a:cubicBezTo>
                <a:cubicBezTo>
                  <a:pt x="11655" y="63"/>
                  <a:pt x="11663" y="72"/>
                  <a:pt x="11669" y="83"/>
                </a:cubicBezTo>
                <a:cubicBezTo>
                  <a:pt x="11676" y="93"/>
                  <a:pt x="11682" y="103"/>
                  <a:pt x="11686" y="115"/>
                </a:cubicBezTo>
                <a:cubicBezTo>
                  <a:pt x="11691" y="126"/>
                  <a:pt x="11695" y="138"/>
                  <a:pt x="11697" y="150"/>
                </a:cubicBezTo>
                <a:cubicBezTo>
                  <a:pt x="11699" y="162"/>
                  <a:pt x="11701" y="174"/>
                  <a:pt x="11701" y="186"/>
                </a:cubicBezTo>
                <a:lnTo>
                  <a:pt x="11701" y="3622"/>
                </a:lnTo>
                <a:cubicBezTo>
                  <a:pt x="11701" y="3635"/>
                  <a:pt x="11699" y="3647"/>
                  <a:pt x="11697" y="3659"/>
                </a:cubicBezTo>
                <a:cubicBezTo>
                  <a:pt x="11695" y="3671"/>
                  <a:pt x="11691" y="3682"/>
                  <a:pt x="11686" y="3693"/>
                </a:cubicBezTo>
                <a:cubicBezTo>
                  <a:pt x="11682" y="3705"/>
                  <a:pt x="11676" y="3715"/>
                  <a:pt x="11669" y="3726"/>
                </a:cubicBezTo>
                <a:cubicBezTo>
                  <a:pt x="11663" y="3736"/>
                  <a:pt x="11655" y="3745"/>
                  <a:pt x="11646" y="3754"/>
                </a:cubicBezTo>
                <a:cubicBezTo>
                  <a:pt x="11638" y="3762"/>
                  <a:pt x="11628" y="3770"/>
                  <a:pt x="11618" y="3777"/>
                </a:cubicBezTo>
                <a:cubicBezTo>
                  <a:pt x="11608" y="3784"/>
                  <a:pt x="11597" y="3789"/>
                  <a:pt x="11586" y="3794"/>
                </a:cubicBezTo>
                <a:cubicBezTo>
                  <a:pt x="11575" y="3799"/>
                  <a:pt x="11563" y="3802"/>
                  <a:pt x="11551" y="3804"/>
                </a:cubicBezTo>
                <a:cubicBezTo>
                  <a:pt x="11539" y="3807"/>
                  <a:pt x="11527" y="3808"/>
                  <a:pt x="11515" y="3808"/>
                </a:cubicBezTo>
                <a:lnTo>
                  <a:pt x="186" y="3808"/>
                </a:lnTo>
                <a:cubicBezTo>
                  <a:pt x="174" y="3808"/>
                  <a:pt x="162" y="3807"/>
                  <a:pt x="150" y="3804"/>
                </a:cubicBezTo>
                <a:cubicBezTo>
                  <a:pt x="138" y="3802"/>
                  <a:pt x="126" y="3799"/>
                  <a:pt x="115" y="3794"/>
                </a:cubicBezTo>
                <a:cubicBezTo>
                  <a:pt x="104" y="3789"/>
                  <a:pt x="93" y="3784"/>
                  <a:pt x="83" y="3777"/>
                </a:cubicBezTo>
                <a:cubicBezTo>
                  <a:pt x="73" y="3770"/>
                  <a:pt x="63" y="3762"/>
                  <a:pt x="55" y="3754"/>
                </a:cubicBezTo>
                <a:cubicBezTo>
                  <a:pt x="46" y="3745"/>
                  <a:pt x="38" y="3736"/>
                  <a:pt x="32" y="3726"/>
                </a:cubicBezTo>
                <a:cubicBezTo>
                  <a:pt x="25" y="3715"/>
                  <a:pt x="19" y="3705"/>
                  <a:pt x="14" y="3693"/>
                </a:cubicBezTo>
                <a:cubicBezTo>
                  <a:pt x="10" y="3682"/>
                  <a:pt x="6" y="3671"/>
                  <a:pt x="4" y="3659"/>
                </a:cubicBezTo>
                <a:cubicBezTo>
                  <a:pt x="1" y="3647"/>
                  <a:pt x="0" y="3635"/>
                  <a:pt x="0" y="3622"/>
                </a:cubicBezTo>
                <a:close/>
              </a:path>
            </a:pathLst>
          </a:custGeom>
          <a:solidFill>
            <a:srgbClr val="1E3A8A">
              <a:alpha val="50000"/>
            </a:srgbClr>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034" name="圖片 1033"/>
          <p:cNvPicPr/>
          <p:nvPr/>
        </p:nvPicPr>
        <p:blipFill>
          <a:blip r:embed="rId3"/>
          <a:stretch>
            <a:fillRect/>
          </a:stretch>
        </p:blipFill>
        <p:spPr>
          <a:xfrm>
            <a:off x="735480" y="1119960"/>
            <a:ext cx="250200" cy="200160"/>
          </a:xfrm>
          <a:prstGeom prst="rect">
            <a:avLst/>
          </a:prstGeom>
          <a:noFill/>
          <a:ln w="0">
            <a:noFill/>
          </a:ln>
        </p:spPr>
      </p:pic>
      <p:sp>
        <p:nvSpPr>
          <p:cNvPr id="1035" name="文字框 1034"/>
          <p:cNvSpPr txBox="1"/>
          <p:nvPr/>
        </p:nvSpPr>
        <p:spPr>
          <a:xfrm>
            <a:off x="9750240" y="6501600"/>
            <a:ext cx="22923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16 / 24</a:t>
            </a:r>
            <a:endParaRPr lang="en-US" sz="920" b="0" u="none" strike="noStrike">
              <a:solidFill>
                <a:srgbClr val="000000"/>
              </a:solidFill>
              <a:effectLst/>
              <a:uFillTx/>
              <a:latin typeface="Times New Roman" panose="02020603050405020304"/>
            </a:endParaRPr>
          </a:p>
        </p:txBody>
      </p:sp>
      <p:sp>
        <p:nvSpPr>
          <p:cNvPr id="1036" name="文字框 1035"/>
          <p:cNvSpPr txBox="1"/>
          <p:nvPr/>
        </p:nvSpPr>
        <p:spPr>
          <a:xfrm>
            <a:off x="1086480" y="1117800"/>
            <a:ext cx="184464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风险调整后收益的重要性</a:t>
            </a:r>
            <a:endParaRPr lang="en-US" sz="1320" b="0" u="none" strike="noStrike">
              <a:solidFill>
                <a:srgbClr val="000000"/>
              </a:solidFill>
              <a:effectLst/>
              <a:uFillTx/>
              <a:latin typeface="Times New Roman" panose="02020603050405020304"/>
            </a:endParaRPr>
          </a:p>
        </p:txBody>
      </p:sp>
      <p:sp>
        <p:nvSpPr>
          <p:cNvPr id="1037" name="文字框 1036"/>
          <p:cNvSpPr txBox="1"/>
          <p:nvPr/>
        </p:nvSpPr>
        <p:spPr>
          <a:xfrm>
            <a:off x="735480" y="148392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风险调整后收益衡量的是每单位风险所获得的回报，可以更科学地评估</a:t>
            </a:r>
            <a:endParaRPr lang="en-US" sz="1050" b="0" u="none" strike="noStrike">
              <a:solidFill>
                <a:srgbClr val="000000"/>
              </a:solidFill>
              <a:effectLst/>
              <a:uFillTx/>
              <a:latin typeface="Times New Roman" panose="02020603050405020304"/>
            </a:endParaRPr>
          </a:p>
        </p:txBody>
      </p:sp>
      <p:sp>
        <p:nvSpPr>
          <p:cNvPr id="1038" name="文字框 1037"/>
          <p:cNvSpPr txBox="1"/>
          <p:nvPr/>
        </p:nvSpPr>
        <p:spPr>
          <a:xfrm>
            <a:off x="735480" y="168480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资产表现。夏普比率（</a:t>
            </a:r>
            <a:endParaRPr lang="en-US" sz="1050" b="0" u="none" strike="noStrike">
              <a:solidFill>
                <a:srgbClr val="000000"/>
              </a:solidFill>
              <a:effectLst/>
              <a:uFillTx/>
              <a:latin typeface="Times New Roman" panose="02020603050405020304"/>
            </a:endParaRPr>
          </a:p>
        </p:txBody>
      </p:sp>
      <p:sp>
        <p:nvSpPr>
          <p:cNvPr id="1039" name="文字框 1038"/>
          <p:cNvSpPr txBox="1"/>
          <p:nvPr/>
        </p:nvSpPr>
        <p:spPr>
          <a:xfrm>
            <a:off x="2072520" y="1689480"/>
            <a:ext cx="8658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Sharpe Ratio</a:t>
            </a:r>
            <a:endParaRPr lang="en-US" sz="1050" b="0" u="none" strike="noStrike">
              <a:solidFill>
                <a:srgbClr val="000000"/>
              </a:solidFill>
              <a:effectLst/>
              <a:uFillTx/>
              <a:latin typeface="Times New Roman" panose="02020603050405020304"/>
            </a:endParaRPr>
          </a:p>
        </p:txBody>
      </p:sp>
      <p:sp>
        <p:nvSpPr>
          <p:cNvPr id="1040" name="文字框 1039"/>
          <p:cNvSpPr txBox="1"/>
          <p:nvPr/>
        </p:nvSpPr>
        <p:spPr>
          <a:xfrm>
            <a:off x="2931840" y="168480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）是最常用的衡量指标，计算的是</a:t>
            </a:r>
            <a:endParaRPr lang="en-US" sz="1050" b="0" u="none" strike="noStrike">
              <a:solidFill>
                <a:srgbClr val="000000"/>
              </a:solidFill>
              <a:effectLst/>
              <a:uFillTx/>
              <a:latin typeface="Times New Roman" panose="02020603050405020304"/>
            </a:endParaRPr>
          </a:p>
        </p:txBody>
      </p:sp>
      <p:sp>
        <p:nvSpPr>
          <p:cNvPr id="1041" name="文字框 1040"/>
          <p:cNvSpPr txBox="1"/>
          <p:nvPr/>
        </p:nvSpPr>
        <p:spPr>
          <a:xfrm>
            <a:off x="735480" y="188532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每承受一单位总风险所获得的超额回报。</a:t>
            </a:r>
            <a:endParaRPr lang="en-US" sz="1050" b="0" u="none" strike="noStrike">
              <a:solidFill>
                <a:srgbClr val="000000"/>
              </a:solidFill>
              <a:effectLst/>
              <a:uFillTx/>
              <a:latin typeface="Times New Roman" panose="02020603050405020304"/>
            </a:endParaRPr>
          </a:p>
        </p:txBody>
      </p:sp>
      <p:sp>
        <p:nvSpPr>
          <p:cNvPr id="1042" name="文字框 1041"/>
          <p:cNvSpPr txBox="1"/>
          <p:nvPr/>
        </p:nvSpPr>
        <p:spPr>
          <a:xfrm>
            <a:off x="869040" y="2362320"/>
            <a:ext cx="90612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危机期间表现</a:t>
            </a:r>
            <a:endParaRPr lang="en-US" sz="1180" b="0" u="none" strike="noStrike">
              <a:solidFill>
                <a:srgbClr val="000000"/>
              </a:solidFill>
              <a:effectLst/>
              <a:uFillTx/>
              <a:latin typeface="Times New Roman" panose="02020603050405020304"/>
            </a:endParaRPr>
          </a:p>
        </p:txBody>
      </p:sp>
      <p:sp>
        <p:nvSpPr>
          <p:cNvPr id="1043" name="文字框 1042"/>
          <p:cNvSpPr txBox="1"/>
          <p:nvPr/>
        </p:nvSpPr>
        <p:spPr>
          <a:xfrm>
            <a:off x="869040" y="265392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政府债券和黄金的夏普比率通常表现最佳。它们在市场剧烈波动时</a:t>
            </a:r>
            <a:endParaRPr lang="en-US" sz="1050" b="0" u="none" strike="noStrike">
              <a:solidFill>
                <a:srgbClr val="000000"/>
              </a:solidFill>
              <a:effectLst/>
              <a:uFillTx/>
              <a:latin typeface="Times New Roman" panose="02020603050405020304"/>
            </a:endParaRPr>
          </a:p>
        </p:txBody>
      </p:sp>
      <p:sp>
        <p:nvSpPr>
          <p:cNvPr id="1044" name="文字框 1043"/>
          <p:cNvSpPr txBox="1"/>
          <p:nvPr/>
        </p:nvSpPr>
        <p:spPr>
          <a:xfrm>
            <a:off x="869040" y="285444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提供了正回报或较小的回撤，因此其风险调整后收益非常突出。相</a:t>
            </a:r>
            <a:endParaRPr lang="en-US" sz="1050" b="0" u="none" strike="noStrike">
              <a:solidFill>
                <a:srgbClr val="000000"/>
              </a:solidFill>
              <a:effectLst/>
              <a:uFillTx/>
              <a:latin typeface="Times New Roman" panose="02020603050405020304"/>
            </a:endParaRPr>
          </a:p>
        </p:txBody>
      </p:sp>
      <p:sp>
        <p:nvSpPr>
          <p:cNvPr id="1045" name="文字框 1044"/>
          <p:cNvSpPr txBox="1"/>
          <p:nvPr/>
        </p:nvSpPr>
        <p:spPr>
          <a:xfrm>
            <a:off x="869040" y="305532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比之下，股票等风险资产的夏普比率会急剧下降，甚至变为严重的</a:t>
            </a:r>
            <a:endParaRPr lang="en-US" sz="1050" b="0" u="none" strike="noStrike">
              <a:solidFill>
                <a:srgbClr val="000000"/>
              </a:solidFill>
              <a:effectLst/>
              <a:uFillTx/>
              <a:latin typeface="Times New Roman" panose="02020603050405020304"/>
            </a:endParaRPr>
          </a:p>
        </p:txBody>
      </p:sp>
      <p:sp>
        <p:nvSpPr>
          <p:cNvPr id="1046" name="文字框 1045"/>
          <p:cNvSpPr txBox="1"/>
          <p:nvPr/>
        </p:nvSpPr>
        <p:spPr>
          <a:xfrm>
            <a:off x="869040" y="325584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负值。</a:t>
            </a:r>
            <a:endParaRPr lang="en-US" sz="1050" b="0" u="none" strike="noStrike">
              <a:solidFill>
                <a:srgbClr val="000000"/>
              </a:solidFill>
              <a:effectLst/>
              <a:uFillTx/>
              <a:latin typeface="Times New Roman" panose="02020603050405020304"/>
            </a:endParaRPr>
          </a:p>
        </p:txBody>
      </p:sp>
      <p:sp>
        <p:nvSpPr>
          <p:cNvPr id="1047" name="文字框 1046"/>
          <p:cNvSpPr txBox="1"/>
          <p:nvPr/>
        </p:nvSpPr>
        <p:spPr>
          <a:xfrm>
            <a:off x="869040" y="386640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长期视角</a:t>
            </a:r>
            <a:endParaRPr lang="en-US" sz="1180" b="0" u="none" strike="noStrike">
              <a:solidFill>
                <a:srgbClr val="000000"/>
              </a:solidFill>
              <a:effectLst/>
              <a:uFillTx/>
              <a:latin typeface="Times New Roman" panose="02020603050405020304"/>
            </a:endParaRPr>
          </a:p>
        </p:txBody>
      </p:sp>
      <p:sp>
        <p:nvSpPr>
          <p:cNvPr id="1048" name="文字框 1047"/>
          <p:cNvSpPr txBox="1"/>
          <p:nvPr/>
        </p:nvSpPr>
        <p:spPr>
          <a:xfrm>
            <a:off x="869040" y="415836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从长期来看，一个经过良好分散的投资组合（例如，包含股票、债</a:t>
            </a:r>
            <a:endParaRPr lang="en-US" sz="1050" b="0" u="none" strike="noStrike">
              <a:solidFill>
                <a:srgbClr val="000000"/>
              </a:solidFill>
              <a:effectLst/>
              <a:uFillTx/>
              <a:latin typeface="Times New Roman" panose="02020603050405020304"/>
            </a:endParaRPr>
          </a:p>
        </p:txBody>
      </p:sp>
      <p:sp>
        <p:nvSpPr>
          <p:cNvPr id="1049" name="文字框 1048"/>
          <p:cNvSpPr txBox="1"/>
          <p:nvPr/>
        </p:nvSpPr>
        <p:spPr>
          <a:xfrm>
            <a:off x="869040" y="435888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券和另类投资的组合）通常能提供比单一资产类别更高的风险调整</a:t>
            </a:r>
            <a:endParaRPr lang="en-US" sz="1050" b="0" u="none" strike="noStrike">
              <a:solidFill>
                <a:srgbClr val="000000"/>
              </a:solidFill>
              <a:effectLst/>
              <a:uFillTx/>
              <a:latin typeface="Times New Roman" panose="02020603050405020304"/>
            </a:endParaRPr>
          </a:p>
        </p:txBody>
      </p:sp>
      <p:sp>
        <p:nvSpPr>
          <p:cNvPr id="1050" name="文字框 1049"/>
          <p:cNvSpPr txBox="1"/>
          <p:nvPr/>
        </p:nvSpPr>
        <p:spPr>
          <a:xfrm>
            <a:off x="869040" y="455940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后收益。虽然股票的长期回报率最高，但其高波动性会拉低其独立</a:t>
            </a:r>
            <a:endParaRPr lang="en-US" sz="1050" b="0" u="none" strike="noStrike">
              <a:solidFill>
                <a:srgbClr val="000000"/>
              </a:solidFill>
              <a:effectLst/>
              <a:uFillTx/>
              <a:latin typeface="Times New Roman" panose="02020603050405020304"/>
            </a:endParaRPr>
          </a:p>
        </p:txBody>
      </p:sp>
      <p:sp>
        <p:nvSpPr>
          <p:cNvPr id="1051" name="任意多邊形 1050"/>
          <p:cNvSpPr/>
          <p:nvPr/>
        </p:nvSpPr>
        <p:spPr>
          <a:xfrm>
            <a:off x="735120" y="5339880"/>
            <a:ext cx="4212360" cy="8640"/>
          </a:xfrm>
          <a:custGeom>
            <a:avLst/>
            <a:gdLst/>
            <a:ahLst/>
            <a:cxnLst/>
            <a:rect l="0" t="0" r="r" b="b"/>
            <a:pathLst>
              <a:path w="11701" h="24">
                <a:moveTo>
                  <a:pt x="0" y="0"/>
                </a:moveTo>
                <a:lnTo>
                  <a:pt x="11701" y="0"/>
                </a:lnTo>
                <a:lnTo>
                  <a:pt x="11701" y="24"/>
                </a:lnTo>
                <a:lnTo>
                  <a:pt x="0" y="24"/>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052" name="圖片 1051"/>
          <p:cNvPicPr/>
          <p:nvPr/>
        </p:nvPicPr>
        <p:blipFill>
          <a:blip r:embed="rId4"/>
          <a:stretch>
            <a:fillRect/>
          </a:stretch>
        </p:blipFill>
        <p:spPr>
          <a:xfrm>
            <a:off x="735480" y="5699160"/>
            <a:ext cx="124920" cy="166680"/>
          </a:xfrm>
          <a:prstGeom prst="rect">
            <a:avLst/>
          </a:prstGeom>
          <a:noFill/>
          <a:ln w="0">
            <a:noFill/>
          </a:ln>
        </p:spPr>
      </p:pic>
      <p:sp>
        <p:nvSpPr>
          <p:cNvPr id="1053" name="文字框 1052"/>
          <p:cNvSpPr txBox="1"/>
          <p:nvPr/>
        </p:nvSpPr>
        <p:spPr>
          <a:xfrm>
            <a:off x="869040" y="475992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的夏普比率。</a:t>
            </a:r>
            <a:endParaRPr lang="en-US" sz="1050" b="0" u="none" strike="noStrike">
              <a:solidFill>
                <a:srgbClr val="000000"/>
              </a:solidFill>
              <a:effectLst/>
              <a:uFillTx/>
              <a:latin typeface="Times New Roman" panose="02020603050405020304"/>
            </a:endParaRPr>
          </a:p>
        </p:txBody>
      </p:sp>
      <p:sp>
        <p:nvSpPr>
          <p:cNvPr id="1054" name="文字框 1053"/>
          <p:cNvSpPr txBox="1"/>
          <p:nvPr/>
        </p:nvSpPr>
        <p:spPr>
          <a:xfrm>
            <a:off x="961200" y="5495400"/>
            <a:ext cx="38898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关键洞察：通过将股票与债券等负相关或低相关性的资产结合，投</a:t>
            </a:r>
            <a:endParaRPr lang="en-US" sz="1050" b="0" u="none" strike="noStrike">
              <a:solidFill>
                <a:srgbClr val="000000"/>
              </a:solidFill>
              <a:effectLst/>
              <a:uFillTx/>
              <a:latin typeface="Times New Roman" panose="02020603050405020304"/>
            </a:endParaRPr>
          </a:p>
        </p:txBody>
      </p:sp>
      <p:sp>
        <p:nvSpPr>
          <p:cNvPr id="1055" name="文字框 1054"/>
          <p:cNvSpPr txBox="1"/>
          <p:nvPr/>
        </p:nvSpPr>
        <p:spPr>
          <a:xfrm>
            <a:off x="961200" y="5695920"/>
            <a:ext cx="388980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资者可以在不牺牲过多回报的情况下，显著降低投资组合的整体波</a:t>
            </a:r>
            <a:endParaRPr lang="en-US" sz="1050" b="0" u="none" strike="noStrike">
              <a:solidFill>
                <a:srgbClr val="000000"/>
              </a:solidFill>
              <a:effectLst/>
              <a:uFillTx/>
              <a:latin typeface="Times New Roman" panose="02020603050405020304"/>
            </a:endParaRPr>
          </a:p>
        </p:txBody>
      </p:sp>
      <p:sp>
        <p:nvSpPr>
          <p:cNvPr id="1056" name="任意多邊形 1055"/>
          <p:cNvSpPr/>
          <p:nvPr/>
        </p:nvSpPr>
        <p:spPr>
          <a:xfrm>
            <a:off x="5548680" y="902520"/>
            <a:ext cx="4613400" cy="5382000"/>
          </a:xfrm>
          <a:custGeom>
            <a:avLst/>
            <a:gdLst/>
            <a:ahLst/>
            <a:cxnLst/>
            <a:rect l="0" t="0" r="r" b="b"/>
            <a:pathLst>
              <a:path w="12815" h="14950">
                <a:moveTo>
                  <a:pt x="0" y="14764"/>
                </a:moveTo>
                <a:lnTo>
                  <a:pt x="0" y="185"/>
                </a:lnTo>
                <a:cubicBezTo>
                  <a:pt x="0" y="173"/>
                  <a:pt x="1" y="161"/>
                  <a:pt x="4" y="149"/>
                </a:cubicBezTo>
                <a:cubicBezTo>
                  <a:pt x="6" y="137"/>
                  <a:pt x="9" y="125"/>
                  <a:pt x="14" y="114"/>
                </a:cubicBezTo>
                <a:cubicBezTo>
                  <a:pt x="19" y="103"/>
                  <a:pt x="24" y="92"/>
                  <a:pt x="31" y="82"/>
                </a:cubicBezTo>
                <a:cubicBezTo>
                  <a:pt x="38" y="72"/>
                  <a:pt x="46" y="63"/>
                  <a:pt x="54" y="54"/>
                </a:cubicBezTo>
                <a:cubicBezTo>
                  <a:pt x="63" y="45"/>
                  <a:pt x="72" y="38"/>
                  <a:pt x="83" y="31"/>
                </a:cubicBezTo>
                <a:cubicBezTo>
                  <a:pt x="93" y="24"/>
                  <a:pt x="103" y="18"/>
                  <a:pt x="115" y="14"/>
                </a:cubicBezTo>
                <a:cubicBezTo>
                  <a:pt x="126" y="9"/>
                  <a:pt x="137" y="5"/>
                  <a:pt x="149" y="3"/>
                </a:cubicBezTo>
                <a:cubicBezTo>
                  <a:pt x="161" y="1"/>
                  <a:pt x="173" y="0"/>
                  <a:pt x="186" y="0"/>
                </a:cubicBezTo>
                <a:lnTo>
                  <a:pt x="12629" y="0"/>
                </a:lnTo>
                <a:cubicBezTo>
                  <a:pt x="12641" y="0"/>
                  <a:pt x="12653" y="1"/>
                  <a:pt x="12665" y="3"/>
                </a:cubicBezTo>
                <a:cubicBezTo>
                  <a:pt x="12677" y="5"/>
                  <a:pt x="12689" y="9"/>
                  <a:pt x="12700" y="14"/>
                </a:cubicBezTo>
                <a:cubicBezTo>
                  <a:pt x="12711" y="18"/>
                  <a:pt x="12722" y="24"/>
                  <a:pt x="12732" y="31"/>
                </a:cubicBezTo>
                <a:cubicBezTo>
                  <a:pt x="12742" y="38"/>
                  <a:pt x="12752" y="45"/>
                  <a:pt x="12760" y="54"/>
                </a:cubicBezTo>
                <a:cubicBezTo>
                  <a:pt x="12769" y="63"/>
                  <a:pt x="12776" y="72"/>
                  <a:pt x="12783" y="82"/>
                </a:cubicBezTo>
                <a:cubicBezTo>
                  <a:pt x="12790" y="92"/>
                  <a:pt x="12796" y="103"/>
                  <a:pt x="12800" y="114"/>
                </a:cubicBezTo>
                <a:cubicBezTo>
                  <a:pt x="12805" y="125"/>
                  <a:pt x="12809" y="137"/>
                  <a:pt x="12811" y="149"/>
                </a:cubicBezTo>
                <a:cubicBezTo>
                  <a:pt x="12813" y="161"/>
                  <a:pt x="12815" y="173"/>
                  <a:pt x="12815" y="185"/>
                </a:cubicBezTo>
                <a:lnTo>
                  <a:pt x="12815" y="14764"/>
                </a:lnTo>
                <a:cubicBezTo>
                  <a:pt x="12815" y="14776"/>
                  <a:pt x="12813" y="14788"/>
                  <a:pt x="12811" y="14800"/>
                </a:cubicBezTo>
                <a:cubicBezTo>
                  <a:pt x="12809" y="14812"/>
                  <a:pt x="12805" y="14824"/>
                  <a:pt x="12800" y="14835"/>
                </a:cubicBezTo>
                <a:cubicBezTo>
                  <a:pt x="12796" y="14846"/>
                  <a:pt x="12790" y="14857"/>
                  <a:pt x="12783" y="14867"/>
                </a:cubicBezTo>
                <a:cubicBezTo>
                  <a:pt x="12776" y="14877"/>
                  <a:pt x="12769" y="14887"/>
                  <a:pt x="12760" y="14895"/>
                </a:cubicBezTo>
                <a:cubicBezTo>
                  <a:pt x="12752" y="14904"/>
                  <a:pt x="12742" y="14912"/>
                  <a:pt x="12732" y="14918"/>
                </a:cubicBezTo>
                <a:cubicBezTo>
                  <a:pt x="12722" y="14925"/>
                  <a:pt x="12711" y="14931"/>
                  <a:pt x="12700" y="14936"/>
                </a:cubicBezTo>
                <a:cubicBezTo>
                  <a:pt x="12689" y="14940"/>
                  <a:pt x="12677" y="14944"/>
                  <a:pt x="12665" y="14946"/>
                </a:cubicBezTo>
                <a:cubicBezTo>
                  <a:pt x="12653" y="14949"/>
                  <a:pt x="12641" y="14950"/>
                  <a:pt x="12629" y="14950"/>
                </a:cubicBezTo>
                <a:lnTo>
                  <a:pt x="186" y="14950"/>
                </a:lnTo>
                <a:cubicBezTo>
                  <a:pt x="173" y="14950"/>
                  <a:pt x="161" y="14949"/>
                  <a:pt x="149" y="14946"/>
                </a:cubicBezTo>
                <a:cubicBezTo>
                  <a:pt x="137" y="14944"/>
                  <a:pt x="126" y="14940"/>
                  <a:pt x="115" y="14936"/>
                </a:cubicBezTo>
                <a:cubicBezTo>
                  <a:pt x="103" y="14931"/>
                  <a:pt x="93" y="14925"/>
                  <a:pt x="83" y="14918"/>
                </a:cubicBezTo>
                <a:cubicBezTo>
                  <a:pt x="72" y="14912"/>
                  <a:pt x="63" y="14904"/>
                  <a:pt x="54" y="14895"/>
                </a:cubicBezTo>
                <a:cubicBezTo>
                  <a:pt x="46" y="14887"/>
                  <a:pt x="38" y="14877"/>
                  <a:pt x="31" y="14867"/>
                </a:cubicBezTo>
                <a:cubicBezTo>
                  <a:pt x="24" y="14857"/>
                  <a:pt x="19" y="14846"/>
                  <a:pt x="14" y="14835"/>
                </a:cubicBezTo>
                <a:cubicBezTo>
                  <a:pt x="9" y="14824"/>
                  <a:pt x="6" y="14812"/>
                  <a:pt x="4" y="14800"/>
                </a:cubicBezTo>
                <a:cubicBezTo>
                  <a:pt x="1" y="14788"/>
                  <a:pt x="0" y="14776"/>
                  <a:pt x="0" y="14764"/>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57" name="文字框 1056"/>
          <p:cNvSpPr txBox="1"/>
          <p:nvPr/>
        </p:nvSpPr>
        <p:spPr>
          <a:xfrm>
            <a:off x="961200" y="5896440"/>
            <a:ext cx="2414880" cy="169560"/>
          </a:xfrm>
          <a:prstGeom prst="rect">
            <a:avLst/>
          </a:prstGeom>
          <a:noFill/>
          <a:ln w="0">
            <a:noFill/>
          </a:ln>
        </p:spPr>
        <p:txBody>
          <a:bodyPr wrap="none" lIns="0" tIns="0" rIns="0" bIns="0" anchor="t">
            <a:spAutoFit/>
          </a:bodyPr>
          <a:p>
            <a:r>
              <a:rPr lang="zh-CN" sz="1050" b="0" u="none" strike="noStrike">
                <a:solidFill>
                  <a:srgbClr val="FFFFFF"/>
                </a:solidFill>
                <a:effectLst/>
                <a:uFillTx/>
                <a:latin typeface="WenQuanYiZenHei"/>
                <a:ea typeface="WenQuanYiZenHei"/>
              </a:rPr>
              <a:t>动性，从而优化长期的风险调整后收益。</a:t>
            </a:r>
            <a:endParaRPr lang="en-US" sz="1050" b="0" u="none" strike="noStrike">
              <a:solidFill>
                <a:srgbClr val="000000"/>
              </a:solidFill>
              <a:effectLst/>
              <a:uFillTx/>
              <a:latin typeface="Times New Roman" panose="02020603050405020304"/>
            </a:endParaRPr>
          </a:p>
        </p:txBody>
      </p:sp>
      <p:pic>
        <p:nvPicPr>
          <p:cNvPr id="1058" name="圖片 1057"/>
          <p:cNvPicPr/>
          <p:nvPr/>
        </p:nvPicPr>
        <p:blipFill>
          <a:blip r:embed="rId5"/>
          <a:stretch>
            <a:fillRect/>
          </a:stretch>
        </p:blipFill>
        <p:spPr>
          <a:xfrm>
            <a:off x="5749560" y="1470600"/>
            <a:ext cx="4211280" cy="2139120"/>
          </a:xfrm>
          <a:prstGeom prst="rect">
            <a:avLst/>
          </a:prstGeom>
          <a:noFill/>
          <a:ln w="0">
            <a:noFill/>
          </a:ln>
        </p:spPr>
      </p:pic>
      <p:sp>
        <p:nvSpPr>
          <p:cNvPr id="1059" name="任意多邊形 1058"/>
          <p:cNvSpPr/>
          <p:nvPr/>
        </p:nvSpPr>
        <p:spPr>
          <a:xfrm>
            <a:off x="5766120" y="3810600"/>
            <a:ext cx="1295640" cy="1069920"/>
          </a:xfrm>
          <a:custGeom>
            <a:avLst/>
            <a:gdLst/>
            <a:ahLst/>
            <a:cxnLst/>
            <a:rect l="0" t="0" r="r" b="b"/>
            <a:pathLst>
              <a:path w="3599" h="2972">
                <a:moveTo>
                  <a:pt x="0" y="2786"/>
                </a:moveTo>
                <a:lnTo>
                  <a:pt x="0" y="185"/>
                </a:lnTo>
                <a:cubicBezTo>
                  <a:pt x="0" y="173"/>
                  <a:pt x="0" y="161"/>
                  <a:pt x="2" y="149"/>
                </a:cubicBezTo>
                <a:cubicBezTo>
                  <a:pt x="4" y="137"/>
                  <a:pt x="7" y="126"/>
                  <a:pt x="10" y="114"/>
                </a:cubicBezTo>
                <a:cubicBezTo>
                  <a:pt x="14" y="103"/>
                  <a:pt x="18" y="92"/>
                  <a:pt x="23" y="82"/>
                </a:cubicBezTo>
                <a:cubicBezTo>
                  <a:pt x="28" y="72"/>
                  <a:pt x="34" y="63"/>
                  <a:pt x="40" y="54"/>
                </a:cubicBezTo>
                <a:cubicBezTo>
                  <a:pt x="47" y="45"/>
                  <a:pt x="54" y="38"/>
                  <a:pt x="61" y="31"/>
                </a:cubicBezTo>
                <a:cubicBezTo>
                  <a:pt x="69" y="24"/>
                  <a:pt x="77" y="18"/>
                  <a:pt x="85" y="14"/>
                </a:cubicBezTo>
                <a:cubicBezTo>
                  <a:pt x="94" y="9"/>
                  <a:pt x="103" y="6"/>
                  <a:pt x="112" y="3"/>
                </a:cubicBezTo>
                <a:cubicBezTo>
                  <a:pt x="121" y="1"/>
                  <a:pt x="130" y="0"/>
                  <a:pt x="139" y="0"/>
                </a:cubicBezTo>
                <a:lnTo>
                  <a:pt x="3413" y="0"/>
                </a:lnTo>
                <a:cubicBezTo>
                  <a:pt x="3425" y="0"/>
                  <a:pt x="3437" y="1"/>
                  <a:pt x="3449" y="3"/>
                </a:cubicBezTo>
                <a:cubicBezTo>
                  <a:pt x="3461" y="6"/>
                  <a:pt x="3473" y="9"/>
                  <a:pt x="3484" y="14"/>
                </a:cubicBezTo>
                <a:cubicBezTo>
                  <a:pt x="3495" y="18"/>
                  <a:pt x="3506" y="24"/>
                  <a:pt x="3516" y="31"/>
                </a:cubicBezTo>
                <a:cubicBezTo>
                  <a:pt x="3526" y="38"/>
                  <a:pt x="3536" y="45"/>
                  <a:pt x="3544" y="54"/>
                </a:cubicBezTo>
                <a:cubicBezTo>
                  <a:pt x="3553" y="63"/>
                  <a:pt x="3560" y="72"/>
                  <a:pt x="3567" y="82"/>
                </a:cubicBezTo>
                <a:cubicBezTo>
                  <a:pt x="3574" y="92"/>
                  <a:pt x="3580" y="103"/>
                  <a:pt x="3584" y="114"/>
                </a:cubicBezTo>
                <a:cubicBezTo>
                  <a:pt x="3589" y="126"/>
                  <a:pt x="3593" y="137"/>
                  <a:pt x="3595" y="149"/>
                </a:cubicBezTo>
                <a:cubicBezTo>
                  <a:pt x="3597" y="161"/>
                  <a:pt x="3599" y="173"/>
                  <a:pt x="3599" y="185"/>
                </a:cubicBezTo>
                <a:lnTo>
                  <a:pt x="3599" y="2786"/>
                </a:lnTo>
                <a:cubicBezTo>
                  <a:pt x="3599" y="2798"/>
                  <a:pt x="3597" y="2810"/>
                  <a:pt x="3595" y="2822"/>
                </a:cubicBezTo>
                <a:cubicBezTo>
                  <a:pt x="3593" y="2834"/>
                  <a:pt x="3589" y="2846"/>
                  <a:pt x="3584" y="2857"/>
                </a:cubicBezTo>
                <a:cubicBezTo>
                  <a:pt x="3580" y="2869"/>
                  <a:pt x="3574" y="2879"/>
                  <a:pt x="3567" y="2889"/>
                </a:cubicBezTo>
                <a:cubicBezTo>
                  <a:pt x="3560" y="2900"/>
                  <a:pt x="3553" y="2909"/>
                  <a:pt x="3544" y="2918"/>
                </a:cubicBezTo>
                <a:cubicBezTo>
                  <a:pt x="3536" y="2926"/>
                  <a:pt x="3526" y="2934"/>
                  <a:pt x="3516" y="2941"/>
                </a:cubicBezTo>
                <a:cubicBezTo>
                  <a:pt x="3506" y="2947"/>
                  <a:pt x="3495" y="2953"/>
                  <a:pt x="3484" y="2958"/>
                </a:cubicBezTo>
                <a:cubicBezTo>
                  <a:pt x="3473" y="2962"/>
                  <a:pt x="3461" y="2966"/>
                  <a:pt x="3449" y="2968"/>
                </a:cubicBezTo>
                <a:cubicBezTo>
                  <a:pt x="3437" y="2971"/>
                  <a:pt x="3425" y="2972"/>
                  <a:pt x="3413" y="2972"/>
                </a:cubicBezTo>
                <a:lnTo>
                  <a:pt x="139" y="2972"/>
                </a:lnTo>
                <a:cubicBezTo>
                  <a:pt x="130" y="2972"/>
                  <a:pt x="121" y="2971"/>
                  <a:pt x="112" y="2968"/>
                </a:cubicBezTo>
                <a:cubicBezTo>
                  <a:pt x="103" y="2966"/>
                  <a:pt x="94" y="2962"/>
                  <a:pt x="85" y="2958"/>
                </a:cubicBezTo>
                <a:cubicBezTo>
                  <a:pt x="77" y="2953"/>
                  <a:pt x="69" y="2947"/>
                  <a:pt x="61" y="2941"/>
                </a:cubicBezTo>
                <a:cubicBezTo>
                  <a:pt x="54" y="2934"/>
                  <a:pt x="47" y="2926"/>
                  <a:pt x="40" y="2918"/>
                </a:cubicBezTo>
                <a:cubicBezTo>
                  <a:pt x="34" y="2909"/>
                  <a:pt x="28" y="2900"/>
                  <a:pt x="23" y="2889"/>
                </a:cubicBezTo>
                <a:cubicBezTo>
                  <a:pt x="18" y="2879"/>
                  <a:pt x="14" y="2869"/>
                  <a:pt x="10" y="2857"/>
                </a:cubicBezTo>
                <a:cubicBezTo>
                  <a:pt x="7" y="2846"/>
                  <a:pt x="4" y="2834"/>
                  <a:pt x="2" y="2822"/>
                </a:cubicBezTo>
                <a:cubicBezTo>
                  <a:pt x="0" y="2810"/>
                  <a:pt x="0" y="2798"/>
                  <a:pt x="0" y="278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60" name="任意多邊形 1059"/>
          <p:cNvSpPr/>
          <p:nvPr/>
        </p:nvSpPr>
        <p:spPr>
          <a:xfrm>
            <a:off x="5749200" y="3810600"/>
            <a:ext cx="67320" cy="1069920"/>
          </a:xfrm>
          <a:custGeom>
            <a:avLst/>
            <a:gdLst/>
            <a:ahLst/>
            <a:cxnLst/>
            <a:rect l="0" t="0" r="r" b="b"/>
            <a:pathLst>
              <a:path w="187" h="2972">
                <a:moveTo>
                  <a:pt x="151" y="14"/>
                </a:moveTo>
                <a:cubicBezTo>
                  <a:pt x="140" y="23"/>
                  <a:pt x="130" y="37"/>
                  <a:pt x="121" y="54"/>
                </a:cubicBezTo>
                <a:cubicBezTo>
                  <a:pt x="112" y="71"/>
                  <a:pt x="106" y="92"/>
                  <a:pt x="101" y="114"/>
                </a:cubicBezTo>
                <a:cubicBezTo>
                  <a:pt x="96" y="137"/>
                  <a:pt x="94" y="161"/>
                  <a:pt x="94" y="185"/>
                </a:cubicBezTo>
                <a:lnTo>
                  <a:pt x="94" y="2786"/>
                </a:lnTo>
                <a:cubicBezTo>
                  <a:pt x="94" y="2811"/>
                  <a:pt x="96" y="2835"/>
                  <a:pt x="101" y="2857"/>
                </a:cubicBezTo>
                <a:cubicBezTo>
                  <a:pt x="106" y="2880"/>
                  <a:pt x="112" y="2900"/>
                  <a:pt x="121" y="2918"/>
                </a:cubicBezTo>
                <a:cubicBezTo>
                  <a:pt x="130" y="2935"/>
                  <a:pt x="140" y="2948"/>
                  <a:pt x="151" y="2958"/>
                </a:cubicBezTo>
                <a:cubicBezTo>
                  <a:pt x="163" y="2967"/>
                  <a:pt x="174" y="2972"/>
                  <a:pt x="187" y="2972"/>
                </a:cubicBezTo>
                <a:cubicBezTo>
                  <a:pt x="162" y="2972"/>
                  <a:pt x="138" y="2967"/>
                  <a:pt x="116" y="2958"/>
                </a:cubicBezTo>
                <a:cubicBezTo>
                  <a:pt x="93" y="2948"/>
                  <a:pt x="73" y="2935"/>
                  <a:pt x="55" y="2918"/>
                </a:cubicBezTo>
                <a:cubicBezTo>
                  <a:pt x="38" y="2900"/>
                  <a:pt x="24" y="2880"/>
                  <a:pt x="14" y="2857"/>
                </a:cubicBezTo>
                <a:cubicBezTo>
                  <a:pt x="5" y="2835"/>
                  <a:pt x="0" y="2811"/>
                  <a:pt x="0" y="2786"/>
                </a:cubicBezTo>
                <a:lnTo>
                  <a:pt x="0" y="185"/>
                </a:lnTo>
                <a:cubicBezTo>
                  <a:pt x="0" y="161"/>
                  <a:pt x="5" y="137"/>
                  <a:pt x="14" y="114"/>
                </a:cubicBezTo>
                <a:cubicBezTo>
                  <a:pt x="24" y="92"/>
                  <a:pt x="38" y="71"/>
                  <a:pt x="55" y="54"/>
                </a:cubicBezTo>
                <a:cubicBezTo>
                  <a:pt x="73" y="37"/>
                  <a:pt x="93" y="23"/>
                  <a:pt x="116" y="14"/>
                </a:cubicBezTo>
                <a:cubicBezTo>
                  <a:pt x="138" y="4"/>
                  <a:pt x="162" y="0"/>
                  <a:pt x="187" y="0"/>
                </a:cubicBezTo>
                <a:cubicBezTo>
                  <a:pt x="174" y="0"/>
                  <a:pt x="163" y="4"/>
                  <a:pt x="151" y="14"/>
                </a:cubicBezTo>
                <a:close/>
              </a:path>
            </a:pathLst>
          </a:custGeom>
          <a:solidFill>
            <a:srgbClr val="10B981"/>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061" name="圖片 1060"/>
          <p:cNvPicPr/>
          <p:nvPr/>
        </p:nvPicPr>
        <p:blipFill>
          <a:blip r:embed="rId6"/>
          <a:stretch>
            <a:fillRect/>
          </a:stretch>
        </p:blipFill>
        <p:spPr>
          <a:xfrm>
            <a:off x="6325920" y="3944520"/>
            <a:ext cx="200160" cy="200160"/>
          </a:xfrm>
          <a:prstGeom prst="rect">
            <a:avLst/>
          </a:prstGeom>
          <a:noFill/>
          <a:ln w="0">
            <a:noFill/>
          </a:ln>
        </p:spPr>
      </p:pic>
      <p:sp>
        <p:nvSpPr>
          <p:cNvPr id="1062" name="文字框 1061"/>
          <p:cNvSpPr txBox="1"/>
          <p:nvPr/>
        </p:nvSpPr>
        <p:spPr>
          <a:xfrm>
            <a:off x="6769080" y="1117800"/>
            <a:ext cx="218016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不同资产风险调整后收益比较</a:t>
            </a:r>
            <a:endParaRPr lang="en-US" sz="1320" b="0" u="none" strike="noStrike">
              <a:solidFill>
                <a:srgbClr val="000000"/>
              </a:solidFill>
              <a:effectLst/>
              <a:uFillTx/>
              <a:latin typeface="Times New Roman" panose="02020603050405020304"/>
            </a:endParaRPr>
          </a:p>
        </p:txBody>
      </p:sp>
      <p:sp>
        <p:nvSpPr>
          <p:cNvPr id="1063" name="文字框 1062"/>
          <p:cNvSpPr txBox="1"/>
          <p:nvPr/>
        </p:nvSpPr>
        <p:spPr>
          <a:xfrm>
            <a:off x="6122520" y="423396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政府债券</a:t>
            </a:r>
            <a:endParaRPr lang="en-US" sz="1180" b="0" u="none" strike="noStrike">
              <a:solidFill>
                <a:srgbClr val="000000"/>
              </a:solidFill>
              <a:effectLst/>
              <a:uFillTx/>
              <a:latin typeface="Times New Roman" panose="02020603050405020304"/>
            </a:endParaRPr>
          </a:p>
        </p:txBody>
      </p:sp>
      <p:sp>
        <p:nvSpPr>
          <p:cNvPr id="1064" name="文字框 1063"/>
          <p:cNvSpPr txBox="1"/>
          <p:nvPr/>
        </p:nvSpPr>
        <p:spPr>
          <a:xfrm>
            <a:off x="6089760" y="4483080"/>
            <a:ext cx="40320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危机期间</a:t>
            </a:r>
            <a:endParaRPr lang="en-US" sz="790" b="0" u="none" strike="noStrike">
              <a:solidFill>
                <a:srgbClr val="000000"/>
              </a:solidFill>
              <a:effectLst/>
              <a:uFillTx/>
              <a:latin typeface="Times New Roman" panose="02020603050405020304"/>
            </a:endParaRPr>
          </a:p>
        </p:txBody>
      </p:sp>
      <p:sp>
        <p:nvSpPr>
          <p:cNvPr id="1065" name="文字框 1064"/>
          <p:cNvSpPr txBox="1"/>
          <p:nvPr/>
        </p:nvSpPr>
        <p:spPr>
          <a:xfrm>
            <a:off x="6490800" y="448632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66" name="文字框 1065"/>
          <p:cNvSpPr txBox="1"/>
          <p:nvPr/>
        </p:nvSpPr>
        <p:spPr>
          <a:xfrm>
            <a:off x="6556680" y="4483080"/>
            <a:ext cx="201960" cy="128520"/>
          </a:xfrm>
          <a:prstGeom prst="rect">
            <a:avLst/>
          </a:prstGeom>
          <a:noFill/>
          <a:ln w="0">
            <a:noFill/>
          </a:ln>
        </p:spPr>
        <p:txBody>
          <a:bodyPr wrap="none" lIns="0" tIns="0" rIns="0" bIns="0" anchor="t">
            <a:spAutoFit/>
          </a:bodyPr>
          <a:p>
            <a:r>
              <a:rPr lang="zh-CN" sz="790" b="0" u="none" strike="noStrike">
                <a:solidFill>
                  <a:srgbClr val="34D399"/>
                </a:solidFill>
                <a:effectLst/>
                <a:uFillTx/>
                <a:latin typeface="WenQuanYiZenHei"/>
                <a:ea typeface="WenQuanYiZenHei"/>
              </a:rPr>
              <a:t>极高</a:t>
            </a:r>
            <a:endParaRPr lang="en-US" sz="790" b="0" u="none" strike="noStrike">
              <a:solidFill>
                <a:srgbClr val="000000"/>
              </a:solidFill>
              <a:effectLst/>
              <a:uFillTx/>
              <a:latin typeface="Times New Roman" panose="02020603050405020304"/>
            </a:endParaRPr>
          </a:p>
        </p:txBody>
      </p:sp>
      <p:sp>
        <p:nvSpPr>
          <p:cNvPr id="1067" name="文字框 1066"/>
          <p:cNvSpPr txBox="1"/>
          <p:nvPr/>
        </p:nvSpPr>
        <p:spPr>
          <a:xfrm>
            <a:off x="6190200" y="4616640"/>
            <a:ext cx="20196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长期</a:t>
            </a:r>
            <a:endParaRPr lang="en-US" sz="790" b="0" u="none" strike="noStrike">
              <a:solidFill>
                <a:srgbClr val="000000"/>
              </a:solidFill>
              <a:effectLst/>
              <a:uFillTx/>
              <a:latin typeface="Times New Roman" panose="02020603050405020304"/>
            </a:endParaRPr>
          </a:p>
        </p:txBody>
      </p:sp>
      <p:sp>
        <p:nvSpPr>
          <p:cNvPr id="1068" name="文字框 1067"/>
          <p:cNvSpPr txBox="1"/>
          <p:nvPr/>
        </p:nvSpPr>
        <p:spPr>
          <a:xfrm>
            <a:off x="6390720" y="462024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69" name="任意多邊形 1068"/>
          <p:cNvSpPr/>
          <p:nvPr/>
        </p:nvSpPr>
        <p:spPr>
          <a:xfrm>
            <a:off x="7211520" y="3810600"/>
            <a:ext cx="1304280" cy="1069920"/>
          </a:xfrm>
          <a:custGeom>
            <a:avLst/>
            <a:gdLst/>
            <a:ahLst/>
            <a:cxnLst/>
            <a:rect l="0" t="0" r="r" b="b"/>
            <a:pathLst>
              <a:path w="3623" h="2972">
                <a:moveTo>
                  <a:pt x="0" y="2786"/>
                </a:moveTo>
                <a:lnTo>
                  <a:pt x="0" y="185"/>
                </a:lnTo>
                <a:cubicBezTo>
                  <a:pt x="0" y="173"/>
                  <a:pt x="1" y="161"/>
                  <a:pt x="3" y="149"/>
                </a:cubicBezTo>
                <a:cubicBezTo>
                  <a:pt x="5" y="137"/>
                  <a:pt x="7" y="126"/>
                  <a:pt x="11" y="114"/>
                </a:cubicBezTo>
                <a:cubicBezTo>
                  <a:pt x="14" y="103"/>
                  <a:pt x="19" y="92"/>
                  <a:pt x="24" y="82"/>
                </a:cubicBezTo>
                <a:cubicBezTo>
                  <a:pt x="29" y="72"/>
                  <a:pt x="35" y="63"/>
                  <a:pt x="41" y="54"/>
                </a:cubicBezTo>
                <a:cubicBezTo>
                  <a:pt x="48" y="45"/>
                  <a:pt x="55" y="38"/>
                  <a:pt x="62" y="31"/>
                </a:cubicBezTo>
                <a:cubicBezTo>
                  <a:pt x="70" y="24"/>
                  <a:pt x="78" y="18"/>
                  <a:pt x="86" y="14"/>
                </a:cubicBezTo>
                <a:cubicBezTo>
                  <a:pt x="95" y="9"/>
                  <a:pt x="104" y="6"/>
                  <a:pt x="112" y="3"/>
                </a:cubicBezTo>
                <a:cubicBezTo>
                  <a:pt x="121" y="1"/>
                  <a:pt x="130" y="0"/>
                  <a:pt x="140" y="0"/>
                </a:cubicBezTo>
                <a:lnTo>
                  <a:pt x="3436" y="0"/>
                </a:lnTo>
                <a:cubicBezTo>
                  <a:pt x="3448" y="0"/>
                  <a:pt x="3460" y="1"/>
                  <a:pt x="3472" y="3"/>
                </a:cubicBezTo>
                <a:cubicBezTo>
                  <a:pt x="3484" y="6"/>
                  <a:pt x="3496" y="9"/>
                  <a:pt x="3508" y="14"/>
                </a:cubicBezTo>
                <a:cubicBezTo>
                  <a:pt x="3519" y="18"/>
                  <a:pt x="3530" y="24"/>
                  <a:pt x="3540" y="31"/>
                </a:cubicBezTo>
                <a:cubicBezTo>
                  <a:pt x="3550" y="38"/>
                  <a:pt x="3560" y="45"/>
                  <a:pt x="3568" y="54"/>
                </a:cubicBezTo>
                <a:cubicBezTo>
                  <a:pt x="3577" y="63"/>
                  <a:pt x="3585" y="72"/>
                  <a:pt x="3591" y="82"/>
                </a:cubicBezTo>
                <a:cubicBezTo>
                  <a:pt x="3598" y="92"/>
                  <a:pt x="3604" y="103"/>
                  <a:pt x="3608" y="114"/>
                </a:cubicBezTo>
                <a:cubicBezTo>
                  <a:pt x="3613" y="126"/>
                  <a:pt x="3617" y="137"/>
                  <a:pt x="3619" y="149"/>
                </a:cubicBezTo>
                <a:cubicBezTo>
                  <a:pt x="3621" y="161"/>
                  <a:pt x="3623" y="173"/>
                  <a:pt x="3623" y="185"/>
                </a:cubicBezTo>
                <a:lnTo>
                  <a:pt x="3623" y="2786"/>
                </a:lnTo>
                <a:cubicBezTo>
                  <a:pt x="3623" y="2798"/>
                  <a:pt x="3621" y="2810"/>
                  <a:pt x="3619" y="2822"/>
                </a:cubicBezTo>
                <a:cubicBezTo>
                  <a:pt x="3617" y="2834"/>
                  <a:pt x="3613" y="2846"/>
                  <a:pt x="3608" y="2857"/>
                </a:cubicBezTo>
                <a:cubicBezTo>
                  <a:pt x="3604" y="2869"/>
                  <a:pt x="3598" y="2879"/>
                  <a:pt x="3591" y="2889"/>
                </a:cubicBezTo>
                <a:cubicBezTo>
                  <a:pt x="3585" y="2900"/>
                  <a:pt x="3577" y="2909"/>
                  <a:pt x="3568" y="2918"/>
                </a:cubicBezTo>
                <a:cubicBezTo>
                  <a:pt x="3560" y="2926"/>
                  <a:pt x="3550" y="2934"/>
                  <a:pt x="3540" y="2941"/>
                </a:cubicBezTo>
                <a:cubicBezTo>
                  <a:pt x="3530" y="2947"/>
                  <a:pt x="3519" y="2953"/>
                  <a:pt x="3508" y="2958"/>
                </a:cubicBezTo>
                <a:cubicBezTo>
                  <a:pt x="3496" y="2962"/>
                  <a:pt x="3484" y="2966"/>
                  <a:pt x="3472" y="2968"/>
                </a:cubicBezTo>
                <a:cubicBezTo>
                  <a:pt x="3460" y="2971"/>
                  <a:pt x="3448" y="2972"/>
                  <a:pt x="3436" y="2972"/>
                </a:cubicBezTo>
                <a:lnTo>
                  <a:pt x="140" y="2972"/>
                </a:lnTo>
                <a:cubicBezTo>
                  <a:pt x="130" y="2972"/>
                  <a:pt x="121" y="2971"/>
                  <a:pt x="112" y="2968"/>
                </a:cubicBezTo>
                <a:cubicBezTo>
                  <a:pt x="104" y="2966"/>
                  <a:pt x="95" y="2962"/>
                  <a:pt x="86" y="2958"/>
                </a:cubicBezTo>
                <a:cubicBezTo>
                  <a:pt x="78" y="2953"/>
                  <a:pt x="70" y="2947"/>
                  <a:pt x="62" y="2941"/>
                </a:cubicBezTo>
                <a:cubicBezTo>
                  <a:pt x="55" y="2934"/>
                  <a:pt x="48" y="2926"/>
                  <a:pt x="41" y="2918"/>
                </a:cubicBezTo>
                <a:cubicBezTo>
                  <a:pt x="35" y="2909"/>
                  <a:pt x="29" y="2900"/>
                  <a:pt x="24" y="2889"/>
                </a:cubicBezTo>
                <a:cubicBezTo>
                  <a:pt x="19" y="2879"/>
                  <a:pt x="14" y="2869"/>
                  <a:pt x="11" y="2857"/>
                </a:cubicBezTo>
                <a:cubicBezTo>
                  <a:pt x="7" y="2846"/>
                  <a:pt x="5" y="2834"/>
                  <a:pt x="3" y="2822"/>
                </a:cubicBezTo>
                <a:cubicBezTo>
                  <a:pt x="1" y="2810"/>
                  <a:pt x="0" y="2798"/>
                  <a:pt x="0" y="278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70" name="任意多邊形 1069"/>
          <p:cNvSpPr/>
          <p:nvPr/>
        </p:nvSpPr>
        <p:spPr>
          <a:xfrm>
            <a:off x="7194960" y="3810600"/>
            <a:ext cx="67320" cy="1069920"/>
          </a:xfrm>
          <a:custGeom>
            <a:avLst/>
            <a:gdLst/>
            <a:ahLst/>
            <a:cxnLst/>
            <a:rect l="0" t="0" r="r" b="b"/>
            <a:pathLst>
              <a:path w="187" h="2972">
                <a:moveTo>
                  <a:pt x="151" y="14"/>
                </a:moveTo>
                <a:cubicBezTo>
                  <a:pt x="140" y="23"/>
                  <a:pt x="130" y="37"/>
                  <a:pt x="121" y="54"/>
                </a:cubicBezTo>
                <a:cubicBezTo>
                  <a:pt x="112" y="71"/>
                  <a:pt x="106" y="92"/>
                  <a:pt x="101" y="114"/>
                </a:cubicBezTo>
                <a:cubicBezTo>
                  <a:pt x="96" y="137"/>
                  <a:pt x="94" y="161"/>
                  <a:pt x="94" y="185"/>
                </a:cubicBezTo>
                <a:lnTo>
                  <a:pt x="94" y="2786"/>
                </a:lnTo>
                <a:cubicBezTo>
                  <a:pt x="94" y="2811"/>
                  <a:pt x="96" y="2835"/>
                  <a:pt x="101" y="2857"/>
                </a:cubicBezTo>
                <a:cubicBezTo>
                  <a:pt x="106" y="2880"/>
                  <a:pt x="112" y="2900"/>
                  <a:pt x="121" y="2918"/>
                </a:cubicBezTo>
                <a:cubicBezTo>
                  <a:pt x="130" y="2935"/>
                  <a:pt x="140" y="2948"/>
                  <a:pt x="151" y="2958"/>
                </a:cubicBezTo>
                <a:cubicBezTo>
                  <a:pt x="162" y="2967"/>
                  <a:pt x="174" y="2972"/>
                  <a:pt x="187" y="2972"/>
                </a:cubicBezTo>
                <a:cubicBezTo>
                  <a:pt x="162" y="2972"/>
                  <a:pt x="138" y="2967"/>
                  <a:pt x="116" y="2958"/>
                </a:cubicBezTo>
                <a:cubicBezTo>
                  <a:pt x="93" y="2948"/>
                  <a:pt x="72" y="2935"/>
                  <a:pt x="54" y="2918"/>
                </a:cubicBezTo>
                <a:cubicBezTo>
                  <a:pt x="37" y="2900"/>
                  <a:pt x="24" y="2880"/>
                  <a:pt x="14" y="2857"/>
                </a:cubicBezTo>
                <a:cubicBezTo>
                  <a:pt x="5" y="2835"/>
                  <a:pt x="0" y="2811"/>
                  <a:pt x="0" y="2786"/>
                </a:cubicBezTo>
                <a:lnTo>
                  <a:pt x="0" y="185"/>
                </a:lnTo>
                <a:cubicBezTo>
                  <a:pt x="0" y="161"/>
                  <a:pt x="5" y="137"/>
                  <a:pt x="14" y="114"/>
                </a:cubicBezTo>
                <a:cubicBezTo>
                  <a:pt x="24" y="92"/>
                  <a:pt x="37" y="71"/>
                  <a:pt x="54" y="54"/>
                </a:cubicBezTo>
                <a:cubicBezTo>
                  <a:pt x="72" y="37"/>
                  <a:pt x="93" y="23"/>
                  <a:pt x="116" y="14"/>
                </a:cubicBezTo>
                <a:cubicBezTo>
                  <a:pt x="138" y="4"/>
                  <a:pt x="162" y="0"/>
                  <a:pt x="187" y="0"/>
                </a:cubicBezTo>
                <a:cubicBezTo>
                  <a:pt x="174" y="0"/>
                  <a:pt x="162" y="4"/>
                  <a:pt x="151" y="14"/>
                </a:cubicBezTo>
                <a:close/>
              </a:path>
            </a:pathLst>
          </a:custGeom>
          <a:solidFill>
            <a:srgbClr val="F59E0B"/>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071" name="圖片 1070"/>
          <p:cNvPicPr/>
          <p:nvPr/>
        </p:nvPicPr>
        <p:blipFill>
          <a:blip r:embed="rId7"/>
          <a:stretch>
            <a:fillRect/>
          </a:stretch>
        </p:blipFill>
        <p:spPr>
          <a:xfrm>
            <a:off x="7771680" y="3944520"/>
            <a:ext cx="200160" cy="200160"/>
          </a:xfrm>
          <a:prstGeom prst="rect">
            <a:avLst/>
          </a:prstGeom>
          <a:noFill/>
          <a:ln w="0">
            <a:noFill/>
          </a:ln>
        </p:spPr>
      </p:pic>
      <p:sp>
        <p:nvSpPr>
          <p:cNvPr id="1072" name="文字框 1071"/>
          <p:cNvSpPr txBox="1"/>
          <p:nvPr/>
        </p:nvSpPr>
        <p:spPr>
          <a:xfrm>
            <a:off x="6456240" y="4616640"/>
            <a:ext cx="201960" cy="128520"/>
          </a:xfrm>
          <a:prstGeom prst="rect">
            <a:avLst/>
          </a:prstGeom>
          <a:noFill/>
          <a:ln w="0">
            <a:noFill/>
          </a:ln>
        </p:spPr>
        <p:txBody>
          <a:bodyPr wrap="none" lIns="0" tIns="0" rIns="0" bIns="0" anchor="t">
            <a:spAutoFit/>
          </a:bodyPr>
          <a:p>
            <a:r>
              <a:rPr lang="zh-CN" sz="790" b="0" u="none" strike="noStrike">
                <a:solidFill>
                  <a:srgbClr val="FBBF24"/>
                </a:solidFill>
                <a:effectLst/>
                <a:uFillTx/>
                <a:latin typeface="WenQuanYiZenHei"/>
                <a:ea typeface="WenQuanYiZenHei"/>
              </a:rPr>
              <a:t>中等</a:t>
            </a:r>
            <a:endParaRPr lang="en-US" sz="790" b="0" u="none" strike="noStrike">
              <a:solidFill>
                <a:srgbClr val="000000"/>
              </a:solidFill>
              <a:effectLst/>
              <a:uFillTx/>
              <a:latin typeface="Times New Roman" panose="02020603050405020304"/>
            </a:endParaRPr>
          </a:p>
        </p:txBody>
      </p:sp>
      <p:sp>
        <p:nvSpPr>
          <p:cNvPr id="1073" name="文字框 1072"/>
          <p:cNvSpPr txBox="1"/>
          <p:nvPr/>
        </p:nvSpPr>
        <p:spPr>
          <a:xfrm>
            <a:off x="7721280" y="423396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黄金</a:t>
            </a:r>
            <a:endParaRPr lang="en-US" sz="1180" b="0" u="none" strike="noStrike">
              <a:solidFill>
                <a:srgbClr val="000000"/>
              </a:solidFill>
              <a:effectLst/>
              <a:uFillTx/>
              <a:latin typeface="Times New Roman" panose="02020603050405020304"/>
            </a:endParaRPr>
          </a:p>
        </p:txBody>
      </p:sp>
      <p:sp>
        <p:nvSpPr>
          <p:cNvPr id="1074" name="文字框 1073"/>
          <p:cNvSpPr txBox="1"/>
          <p:nvPr/>
        </p:nvSpPr>
        <p:spPr>
          <a:xfrm>
            <a:off x="7588440" y="4483080"/>
            <a:ext cx="40320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危机期间</a:t>
            </a:r>
            <a:endParaRPr lang="en-US" sz="790" b="0" u="none" strike="noStrike">
              <a:solidFill>
                <a:srgbClr val="000000"/>
              </a:solidFill>
              <a:effectLst/>
              <a:uFillTx/>
              <a:latin typeface="Times New Roman" panose="02020603050405020304"/>
            </a:endParaRPr>
          </a:p>
        </p:txBody>
      </p:sp>
      <p:sp>
        <p:nvSpPr>
          <p:cNvPr id="1075" name="文字框 1074"/>
          <p:cNvSpPr txBox="1"/>
          <p:nvPr/>
        </p:nvSpPr>
        <p:spPr>
          <a:xfrm>
            <a:off x="7989480" y="448632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76" name="文字框 1075"/>
          <p:cNvSpPr txBox="1"/>
          <p:nvPr/>
        </p:nvSpPr>
        <p:spPr>
          <a:xfrm>
            <a:off x="8055360" y="4483080"/>
            <a:ext cx="101160" cy="128520"/>
          </a:xfrm>
          <a:prstGeom prst="rect">
            <a:avLst/>
          </a:prstGeom>
          <a:noFill/>
          <a:ln w="0">
            <a:noFill/>
          </a:ln>
        </p:spPr>
        <p:txBody>
          <a:bodyPr wrap="none" lIns="0" tIns="0" rIns="0" bIns="0" anchor="t">
            <a:spAutoFit/>
          </a:bodyPr>
          <a:p>
            <a:r>
              <a:rPr lang="zh-CN" sz="790" b="0" u="none" strike="noStrike">
                <a:solidFill>
                  <a:srgbClr val="34D399"/>
                </a:solidFill>
                <a:effectLst/>
                <a:uFillTx/>
                <a:latin typeface="WenQuanYiZenHei"/>
                <a:ea typeface="WenQuanYiZenHei"/>
              </a:rPr>
              <a:t>高</a:t>
            </a:r>
            <a:endParaRPr lang="en-US" sz="790" b="0" u="none" strike="noStrike">
              <a:solidFill>
                <a:srgbClr val="000000"/>
              </a:solidFill>
              <a:effectLst/>
              <a:uFillTx/>
              <a:latin typeface="Times New Roman" panose="02020603050405020304"/>
            </a:endParaRPr>
          </a:p>
        </p:txBody>
      </p:sp>
      <p:sp>
        <p:nvSpPr>
          <p:cNvPr id="1077" name="文字框 1076"/>
          <p:cNvSpPr txBox="1"/>
          <p:nvPr/>
        </p:nvSpPr>
        <p:spPr>
          <a:xfrm>
            <a:off x="7538400" y="4616640"/>
            <a:ext cx="20196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长期</a:t>
            </a:r>
            <a:endParaRPr lang="en-US" sz="790" b="0" u="none" strike="noStrike">
              <a:solidFill>
                <a:srgbClr val="000000"/>
              </a:solidFill>
              <a:effectLst/>
              <a:uFillTx/>
              <a:latin typeface="Times New Roman" panose="02020603050405020304"/>
            </a:endParaRPr>
          </a:p>
        </p:txBody>
      </p:sp>
      <p:sp>
        <p:nvSpPr>
          <p:cNvPr id="1078" name="文字框 1077"/>
          <p:cNvSpPr txBox="1"/>
          <p:nvPr/>
        </p:nvSpPr>
        <p:spPr>
          <a:xfrm>
            <a:off x="7738920" y="462024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79" name="任意多邊形 1078"/>
          <p:cNvSpPr/>
          <p:nvPr/>
        </p:nvSpPr>
        <p:spPr>
          <a:xfrm>
            <a:off x="8665560" y="3810600"/>
            <a:ext cx="1295640" cy="1069920"/>
          </a:xfrm>
          <a:custGeom>
            <a:avLst/>
            <a:gdLst/>
            <a:ahLst/>
            <a:cxnLst/>
            <a:rect l="0" t="0" r="r" b="b"/>
            <a:pathLst>
              <a:path w="3599" h="2972">
                <a:moveTo>
                  <a:pt x="0" y="2786"/>
                </a:moveTo>
                <a:lnTo>
                  <a:pt x="0" y="185"/>
                </a:lnTo>
                <a:cubicBezTo>
                  <a:pt x="0" y="173"/>
                  <a:pt x="1" y="161"/>
                  <a:pt x="3" y="149"/>
                </a:cubicBezTo>
                <a:cubicBezTo>
                  <a:pt x="5" y="137"/>
                  <a:pt x="8" y="126"/>
                  <a:pt x="11" y="114"/>
                </a:cubicBezTo>
                <a:cubicBezTo>
                  <a:pt x="15" y="103"/>
                  <a:pt x="19" y="92"/>
                  <a:pt x="24" y="82"/>
                </a:cubicBezTo>
                <a:cubicBezTo>
                  <a:pt x="29" y="72"/>
                  <a:pt x="35" y="63"/>
                  <a:pt x="41" y="54"/>
                </a:cubicBezTo>
                <a:cubicBezTo>
                  <a:pt x="48" y="45"/>
                  <a:pt x="55" y="38"/>
                  <a:pt x="62" y="31"/>
                </a:cubicBezTo>
                <a:cubicBezTo>
                  <a:pt x="70" y="24"/>
                  <a:pt x="78" y="18"/>
                  <a:pt x="86" y="14"/>
                </a:cubicBezTo>
                <a:cubicBezTo>
                  <a:pt x="95" y="9"/>
                  <a:pt x="104" y="6"/>
                  <a:pt x="113" y="3"/>
                </a:cubicBezTo>
                <a:cubicBezTo>
                  <a:pt x="122" y="1"/>
                  <a:pt x="131" y="0"/>
                  <a:pt x="140" y="0"/>
                </a:cubicBezTo>
                <a:lnTo>
                  <a:pt x="3414" y="0"/>
                </a:lnTo>
                <a:cubicBezTo>
                  <a:pt x="3426" y="0"/>
                  <a:pt x="3438" y="1"/>
                  <a:pt x="3450" y="3"/>
                </a:cubicBezTo>
                <a:cubicBezTo>
                  <a:pt x="3462" y="6"/>
                  <a:pt x="3474" y="9"/>
                  <a:pt x="3485" y="14"/>
                </a:cubicBezTo>
                <a:cubicBezTo>
                  <a:pt x="3496" y="18"/>
                  <a:pt x="3507" y="24"/>
                  <a:pt x="3517" y="31"/>
                </a:cubicBezTo>
                <a:cubicBezTo>
                  <a:pt x="3527" y="38"/>
                  <a:pt x="3536" y="45"/>
                  <a:pt x="3545" y="54"/>
                </a:cubicBezTo>
                <a:cubicBezTo>
                  <a:pt x="3554" y="63"/>
                  <a:pt x="3561" y="72"/>
                  <a:pt x="3568" y="82"/>
                </a:cubicBezTo>
                <a:cubicBezTo>
                  <a:pt x="3575" y="92"/>
                  <a:pt x="3581" y="103"/>
                  <a:pt x="3585" y="114"/>
                </a:cubicBezTo>
                <a:cubicBezTo>
                  <a:pt x="3590" y="126"/>
                  <a:pt x="3594" y="137"/>
                  <a:pt x="3596" y="149"/>
                </a:cubicBezTo>
                <a:cubicBezTo>
                  <a:pt x="3598" y="161"/>
                  <a:pt x="3599" y="173"/>
                  <a:pt x="3599" y="185"/>
                </a:cubicBezTo>
                <a:lnTo>
                  <a:pt x="3599" y="2786"/>
                </a:lnTo>
                <a:cubicBezTo>
                  <a:pt x="3599" y="2798"/>
                  <a:pt x="3598" y="2810"/>
                  <a:pt x="3596" y="2822"/>
                </a:cubicBezTo>
                <a:cubicBezTo>
                  <a:pt x="3594" y="2834"/>
                  <a:pt x="3590" y="2846"/>
                  <a:pt x="3585" y="2857"/>
                </a:cubicBezTo>
                <a:cubicBezTo>
                  <a:pt x="3581" y="2869"/>
                  <a:pt x="3575" y="2879"/>
                  <a:pt x="3568" y="2889"/>
                </a:cubicBezTo>
                <a:cubicBezTo>
                  <a:pt x="3561" y="2900"/>
                  <a:pt x="3554" y="2909"/>
                  <a:pt x="3545" y="2918"/>
                </a:cubicBezTo>
                <a:cubicBezTo>
                  <a:pt x="3536" y="2926"/>
                  <a:pt x="3527" y="2934"/>
                  <a:pt x="3517" y="2941"/>
                </a:cubicBezTo>
                <a:cubicBezTo>
                  <a:pt x="3507" y="2947"/>
                  <a:pt x="3496" y="2953"/>
                  <a:pt x="3485" y="2958"/>
                </a:cubicBezTo>
                <a:cubicBezTo>
                  <a:pt x="3474" y="2962"/>
                  <a:pt x="3462" y="2966"/>
                  <a:pt x="3450" y="2968"/>
                </a:cubicBezTo>
                <a:cubicBezTo>
                  <a:pt x="3438" y="2971"/>
                  <a:pt x="3426" y="2972"/>
                  <a:pt x="3414" y="2972"/>
                </a:cubicBezTo>
                <a:lnTo>
                  <a:pt x="140" y="2972"/>
                </a:lnTo>
                <a:cubicBezTo>
                  <a:pt x="131" y="2972"/>
                  <a:pt x="122" y="2971"/>
                  <a:pt x="113" y="2968"/>
                </a:cubicBezTo>
                <a:cubicBezTo>
                  <a:pt x="104" y="2966"/>
                  <a:pt x="95" y="2962"/>
                  <a:pt x="86" y="2958"/>
                </a:cubicBezTo>
                <a:cubicBezTo>
                  <a:pt x="78" y="2953"/>
                  <a:pt x="70" y="2947"/>
                  <a:pt x="62" y="2941"/>
                </a:cubicBezTo>
                <a:cubicBezTo>
                  <a:pt x="55" y="2934"/>
                  <a:pt x="48" y="2926"/>
                  <a:pt x="41" y="2918"/>
                </a:cubicBezTo>
                <a:cubicBezTo>
                  <a:pt x="35" y="2909"/>
                  <a:pt x="29" y="2900"/>
                  <a:pt x="24" y="2889"/>
                </a:cubicBezTo>
                <a:cubicBezTo>
                  <a:pt x="19" y="2879"/>
                  <a:pt x="15" y="2869"/>
                  <a:pt x="11" y="2857"/>
                </a:cubicBezTo>
                <a:cubicBezTo>
                  <a:pt x="8" y="2846"/>
                  <a:pt x="5" y="2834"/>
                  <a:pt x="3" y="2822"/>
                </a:cubicBezTo>
                <a:cubicBezTo>
                  <a:pt x="1" y="2810"/>
                  <a:pt x="0" y="2798"/>
                  <a:pt x="0" y="2786"/>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80" name="任意多邊形 1079"/>
          <p:cNvSpPr/>
          <p:nvPr/>
        </p:nvSpPr>
        <p:spPr>
          <a:xfrm>
            <a:off x="8649000" y="3810600"/>
            <a:ext cx="67320" cy="1069920"/>
          </a:xfrm>
          <a:custGeom>
            <a:avLst/>
            <a:gdLst/>
            <a:ahLst/>
            <a:cxnLst/>
            <a:rect l="0" t="0" r="r" b="b"/>
            <a:pathLst>
              <a:path w="187" h="2972">
                <a:moveTo>
                  <a:pt x="0" y="0"/>
                </a:moveTo>
                <a:lnTo>
                  <a:pt x="187" y="0"/>
                </a:lnTo>
                <a:lnTo>
                  <a:pt x="187" y="2972"/>
                </a:lnTo>
                <a:lnTo>
                  <a:pt x="0" y="2972"/>
                </a:lnTo>
                <a:lnTo>
                  <a:pt x="0" y="0"/>
                </a:lnTo>
                <a:close/>
              </a:path>
            </a:pathLst>
          </a:custGeom>
          <a:solidFill>
            <a:srgbClr val="60A5FA"/>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081" name="圖片 1080"/>
          <p:cNvPicPr/>
          <p:nvPr/>
        </p:nvPicPr>
        <p:blipFill>
          <a:blip r:embed="rId8"/>
          <a:stretch>
            <a:fillRect/>
          </a:stretch>
        </p:blipFill>
        <p:spPr>
          <a:xfrm>
            <a:off x="9217440" y="3944520"/>
            <a:ext cx="200160" cy="200160"/>
          </a:xfrm>
          <a:prstGeom prst="rect">
            <a:avLst/>
          </a:prstGeom>
          <a:noFill/>
          <a:ln w="0">
            <a:noFill/>
          </a:ln>
        </p:spPr>
      </p:pic>
      <p:sp>
        <p:nvSpPr>
          <p:cNvPr id="1082" name="文字框 1081"/>
          <p:cNvSpPr txBox="1"/>
          <p:nvPr/>
        </p:nvSpPr>
        <p:spPr>
          <a:xfrm>
            <a:off x="7804440" y="4616640"/>
            <a:ext cx="403200" cy="128520"/>
          </a:xfrm>
          <a:prstGeom prst="rect">
            <a:avLst/>
          </a:prstGeom>
          <a:noFill/>
          <a:ln w="0">
            <a:noFill/>
          </a:ln>
        </p:spPr>
        <p:txBody>
          <a:bodyPr wrap="none" lIns="0" tIns="0" rIns="0" bIns="0" anchor="t">
            <a:spAutoFit/>
          </a:bodyPr>
          <a:p>
            <a:r>
              <a:rPr lang="zh-CN" sz="790" b="0" u="none" strike="noStrike">
                <a:solidFill>
                  <a:srgbClr val="FBBF24"/>
                </a:solidFill>
                <a:effectLst/>
                <a:uFillTx/>
                <a:latin typeface="WenQuanYiZenHei"/>
                <a:ea typeface="WenQuanYiZenHei"/>
              </a:rPr>
              <a:t>中等偏低</a:t>
            </a:r>
            <a:endParaRPr lang="en-US" sz="790" b="0" u="none" strike="noStrike">
              <a:solidFill>
                <a:srgbClr val="000000"/>
              </a:solidFill>
              <a:effectLst/>
              <a:uFillTx/>
              <a:latin typeface="Times New Roman" panose="02020603050405020304"/>
            </a:endParaRPr>
          </a:p>
        </p:txBody>
      </p:sp>
      <p:sp>
        <p:nvSpPr>
          <p:cNvPr id="1083" name="文字框 1082"/>
          <p:cNvSpPr txBox="1"/>
          <p:nvPr/>
        </p:nvSpPr>
        <p:spPr>
          <a:xfrm>
            <a:off x="8944200" y="4233960"/>
            <a:ext cx="7552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防御性股票</a:t>
            </a:r>
            <a:endParaRPr lang="en-US" sz="1180" b="0" u="none" strike="noStrike">
              <a:solidFill>
                <a:srgbClr val="000000"/>
              </a:solidFill>
              <a:effectLst/>
              <a:uFillTx/>
              <a:latin typeface="Times New Roman" panose="02020603050405020304"/>
            </a:endParaRPr>
          </a:p>
        </p:txBody>
      </p:sp>
      <p:sp>
        <p:nvSpPr>
          <p:cNvPr id="1084" name="文字框 1083"/>
          <p:cNvSpPr txBox="1"/>
          <p:nvPr/>
        </p:nvSpPr>
        <p:spPr>
          <a:xfrm>
            <a:off x="8986680" y="4483080"/>
            <a:ext cx="40320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危机期间</a:t>
            </a:r>
            <a:endParaRPr lang="en-US" sz="790" b="0" u="none" strike="noStrike">
              <a:solidFill>
                <a:srgbClr val="000000"/>
              </a:solidFill>
              <a:effectLst/>
              <a:uFillTx/>
              <a:latin typeface="Times New Roman" panose="02020603050405020304"/>
            </a:endParaRPr>
          </a:p>
        </p:txBody>
      </p:sp>
      <p:sp>
        <p:nvSpPr>
          <p:cNvPr id="1085" name="文字框 1084"/>
          <p:cNvSpPr txBox="1"/>
          <p:nvPr/>
        </p:nvSpPr>
        <p:spPr>
          <a:xfrm>
            <a:off x="9387720" y="448632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86" name="文字框 1085"/>
          <p:cNvSpPr txBox="1"/>
          <p:nvPr/>
        </p:nvSpPr>
        <p:spPr>
          <a:xfrm>
            <a:off x="9453600" y="4483080"/>
            <a:ext cx="201960" cy="128520"/>
          </a:xfrm>
          <a:prstGeom prst="rect">
            <a:avLst/>
          </a:prstGeom>
          <a:noFill/>
          <a:ln w="0">
            <a:noFill/>
          </a:ln>
        </p:spPr>
        <p:txBody>
          <a:bodyPr wrap="none" lIns="0" tIns="0" rIns="0" bIns="0" anchor="t">
            <a:spAutoFit/>
          </a:bodyPr>
          <a:p>
            <a:r>
              <a:rPr lang="zh-CN" sz="790" b="0" u="none" strike="noStrike">
                <a:solidFill>
                  <a:srgbClr val="FBBF24"/>
                </a:solidFill>
                <a:effectLst/>
                <a:uFillTx/>
                <a:latin typeface="WenQuanYiZenHei"/>
                <a:ea typeface="WenQuanYiZenHei"/>
              </a:rPr>
              <a:t>中等</a:t>
            </a:r>
            <a:endParaRPr lang="en-US" sz="790" b="0" u="none" strike="noStrike">
              <a:solidFill>
                <a:srgbClr val="000000"/>
              </a:solidFill>
              <a:effectLst/>
              <a:uFillTx/>
              <a:latin typeface="Times New Roman" panose="02020603050405020304"/>
            </a:endParaRPr>
          </a:p>
        </p:txBody>
      </p:sp>
      <p:sp>
        <p:nvSpPr>
          <p:cNvPr id="1087" name="文字框 1086"/>
          <p:cNvSpPr txBox="1"/>
          <p:nvPr/>
        </p:nvSpPr>
        <p:spPr>
          <a:xfrm>
            <a:off x="9137160" y="4616640"/>
            <a:ext cx="20196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长期</a:t>
            </a:r>
            <a:endParaRPr lang="en-US" sz="790" b="0" u="none" strike="noStrike">
              <a:solidFill>
                <a:srgbClr val="000000"/>
              </a:solidFill>
              <a:effectLst/>
              <a:uFillTx/>
              <a:latin typeface="Times New Roman" panose="02020603050405020304"/>
            </a:endParaRPr>
          </a:p>
        </p:txBody>
      </p:sp>
      <p:sp>
        <p:nvSpPr>
          <p:cNvPr id="1088" name="文字框 1087"/>
          <p:cNvSpPr txBox="1"/>
          <p:nvPr/>
        </p:nvSpPr>
        <p:spPr>
          <a:xfrm>
            <a:off x="9337680" y="462024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89" name="任意多邊形 1088"/>
          <p:cNvSpPr/>
          <p:nvPr/>
        </p:nvSpPr>
        <p:spPr>
          <a:xfrm>
            <a:off x="5766120" y="5013720"/>
            <a:ext cx="1295640" cy="1070280"/>
          </a:xfrm>
          <a:custGeom>
            <a:avLst/>
            <a:gdLst/>
            <a:ahLst/>
            <a:cxnLst/>
            <a:rect l="0" t="0" r="r" b="b"/>
            <a:pathLst>
              <a:path w="3599" h="2973">
                <a:moveTo>
                  <a:pt x="0" y="2787"/>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8"/>
                  <a:pt x="61" y="32"/>
                </a:cubicBezTo>
                <a:cubicBezTo>
                  <a:pt x="69" y="25"/>
                  <a:pt x="77" y="19"/>
                  <a:pt x="85" y="14"/>
                </a:cubicBezTo>
                <a:cubicBezTo>
                  <a:pt x="94" y="10"/>
                  <a:pt x="103" y="6"/>
                  <a:pt x="112" y="4"/>
                </a:cubicBezTo>
                <a:cubicBezTo>
                  <a:pt x="121" y="2"/>
                  <a:pt x="130" y="0"/>
                  <a:pt x="139" y="0"/>
                </a:cubicBezTo>
                <a:lnTo>
                  <a:pt x="3413" y="0"/>
                </a:lnTo>
                <a:cubicBezTo>
                  <a:pt x="3425" y="0"/>
                  <a:pt x="3437" y="2"/>
                  <a:pt x="3449" y="4"/>
                </a:cubicBezTo>
                <a:cubicBezTo>
                  <a:pt x="3461" y="6"/>
                  <a:pt x="3473" y="10"/>
                  <a:pt x="3484" y="14"/>
                </a:cubicBezTo>
                <a:cubicBezTo>
                  <a:pt x="3495" y="19"/>
                  <a:pt x="3506" y="25"/>
                  <a:pt x="3516" y="32"/>
                </a:cubicBezTo>
                <a:cubicBezTo>
                  <a:pt x="3526" y="38"/>
                  <a:pt x="3536" y="46"/>
                  <a:pt x="3544" y="55"/>
                </a:cubicBezTo>
                <a:cubicBezTo>
                  <a:pt x="3553" y="63"/>
                  <a:pt x="3560" y="73"/>
                  <a:pt x="3567" y="83"/>
                </a:cubicBezTo>
                <a:cubicBezTo>
                  <a:pt x="3574" y="93"/>
                  <a:pt x="3580" y="104"/>
                  <a:pt x="3584" y="115"/>
                </a:cubicBezTo>
                <a:cubicBezTo>
                  <a:pt x="3589" y="126"/>
                  <a:pt x="3593" y="138"/>
                  <a:pt x="3595" y="150"/>
                </a:cubicBezTo>
                <a:cubicBezTo>
                  <a:pt x="3597" y="162"/>
                  <a:pt x="3599" y="174"/>
                  <a:pt x="3599" y="186"/>
                </a:cubicBezTo>
                <a:lnTo>
                  <a:pt x="3599" y="2787"/>
                </a:lnTo>
                <a:cubicBezTo>
                  <a:pt x="3599" y="2799"/>
                  <a:pt x="3597" y="2811"/>
                  <a:pt x="3595" y="2823"/>
                </a:cubicBezTo>
                <a:cubicBezTo>
                  <a:pt x="3593" y="2835"/>
                  <a:pt x="3589" y="2847"/>
                  <a:pt x="3584" y="2858"/>
                </a:cubicBezTo>
                <a:cubicBezTo>
                  <a:pt x="3580" y="2869"/>
                  <a:pt x="3574" y="2880"/>
                  <a:pt x="3567" y="2890"/>
                </a:cubicBezTo>
                <a:cubicBezTo>
                  <a:pt x="3560" y="2900"/>
                  <a:pt x="3553" y="2910"/>
                  <a:pt x="3544" y="2918"/>
                </a:cubicBezTo>
                <a:cubicBezTo>
                  <a:pt x="3536" y="2927"/>
                  <a:pt x="3526" y="2935"/>
                  <a:pt x="3516" y="2941"/>
                </a:cubicBezTo>
                <a:cubicBezTo>
                  <a:pt x="3506" y="2948"/>
                  <a:pt x="3495" y="2954"/>
                  <a:pt x="3484" y="2958"/>
                </a:cubicBezTo>
                <a:cubicBezTo>
                  <a:pt x="3473" y="2963"/>
                  <a:pt x="3461" y="2967"/>
                  <a:pt x="3449" y="2969"/>
                </a:cubicBezTo>
                <a:cubicBezTo>
                  <a:pt x="3437" y="2971"/>
                  <a:pt x="3425" y="2973"/>
                  <a:pt x="3413" y="2973"/>
                </a:cubicBezTo>
                <a:lnTo>
                  <a:pt x="139" y="2973"/>
                </a:lnTo>
                <a:cubicBezTo>
                  <a:pt x="130" y="2973"/>
                  <a:pt x="121" y="2971"/>
                  <a:pt x="112" y="2969"/>
                </a:cubicBezTo>
                <a:cubicBezTo>
                  <a:pt x="103" y="2967"/>
                  <a:pt x="94" y="2963"/>
                  <a:pt x="85" y="2958"/>
                </a:cubicBezTo>
                <a:cubicBezTo>
                  <a:pt x="77" y="2954"/>
                  <a:pt x="69" y="2948"/>
                  <a:pt x="61" y="2941"/>
                </a:cubicBezTo>
                <a:cubicBezTo>
                  <a:pt x="54" y="2935"/>
                  <a:pt x="47" y="2927"/>
                  <a:pt x="40" y="2918"/>
                </a:cubicBezTo>
                <a:cubicBezTo>
                  <a:pt x="34" y="2910"/>
                  <a:pt x="28" y="2900"/>
                  <a:pt x="23" y="2890"/>
                </a:cubicBezTo>
                <a:cubicBezTo>
                  <a:pt x="18" y="2880"/>
                  <a:pt x="14" y="2869"/>
                  <a:pt x="10" y="2858"/>
                </a:cubicBezTo>
                <a:cubicBezTo>
                  <a:pt x="7" y="2847"/>
                  <a:pt x="4" y="2835"/>
                  <a:pt x="2" y="2823"/>
                </a:cubicBezTo>
                <a:cubicBezTo>
                  <a:pt x="0" y="2811"/>
                  <a:pt x="0" y="2799"/>
                  <a:pt x="0" y="278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090" name="任意多邊形 1089"/>
          <p:cNvSpPr/>
          <p:nvPr/>
        </p:nvSpPr>
        <p:spPr>
          <a:xfrm>
            <a:off x="5749200" y="5013720"/>
            <a:ext cx="67320" cy="1070280"/>
          </a:xfrm>
          <a:custGeom>
            <a:avLst/>
            <a:gdLst/>
            <a:ahLst/>
            <a:cxnLst/>
            <a:rect l="0" t="0" r="r" b="b"/>
            <a:pathLst>
              <a:path w="187" h="2973">
                <a:moveTo>
                  <a:pt x="151" y="14"/>
                </a:moveTo>
                <a:cubicBezTo>
                  <a:pt x="140" y="24"/>
                  <a:pt x="130" y="37"/>
                  <a:pt x="121" y="55"/>
                </a:cubicBezTo>
                <a:cubicBezTo>
                  <a:pt x="112" y="72"/>
                  <a:pt x="106" y="92"/>
                  <a:pt x="101" y="115"/>
                </a:cubicBezTo>
                <a:cubicBezTo>
                  <a:pt x="96" y="138"/>
                  <a:pt x="94" y="161"/>
                  <a:pt x="94" y="186"/>
                </a:cubicBezTo>
                <a:lnTo>
                  <a:pt x="94" y="2787"/>
                </a:lnTo>
                <a:cubicBezTo>
                  <a:pt x="94" y="2812"/>
                  <a:pt x="96" y="2835"/>
                  <a:pt x="101" y="2858"/>
                </a:cubicBezTo>
                <a:cubicBezTo>
                  <a:pt x="106" y="2881"/>
                  <a:pt x="112" y="2901"/>
                  <a:pt x="121" y="2918"/>
                </a:cubicBezTo>
                <a:cubicBezTo>
                  <a:pt x="130" y="2936"/>
                  <a:pt x="140" y="2949"/>
                  <a:pt x="151" y="2958"/>
                </a:cubicBezTo>
                <a:cubicBezTo>
                  <a:pt x="163" y="2968"/>
                  <a:pt x="174" y="2973"/>
                  <a:pt x="187" y="2973"/>
                </a:cubicBezTo>
                <a:cubicBezTo>
                  <a:pt x="162" y="2973"/>
                  <a:pt x="138" y="2968"/>
                  <a:pt x="116" y="2958"/>
                </a:cubicBezTo>
                <a:cubicBezTo>
                  <a:pt x="93" y="2949"/>
                  <a:pt x="73" y="2936"/>
                  <a:pt x="55" y="2918"/>
                </a:cubicBezTo>
                <a:cubicBezTo>
                  <a:pt x="38" y="2901"/>
                  <a:pt x="24" y="2881"/>
                  <a:pt x="14" y="2858"/>
                </a:cubicBezTo>
                <a:cubicBezTo>
                  <a:pt x="5" y="2835"/>
                  <a:pt x="0" y="2812"/>
                  <a:pt x="0" y="2787"/>
                </a:cubicBezTo>
                <a:lnTo>
                  <a:pt x="0" y="186"/>
                </a:lnTo>
                <a:cubicBezTo>
                  <a:pt x="0" y="161"/>
                  <a:pt x="5" y="138"/>
                  <a:pt x="14" y="115"/>
                </a:cubicBezTo>
                <a:cubicBezTo>
                  <a:pt x="24" y="92"/>
                  <a:pt x="38" y="72"/>
                  <a:pt x="55" y="55"/>
                </a:cubicBezTo>
                <a:cubicBezTo>
                  <a:pt x="73" y="37"/>
                  <a:pt x="93" y="24"/>
                  <a:pt x="116" y="14"/>
                </a:cubicBezTo>
                <a:cubicBezTo>
                  <a:pt x="138" y="5"/>
                  <a:pt x="162" y="0"/>
                  <a:pt x="187" y="0"/>
                </a:cubicBezTo>
                <a:cubicBezTo>
                  <a:pt x="174" y="0"/>
                  <a:pt x="163" y="5"/>
                  <a:pt x="151" y="14"/>
                </a:cubicBezTo>
                <a:close/>
              </a:path>
            </a:pathLst>
          </a:custGeom>
          <a:solidFill>
            <a:srgbClr val="EF4444"/>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091" name="圖片 1090"/>
          <p:cNvPicPr/>
          <p:nvPr/>
        </p:nvPicPr>
        <p:blipFill>
          <a:blip r:embed="rId9"/>
          <a:stretch>
            <a:fillRect/>
          </a:stretch>
        </p:blipFill>
        <p:spPr>
          <a:xfrm>
            <a:off x="6325920" y="5147640"/>
            <a:ext cx="200160" cy="200160"/>
          </a:xfrm>
          <a:prstGeom prst="rect">
            <a:avLst/>
          </a:prstGeom>
          <a:noFill/>
          <a:ln w="0">
            <a:noFill/>
          </a:ln>
        </p:spPr>
      </p:pic>
      <p:sp>
        <p:nvSpPr>
          <p:cNvPr id="1092" name="文字框 1091"/>
          <p:cNvSpPr txBox="1"/>
          <p:nvPr/>
        </p:nvSpPr>
        <p:spPr>
          <a:xfrm>
            <a:off x="9403200" y="4616640"/>
            <a:ext cx="101160" cy="128520"/>
          </a:xfrm>
          <a:prstGeom prst="rect">
            <a:avLst/>
          </a:prstGeom>
          <a:noFill/>
          <a:ln w="0">
            <a:noFill/>
          </a:ln>
        </p:spPr>
        <p:txBody>
          <a:bodyPr wrap="none" lIns="0" tIns="0" rIns="0" bIns="0" anchor="t">
            <a:spAutoFit/>
          </a:bodyPr>
          <a:p>
            <a:r>
              <a:rPr lang="zh-CN" sz="790" b="0" u="none" strike="noStrike">
                <a:solidFill>
                  <a:srgbClr val="34D399"/>
                </a:solidFill>
                <a:effectLst/>
                <a:uFillTx/>
                <a:latin typeface="WenQuanYiZenHei"/>
                <a:ea typeface="WenQuanYiZenHei"/>
              </a:rPr>
              <a:t>高</a:t>
            </a:r>
            <a:endParaRPr lang="en-US" sz="790" b="0" u="none" strike="noStrike">
              <a:solidFill>
                <a:srgbClr val="000000"/>
              </a:solidFill>
              <a:effectLst/>
              <a:uFillTx/>
              <a:latin typeface="Times New Roman" panose="02020603050405020304"/>
            </a:endParaRPr>
          </a:p>
        </p:txBody>
      </p:sp>
      <p:sp>
        <p:nvSpPr>
          <p:cNvPr id="1093" name="文字框 1092"/>
          <p:cNvSpPr txBox="1"/>
          <p:nvPr/>
        </p:nvSpPr>
        <p:spPr>
          <a:xfrm>
            <a:off x="6122520" y="543744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主流股票</a:t>
            </a:r>
            <a:endParaRPr lang="en-US" sz="1180" b="0" u="none" strike="noStrike">
              <a:solidFill>
                <a:srgbClr val="000000"/>
              </a:solidFill>
              <a:effectLst/>
              <a:uFillTx/>
              <a:latin typeface="Times New Roman" panose="02020603050405020304"/>
            </a:endParaRPr>
          </a:p>
        </p:txBody>
      </p:sp>
      <p:sp>
        <p:nvSpPr>
          <p:cNvPr id="1094" name="文字框 1093"/>
          <p:cNvSpPr txBox="1"/>
          <p:nvPr/>
        </p:nvSpPr>
        <p:spPr>
          <a:xfrm>
            <a:off x="6089760" y="5686200"/>
            <a:ext cx="40320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危机期间</a:t>
            </a:r>
            <a:endParaRPr lang="en-US" sz="790" b="0" u="none" strike="noStrike">
              <a:solidFill>
                <a:srgbClr val="000000"/>
              </a:solidFill>
              <a:effectLst/>
              <a:uFillTx/>
              <a:latin typeface="Times New Roman" panose="02020603050405020304"/>
            </a:endParaRPr>
          </a:p>
        </p:txBody>
      </p:sp>
      <p:sp>
        <p:nvSpPr>
          <p:cNvPr id="1095" name="文字框 1094"/>
          <p:cNvSpPr txBox="1"/>
          <p:nvPr/>
        </p:nvSpPr>
        <p:spPr>
          <a:xfrm>
            <a:off x="6490800" y="568980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96" name="文字框 1095"/>
          <p:cNvSpPr txBox="1"/>
          <p:nvPr/>
        </p:nvSpPr>
        <p:spPr>
          <a:xfrm>
            <a:off x="6556680" y="5686200"/>
            <a:ext cx="201960" cy="128520"/>
          </a:xfrm>
          <a:prstGeom prst="rect">
            <a:avLst/>
          </a:prstGeom>
          <a:noFill/>
          <a:ln w="0">
            <a:noFill/>
          </a:ln>
        </p:spPr>
        <p:txBody>
          <a:bodyPr wrap="none" lIns="0" tIns="0" rIns="0" bIns="0" anchor="t">
            <a:spAutoFit/>
          </a:bodyPr>
          <a:p>
            <a:r>
              <a:rPr lang="zh-CN" sz="790" b="0" u="none" strike="noStrike">
                <a:solidFill>
                  <a:srgbClr val="F87171"/>
                </a:solidFill>
                <a:effectLst/>
                <a:uFillTx/>
                <a:latin typeface="WenQuanYiZenHei"/>
                <a:ea typeface="WenQuanYiZenHei"/>
              </a:rPr>
              <a:t>极低</a:t>
            </a:r>
            <a:endParaRPr lang="en-US" sz="790" b="0" u="none" strike="noStrike">
              <a:solidFill>
                <a:srgbClr val="000000"/>
              </a:solidFill>
              <a:effectLst/>
              <a:uFillTx/>
              <a:latin typeface="Times New Roman" panose="02020603050405020304"/>
            </a:endParaRPr>
          </a:p>
        </p:txBody>
      </p:sp>
      <p:sp>
        <p:nvSpPr>
          <p:cNvPr id="1097" name="文字框 1096"/>
          <p:cNvSpPr txBox="1"/>
          <p:nvPr/>
        </p:nvSpPr>
        <p:spPr>
          <a:xfrm>
            <a:off x="6240240" y="5820120"/>
            <a:ext cx="20196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长期</a:t>
            </a:r>
            <a:endParaRPr lang="en-US" sz="790" b="0" u="none" strike="noStrike">
              <a:solidFill>
                <a:srgbClr val="000000"/>
              </a:solidFill>
              <a:effectLst/>
              <a:uFillTx/>
              <a:latin typeface="Times New Roman" panose="02020603050405020304"/>
            </a:endParaRPr>
          </a:p>
        </p:txBody>
      </p:sp>
      <p:sp>
        <p:nvSpPr>
          <p:cNvPr id="1098" name="文字框 1097"/>
          <p:cNvSpPr txBox="1"/>
          <p:nvPr/>
        </p:nvSpPr>
        <p:spPr>
          <a:xfrm>
            <a:off x="6440760" y="582336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099" name="任意多邊形 1098"/>
          <p:cNvSpPr/>
          <p:nvPr/>
        </p:nvSpPr>
        <p:spPr>
          <a:xfrm>
            <a:off x="7211520" y="5013720"/>
            <a:ext cx="1304280" cy="1070280"/>
          </a:xfrm>
          <a:custGeom>
            <a:avLst/>
            <a:gdLst/>
            <a:ahLst/>
            <a:cxnLst/>
            <a:rect l="0" t="0" r="r" b="b"/>
            <a:pathLst>
              <a:path w="3623" h="2973">
                <a:moveTo>
                  <a:pt x="0" y="2787"/>
                </a:moveTo>
                <a:lnTo>
                  <a:pt x="0" y="186"/>
                </a:lnTo>
                <a:cubicBezTo>
                  <a:pt x="0" y="174"/>
                  <a:pt x="1" y="162"/>
                  <a:pt x="3" y="150"/>
                </a:cubicBezTo>
                <a:cubicBezTo>
                  <a:pt x="5" y="138"/>
                  <a:pt x="7" y="126"/>
                  <a:pt x="11" y="115"/>
                </a:cubicBezTo>
                <a:cubicBezTo>
                  <a:pt x="14" y="104"/>
                  <a:pt x="19" y="93"/>
                  <a:pt x="24" y="83"/>
                </a:cubicBezTo>
                <a:cubicBezTo>
                  <a:pt x="29" y="73"/>
                  <a:pt x="35" y="63"/>
                  <a:pt x="41" y="55"/>
                </a:cubicBezTo>
                <a:cubicBezTo>
                  <a:pt x="48" y="46"/>
                  <a:pt x="55" y="38"/>
                  <a:pt x="62" y="32"/>
                </a:cubicBezTo>
                <a:cubicBezTo>
                  <a:pt x="70" y="25"/>
                  <a:pt x="78" y="19"/>
                  <a:pt x="86" y="14"/>
                </a:cubicBezTo>
                <a:cubicBezTo>
                  <a:pt x="95" y="10"/>
                  <a:pt x="104" y="6"/>
                  <a:pt x="112" y="4"/>
                </a:cubicBezTo>
                <a:cubicBezTo>
                  <a:pt x="121" y="2"/>
                  <a:pt x="130" y="0"/>
                  <a:pt x="140" y="0"/>
                </a:cubicBezTo>
                <a:lnTo>
                  <a:pt x="3436" y="0"/>
                </a:lnTo>
                <a:cubicBezTo>
                  <a:pt x="3448" y="0"/>
                  <a:pt x="3460" y="2"/>
                  <a:pt x="3472" y="4"/>
                </a:cubicBezTo>
                <a:cubicBezTo>
                  <a:pt x="3484" y="6"/>
                  <a:pt x="3496" y="10"/>
                  <a:pt x="3508" y="14"/>
                </a:cubicBezTo>
                <a:cubicBezTo>
                  <a:pt x="3519" y="19"/>
                  <a:pt x="3530" y="25"/>
                  <a:pt x="3540" y="32"/>
                </a:cubicBezTo>
                <a:cubicBezTo>
                  <a:pt x="3550" y="38"/>
                  <a:pt x="3560" y="46"/>
                  <a:pt x="3568" y="55"/>
                </a:cubicBezTo>
                <a:cubicBezTo>
                  <a:pt x="3577" y="63"/>
                  <a:pt x="3585" y="73"/>
                  <a:pt x="3591" y="83"/>
                </a:cubicBezTo>
                <a:cubicBezTo>
                  <a:pt x="3598" y="93"/>
                  <a:pt x="3604" y="104"/>
                  <a:pt x="3608" y="115"/>
                </a:cubicBezTo>
                <a:cubicBezTo>
                  <a:pt x="3613" y="126"/>
                  <a:pt x="3617" y="138"/>
                  <a:pt x="3619" y="150"/>
                </a:cubicBezTo>
                <a:cubicBezTo>
                  <a:pt x="3621" y="162"/>
                  <a:pt x="3623" y="174"/>
                  <a:pt x="3623" y="186"/>
                </a:cubicBezTo>
                <a:lnTo>
                  <a:pt x="3623" y="2787"/>
                </a:lnTo>
                <a:cubicBezTo>
                  <a:pt x="3623" y="2799"/>
                  <a:pt x="3621" y="2811"/>
                  <a:pt x="3619" y="2823"/>
                </a:cubicBezTo>
                <a:cubicBezTo>
                  <a:pt x="3617" y="2835"/>
                  <a:pt x="3613" y="2847"/>
                  <a:pt x="3608" y="2858"/>
                </a:cubicBezTo>
                <a:cubicBezTo>
                  <a:pt x="3604" y="2869"/>
                  <a:pt x="3598" y="2880"/>
                  <a:pt x="3591" y="2890"/>
                </a:cubicBezTo>
                <a:cubicBezTo>
                  <a:pt x="3585" y="2900"/>
                  <a:pt x="3577" y="2910"/>
                  <a:pt x="3568" y="2918"/>
                </a:cubicBezTo>
                <a:cubicBezTo>
                  <a:pt x="3560" y="2927"/>
                  <a:pt x="3550" y="2935"/>
                  <a:pt x="3540" y="2941"/>
                </a:cubicBezTo>
                <a:cubicBezTo>
                  <a:pt x="3530" y="2948"/>
                  <a:pt x="3519" y="2954"/>
                  <a:pt x="3508" y="2958"/>
                </a:cubicBezTo>
                <a:cubicBezTo>
                  <a:pt x="3496" y="2963"/>
                  <a:pt x="3484" y="2967"/>
                  <a:pt x="3472" y="2969"/>
                </a:cubicBezTo>
                <a:cubicBezTo>
                  <a:pt x="3460" y="2971"/>
                  <a:pt x="3448" y="2973"/>
                  <a:pt x="3436" y="2973"/>
                </a:cubicBezTo>
                <a:lnTo>
                  <a:pt x="140" y="2973"/>
                </a:lnTo>
                <a:cubicBezTo>
                  <a:pt x="130" y="2973"/>
                  <a:pt x="121" y="2971"/>
                  <a:pt x="112" y="2969"/>
                </a:cubicBezTo>
                <a:cubicBezTo>
                  <a:pt x="104" y="2967"/>
                  <a:pt x="95" y="2963"/>
                  <a:pt x="86" y="2958"/>
                </a:cubicBezTo>
                <a:cubicBezTo>
                  <a:pt x="78" y="2954"/>
                  <a:pt x="70" y="2948"/>
                  <a:pt x="62" y="2941"/>
                </a:cubicBezTo>
                <a:cubicBezTo>
                  <a:pt x="55" y="2935"/>
                  <a:pt x="48" y="2927"/>
                  <a:pt x="41" y="2918"/>
                </a:cubicBezTo>
                <a:cubicBezTo>
                  <a:pt x="35" y="2910"/>
                  <a:pt x="29" y="2900"/>
                  <a:pt x="24" y="2890"/>
                </a:cubicBezTo>
                <a:cubicBezTo>
                  <a:pt x="19" y="2880"/>
                  <a:pt x="14" y="2869"/>
                  <a:pt x="11" y="2858"/>
                </a:cubicBezTo>
                <a:cubicBezTo>
                  <a:pt x="7" y="2847"/>
                  <a:pt x="5" y="2835"/>
                  <a:pt x="3" y="2823"/>
                </a:cubicBezTo>
                <a:cubicBezTo>
                  <a:pt x="1" y="2811"/>
                  <a:pt x="0" y="2799"/>
                  <a:pt x="0" y="278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00" name="任意多邊形 1099"/>
          <p:cNvSpPr/>
          <p:nvPr/>
        </p:nvSpPr>
        <p:spPr>
          <a:xfrm>
            <a:off x="7194960" y="5013720"/>
            <a:ext cx="67320" cy="1070280"/>
          </a:xfrm>
          <a:custGeom>
            <a:avLst/>
            <a:gdLst/>
            <a:ahLst/>
            <a:cxnLst/>
            <a:rect l="0" t="0" r="r" b="b"/>
            <a:pathLst>
              <a:path w="187" h="2973">
                <a:moveTo>
                  <a:pt x="151" y="14"/>
                </a:moveTo>
                <a:cubicBezTo>
                  <a:pt x="140" y="24"/>
                  <a:pt x="130" y="37"/>
                  <a:pt x="121" y="55"/>
                </a:cubicBezTo>
                <a:cubicBezTo>
                  <a:pt x="112" y="72"/>
                  <a:pt x="106" y="92"/>
                  <a:pt x="101" y="115"/>
                </a:cubicBezTo>
                <a:cubicBezTo>
                  <a:pt x="96" y="138"/>
                  <a:pt x="94" y="161"/>
                  <a:pt x="94" y="186"/>
                </a:cubicBezTo>
                <a:lnTo>
                  <a:pt x="94" y="2787"/>
                </a:lnTo>
                <a:cubicBezTo>
                  <a:pt x="94" y="2812"/>
                  <a:pt x="96" y="2835"/>
                  <a:pt x="101" y="2858"/>
                </a:cubicBezTo>
                <a:cubicBezTo>
                  <a:pt x="106" y="2881"/>
                  <a:pt x="112" y="2901"/>
                  <a:pt x="121" y="2918"/>
                </a:cubicBezTo>
                <a:cubicBezTo>
                  <a:pt x="130" y="2936"/>
                  <a:pt x="140" y="2949"/>
                  <a:pt x="151" y="2958"/>
                </a:cubicBezTo>
                <a:cubicBezTo>
                  <a:pt x="162" y="2968"/>
                  <a:pt x="174" y="2973"/>
                  <a:pt x="187" y="2973"/>
                </a:cubicBezTo>
                <a:cubicBezTo>
                  <a:pt x="162" y="2973"/>
                  <a:pt x="138" y="2968"/>
                  <a:pt x="116" y="2958"/>
                </a:cubicBezTo>
                <a:cubicBezTo>
                  <a:pt x="93" y="2949"/>
                  <a:pt x="72" y="2936"/>
                  <a:pt x="54" y="2918"/>
                </a:cubicBezTo>
                <a:cubicBezTo>
                  <a:pt x="37" y="2901"/>
                  <a:pt x="24" y="2881"/>
                  <a:pt x="14" y="2858"/>
                </a:cubicBezTo>
                <a:cubicBezTo>
                  <a:pt x="5" y="2835"/>
                  <a:pt x="0" y="2812"/>
                  <a:pt x="0" y="2787"/>
                </a:cubicBezTo>
                <a:lnTo>
                  <a:pt x="0" y="186"/>
                </a:lnTo>
                <a:cubicBezTo>
                  <a:pt x="0" y="161"/>
                  <a:pt x="5" y="138"/>
                  <a:pt x="14" y="115"/>
                </a:cubicBezTo>
                <a:cubicBezTo>
                  <a:pt x="24" y="92"/>
                  <a:pt x="37" y="72"/>
                  <a:pt x="54" y="55"/>
                </a:cubicBezTo>
                <a:cubicBezTo>
                  <a:pt x="72" y="37"/>
                  <a:pt x="93" y="24"/>
                  <a:pt x="116" y="14"/>
                </a:cubicBezTo>
                <a:cubicBezTo>
                  <a:pt x="138" y="5"/>
                  <a:pt x="162" y="0"/>
                  <a:pt x="187" y="0"/>
                </a:cubicBezTo>
                <a:cubicBezTo>
                  <a:pt x="174" y="0"/>
                  <a:pt x="162" y="5"/>
                  <a:pt x="151" y="14"/>
                </a:cubicBezTo>
                <a:close/>
              </a:path>
            </a:pathLst>
          </a:custGeom>
          <a:solidFill>
            <a:srgbClr val="8B5CF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101" name="圖片 1100"/>
          <p:cNvPicPr/>
          <p:nvPr/>
        </p:nvPicPr>
        <p:blipFill>
          <a:blip r:embed="rId10"/>
          <a:stretch>
            <a:fillRect/>
          </a:stretch>
        </p:blipFill>
        <p:spPr>
          <a:xfrm>
            <a:off x="7771680" y="5147640"/>
            <a:ext cx="200160" cy="200160"/>
          </a:xfrm>
          <a:prstGeom prst="rect">
            <a:avLst/>
          </a:prstGeom>
          <a:noFill/>
          <a:ln w="0">
            <a:noFill/>
          </a:ln>
        </p:spPr>
      </p:pic>
      <p:sp>
        <p:nvSpPr>
          <p:cNvPr id="1102" name="文字框 1101"/>
          <p:cNvSpPr txBox="1"/>
          <p:nvPr/>
        </p:nvSpPr>
        <p:spPr>
          <a:xfrm>
            <a:off x="6506640" y="5820120"/>
            <a:ext cx="101160" cy="128520"/>
          </a:xfrm>
          <a:prstGeom prst="rect">
            <a:avLst/>
          </a:prstGeom>
          <a:noFill/>
          <a:ln w="0">
            <a:noFill/>
          </a:ln>
        </p:spPr>
        <p:txBody>
          <a:bodyPr wrap="none" lIns="0" tIns="0" rIns="0" bIns="0" anchor="t">
            <a:spAutoFit/>
          </a:bodyPr>
          <a:p>
            <a:r>
              <a:rPr lang="zh-CN" sz="790" b="0" u="none" strike="noStrike">
                <a:solidFill>
                  <a:srgbClr val="34D399"/>
                </a:solidFill>
                <a:effectLst/>
                <a:uFillTx/>
                <a:latin typeface="WenQuanYiZenHei"/>
                <a:ea typeface="WenQuanYiZenHei"/>
              </a:rPr>
              <a:t>高</a:t>
            </a:r>
            <a:endParaRPr lang="en-US" sz="790" b="0" u="none" strike="noStrike">
              <a:solidFill>
                <a:srgbClr val="000000"/>
              </a:solidFill>
              <a:effectLst/>
              <a:uFillTx/>
              <a:latin typeface="Times New Roman" panose="02020603050405020304"/>
            </a:endParaRPr>
          </a:p>
        </p:txBody>
      </p:sp>
      <p:sp>
        <p:nvSpPr>
          <p:cNvPr id="1103" name="文字框 1102"/>
          <p:cNvSpPr txBox="1"/>
          <p:nvPr/>
        </p:nvSpPr>
        <p:spPr>
          <a:xfrm>
            <a:off x="7571160" y="5437440"/>
            <a:ext cx="6040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另类投资</a:t>
            </a:r>
            <a:endParaRPr lang="en-US" sz="1180" b="0" u="none" strike="noStrike">
              <a:solidFill>
                <a:srgbClr val="000000"/>
              </a:solidFill>
              <a:effectLst/>
              <a:uFillTx/>
              <a:latin typeface="Times New Roman" panose="02020603050405020304"/>
            </a:endParaRPr>
          </a:p>
        </p:txBody>
      </p:sp>
      <p:sp>
        <p:nvSpPr>
          <p:cNvPr id="1104" name="文字框 1103"/>
          <p:cNvSpPr txBox="1"/>
          <p:nvPr/>
        </p:nvSpPr>
        <p:spPr>
          <a:xfrm>
            <a:off x="7488000" y="5686200"/>
            <a:ext cx="40320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危机期间</a:t>
            </a:r>
            <a:endParaRPr lang="en-US" sz="790" b="0" u="none" strike="noStrike">
              <a:solidFill>
                <a:srgbClr val="000000"/>
              </a:solidFill>
              <a:effectLst/>
              <a:uFillTx/>
              <a:latin typeface="Times New Roman" panose="02020603050405020304"/>
            </a:endParaRPr>
          </a:p>
        </p:txBody>
      </p:sp>
      <p:sp>
        <p:nvSpPr>
          <p:cNvPr id="1105" name="文字框 1104"/>
          <p:cNvSpPr txBox="1"/>
          <p:nvPr/>
        </p:nvSpPr>
        <p:spPr>
          <a:xfrm>
            <a:off x="7889400" y="568980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106" name="文字框 1105"/>
          <p:cNvSpPr txBox="1"/>
          <p:nvPr/>
        </p:nvSpPr>
        <p:spPr>
          <a:xfrm>
            <a:off x="7954920" y="5686200"/>
            <a:ext cx="302400" cy="128520"/>
          </a:xfrm>
          <a:prstGeom prst="rect">
            <a:avLst/>
          </a:prstGeom>
          <a:noFill/>
          <a:ln w="0">
            <a:noFill/>
          </a:ln>
        </p:spPr>
        <p:txBody>
          <a:bodyPr wrap="none" lIns="0" tIns="0" rIns="0" bIns="0" anchor="t">
            <a:spAutoFit/>
          </a:bodyPr>
          <a:p>
            <a:r>
              <a:rPr lang="zh-CN" sz="790" b="0" u="none" strike="noStrike">
                <a:solidFill>
                  <a:srgbClr val="FBBF24"/>
                </a:solidFill>
                <a:effectLst/>
                <a:uFillTx/>
                <a:latin typeface="WenQuanYiZenHei"/>
                <a:ea typeface="WenQuanYiZenHei"/>
              </a:rPr>
              <a:t>差异大</a:t>
            </a:r>
            <a:endParaRPr lang="en-US" sz="790" b="0" u="none" strike="noStrike">
              <a:solidFill>
                <a:srgbClr val="000000"/>
              </a:solidFill>
              <a:effectLst/>
              <a:uFillTx/>
              <a:latin typeface="Times New Roman" panose="02020603050405020304"/>
            </a:endParaRPr>
          </a:p>
        </p:txBody>
      </p:sp>
      <p:sp>
        <p:nvSpPr>
          <p:cNvPr id="1107" name="文字框 1106"/>
          <p:cNvSpPr txBox="1"/>
          <p:nvPr/>
        </p:nvSpPr>
        <p:spPr>
          <a:xfrm>
            <a:off x="7538400" y="5820120"/>
            <a:ext cx="20196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长期</a:t>
            </a:r>
            <a:endParaRPr lang="en-US" sz="790" b="0" u="none" strike="noStrike">
              <a:solidFill>
                <a:srgbClr val="000000"/>
              </a:solidFill>
              <a:effectLst/>
              <a:uFillTx/>
              <a:latin typeface="Times New Roman" panose="02020603050405020304"/>
            </a:endParaRPr>
          </a:p>
        </p:txBody>
      </p:sp>
      <p:sp>
        <p:nvSpPr>
          <p:cNvPr id="1108" name="文字框 1107"/>
          <p:cNvSpPr txBox="1"/>
          <p:nvPr/>
        </p:nvSpPr>
        <p:spPr>
          <a:xfrm>
            <a:off x="7738920" y="582336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109" name="任意多邊形 1108"/>
          <p:cNvSpPr/>
          <p:nvPr/>
        </p:nvSpPr>
        <p:spPr>
          <a:xfrm>
            <a:off x="8665560" y="5013720"/>
            <a:ext cx="1295640" cy="1070280"/>
          </a:xfrm>
          <a:custGeom>
            <a:avLst/>
            <a:gdLst/>
            <a:ahLst/>
            <a:cxnLst/>
            <a:rect l="0" t="0" r="r" b="b"/>
            <a:pathLst>
              <a:path w="3599" h="2973">
                <a:moveTo>
                  <a:pt x="0" y="2787"/>
                </a:moveTo>
                <a:lnTo>
                  <a:pt x="0" y="186"/>
                </a:lnTo>
                <a:cubicBezTo>
                  <a:pt x="0" y="174"/>
                  <a:pt x="1" y="162"/>
                  <a:pt x="3" y="150"/>
                </a:cubicBezTo>
                <a:cubicBezTo>
                  <a:pt x="5" y="138"/>
                  <a:pt x="8" y="126"/>
                  <a:pt x="11" y="115"/>
                </a:cubicBezTo>
                <a:cubicBezTo>
                  <a:pt x="15" y="104"/>
                  <a:pt x="19" y="93"/>
                  <a:pt x="24" y="83"/>
                </a:cubicBezTo>
                <a:cubicBezTo>
                  <a:pt x="29" y="73"/>
                  <a:pt x="35" y="63"/>
                  <a:pt x="41" y="55"/>
                </a:cubicBezTo>
                <a:cubicBezTo>
                  <a:pt x="48" y="46"/>
                  <a:pt x="55" y="38"/>
                  <a:pt x="62" y="32"/>
                </a:cubicBezTo>
                <a:cubicBezTo>
                  <a:pt x="70" y="25"/>
                  <a:pt x="78" y="19"/>
                  <a:pt x="86" y="14"/>
                </a:cubicBezTo>
                <a:cubicBezTo>
                  <a:pt x="95" y="10"/>
                  <a:pt x="104" y="6"/>
                  <a:pt x="113" y="4"/>
                </a:cubicBezTo>
                <a:cubicBezTo>
                  <a:pt x="122" y="2"/>
                  <a:pt x="131" y="0"/>
                  <a:pt x="140" y="0"/>
                </a:cubicBezTo>
                <a:lnTo>
                  <a:pt x="3414" y="0"/>
                </a:lnTo>
                <a:cubicBezTo>
                  <a:pt x="3426" y="0"/>
                  <a:pt x="3438" y="2"/>
                  <a:pt x="3450" y="4"/>
                </a:cubicBezTo>
                <a:cubicBezTo>
                  <a:pt x="3462" y="6"/>
                  <a:pt x="3474" y="10"/>
                  <a:pt x="3485" y="14"/>
                </a:cubicBezTo>
                <a:cubicBezTo>
                  <a:pt x="3496" y="19"/>
                  <a:pt x="3507" y="25"/>
                  <a:pt x="3517" y="32"/>
                </a:cubicBezTo>
                <a:cubicBezTo>
                  <a:pt x="3527" y="38"/>
                  <a:pt x="3536" y="46"/>
                  <a:pt x="3545" y="55"/>
                </a:cubicBezTo>
                <a:cubicBezTo>
                  <a:pt x="3554" y="63"/>
                  <a:pt x="3561" y="73"/>
                  <a:pt x="3568" y="83"/>
                </a:cubicBezTo>
                <a:cubicBezTo>
                  <a:pt x="3575" y="93"/>
                  <a:pt x="3581" y="104"/>
                  <a:pt x="3585" y="115"/>
                </a:cubicBezTo>
                <a:cubicBezTo>
                  <a:pt x="3590" y="126"/>
                  <a:pt x="3594" y="138"/>
                  <a:pt x="3596" y="150"/>
                </a:cubicBezTo>
                <a:cubicBezTo>
                  <a:pt x="3598" y="162"/>
                  <a:pt x="3599" y="174"/>
                  <a:pt x="3599" y="186"/>
                </a:cubicBezTo>
                <a:lnTo>
                  <a:pt x="3599" y="2787"/>
                </a:lnTo>
                <a:cubicBezTo>
                  <a:pt x="3599" y="2799"/>
                  <a:pt x="3598" y="2811"/>
                  <a:pt x="3596" y="2823"/>
                </a:cubicBezTo>
                <a:cubicBezTo>
                  <a:pt x="3594" y="2835"/>
                  <a:pt x="3590" y="2847"/>
                  <a:pt x="3585" y="2858"/>
                </a:cubicBezTo>
                <a:cubicBezTo>
                  <a:pt x="3581" y="2869"/>
                  <a:pt x="3575" y="2880"/>
                  <a:pt x="3568" y="2890"/>
                </a:cubicBezTo>
                <a:cubicBezTo>
                  <a:pt x="3561" y="2900"/>
                  <a:pt x="3554" y="2910"/>
                  <a:pt x="3545" y="2918"/>
                </a:cubicBezTo>
                <a:cubicBezTo>
                  <a:pt x="3536" y="2927"/>
                  <a:pt x="3527" y="2935"/>
                  <a:pt x="3517" y="2941"/>
                </a:cubicBezTo>
                <a:cubicBezTo>
                  <a:pt x="3507" y="2948"/>
                  <a:pt x="3496" y="2954"/>
                  <a:pt x="3485" y="2958"/>
                </a:cubicBezTo>
                <a:cubicBezTo>
                  <a:pt x="3474" y="2963"/>
                  <a:pt x="3462" y="2967"/>
                  <a:pt x="3450" y="2969"/>
                </a:cubicBezTo>
                <a:cubicBezTo>
                  <a:pt x="3438" y="2971"/>
                  <a:pt x="3426" y="2973"/>
                  <a:pt x="3414" y="2973"/>
                </a:cubicBezTo>
                <a:lnTo>
                  <a:pt x="140" y="2973"/>
                </a:lnTo>
                <a:cubicBezTo>
                  <a:pt x="131" y="2973"/>
                  <a:pt x="122" y="2971"/>
                  <a:pt x="113" y="2969"/>
                </a:cubicBezTo>
                <a:cubicBezTo>
                  <a:pt x="104" y="2967"/>
                  <a:pt x="95" y="2963"/>
                  <a:pt x="86" y="2958"/>
                </a:cubicBezTo>
                <a:cubicBezTo>
                  <a:pt x="78" y="2954"/>
                  <a:pt x="70" y="2948"/>
                  <a:pt x="62" y="2941"/>
                </a:cubicBezTo>
                <a:cubicBezTo>
                  <a:pt x="55" y="2935"/>
                  <a:pt x="48" y="2927"/>
                  <a:pt x="41" y="2918"/>
                </a:cubicBezTo>
                <a:cubicBezTo>
                  <a:pt x="35" y="2910"/>
                  <a:pt x="29" y="2900"/>
                  <a:pt x="24" y="2890"/>
                </a:cubicBezTo>
                <a:cubicBezTo>
                  <a:pt x="19" y="2880"/>
                  <a:pt x="15" y="2869"/>
                  <a:pt x="11" y="2858"/>
                </a:cubicBezTo>
                <a:cubicBezTo>
                  <a:pt x="8" y="2847"/>
                  <a:pt x="5" y="2835"/>
                  <a:pt x="3" y="2823"/>
                </a:cubicBezTo>
                <a:cubicBezTo>
                  <a:pt x="1" y="2811"/>
                  <a:pt x="0" y="2799"/>
                  <a:pt x="0" y="278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10" name="任意多邊形 1109"/>
          <p:cNvSpPr/>
          <p:nvPr/>
        </p:nvSpPr>
        <p:spPr>
          <a:xfrm>
            <a:off x="8649000" y="5013720"/>
            <a:ext cx="67320" cy="1070280"/>
          </a:xfrm>
          <a:custGeom>
            <a:avLst/>
            <a:gdLst/>
            <a:ahLst/>
            <a:cxnLst/>
            <a:rect l="0" t="0" r="r" b="b"/>
            <a:pathLst>
              <a:path w="187" h="2973">
                <a:moveTo>
                  <a:pt x="0" y="0"/>
                </a:moveTo>
                <a:lnTo>
                  <a:pt x="187" y="0"/>
                </a:lnTo>
                <a:lnTo>
                  <a:pt x="187" y="2973"/>
                </a:lnTo>
                <a:lnTo>
                  <a:pt x="0" y="2973"/>
                </a:lnTo>
                <a:lnTo>
                  <a:pt x="0" y="0"/>
                </a:lnTo>
                <a:close/>
              </a:path>
            </a:pathLst>
          </a:custGeom>
          <a:solidFill>
            <a:srgbClr val="6366F1"/>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111" name="圖片 1110"/>
          <p:cNvPicPr/>
          <p:nvPr/>
        </p:nvPicPr>
        <p:blipFill>
          <a:blip r:embed="rId11"/>
          <a:stretch>
            <a:fillRect/>
          </a:stretch>
        </p:blipFill>
        <p:spPr>
          <a:xfrm>
            <a:off x="9217440" y="5147640"/>
            <a:ext cx="200160" cy="200160"/>
          </a:xfrm>
          <a:prstGeom prst="rect">
            <a:avLst/>
          </a:prstGeom>
          <a:noFill/>
          <a:ln w="0">
            <a:noFill/>
          </a:ln>
        </p:spPr>
      </p:pic>
      <p:sp>
        <p:nvSpPr>
          <p:cNvPr id="1112" name="文字框 1111"/>
          <p:cNvSpPr txBox="1"/>
          <p:nvPr/>
        </p:nvSpPr>
        <p:spPr>
          <a:xfrm>
            <a:off x="7804440" y="5820120"/>
            <a:ext cx="403200" cy="128520"/>
          </a:xfrm>
          <a:prstGeom prst="rect">
            <a:avLst/>
          </a:prstGeom>
          <a:noFill/>
          <a:ln w="0">
            <a:noFill/>
          </a:ln>
        </p:spPr>
        <p:txBody>
          <a:bodyPr wrap="none" lIns="0" tIns="0" rIns="0" bIns="0" anchor="t">
            <a:spAutoFit/>
          </a:bodyPr>
          <a:p>
            <a:r>
              <a:rPr lang="zh-CN" sz="790" b="0" u="none" strike="noStrike">
                <a:solidFill>
                  <a:srgbClr val="FBBF24"/>
                </a:solidFill>
                <a:effectLst/>
                <a:uFillTx/>
                <a:latin typeface="WenQuanYiZenHei"/>
                <a:ea typeface="WenQuanYiZenHei"/>
              </a:rPr>
              <a:t>中等偏高</a:t>
            </a:r>
            <a:endParaRPr lang="en-US" sz="790" b="0" u="none" strike="noStrike">
              <a:solidFill>
                <a:srgbClr val="000000"/>
              </a:solidFill>
              <a:effectLst/>
              <a:uFillTx/>
              <a:latin typeface="Times New Roman" panose="02020603050405020304"/>
            </a:endParaRPr>
          </a:p>
        </p:txBody>
      </p:sp>
      <p:sp>
        <p:nvSpPr>
          <p:cNvPr id="1113" name="文字框 1112"/>
          <p:cNvSpPr txBox="1"/>
          <p:nvPr/>
        </p:nvSpPr>
        <p:spPr>
          <a:xfrm>
            <a:off x="8944200" y="5437440"/>
            <a:ext cx="75528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多元化组合</a:t>
            </a:r>
            <a:endParaRPr lang="en-US" sz="1180" b="0" u="none" strike="noStrike">
              <a:solidFill>
                <a:srgbClr val="000000"/>
              </a:solidFill>
              <a:effectLst/>
              <a:uFillTx/>
              <a:latin typeface="Times New Roman" panose="02020603050405020304"/>
            </a:endParaRPr>
          </a:p>
        </p:txBody>
      </p:sp>
      <p:sp>
        <p:nvSpPr>
          <p:cNvPr id="1114" name="文字框 1113"/>
          <p:cNvSpPr txBox="1"/>
          <p:nvPr/>
        </p:nvSpPr>
        <p:spPr>
          <a:xfrm>
            <a:off x="8886600" y="5686200"/>
            <a:ext cx="40320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危机期间</a:t>
            </a:r>
            <a:endParaRPr lang="en-US" sz="790" b="0" u="none" strike="noStrike">
              <a:solidFill>
                <a:srgbClr val="000000"/>
              </a:solidFill>
              <a:effectLst/>
              <a:uFillTx/>
              <a:latin typeface="Times New Roman" panose="02020603050405020304"/>
            </a:endParaRPr>
          </a:p>
        </p:txBody>
      </p:sp>
      <p:sp>
        <p:nvSpPr>
          <p:cNvPr id="1115" name="文字框 1114"/>
          <p:cNvSpPr txBox="1"/>
          <p:nvPr/>
        </p:nvSpPr>
        <p:spPr>
          <a:xfrm>
            <a:off x="9287640" y="568980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116" name="文字框 1115"/>
          <p:cNvSpPr txBox="1"/>
          <p:nvPr/>
        </p:nvSpPr>
        <p:spPr>
          <a:xfrm>
            <a:off x="9353160" y="5686200"/>
            <a:ext cx="403200" cy="128520"/>
          </a:xfrm>
          <a:prstGeom prst="rect">
            <a:avLst/>
          </a:prstGeom>
          <a:noFill/>
          <a:ln w="0">
            <a:noFill/>
          </a:ln>
        </p:spPr>
        <p:txBody>
          <a:bodyPr wrap="none" lIns="0" tIns="0" rIns="0" bIns="0" anchor="t">
            <a:spAutoFit/>
          </a:bodyPr>
          <a:p>
            <a:r>
              <a:rPr lang="zh-CN" sz="790" b="0" u="none" strike="noStrike">
                <a:solidFill>
                  <a:srgbClr val="FBBF24"/>
                </a:solidFill>
                <a:effectLst/>
                <a:uFillTx/>
                <a:latin typeface="WenQuanYiZenHei"/>
                <a:ea typeface="WenQuanYiZenHei"/>
              </a:rPr>
              <a:t>中等偏高</a:t>
            </a:r>
            <a:endParaRPr lang="en-US" sz="790" b="0" u="none" strike="noStrike">
              <a:solidFill>
                <a:srgbClr val="000000"/>
              </a:solidFill>
              <a:effectLst/>
              <a:uFillTx/>
              <a:latin typeface="Times New Roman" panose="02020603050405020304"/>
            </a:endParaRPr>
          </a:p>
        </p:txBody>
      </p:sp>
      <p:sp>
        <p:nvSpPr>
          <p:cNvPr id="1117" name="文字框 1116"/>
          <p:cNvSpPr txBox="1"/>
          <p:nvPr/>
        </p:nvSpPr>
        <p:spPr>
          <a:xfrm>
            <a:off x="9087120" y="5820120"/>
            <a:ext cx="201960" cy="128520"/>
          </a:xfrm>
          <a:prstGeom prst="rect">
            <a:avLst/>
          </a:prstGeom>
          <a:noFill/>
          <a:ln w="0">
            <a:noFill/>
          </a:ln>
        </p:spPr>
        <p:txBody>
          <a:bodyPr wrap="none" lIns="0" tIns="0" rIns="0" bIns="0" anchor="t">
            <a:spAutoFit/>
          </a:bodyPr>
          <a:p>
            <a:r>
              <a:rPr lang="zh-CN" sz="790" b="0" u="none" strike="noStrike">
                <a:solidFill>
                  <a:srgbClr val="D1D5DB"/>
                </a:solidFill>
                <a:effectLst/>
                <a:uFillTx/>
                <a:latin typeface="WenQuanYiZenHei"/>
                <a:ea typeface="WenQuanYiZenHei"/>
              </a:rPr>
              <a:t>长期</a:t>
            </a:r>
            <a:endParaRPr lang="en-US" sz="790" b="0" u="none" strike="noStrike">
              <a:solidFill>
                <a:srgbClr val="000000"/>
              </a:solidFill>
              <a:effectLst/>
              <a:uFillTx/>
              <a:latin typeface="Times New Roman" panose="02020603050405020304"/>
            </a:endParaRPr>
          </a:p>
        </p:txBody>
      </p:sp>
      <p:sp>
        <p:nvSpPr>
          <p:cNvPr id="1118" name="文字框 1117"/>
          <p:cNvSpPr txBox="1"/>
          <p:nvPr/>
        </p:nvSpPr>
        <p:spPr>
          <a:xfrm>
            <a:off x="9287640" y="5823360"/>
            <a:ext cx="100080" cy="117720"/>
          </a:xfrm>
          <a:prstGeom prst="rect">
            <a:avLst/>
          </a:prstGeom>
          <a:noFill/>
          <a:ln w="0">
            <a:noFill/>
          </a:ln>
        </p:spPr>
        <p:txBody>
          <a:bodyPr wrap="none" lIns="0" tIns="0" rIns="0" bIns="0" anchor="t">
            <a:spAutoFit/>
          </a:bodyPr>
          <a:p>
            <a:r>
              <a:rPr lang="en-US" sz="790" b="0" u="none" strike="noStrike">
                <a:solidFill>
                  <a:srgbClr val="D1D5DB"/>
                </a:solidFill>
                <a:effectLst/>
                <a:uFillTx/>
                <a:latin typeface="DejaVuSans"/>
                <a:ea typeface="DejaVuSans"/>
              </a:rPr>
              <a:t>: </a:t>
            </a:r>
            <a:endParaRPr lang="en-US" sz="790" b="0" u="none" strike="noStrike">
              <a:solidFill>
                <a:srgbClr val="000000"/>
              </a:solidFill>
              <a:effectLst/>
              <a:uFillTx/>
              <a:latin typeface="Times New Roman" panose="02020603050405020304"/>
            </a:endParaRPr>
          </a:p>
        </p:txBody>
      </p:sp>
      <p:sp>
        <p:nvSpPr>
          <p:cNvPr id="1119" name="文字框 1118"/>
          <p:cNvSpPr txBox="1"/>
          <p:nvPr/>
        </p:nvSpPr>
        <p:spPr>
          <a:xfrm>
            <a:off x="9353160" y="5820120"/>
            <a:ext cx="201960" cy="128520"/>
          </a:xfrm>
          <a:prstGeom prst="rect">
            <a:avLst/>
          </a:prstGeom>
          <a:noFill/>
          <a:ln w="0">
            <a:noFill/>
          </a:ln>
        </p:spPr>
        <p:txBody>
          <a:bodyPr wrap="none" lIns="0" tIns="0" rIns="0" bIns="0" anchor="t">
            <a:spAutoFit/>
          </a:bodyPr>
          <a:p>
            <a:r>
              <a:rPr lang="zh-CN" sz="790" b="0" u="none" strike="noStrike">
                <a:solidFill>
                  <a:srgbClr val="34D399"/>
                </a:solidFill>
                <a:effectLst/>
                <a:uFillTx/>
                <a:latin typeface="WenQuanYiZenHei"/>
                <a:ea typeface="WenQuanYiZenHei"/>
              </a:rPr>
              <a:t>最高</a:t>
            </a:r>
            <a:endParaRPr lang="en-US" sz="79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0" name="圖片 1119"/>
          <p:cNvPicPr/>
          <p:nvPr/>
        </p:nvPicPr>
        <p:blipFill>
          <a:blip r:embed="rId1"/>
          <a:stretch>
            <a:fillRect/>
          </a:stretch>
        </p:blipFill>
        <p:spPr>
          <a:xfrm>
            <a:off x="0" y="0"/>
            <a:ext cx="10696320" cy="7420320"/>
          </a:xfrm>
          <a:prstGeom prst="rect">
            <a:avLst/>
          </a:prstGeom>
          <a:noFill/>
          <a:ln w="0">
            <a:noFill/>
          </a:ln>
        </p:spPr>
      </p:pic>
      <p:pic>
        <p:nvPicPr>
          <p:cNvPr id="1121" name="圖片 1120"/>
          <p:cNvPicPr/>
          <p:nvPr/>
        </p:nvPicPr>
        <p:blipFill>
          <a:blip r:embed="rId2"/>
          <a:stretch>
            <a:fillRect/>
          </a:stretch>
        </p:blipFill>
        <p:spPr>
          <a:xfrm>
            <a:off x="534960" y="735480"/>
            <a:ext cx="3208680" cy="33120"/>
          </a:xfrm>
          <a:prstGeom prst="rect">
            <a:avLst/>
          </a:prstGeom>
          <a:noFill/>
          <a:ln w="0">
            <a:noFill/>
          </a:ln>
        </p:spPr>
      </p:pic>
      <p:sp>
        <p:nvSpPr>
          <p:cNvPr id="1122" name="文字框 1121"/>
          <p:cNvSpPr txBox="1"/>
          <p:nvPr/>
        </p:nvSpPr>
        <p:spPr>
          <a:xfrm>
            <a:off x="534960" y="312120"/>
            <a:ext cx="300312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抗危机资产优劣势总结</a:t>
            </a:r>
            <a:endParaRPr lang="en-US" sz="2370" b="0" u="none" strike="noStrike">
              <a:solidFill>
                <a:srgbClr val="000000"/>
              </a:solidFill>
              <a:effectLst/>
              <a:uFillTx/>
              <a:latin typeface="Times New Roman" panose="02020603050405020304"/>
            </a:endParaRPr>
          </a:p>
        </p:txBody>
      </p:sp>
      <p:sp>
        <p:nvSpPr>
          <p:cNvPr id="1123" name="文字框 1122"/>
          <p:cNvSpPr txBox="1"/>
          <p:nvPr/>
        </p:nvSpPr>
        <p:spPr>
          <a:xfrm>
            <a:off x="534960" y="713268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1124" name="任意多邊形 1123"/>
          <p:cNvSpPr/>
          <p:nvPr/>
        </p:nvSpPr>
        <p:spPr>
          <a:xfrm>
            <a:off x="551520" y="902520"/>
            <a:ext cx="3083760" cy="2925000"/>
          </a:xfrm>
          <a:custGeom>
            <a:avLst/>
            <a:gdLst/>
            <a:ahLst/>
            <a:cxnLst/>
            <a:rect l="0" t="0" r="r" b="b"/>
            <a:pathLst>
              <a:path w="8566" h="8125">
                <a:moveTo>
                  <a:pt x="0" y="7939"/>
                </a:moveTo>
                <a:lnTo>
                  <a:pt x="0" y="185"/>
                </a:lnTo>
                <a:cubicBezTo>
                  <a:pt x="0" y="173"/>
                  <a:pt x="0" y="161"/>
                  <a:pt x="2" y="149"/>
                </a:cubicBezTo>
                <a:cubicBezTo>
                  <a:pt x="4" y="137"/>
                  <a:pt x="7" y="125"/>
                  <a:pt x="10" y="114"/>
                </a:cubicBezTo>
                <a:cubicBezTo>
                  <a:pt x="14" y="103"/>
                  <a:pt x="18" y="92"/>
                  <a:pt x="23" y="82"/>
                </a:cubicBezTo>
                <a:cubicBezTo>
                  <a:pt x="28" y="72"/>
                  <a:pt x="34" y="63"/>
                  <a:pt x="40" y="54"/>
                </a:cubicBezTo>
                <a:cubicBezTo>
                  <a:pt x="47" y="45"/>
                  <a:pt x="54" y="38"/>
                  <a:pt x="61" y="31"/>
                </a:cubicBezTo>
                <a:cubicBezTo>
                  <a:pt x="69" y="24"/>
                  <a:pt x="77" y="18"/>
                  <a:pt x="86" y="14"/>
                </a:cubicBezTo>
                <a:cubicBezTo>
                  <a:pt x="94" y="9"/>
                  <a:pt x="103" y="5"/>
                  <a:pt x="112" y="3"/>
                </a:cubicBezTo>
                <a:cubicBezTo>
                  <a:pt x="121" y="1"/>
                  <a:pt x="130" y="0"/>
                  <a:pt x="139" y="0"/>
                </a:cubicBezTo>
                <a:lnTo>
                  <a:pt x="8380" y="0"/>
                </a:lnTo>
                <a:cubicBezTo>
                  <a:pt x="8393" y="0"/>
                  <a:pt x="8405" y="1"/>
                  <a:pt x="8417" y="3"/>
                </a:cubicBezTo>
                <a:cubicBezTo>
                  <a:pt x="8429" y="5"/>
                  <a:pt x="8440" y="9"/>
                  <a:pt x="8452" y="14"/>
                </a:cubicBezTo>
                <a:cubicBezTo>
                  <a:pt x="8463" y="18"/>
                  <a:pt x="8474" y="24"/>
                  <a:pt x="8484" y="31"/>
                </a:cubicBezTo>
                <a:cubicBezTo>
                  <a:pt x="8494" y="38"/>
                  <a:pt x="8503" y="45"/>
                  <a:pt x="8512" y="54"/>
                </a:cubicBezTo>
                <a:cubicBezTo>
                  <a:pt x="8520" y="63"/>
                  <a:pt x="8528" y="72"/>
                  <a:pt x="8535" y="82"/>
                </a:cubicBezTo>
                <a:cubicBezTo>
                  <a:pt x="8542" y="92"/>
                  <a:pt x="8547" y="103"/>
                  <a:pt x="8552" y="114"/>
                </a:cubicBezTo>
                <a:cubicBezTo>
                  <a:pt x="8557" y="125"/>
                  <a:pt x="8560" y="137"/>
                  <a:pt x="8563" y="149"/>
                </a:cubicBezTo>
                <a:cubicBezTo>
                  <a:pt x="8565" y="161"/>
                  <a:pt x="8566" y="173"/>
                  <a:pt x="8566" y="185"/>
                </a:cubicBezTo>
                <a:lnTo>
                  <a:pt x="8566" y="7939"/>
                </a:lnTo>
                <a:cubicBezTo>
                  <a:pt x="8566" y="7952"/>
                  <a:pt x="8565" y="7964"/>
                  <a:pt x="8563" y="7976"/>
                </a:cubicBezTo>
                <a:cubicBezTo>
                  <a:pt x="8560" y="7988"/>
                  <a:pt x="8557" y="7999"/>
                  <a:pt x="8552" y="8010"/>
                </a:cubicBezTo>
                <a:cubicBezTo>
                  <a:pt x="8547" y="8022"/>
                  <a:pt x="8542" y="8032"/>
                  <a:pt x="8535" y="8043"/>
                </a:cubicBezTo>
                <a:cubicBezTo>
                  <a:pt x="8528" y="8053"/>
                  <a:pt x="8520" y="8062"/>
                  <a:pt x="8512" y="8071"/>
                </a:cubicBezTo>
                <a:cubicBezTo>
                  <a:pt x="8503" y="8079"/>
                  <a:pt x="8494" y="8087"/>
                  <a:pt x="8484" y="8094"/>
                </a:cubicBezTo>
                <a:cubicBezTo>
                  <a:pt x="8474" y="8101"/>
                  <a:pt x="8463" y="8106"/>
                  <a:pt x="8452" y="8111"/>
                </a:cubicBezTo>
                <a:cubicBezTo>
                  <a:pt x="8440" y="8116"/>
                  <a:pt x="8429" y="8119"/>
                  <a:pt x="8417" y="8122"/>
                </a:cubicBezTo>
                <a:cubicBezTo>
                  <a:pt x="8405" y="8124"/>
                  <a:pt x="8393" y="8125"/>
                  <a:pt x="8380" y="8125"/>
                </a:cubicBezTo>
                <a:lnTo>
                  <a:pt x="139" y="8125"/>
                </a:lnTo>
                <a:cubicBezTo>
                  <a:pt x="130" y="8125"/>
                  <a:pt x="121" y="8124"/>
                  <a:pt x="112" y="8122"/>
                </a:cubicBezTo>
                <a:cubicBezTo>
                  <a:pt x="103" y="8119"/>
                  <a:pt x="94" y="8116"/>
                  <a:pt x="86" y="8111"/>
                </a:cubicBezTo>
                <a:cubicBezTo>
                  <a:pt x="77" y="8106"/>
                  <a:pt x="69" y="8101"/>
                  <a:pt x="61" y="8094"/>
                </a:cubicBezTo>
                <a:cubicBezTo>
                  <a:pt x="54" y="8087"/>
                  <a:pt x="47" y="8079"/>
                  <a:pt x="40" y="8071"/>
                </a:cubicBezTo>
                <a:cubicBezTo>
                  <a:pt x="34" y="8062"/>
                  <a:pt x="28" y="8053"/>
                  <a:pt x="23" y="8043"/>
                </a:cubicBezTo>
                <a:cubicBezTo>
                  <a:pt x="18" y="8032"/>
                  <a:pt x="14" y="8022"/>
                  <a:pt x="10" y="8010"/>
                </a:cubicBezTo>
                <a:cubicBezTo>
                  <a:pt x="7" y="7999"/>
                  <a:pt x="4" y="7988"/>
                  <a:pt x="2" y="7976"/>
                </a:cubicBezTo>
                <a:cubicBezTo>
                  <a:pt x="0" y="7964"/>
                  <a:pt x="0" y="7952"/>
                  <a:pt x="0" y="793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25" name="任意多邊形 1124"/>
          <p:cNvSpPr/>
          <p:nvPr/>
        </p:nvSpPr>
        <p:spPr>
          <a:xfrm>
            <a:off x="534600" y="902520"/>
            <a:ext cx="67320" cy="2925000"/>
          </a:xfrm>
          <a:custGeom>
            <a:avLst/>
            <a:gdLst/>
            <a:ahLst/>
            <a:cxnLst/>
            <a:rect l="0" t="0" r="r" b="b"/>
            <a:pathLst>
              <a:path w="187" h="8125">
                <a:moveTo>
                  <a:pt x="151" y="14"/>
                </a:moveTo>
                <a:cubicBezTo>
                  <a:pt x="140" y="23"/>
                  <a:pt x="130" y="36"/>
                  <a:pt x="121" y="54"/>
                </a:cubicBezTo>
                <a:cubicBezTo>
                  <a:pt x="112" y="71"/>
                  <a:pt x="106" y="91"/>
                  <a:pt x="101" y="114"/>
                </a:cubicBezTo>
                <a:cubicBezTo>
                  <a:pt x="96" y="137"/>
                  <a:pt x="94" y="161"/>
                  <a:pt x="94" y="185"/>
                </a:cubicBezTo>
                <a:lnTo>
                  <a:pt x="94" y="7939"/>
                </a:lnTo>
                <a:cubicBezTo>
                  <a:pt x="94" y="7964"/>
                  <a:pt x="96" y="7988"/>
                  <a:pt x="101" y="8010"/>
                </a:cubicBezTo>
                <a:cubicBezTo>
                  <a:pt x="106" y="8033"/>
                  <a:pt x="112" y="8053"/>
                  <a:pt x="121" y="8071"/>
                </a:cubicBezTo>
                <a:cubicBezTo>
                  <a:pt x="130" y="8088"/>
                  <a:pt x="140" y="8102"/>
                  <a:pt x="151" y="8111"/>
                </a:cubicBezTo>
                <a:cubicBezTo>
                  <a:pt x="163" y="8120"/>
                  <a:pt x="175" y="8125"/>
                  <a:pt x="187" y="8125"/>
                </a:cubicBezTo>
                <a:cubicBezTo>
                  <a:pt x="162" y="8125"/>
                  <a:pt x="139" y="8120"/>
                  <a:pt x="116" y="8111"/>
                </a:cubicBezTo>
                <a:cubicBezTo>
                  <a:pt x="93" y="8102"/>
                  <a:pt x="72" y="8088"/>
                  <a:pt x="55" y="8071"/>
                </a:cubicBezTo>
                <a:cubicBezTo>
                  <a:pt x="37" y="8053"/>
                  <a:pt x="24" y="8033"/>
                  <a:pt x="14" y="8010"/>
                </a:cubicBezTo>
                <a:cubicBezTo>
                  <a:pt x="5" y="7988"/>
                  <a:pt x="0" y="7964"/>
                  <a:pt x="0" y="7939"/>
                </a:cubicBezTo>
                <a:lnTo>
                  <a:pt x="0" y="185"/>
                </a:lnTo>
                <a:cubicBezTo>
                  <a:pt x="0" y="161"/>
                  <a:pt x="5" y="137"/>
                  <a:pt x="14" y="114"/>
                </a:cubicBezTo>
                <a:cubicBezTo>
                  <a:pt x="24" y="91"/>
                  <a:pt x="37" y="71"/>
                  <a:pt x="55" y="54"/>
                </a:cubicBezTo>
                <a:cubicBezTo>
                  <a:pt x="72" y="36"/>
                  <a:pt x="93" y="23"/>
                  <a:pt x="116" y="14"/>
                </a:cubicBezTo>
                <a:cubicBezTo>
                  <a:pt x="139" y="4"/>
                  <a:pt x="162" y="0"/>
                  <a:pt x="187" y="0"/>
                </a:cubicBezTo>
                <a:cubicBezTo>
                  <a:pt x="175" y="0"/>
                  <a:pt x="163" y="4"/>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26" name="任意多邊形 1125"/>
          <p:cNvSpPr/>
          <p:nvPr/>
        </p:nvSpPr>
        <p:spPr>
          <a:xfrm>
            <a:off x="735120" y="1069560"/>
            <a:ext cx="418320" cy="417960"/>
          </a:xfrm>
          <a:custGeom>
            <a:avLst/>
            <a:gdLst/>
            <a:ahLst/>
            <a:cxnLst/>
            <a:rect l="0" t="0" r="r" b="b"/>
            <a:pathLst>
              <a:path w="1162" h="1161">
                <a:moveTo>
                  <a:pt x="1162" y="580"/>
                </a:moveTo>
                <a:cubicBezTo>
                  <a:pt x="1162" y="599"/>
                  <a:pt x="1161" y="618"/>
                  <a:pt x="1159" y="637"/>
                </a:cubicBezTo>
                <a:cubicBezTo>
                  <a:pt x="1157" y="656"/>
                  <a:pt x="1154" y="675"/>
                  <a:pt x="1151" y="693"/>
                </a:cubicBezTo>
                <a:cubicBezTo>
                  <a:pt x="1147" y="712"/>
                  <a:pt x="1142" y="730"/>
                  <a:pt x="1137" y="749"/>
                </a:cubicBezTo>
                <a:cubicBezTo>
                  <a:pt x="1131" y="767"/>
                  <a:pt x="1125" y="785"/>
                  <a:pt x="1118" y="802"/>
                </a:cubicBezTo>
                <a:cubicBezTo>
                  <a:pt x="1110" y="820"/>
                  <a:pt x="1102" y="837"/>
                  <a:pt x="1093" y="854"/>
                </a:cubicBezTo>
                <a:cubicBezTo>
                  <a:pt x="1084" y="870"/>
                  <a:pt x="1075" y="887"/>
                  <a:pt x="1064" y="903"/>
                </a:cubicBezTo>
                <a:cubicBezTo>
                  <a:pt x="1054" y="918"/>
                  <a:pt x="1042" y="934"/>
                  <a:pt x="1030" y="948"/>
                </a:cubicBezTo>
                <a:cubicBezTo>
                  <a:pt x="1018" y="963"/>
                  <a:pt x="1005" y="977"/>
                  <a:pt x="992" y="990"/>
                </a:cubicBezTo>
                <a:cubicBezTo>
                  <a:pt x="978" y="1004"/>
                  <a:pt x="964" y="1017"/>
                  <a:pt x="950" y="1029"/>
                </a:cubicBezTo>
                <a:cubicBezTo>
                  <a:pt x="935" y="1041"/>
                  <a:pt x="920" y="1052"/>
                  <a:pt x="904" y="1063"/>
                </a:cubicBezTo>
                <a:cubicBezTo>
                  <a:pt x="888" y="1073"/>
                  <a:pt x="872" y="1083"/>
                  <a:pt x="854" y="1093"/>
                </a:cubicBezTo>
                <a:cubicBezTo>
                  <a:pt x="837" y="1102"/>
                  <a:pt x="820" y="1110"/>
                  <a:pt x="803" y="1117"/>
                </a:cubicBezTo>
                <a:cubicBezTo>
                  <a:pt x="785" y="1125"/>
                  <a:pt x="767" y="1131"/>
                  <a:pt x="749" y="1136"/>
                </a:cubicBezTo>
                <a:cubicBezTo>
                  <a:pt x="731" y="1142"/>
                  <a:pt x="712" y="1147"/>
                  <a:pt x="694" y="1150"/>
                </a:cubicBezTo>
                <a:cubicBezTo>
                  <a:pt x="675" y="1154"/>
                  <a:pt x="656" y="1157"/>
                  <a:pt x="637" y="1159"/>
                </a:cubicBezTo>
                <a:cubicBezTo>
                  <a:pt x="619" y="1160"/>
                  <a:pt x="600" y="1161"/>
                  <a:pt x="581" y="1161"/>
                </a:cubicBezTo>
                <a:cubicBezTo>
                  <a:pt x="562" y="1161"/>
                  <a:pt x="543" y="1160"/>
                  <a:pt x="524" y="1159"/>
                </a:cubicBezTo>
                <a:cubicBezTo>
                  <a:pt x="505" y="1157"/>
                  <a:pt x="486" y="1154"/>
                  <a:pt x="467" y="1150"/>
                </a:cubicBezTo>
                <a:cubicBezTo>
                  <a:pt x="449" y="1147"/>
                  <a:pt x="430" y="1142"/>
                  <a:pt x="412" y="1136"/>
                </a:cubicBezTo>
                <a:cubicBezTo>
                  <a:pt x="394" y="1131"/>
                  <a:pt x="376" y="1125"/>
                  <a:pt x="358" y="1117"/>
                </a:cubicBezTo>
                <a:cubicBezTo>
                  <a:pt x="341" y="1110"/>
                  <a:pt x="324" y="1102"/>
                  <a:pt x="307" y="1093"/>
                </a:cubicBezTo>
                <a:cubicBezTo>
                  <a:pt x="290" y="1083"/>
                  <a:pt x="274" y="1073"/>
                  <a:pt x="258" y="1063"/>
                </a:cubicBezTo>
                <a:cubicBezTo>
                  <a:pt x="242" y="1052"/>
                  <a:pt x="227" y="1041"/>
                  <a:pt x="212" y="1029"/>
                </a:cubicBezTo>
                <a:cubicBezTo>
                  <a:pt x="198" y="1017"/>
                  <a:pt x="184" y="1004"/>
                  <a:pt x="170" y="990"/>
                </a:cubicBezTo>
                <a:cubicBezTo>
                  <a:pt x="157" y="977"/>
                  <a:pt x="144" y="963"/>
                  <a:pt x="132" y="948"/>
                </a:cubicBezTo>
                <a:cubicBezTo>
                  <a:pt x="120" y="934"/>
                  <a:pt x="109" y="918"/>
                  <a:pt x="98" y="903"/>
                </a:cubicBezTo>
                <a:cubicBezTo>
                  <a:pt x="87" y="887"/>
                  <a:pt x="78" y="870"/>
                  <a:pt x="69" y="854"/>
                </a:cubicBezTo>
                <a:cubicBezTo>
                  <a:pt x="60" y="837"/>
                  <a:pt x="52" y="820"/>
                  <a:pt x="44" y="802"/>
                </a:cubicBezTo>
                <a:cubicBezTo>
                  <a:pt x="37" y="785"/>
                  <a:pt x="31" y="767"/>
                  <a:pt x="25" y="749"/>
                </a:cubicBezTo>
                <a:cubicBezTo>
                  <a:pt x="20" y="730"/>
                  <a:pt x="15" y="712"/>
                  <a:pt x="11" y="693"/>
                </a:cubicBezTo>
                <a:cubicBezTo>
                  <a:pt x="8" y="675"/>
                  <a:pt x="5" y="656"/>
                  <a:pt x="3" y="637"/>
                </a:cubicBezTo>
                <a:cubicBezTo>
                  <a:pt x="1" y="618"/>
                  <a:pt x="0" y="599"/>
                  <a:pt x="0" y="580"/>
                </a:cubicBezTo>
                <a:cubicBezTo>
                  <a:pt x="0" y="561"/>
                  <a:pt x="1" y="542"/>
                  <a:pt x="3" y="523"/>
                </a:cubicBezTo>
                <a:cubicBezTo>
                  <a:pt x="5" y="504"/>
                  <a:pt x="8" y="486"/>
                  <a:pt x="11" y="467"/>
                </a:cubicBezTo>
                <a:cubicBezTo>
                  <a:pt x="15" y="448"/>
                  <a:pt x="20" y="430"/>
                  <a:pt x="25" y="412"/>
                </a:cubicBezTo>
                <a:cubicBezTo>
                  <a:pt x="31" y="393"/>
                  <a:pt x="37" y="376"/>
                  <a:pt x="44" y="358"/>
                </a:cubicBezTo>
                <a:cubicBezTo>
                  <a:pt x="52" y="340"/>
                  <a:pt x="60" y="323"/>
                  <a:pt x="69" y="307"/>
                </a:cubicBezTo>
                <a:cubicBezTo>
                  <a:pt x="78" y="290"/>
                  <a:pt x="87" y="273"/>
                  <a:pt x="98" y="258"/>
                </a:cubicBezTo>
                <a:cubicBezTo>
                  <a:pt x="109" y="242"/>
                  <a:pt x="120" y="227"/>
                  <a:pt x="132" y="212"/>
                </a:cubicBezTo>
                <a:cubicBezTo>
                  <a:pt x="144" y="197"/>
                  <a:pt x="157" y="183"/>
                  <a:pt x="170" y="170"/>
                </a:cubicBezTo>
                <a:cubicBezTo>
                  <a:pt x="184" y="156"/>
                  <a:pt x="198" y="144"/>
                  <a:pt x="212" y="131"/>
                </a:cubicBezTo>
                <a:cubicBezTo>
                  <a:pt x="227" y="119"/>
                  <a:pt x="242" y="108"/>
                  <a:pt x="258" y="98"/>
                </a:cubicBezTo>
                <a:cubicBezTo>
                  <a:pt x="274" y="87"/>
                  <a:pt x="290" y="77"/>
                  <a:pt x="307" y="68"/>
                </a:cubicBezTo>
                <a:cubicBezTo>
                  <a:pt x="324" y="59"/>
                  <a:pt x="341" y="51"/>
                  <a:pt x="358" y="44"/>
                </a:cubicBezTo>
                <a:cubicBezTo>
                  <a:pt x="376" y="37"/>
                  <a:pt x="394" y="30"/>
                  <a:pt x="412" y="25"/>
                </a:cubicBezTo>
                <a:cubicBezTo>
                  <a:pt x="430" y="19"/>
                  <a:pt x="449" y="15"/>
                  <a:pt x="467" y="11"/>
                </a:cubicBezTo>
                <a:cubicBezTo>
                  <a:pt x="486" y="7"/>
                  <a:pt x="505" y="4"/>
                  <a:pt x="524" y="3"/>
                </a:cubicBezTo>
                <a:cubicBezTo>
                  <a:pt x="543" y="1"/>
                  <a:pt x="562" y="0"/>
                  <a:pt x="581" y="0"/>
                </a:cubicBezTo>
                <a:cubicBezTo>
                  <a:pt x="600" y="0"/>
                  <a:pt x="619" y="1"/>
                  <a:pt x="637" y="3"/>
                </a:cubicBezTo>
                <a:cubicBezTo>
                  <a:pt x="656" y="4"/>
                  <a:pt x="675" y="7"/>
                  <a:pt x="694" y="11"/>
                </a:cubicBezTo>
                <a:cubicBezTo>
                  <a:pt x="712" y="15"/>
                  <a:pt x="731" y="19"/>
                  <a:pt x="749" y="25"/>
                </a:cubicBezTo>
                <a:cubicBezTo>
                  <a:pt x="767" y="30"/>
                  <a:pt x="785" y="37"/>
                  <a:pt x="803" y="44"/>
                </a:cubicBezTo>
                <a:cubicBezTo>
                  <a:pt x="820" y="51"/>
                  <a:pt x="837" y="59"/>
                  <a:pt x="854" y="68"/>
                </a:cubicBezTo>
                <a:cubicBezTo>
                  <a:pt x="872" y="77"/>
                  <a:pt x="888" y="87"/>
                  <a:pt x="904" y="98"/>
                </a:cubicBezTo>
                <a:cubicBezTo>
                  <a:pt x="920" y="108"/>
                  <a:pt x="935" y="119"/>
                  <a:pt x="950" y="131"/>
                </a:cubicBezTo>
                <a:cubicBezTo>
                  <a:pt x="964" y="144"/>
                  <a:pt x="978" y="156"/>
                  <a:pt x="992" y="170"/>
                </a:cubicBezTo>
                <a:cubicBezTo>
                  <a:pt x="1005" y="183"/>
                  <a:pt x="1018" y="197"/>
                  <a:pt x="1030" y="212"/>
                </a:cubicBezTo>
                <a:cubicBezTo>
                  <a:pt x="1042" y="227"/>
                  <a:pt x="1054" y="242"/>
                  <a:pt x="1064" y="258"/>
                </a:cubicBezTo>
                <a:cubicBezTo>
                  <a:pt x="1075" y="273"/>
                  <a:pt x="1084" y="290"/>
                  <a:pt x="1093" y="307"/>
                </a:cubicBezTo>
                <a:cubicBezTo>
                  <a:pt x="1102" y="323"/>
                  <a:pt x="1110" y="340"/>
                  <a:pt x="1118" y="358"/>
                </a:cubicBezTo>
                <a:cubicBezTo>
                  <a:pt x="1125" y="376"/>
                  <a:pt x="1131" y="393"/>
                  <a:pt x="1137" y="412"/>
                </a:cubicBezTo>
                <a:cubicBezTo>
                  <a:pt x="1142" y="430"/>
                  <a:pt x="1147" y="448"/>
                  <a:pt x="1151" y="467"/>
                </a:cubicBezTo>
                <a:cubicBezTo>
                  <a:pt x="1154" y="486"/>
                  <a:pt x="1157" y="504"/>
                  <a:pt x="1159" y="523"/>
                </a:cubicBezTo>
                <a:cubicBezTo>
                  <a:pt x="1161" y="542"/>
                  <a:pt x="1162" y="561"/>
                  <a:pt x="1162" y="580"/>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127" name="圖片 1126"/>
          <p:cNvPicPr/>
          <p:nvPr/>
        </p:nvPicPr>
        <p:blipFill>
          <a:blip r:embed="rId3"/>
          <a:stretch>
            <a:fillRect/>
          </a:stretch>
        </p:blipFill>
        <p:spPr>
          <a:xfrm>
            <a:off x="844200" y="1178280"/>
            <a:ext cx="200160" cy="200160"/>
          </a:xfrm>
          <a:prstGeom prst="rect">
            <a:avLst/>
          </a:prstGeom>
          <a:noFill/>
          <a:ln w="0">
            <a:noFill/>
          </a:ln>
        </p:spPr>
      </p:pic>
      <p:sp>
        <p:nvSpPr>
          <p:cNvPr id="1128" name="文字框 1127"/>
          <p:cNvSpPr txBox="1"/>
          <p:nvPr/>
        </p:nvSpPr>
        <p:spPr>
          <a:xfrm>
            <a:off x="9750240" y="7136640"/>
            <a:ext cx="22288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17 / 24</a:t>
            </a:r>
            <a:endParaRPr lang="en-US" sz="920" b="0" u="none" strike="noStrike">
              <a:solidFill>
                <a:srgbClr val="000000"/>
              </a:solidFill>
              <a:effectLst/>
              <a:uFillTx/>
              <a:latin typeface="Times New Roman" panose="02020603050405020304"/>
            </a:endParaRPr>
          </a:p>
        </p:txBody>
      </p:sp>
      <p:sp>
        <p:nvSpPr>
          <p:cNvPr id="1129" name="文字框 1128"/>
          <p:cNvSpPr txBox="1"/>
          <p:nvPr/>
        </p:nvSpPr>
        <p:spPr>
          <a:xfrm>
            <a:off x="1253520" y="117612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政府债券</a:t>
            </a:r>
            <a:endParaRPr lang="en-US" sz="1320" b="0" u="none" strike="noStrike">
              <a:solidFill>
                <a:srgbClr val="000000"/>
              </a:solidFill>
              <a:effectLst/>
              <a:uFillTx/>
              <a:latin typeface="Times New Roman" panose="02020603050405020304"/>
            </a:endParaRPr>
          </a:p>
        </p:txBody>
      </p:sp>
      <p:pic>
        <p:nvPicPr>
          <p:cNvPr id="1130" name="圖片 1129"/>
          <p:cNvPicPr/>
          <p:nvPr/>
        </p:nvPicPr>
        <p:blipFill>
          <a:blip r:embed="rId4"/>
          <a:stretch>
            <a:fillRect/>
          </a:stretch>
        </p:blipFill>
        <p:spPr>
          <a:xfrm>
            <a:off x="735480" y="1955520"/>
            <a:ext cx="133200" cy="133200"/>
          </a:xfrm>
          <a:prstGeom prst="rect">
            <a:avLst/>
          </a:prstGeom>
          <a:noFill/>
          <a:ln w="0">
            <a:noFill/>
          </a:ln>
        </p:spPr>
      </p:pic>
      <p:sp>
        <p:nvSpPr>
          <p:cNvPr id="1131" name="文字框 1130"/>
          <p:cNvSpPr txBox="1"/>
          <p:nvPr/>
        </p:nvSpPr>
        <p:spPr>
          <a:xfrm>
            <a:off x="735480" y="164340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优势</a:t>
            </a:r>
            <a:endParaRPr lang="en-US" sz="1180" b="0" u="none" strike="noStrike">
              <a:solidFill>
                <a:srgbClr val="000000"/>
              </a:solidFill>
              <a:effectLst/>
              <a:uFillTx/>
              <a:latin typeface="Times New Roman" panose="02020603050405020304"/>
            </a:endParaRPr>
          </a:p>
        </p:txBody>
      </p:sp>
      <p:pic>
        <p:nvPicPr>
          <p:cNvPr id="1132" name="圖片 1131"/>
          <p:cNvPicPr/>
          <p:nvPr/>
        </p:nvPicPr>
        <p:blipFill>
          <a:blip r:embed="rId4"/>
          <a:stretch>
            <a:fillRect/>
          </a:stretch>
        </p:blipFill>
        <p:spPr>
          <a:xfrm>
            <a:off x="735480" y="2189520"/>
            <a:ext cx="133200" cy="133200"/>
          </a:xfrm>
          <a:prstGeom prst="rect">
            <a:avLst/>
          </a:prstGeom>
          <a:noFill/>
          <a:ln w="0">
            <a:noFill/>
          </a:ln>
        </p:spPr>
      </p:pic>
      <p:sp>
        <p:nvSpPr>
          <p:cNvPr id="1133" name="文字框 1132"/>
          <p:cNvSpPr txBox="1"/>
          <p:nvPr/>
        </p:nvSpPr>
        <p:spPr>
          <a:xfrm>
            <a:off x="936000" y="193536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最高的信用评级和安全性</a:t>
            </a:r>
            <a:endParaRPr lang="en-US" sz="1050" b="0" u="none" strike="noStrike">
              <a:solidFill>
                <a:srgbClr val="000000"/>
              </a:solidFill>
              <a:effectLst/>
              <a:uFillTx/>
              <a:latin typeface="Times New Roman" panose="02020603050405020304"/>
            </a:endParaRPr>
          </a:p>
        </p:txBody>
      </p:sp>
      <p:sp>
        <p:nvSpPr>
          <p:cNvPr id="1134" name="文字框 1133"/>
          <p:cNvSpPr txBox="1"/>
          <p:nvPr/>
        </p:nvSpPr>
        <p:spPr>
          <a:xfrm>
            <a:off x="936000" y="216936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危机期间的</a:t>
            </a:r>
            <a:endParaRPr lang="en-US" sz="1050" b="0" u="none" strike="noStrike">
              <a:solidFill>
                <a:srgbClr val="000000"/>
              </a:solidFill>
              <a:effectLst/>
              <a:uFillTx/>
              <a:latin typeface="Times New Roman" panose="02020603050405020304"/>
            </a:endParaRPr>
          </a:p>
        </p:txBody>
      </p:sp>
      <p:sp>
        <p:nvSpPr>
          <p:cNvPr id="1135" name="文字框 1134"/>
          <p:cNvSpPr txBox="1"/>
          <p:nvPr/>
        </p:nvSpPr>
        <p:spPr>
          <a:xfrm>
            <a:off x="1604520" y="21740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136" name="文字框 1135"/>
          <p:cNvSpPr txBox="1"/>
          <p:nvPr/>
        </p:nvSpPr>
        <p:spPr>
          <a:xfrm>
            <a:off x="1666080" y="216936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终极避风港</a:t>
            </a:r>
            <a:endParaRPr lang="en-US" sz="1050" b="0" u="none" strike="noStrike">
              <a:solidFill>
                <a:srgbClr val="000000"/>
              </a:solidFill>
              <a:effectLst/>
              <a:uFillTx/>
              <a:latin typeface="Times New Roman" panose="02020603050405020304"/>
            </a:endParaRPr>
          </a:p>
        </p:txBody>
      </p:sp>
      <p:pic>
        <p:nvPicPr>
          <p:cNvPr id="1137" name="圖片 1136"/>
          <p:cNvPicPr/>
          <p:nvPr/>
        </p:nvPicPr>
        <p:blipFill>
          <a:blip r:embed="rId4"/>
          <a:stretch>
            <a:fillRect/>
          </a:stretch>
        </p:blipFill>
        <p:spPr>
          <a:xfrm>
            <a:off x="735480" y="2423520"/>
            <a:ext cx="133200" cy="133200"/>
          </a:xfrm>
          <a:prstGeom prst="rect">
            <a:avLst/>
          </a:prstGeom>
          <a:noFill/>
          <a:ln w="0">
            <a:noFill/>
          </a:ln>
        </p:spPr>
      </p:pic>
      <p:sp>
        <p:nvSpPr>
          <p:cNvPr id="1138" name="文字框 1137"/>
          <p:cNvSpPr txBox="1"/>
          <p:nvPr/>
        </p:nvSpPr>
        <p:spPr>
          <a:xfrm>
            <a:off x="2334600" y="21740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139" name="文字框 1138"/>
          <p:cNvSpPr txBox="1"/>
          <p:nvPr/>
        </p:nvSpPr>
        <p:spPr>
          <a:xfrm>
            <a:off x="936000" y="240336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出色的保本能力和流动性</a:t>
            </a:r>
            <a:endParaRPr lang="en-US" sz="1050" b="0" u="none" strike="noStrike">
              <a:solidFill>
                <a:srgbClr val="000000"/>
              </a:solidFill>
              <a:effectLst/>
              <a:uFillTx/>
              <a:latin typeface="Times New Roman" panose="02020603050405020304"/>
            </a:endParaRPr>
          </a:p>
        </p:txBody>
      </p:sp>
      <p:pic>
        <p:nvPicPr>
          <p:cNvPr id="1140" name="圖片 1139"/>
          <p:cNvPicPr/>
          <p:nvPr/>
        </p:nvPicPr>
        <p:blipFill>
          <a:blip r:embed="rId5"/>
          <a:stretch>
            <a:fillRect/>
          </a:stretch>
        </p:blipFill>
        <p:spPr>
          <a:xfrm>
            <a:off x="735480" y="3025080"/>
            <a:ext cx="83160" cy="133200"/>
          </a:xfrm>
          <a:prstGeom prst="rect">
            <a:avLst/>
          </a:prstGeom>
          <a:noFill/>
          <a:ln w="0">
            <a:noFill/>
          </a:ln>
        </p:spPr>
      </p:pic>
      <p:sp>
        <p:nvSpPr>
          <p:cNvPr id="1141" name="文字框 1140"/>
          <p:cNvSpPr txBox="1"/>
          <p:nvPr/>
        </p:nvSpPr>
        <p:spPr>
          <a:xfrm>
            <a:off x="735480" y="271296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劣势</a:t>
            </a:r>
            <a:endParaRPr lang="en-US" sz="1180" b="0" u="none" strike="noStrike">
              <a:solidFill>
                <a:srgbClr val="000000"/>
              </a:solidFill>
              <a:effectLst/>
              <a:uFillTx/>
              <a:latin typeface="Times New Roman" panose="02020603050405020304"/>
            </a:endParaRPr>
          </a:p>
        </p:txBody>
      </p:sp>
      <p:pic>
        <p:nvPicPr>
          <p:cNvPr id="1142" name="圖片 1141"/>
          <p:cNvPicPr/>
          <p:nvPr/>
        </p:nvPicPr>
        <p:blipFill>
          <a:blip r:embed="rId5"/>
          <a:stretch>
            <a:fillRect/>
          </a:stretch>
        </p:blipFill>
        <p:spPr>
          <a:xfrm>
            <a:off x="735480" y="3259080"/>
            <a:ext cx="83160" cy="133200"/>
          </a:xfrm>
          <a:prstGeom prst="rect">
            <a:avLst/>
          </a:prstGeom>
          <a:noFill/>
          <a:ln w="0">
            <a:noFill/>
          </a:ln>
        </p:spPr>
      </p:pic>
      <p:sp>
        <p:nvSpPr>
          <p:cNvPr id="1143" name="文字框 1142"/>
          <p:cNvSpPr txBox="1"/>
          <p:nvPr/>
        </p:nvSpPr>
        <p:spPr>
          <a:xfrm>
            <a:off x="885960" y="300492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正常时期收益率较低</a:t>
            </a:r>
            <a:endParaRPr lang="en-US" sz="1050" b="0" u="none" strike="noStrike">
              <a:solidFill>
                <a:srgbClr val="000000"/>
              </a:solidFill>
              <a:effectLst/>
              <a:uFillTx/>
              <a:latin typeface="Times New Roman" panose="02020603050405020304"/>
            </a:endParaRPr>
          </a:p>
        </p:txBody>
      </p:sp>
      <p:sp>
        <p:nvSpPr>
          <p:cNvPr id="1144" name="任意多邊形 1143"/>
          <p:cNvSpPr/>
          <p:nvPr/>
        </p:nvSpPr>
        <p:spPr>
          <a:xfrm>
            <a:off x="3818880" y="902520"/>
            <a:ext cx="3075480" cy="2925000"/>
          </a:xfrm>
          <a:custGeom>
            <a:avLst/>
            <a:gdLst/>
            <a:ahLst/>
            <a:cxnLst/>
            <a:rect l="0" t="0" r="r" b="b"/>
            <a:pathLst>
              <a:path w="8543" h="8125">
                <a:moveTo>
                  <a:pt x="0" y="7939"/>
                </a:moveTo>
                <a:lnTo>
                  <a:pt x="0" y="185"/>
                </a:lnTo>
                <a:cubicBezTo>
                  <a:pt x="0" y="173"/>
                  <a:pt x="1" y="161"/>
                  <a:pt x="3" y="149"/>
                </a:cubicBezTo>
                <a:cubicBezTo>
                  <a:pt x="4" y="137"/>
                  <a:pt x="7" y="125"/>
                  <a:pt x="10" y="114"/>
                </a:cubicBezTo>
                <a:cubicBezTo>
                  <a:pt x="14" y="103"/>
                  <a:pt x="18" y="92"/>
                  <a:pt x="23" y="82"/>
                </a:cubicBezTo>
                <a:cubicBezTo>
                  <a:pt x="28" y="72"/>
                  <a:pt x="34" y="63"/>
                  <a:pt x="41" y="54"/>
                </a:cubicBezTo>
                <a:cubicBezTo>
                  <a:pt x="47" y="45"/>
                  <a:pt x="54" y="38"/>
                  <a:pt x="62" y="31"/>
                </a:cubicBezTo>
                <a:cubicBezTo>
                  <a:pt x="69" y="24"/>
                  <a:pt x="77" y="18"/>
                  <a:pt x="86" y="14"/>
                </a:cubicBezTo>
                <a:cubicBezTo>
                  <a:pt x="94" y="9"/>
                  <a:pt x="103" y="5"/>
                  <a:pt x="112" y="3"/>
                </a:cubicBezTo>
                <a:cubicBezTo>
                  <a:pt x="121" y="1"/>
                  <a:pt x="130" y="0"/>
                  <a:pt x="139" y="0"/>
                </a:cubicBezTo>
                <a:lnTo>
                  <a:pt x="8358" y="0"/>
                </a:lnTo>
                <a:cubicBezTo>
                  <a:pt x="8370" y="0"/>
                  <a:pt x="8382" y="1"/>
                  <a:pt x="8394" y="3"/>
                </a:cubicBezTo>
                <a:cubicBezTo>
                  <a:pt x="8406" y="5"/>
                  <a:pt x="8417" y="9"/>
                  <a:pt x="8429" y="14"/>
                </a:cubicBezTo>
                <a:cubicBezTo>
                  <a:pt x="8440" y="18"/>
                  <a:pt x="8451" y="24"/>
                  <a:pt x="8461" y="31"/>
                </a:cubicBezTo>
                <a:cubicBezTo>
                  <a:pt x="8471" y="38"/>
                  <a:pt x="8480" y="45"/>
                  <a:pt x="8489" y="54"/>
                </a:cubicBezTo>
                <a:cubicBezTo>
                  <a:pt x="8497" y="63"/>
                  <a:pt x="8505" y="72"/>
                  <a:pt x="8512" y="82"/>
                </a:cubicBezTo>
                <a:cubicBezTo>
                  <a:pt x="8519" y="92"/>
                  <a:pt x="8524" y="103"/>
                  <a:pt x="8529" y="114"/>
                </a:cubicBezTo>
                <a:cubicBezTo>
                  <a:pt x="8534" y="125"/>
                  <a:pt x="8537" y="137"/>
                  <a:pt x="8540" y="149"/>
                </a:cubicBezTo>
                <a:cubicBezTo>
                  <a:pt x="8542" y="161"/>
                  <a:pt x="8543" y="173"/>
                  <a:pt x="8543" y="185"/>
                </a:cubicBezTo>
                <a:lnTo>
                  <a:pt x="8543" y="7939"/>
                </a:lnTo>
                <a:cubicBezTo>
                  <a:pt x="8543" y="7952"/>
                  <a:pt x="8542" y="7964"/>
                  <a:pt x="8540" y="7976"/>
                </a:cubicBezTo>
                <a:cubicBezTo>
                  <a:pt x="8537" y="7988"/>
                  <a:pt x="8534" y="7999"/>
                  <a:pt x="8529" y="8010"/>
                </a:cubicBezTo>
                <a:cubicBezTo>
                  <a:pt x="8524" y="8022"/>
                  <a:pt x="8519" y="8032"/>
                  <a:pt x="8512" y="8043"/>
                </a:cubicBezTo>
                <a:cubicBezTo>
                  <a:pt x="8505" y="8053"/>
                  <a:pt x="8497" y="8062"/>
                  <a:pt x="8489" y="8071"/>
                </a:cubicBezTo>
                <a:cubicBezTo>
                  <a:pt x="8480" y="8079"/>
                  <a:pt x="8471" y="8087"/>
                  <a:pt x="8461" y="8094"/>
                </a:cubicBezTo>
                <a:cubicBezTo>
                  <a:pt x="8451" y="8101"/>
                  <a:pt x="8440" y="8106"/>
                  <a:pt x="8429" y="8111"/>
                </a:cubicBezTo>
                <a:cubicBezTo>
                  <a:pt x="8417" y="8116"/>
                  <a:pt x="8406" y="8119"/>
                  <a:pt x="8394" y="8122"/>
                </a:cubicBezTo>
                <a:cubicBezTo>
                  <a:pt x="8382" y="8124"/>
                  <a:pt x="8370" y="8125"/>
                  <a:pt x="8358" y="8125"/>
                </a:cubicBezTo>
                <a:lnTo>
                  <a:pt x="139" y="8125"/>
                </a:lnTo>
                <a:cubicBezTo>
                  <a:pt x="130" y="8125"/>
                  <a:pt x="121" y="8124"/>
                  <a:pt x="112" y="8122"/>
                </a:cubicBezTo>
                <a:cubicBezTo>
                  <a:pt x="103" y="8119"/>
                  <a:pt x="94" y="8116"/>
                  <a:pt x="86" y="8111"/>
                </a:cubicBezTo>
                <a:cubicBezTo>
                  <a:pt x="77" y="8106"/>
                  <a:pt x="69" y="8101"/>
                  <a:pt x="62" y="8094"/>
                </a:cubicBezTo>
                <a:cubicBezTo>
                  <a:pt x="54" y="8087"/>
                  <a:pt x="47" y="8079"/>
                  <a:pt x="41" y="8071"/>
                </a:cubicBezTo>
                <a:cubicBezTo>
                  <a:pt x="34" y="8062"/>
                  <a:pt x="28" y="8053"/>
                  <a:pt x="23" y="8043"/>
                </a:cubicBezTo>
                <a:cubicBezTo>
                  <a:pt x="18" y="8032"/>
                  <a:pt x="14" y="8022"/>
                  <a:pt x="10" y="8010"/>
                </a:cubicBezTo>
                <a:cubicBezTo>
                  <a:pt x="7" y="7999"/>
                  <a:pt x="4" y="7988"/>
                  <a:pt x="3" y="7976"/>
                </a:cubicBezTo>
                <a:cubicBezTo>
                  <a:pt x="1" y="7964"/>
                  <a:pt x="0" y="7952"/>
                  <a:pt x="0" y="793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45" name="任意多邊形 1144"/>
          <p:cNvSpPr/>
          <p:nvPr/>
        </p:nvSpPr>
        <p:spPr>
          <a:xfrm>
            <a:off x="3801960" y="902520"/>
            <a:ext cx="67320" cy="2925000"/>
          </a:xfrm>
          <a:custGeom>
            <a:avLst/>
            <a:gdLst/>
            <a:ahLst/>
            <a:cxnLst/>
            <a:rect l="0" t="0" r="r" b="b"/>
            <a:pathLst>
              <a:path w="187" h="8125">
                <a:moveTo>
                  <a:pt x="0" y="0"/>
                </a:moveTo>
                <a:lnTo>
                  <a:pt x="187" y="0"/>
                </a:lnTo>
                <a:lnTo>
                  <a:pt x="187" y="8125"/>
                </a:lnTo>
                <a:lnTo>
                  <a:pt x="0" y="8125"/>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46" name="任意多邊形 1145"/>
          <p:cNvSpPr/>
          <p:nvPr/>
        </p:nvSpPr>
        <p:spPr>
          <a:xfrm>
            <a:off x="4002840" y="1069560"/>
            <a:ext cx="417960" cy="417960"/>
          </a:xfrm>
          <a:custGeom>
            <a:avLst/>
            <a:gdLst/>
            <a:ahLst/>
            <a:cxnLst/>
            <a:rect l="0" t="0" r="r" b="b"/>
            <a:pathLst>
              <a:path w="1161" h="1161">
                <a:moveTo>
                  <a:pt x="1161" y="580"/>
                </a:moveTo>
                <a:cubicBezTo>
                  <a:pt x="1161" y="599"/>
                  <a:pt x="1160" y="618"/>
                  <a:pt x="1158" y="637"/>
                </a:cubicBezTo>
                <a:cubicBezTo>
                  <a:pt x="1157" y="656"/>
                  <a:pt x="1154" y="675"/>
                  <a:pt x="1150" y="693"/>
                </a:cubicBezTo>
                <a:cubicBezTo>
                  <a:pt x="1146" y="712"/>
                  <a:pt x="1142" y="730"/>
                  <a:pt x="1136" y="749"/>
                </a:cubicBezTo>
                <a:cubicBezTo>
                  <a:pt x="1131" y="767"/>
                  <a:pt x="1124" y="785"/>
                  <a:pt x="1117" y="802"/>
                </a:cubicBezTo>
                <a:cubicBezTo>
                  <a:pt x="1110" y="820"/>
                  <a:pt x="1102" y="837"/>
                  <a:pt x="1093" y="854"/>
                </a:cubicBezTo>
                <a:cubicBezTo>
                  <a:pt x="1084" y="870"/>
                  <a:pt x="1074" y="887"/>
                  <a:pt x="1063" y="903"/>
                </a:cubicBezTo>
                <a:cubicBezTo>
                  <a:pt x="1052" y="918"/>
                  <a:pt x="1041" y="934"/>
                  <a:pt x="1028" y="948"/>
                </a:cubicBezTo>
                <a:cubicBezTo>
                  <a:pt x="1016" y="963"/>
                  <a:pt x="1004" y="977"/>
                  <a:pt x="990" y="990"/>
                </a:cubicBezTo>
                <a:cubicBezTo>
                  <a:pt x="977" y="1004"/>
                  <a:pt x="963" y="1017"/>
                  <a:pt x="948" y="1029"/>
                </a:cubicBezTo>
                <a:cubicBezTo>
                  <a:pt x="933" y="1041"/>
                  <a:pt x="918" y="1052"/>
                  <a:pt x="902" y="1063"/>
                </a:cubicBezTo>
                <a:cubicBezTo>
                  <a:pt x="886" y="1073"/>
                  <a:pt x="870" y="1083"/>
                  <a:pt x="853" y="1093"/>
                </a:cubicBezTo>
                <a:cubicBezTo>
                  <a:pt x="837" y="1102"/>
                  <a:pt x="820" y="1110"/>
                  <a:pt x="802" y="1117"/>
                </a:cubicBezTo>
                <a:cubicBezTo>
                  <a:pt x="784" y="1125"/>
                  <a:pt x="767" y="1131"/>
                  <a:pt x="748" y="1136"/>
                </a:cubicBezTo>
                <a:cubicBezTo>
                  <a:pt x="730" y="1142"/>
                  <a:pt x="712" y="1147"/>
                  <a:pt x="693" y="1150"/>
                </a:cubicBezTo>
                <a:cubicBezTo>
                  <a:pt x="674" y="1154"/>
                  <a:pt x="656" y="1157"/>
                  <a:pt x="637" y="1159"/>
                </a:cubicBezTo>
                <a:cubicBezTo>
                  <a:pt x="618" y="1160"/>
                  <a:pt x="599" y="1161"/>
                  <a:pt x="580" y="1161"/>
                </a:cubicBezTo>
                <a:cubicBezTo>
                  <a:pt x="561" y="1161"/>
                  <a:pt x="542" y="1160"/>
                  <a:pt x="523" y="1159"/>
                </a:cubicBezTo>
                <a:cubicBezTo>
                  <a:pt x="504" y="1157"/>
                  <a:pt x="485" y="1154"/>
                  <a:pt x="467" y="1150"/>
                </a:cubicBezTo>
                <a:cubicBezTo>
                  <a:pt x="448" y="1147"/>
                  <a:pt x="430" y="1142"/>
                  <a:pt x="411" y="1136"/>
                </a:cubicBezTo>
                <a:cubicBezTo>
                  <a:pt x="393" y="1131"/>
                  <a:pt x="375" y="1125"/>
                  <a:pt x="358" y="1117"/>
                </a:cubicBezTo>
                <a:cubicBezTo>
                  <a:pt x="340" y="1110"/>
                  <a:pt x="323" y="1102"/>
                  <a:pt x="306" y="1093"/>
                </a:cubicBezTo>
                <a:cubicBezTo>
                  <a:pt x="290" y="1083"/>
                  <a:pt x="273" y="1073"/>
                  <a:pt x="257" y="1063"/>
                </a:cubicBezTo>
                <a:cubicBezTo>
                  <a:pt x="242" y="1052"/>
                  <a:pt x="226" y="1041"/>
                  <a:pt x="212" y="1029"/>
                </a:cubicBezTo>
                <a:cubicBezTo>
                  <a:pt x="197" y="1017"/>
                  <a:pt x="183" y="1004"/>
                  <a:pt x="170" y="990"/>
                </a:cubicBezTo>
                <a:cubicBezTo>
                  <a:pt x="156" y="977"/>
                  <a:pt x="143" y="963"/>
                  <a:pt x="131" y="948"/>
                </a:cubicBezTo>
                <a:cubicBezTo>
                  <a:pt x="119" y="934"/>
                  <a:pt x="108" y="918"/>
                  <a:pt x="97" y="903"/>
                </a:cubicBezTo>
                <a:cubicBezTo>
                  <a:pt x="87" y="887"/>
                  <a:pt x="77" y="870"/>
                  <a:pt x="68" y="854"/>
                </a:cubicBezTo>
                <a:cubicBezTo>
                  <a:pt x="59" y="837"/>
                  <a:pt x="51" y="820"/>
                  <a:pt x="44" y="802"/>
                </a:cubicBezTo>
                <a:cubicBezTo>
                  <a:pt x="36" y="785"/>
                  <a:pt x="30" y="767"/>
                  <a:pt x="25" y="749"/>
                </a:cubicBezTo>
                <a:cubicBezTo>
                  <a:pt x="19" y="730"/>
                  <a:pt x="14" y="712"/>
                  <a:pt x="11" y="693"/>
                </a:cubicBezTo>
                <a:cubicBezTo>
                  <a:pt x="7" y="675"/>
                  <a:pt x="4" y="656"/>
                  <a:pt x="2" y="637"/>
                </a:cubicBezTo>
                <a:cubicBezTo>
                  <a:pt x="0" y="618"/>
                  <a:pt x="0" y="599"/>
                  <a:pt x="0" y="580"/>
                </a:cubicBezTo>
                <a:cubicBezTo>
                  <a:pt x="0" y="561"/>
                  <a:pt x="0" y="542"/>
                  <a:pt x="2" y="523"/>
                </a:cubicBezTo>
                <a:cubicBezTo>
                  <a:pt x="4" y="504"/>
                  <a:pt x="7" y="486"/>
                  <a:pt x="11" y="467"/>
                </a:cubicBezTo>
                <a:cubicBezTo>
                  <a:pt x="14" y="448"/>
                  <a:pt x="19" y="430"/>
                  <a:pt x="25" y="412"/>
                </a:cubicBezTo>
                <a:cubicBezTo>
                  <a:pt x="30" y="393"/>
                  <a:pt x="36" y="376"/>
                  <a:pt x="44" y="358"/>
                </a:cubicBezTo>
                <a:cubicBezTo>
                  <a:pt x="51" y="340"/>
                  <a:pt x="59" y="323"/>
                  <a:pt x="68" y="307"/>
                </a:cubicBezTo>
                <a:cubicBezTo>
                  <a:pt x="77" y="290"/>
                  <a:pt x="87" y="273"/>
                  <a:pt x="97" y="258"/>
                </a:cubicBezTo>
                <a:cubicBezTo>
                  <a:pt x="108" y="242"/>
                  <a:pt x="119" y="227"/>
                  <a:pt x="131" y="212"/>
                </a:cubicBezTo>
                <a:cubicBezTo>
                  <a:pt x="143" y="197"/>
                  <a:pt x="156" y="183"/>
                  <a:pt x="170" y="170"/>
                </a:cubicBezTo>
                <a:cubicBezTo>
                  <a:pt x="183" y="156"/>
                  <a:pt x="197" y="144"/>
                  <a:pt x="212" y="131"/>
                </a:cubicBezTo>
                <a:cubicBezTo>
                  <a:pt x="226" y="119"/>
                  <a:pt x="242" y="108"/>
                  <a:pt x="257" y="98"/>
                </a:cubicBezTo>
                <a:cubicBezTo>
                  <a:pt x="273" y="87"/>
                  <a:pt x="290" y="77"/>
                  <a:pt x="306" y="68"/>
                </a:cubicBezTo>
                <a:cubicBezTo>
                  <a:pt x="323" y="59"/>
                  <a:pt x="340" y="51"/>
                  <a:pt x="358" y="44"/>
                </a:cubicBezTo>
                <a:cubicBezTo>
                  <a:pt x="375" y="37"/>
                  <a:pt x="393" y="30"/>
                  <a:pt x="411" y="25"/>
                </a:cubicBezTo>
                <a:cubicBezTo>
                  <a:pt x="430" y="19"/>
                  <a:pt x="448" y="15"/>
                  <a:pt x="467" y="11"/>
                </a:cubicBezTo>
                <a:cubicBezTo>
                  <a:pt x="485" y="7"/>
                  <a:pt x="504" y="4"/>
                  <a:pt x="523" y="3"/>
                </a:cubicBezTo>
                <a:cubicBezTo>
                  <a:pt x="542" y="1"/>
                  <a:pt x="561" y="0"/>
                  <a:pt x="580" y="0"/>
                </a:cubicBezTo>
                <a:cubicBezTo>
                  <a:pt x="599" y="0"/>
                  <a:pt x="618" y="1"/>
                  <a:pt x="637" y="3"/>
                </a:cubicBezTo>
                <a:cubicBezTo>
                  <a:pt x="656" y="4"/>
                  <a:pt x="674" y="7"/>
                  <a:pt x="693" y="11"/>
                </a:cubicBezTo>
                <a:cubicBezTo>
                  <a:pt x="712" y="15"/>
                  <a:pt x="730" y="19"/>
                  <a:pt x="748" y="25"/>
                </a:cubicBezTo>
                <a:cubicBezTo>
                  <a:pt x="767" y="30"/>
                  <a:pt x="784" y="37"/>
                  <a:pt x="802" y="44"/>
                </a:cubicBezTo>
                <a:cubicBezTo>
                  <a:pt x="820" y="51"/>
                  <a:pt x="837" y="59"/>
                  <a:pt x="853" y="68"/>
                </a:cubicBezTo>
                <a:cubicBezTo>
                  <a:pt x="870" y="77"/>
                  <a:pt x="886" y="87"/>
                  <a:pt x="902" y="98"/>
                </a:cubicBezTo>
                <a:cubicBezTo>
                  <a:pt x="918" y="108"/>
                  <a:pt x="933" y="119"/>
                  <a:pt x="948" y="131"/>
                </a:cubicBezTo>
                <a:cubicBezTo>
                  <a:pt x="963" y="144"/>
                  <a:pt x="977" y="156"/>
                  <a:pt x="990" y="170"/>
                </a:cubicBezTo>
                <a:cubicBezTo>
                  <a:pt x="1004" y="183"/>
                  <a:pt x="1016" y="197"/>
                  <a:pt x="1028" y="212"/>
                </a:cubicBezTo>
                <a:cubicBezTo>
                  <a:pt x="1041" y="227"/>
                  <a:pt x="1052" y="242"/>
                  <a:pt x="1063" y="258"/>
                </a:cubicBezTo>
                <a:cubicBezTo>
                  <a:pt x="1074" y="273"/>
                  <a:pt x="1084" y="290"/>
                  <a:pt x="1093" y="307"/>
                </a:cubicBezTo>
                <a:cubicBezTo>
                  <a:pt x="1102" y="323"/>
                  <a:pt x="1110" y="340"/>
                  <a:pt x="1117" y="358"/>
                </a:cubicBezTo>
                <a:cubicBezTo>
                  <a:pt x="1124" y="376"/>
                  <a:pt x="1131" y="393"/>
                  <a:pt x="1136" y="412"/>
                </a:cubicBezTo>
                <a:cubicBezTo>
                  <a:pt x="1142" y="430"/>
                  <a:pt x="1146" y="448"/>
                  <a:pt x="1150" y="467"/>
                </a:cubicBezTo>
                <a:cubicBezTo>
                  <a:pt x="1154" y="486"/>
                  <a:pt x="1157" y="504"/>
                  <a:pt x="1158" y="523"/>
                </a:cubicBezTo>
                <a:cubicBezTo>
                  <a:pt x="1160" y="542"/>
                  <a:pt x="1161" y="561"/>
                  <a:pt x="1161" y="580"/>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147" name="圖片 1146"/>
          <p:cNvPicPr/>
          <p:nvPr/>
        </p:nvPicPr>
        <p:blipFill>
          <a:blip r:embed="rId6"/>
          <a:stretch>
            <a:fillRect/>
          </a:stretch>
        </p:blipFill>
        <p:spPr>
          <a:xfrm>
            <a:off x="4111560" y="1178280"/>
            <a:ext cx="200160" cy="200160"/>
          </a:xfrm>
          <a:prstGeom prst="rect">
            <a:avLst/>
          </a:prstGeom>
          <a:noFill/>
          <a:ln w="0">
            <a:noFill/>
          </a:ln>
        </p:spPr>
      </p:pic>
      <p:sp>
        <p:nvSpPr>
          <p:cNvPr id="1148" name="文字框 1147"/>
          <p:cNvSpPr txBox="1"/>
          <p:nvPr/>
        </p:nvSpPr>
        <p:spPr>
          <a:xfrm>
            <a:off x="885960" y="323892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面临利率风险</a:t>
            </a:r>
            <a:endParaRPr lang="en-US" sz="1050" b="0" u="none" strike="noStrike">
              <a:solidFill>
                <a:srgbClr val="000000"/>
              </a:solidFill>
              <a:effectLst/>
              <a:uFillTx/>
              <a:latin typeface="Times New Roman" panose="02020603050405020304"/>
            </a:endParaRPr>
          </a:p>
        </p:txBody>
      </p:sp>
      <p:sp>
        <p:nvSpPr>
          <p:cNvPr id="1149" name="文字框 1148"/>
          <p:cNvSpPr txBox="1"/>
          <p:nvPr/>
        </p:nvSpPr>
        <p:spPr>
          <a:xfrm>
            <a:off x="4518000" y="1176120"/>
            <a:ext cx="33588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黄金</a:t>
            </a:r>
            <a:endParaRPr lang="en-US" sz="1320" b="0" u="none" strike="noStrike">
              <a:solidFill>
                <a:srgbClr val="000000"/>
              </a:solidFill>
              <a:effectLst/>
              <a:uFillTx/>
              <a:latin typeface="Times New Roman" panose="02020603050405020304"/>
            </a:endParaRPr>
          </a:p>
        </p:txBody>
      </p:sp>
      <p:pic>
        <p:nvPicPr>
          <p:cNvPr id="1150" name="圖片 1149"/>
          <p:cNvPicPr/>
          <p:nvPr/>
        </p:nvPicPr>
        <p:blipFill>
          <a:blip r:embed="rId7"/>
          <a:stretch>
            <a:fillRect/>
          </a:stretch>
        </p:blipFill>
        <p:spPr>
          <a:xfrm>
            <a:off x="4002840" y="1955520"/>
            <a:ext cx="133200" cy="133200"/>
          </a:xfrm>
          <a:prstGeom prst="rect">
            <a:avLst/>
          </a:prstGeom>
          <a:noFill/>
          <a:ln w="0">
            <a:noFill/>
          </a:ln>
        </p:spPr>
      </p:pic>
      <p:sp>
        <p:nvSpPr>
          <p:cNvPr id="1151" name="文字框 1150"/>
          <p:cNvSpPr txBox="1"/>
          <p:nvPr/>
        </p:nvSpPr>
        <p:spPr>
          <a:xfrm>
            <a:off x="3999960" y="164340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优势</a:t>
            </a:r>
            <a:endParaRPr lang="en-US" sz="1180" b="0" u="none" strike="noStrike">
              <a:solidFill>
                <a:srgbClr val="000000"/>
              </a:solidFill>
              <a:effectLst/>
              <a:uFillTx/>
              <a:latin typeface="Times New Roman" panose="02020603050405020304"/>
            </a:endParaRPr>
          </a:p>
        </p:txBody>
      </p:sp>
      <p:pic>
        <p:nvPicPr>
          <p:cNvPr id="1152" name="圖片 1151"/>
          <p:cNvPicPr/>
          <p:nvPr/>
        </p:nvPicPr>
        <p:blipFill>
          <a:blip r:embed="rId7"/>
          <a:stretch>
            <a:fillRect/>
          </a:stretch>
        </p:blipFill>
        <p:spPr>
          <a:xfrm>
            <a:off x="4002840" y="2189520"/>
            <a:ext cx="133200" cy="133200"/>
          </a:xfrm>
          <a:prstGeom prst="rect">
            <a:avLst/>
          </a:prstGeom>
          <a:noFill/>
          <a:ln w="0">
            <a:noFill/>
          </a:ln>
        </p:spPr>
      </p:pic>
      <p:sp>
        <p:nvSpPr>
          <p:cNvPr id="1153" name="文字框 1152"/>
          <p:cNvSpPr txBox="1"/>
          <p:nvPr/>
        </p:nvSpPr>
        <p:spPr>
          <a:xfrm>
            <a:off x="4200480" y="193536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历史悠久的避险工具</a:t>
            </a:r>
            <a:endParaRPr lang="en-US" sz="1050" b="0" u="none" strike="noStrike">
              <a:solidFill>
                <a:srgbClr val="000000"/>
              </a:solidFill>
              <a:effectLst/>
              <a:uFillTx/>
              <a:latin typeface="Times New Roman" panose="02020603050405020304"/>
            </a:endParaRPr>
          </a:p>
        </p:txBody>
      </p:sp>
      <p:pic>
        <p:nvPicPr>
          <p:cNvPr id="1154" name="圖片 1153"/>
          <p:cNvPicPr/>
          <p:nvPr/>
        </p:nvPicPr>
        <p:blipFill>
          <a:blip r:embed="rId7"/>
          <a:stretch>
            <a:fillRect/>
          </a:stretch>
        </p:blipFill>
        <p:spPr>
          <a:xfrm>
            <a:off x="4002840" y="2423520"/>
            <a:ext cx="133200" cy="133200"/>
          </a:xfrm>
          <a:prstGeom prst="rect">
            <a:avLst/>
          </a:prstGeom>
          <a:noFill/>
          <a:ln w="0">
            <a:noFill/>
          </a:ln>
        </p:spPr>
      </p:pic>
      <p:sp>
        <p:nvSpPr>
          <p:cNvPr id="1155" name="文字框 1154"/>
          <p:cNvSpPr txBox="1"/>
          <p:nvPr/>
        </p:nvSpPr>
        <p:spPr>
          <a:xfrm>
            <a:off x="4200480" y="216936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对冲货币贬值和极端市场恐慌</a:t>
            </a:r>
            <a:endParaRPr lang="en-US" sz="1050" b="0" u="none" strike="noStrike">
              <a:solidFill>
                <a:srgbClr val="000000"/>
              </a:solidFill>
              <a:effectLst/>
              <a:uFillTx/>
              <a:latin typeface="Times New Roman" panose="02020603050405020304"/>
            </a:endParaRPr>
          </a:p>
        </p:txBody>
      </p:sp>
      <p:sp>
        <p:nvSpPr>
          <p:cNvPr id="1156" name="文字框 1155"/>
          <p:cNvSpPr txBox="1"/>
          <p:nvPr/>
        </p:nvSpPr>
        <p:spPr>
          <a:xfrm>
            <a:off x="4200480" y="240336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与传统金融资产相关性低</a:t>
            </a:r>
            <a:endParaRPr lang="en-US" sz="1050" b="0" u="none" strike="noStrike">
              <a:solidFill>
                <a:srgbClr val="000000"/>
              </a:solidFill>
              <a:effectLst/>
              <a:uFillTx/>
              <a:latin typeface="Times New Roman" panose="02020603050405020304"/>
            </a:endParaRPr>
          </a:p>
        </p:txBody>
      </p:sp>
      <p:pic>
        <p:nvPicPr>
          <p:cNvPr id="1157" name="圖片 1156"/>
          <p:cNvPicPr/>
          <p:nvPr/>
        </p:nvPicPr>
        <p:blipFill>
          <a:blip r:embed="rId8"/>
          <a:stretch>
            <a:fillRect/>
          </a:stretch>
        </p:blipFill>
        <p:spPr>
          <a:xfrm>
            <a:off x="4002840" y="3025080"/>
            <a:ext cx="83160" cy="133200"/>
          </a:xfrm>
          <a:prstGeom prst="rect">
            <a:avLst/>
          </a:prstGeom>
          <a:noFill/>
          <a:ln w="0">
            <a:noFill/>
          </a:ln>
        </p:spPr>
      </p:pic>
      <p:sp>
        <p:nvSpPr>
          <p:cNvPr id="1158" name="文字框 1157"/>
          <p:cNvSpPr txBox="1"/>
          <p:nvPr/>
        </p:nvSpPr>
        <p:spPr>
          <a:xfrm>
            <a:off x="3999960" y="271296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劣势</a:t>
            </a:r>
            <a:endParaRPr lang="en-US" sz="1180" b="0" u="none" strike="noStrike">
              <a:solidFill>
                <a:srgbClr val="000000"/>
              </a:solidFill>
              <a:effectLst/>
              <a:uFillTx/>
              <a:latin typeface="Times New Roman" panose="02020603050405020304"/>
            </a:endParaRPr>
          </a:p>
        </p:txBody>
      </p:sp>
      <p:pic>
        <p:nvPicPr>
          <p:cNvPr id="1159" name="圖片 1158"/>
          <p:cNvPicPr/>
          <p:nvPr/>
        </p:nvPicPr>
        <p:blipFill>
          <a:blip r:embed="rId8"/>
          <a:stretch>
            <a:fillRect/>
          </a:stretch>
        </p:blipFill>
        <p:spPr>
          <a:xfrm>
            <a:off x="4002840" y="3259080"/>
            <a:ext cx="83160" cy="133200"/>
          </a:xfrm>
          <a:prstGeom prst="rect">
            <a:avLst/>
          </a:prstGeom>
          <a:noFill/>
          <a:ln w="0">
            <a:noFill/>
          </a:ln>
        </p:spPr>
      </p:pic>
      <p:sp>
        <p:nvSpPr>
          <p:cNvPr id="1160" name="文字框 1159"/>
          <p:cNvSpPr txBox="1"/>
          <p:nvPr/>
        </p:nvSpPr>
        <p:spPr>
          <a:xfrm>
            <a:off x="4150440" y="300492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自身不产生利息</a:t>
            </a:r>
            <a:endParaRPr lang="en-US" sz="1050" b="0" u="none" strike="noStrike">
              <a:solidFill>
                <a:srgbClr val="000000"/>
              </a:solidFill>
              <a:effectLst/>
              <a:uFillTx/>
              <a:latin typeface="Times New Roman" panose="02020603050405020304"/>
            </a:endParaRPr>
          </a:p>
        </p:txBody>
      </p:sp>
      <p:pic>
        <p:nvPicPr>
          <p:cNvPr id="1161" name="圖片 1160"/>
          <p:cNvPicPr/>
          <p:nvPr/>
        </p:nvPicPr>
        <p:blipFill>
          <a:blip r:embed="rId8"/>
          <a:stretch>
            <a:fillRect/>
          </a:stretch>
        </p:blipFill>
        <p:spPr>
          <a:xfrm>
            <a:off x="4002840" y="3493080"/>
            <a:ext cx="83160" cy="133200"/>
          </a:xfrm>
          <a:prstGeom prst="rect">
            <a:avLst/>
          </a:prstGeom>
          <a:noFill/>
          <a:ln w="0">
            <a:noFill/>
          </a:ln>
        </p:spPr>
      </p:pic>
      <p:sp>
        <p:nvSpPr>
          <p:cNvPr id="1162" name="文字框 1161"/>
          <p:cNvSpPr txBox="1"/>
          <p:nvPr/>
        </p:nvSpPr>
        <p:spPr>
          <a:xfrm>
            <a:off x="4150440" y="323892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价格波动较大</a:t>
            </a:r>
            <a:endParaRPr lang="en-US" sz="1050" b="0" u="none" strike="noStrike">
              <a:solidFill>
                <a:srgbClr val="000000"/>
              </a:solidFill>
              <a:effectLst/>
              <a:uFillTx/>
              <a:latin typeface="Times New Roman" panose="02020603050405020304"/>
            </a:endParaRPr>
          </a:p>
        </p:txBody>
      </p:sp>
      <p:sp>
        <p:nvSpPr>
          <p:cNvPr id="1163" name="任意多邊形 1162"/>
          <p:cNvSpPr/>
          <p:nvPr/>
        </p:nvSpPr>
        <p:spPr>
          <a:xfrm>
            <a:off x="7077960" y="902520"/>
            <a:ext cx="3084120" cy="2925000"/>
          </a:xfrm>
          <a:custGeom>
            <a:avLst/>
            <a:gdLst/>
            <a:ahLst/>
            <a:cxnLst/>
            <a:rect l="0" t="0" r="r" b="b"/>
            <a:pathLst>
              <a:path w="8567" h="8125">
                <a:moveTo>
                  <a:pt x="0" y="7939"/>
                </a:moveTo>
                <a:lnTo>
                  <a:pt x="0" y="185"/>
                </a:lnTo>
                <a:cubicBezTo>
                  <a:pt x="0" y="173"/>
                  <a:pt x="1" y="161"/>
                  <a:pt x="3" y="149"/>
                </a:cubicBezTo>
                <a:cubicBezTo>
                  <a:pt x="4" y="137"/>
                  <a:pt x="7" y="125"/>
                  <a:pt x="11" y="114"/>
                </a:cubicBezTo>
                <a:cubicBezTo>
                  <a:pt x="14" y="103"/>
                  <a:pt x="18" y="92"/>
                  <a:pt x="23" y="82"/>
                </a:cubicBezTo>
                <a:cubicBezTo>
                  <a:pt x="29" y="72"/>
                  <a:pt x="34" y="63"/>
                  <a:pt x="41" y="54"/>
                </a:cubicBezTo>
                <a:cubicBezTo>
                  <a:pt x="47" y="45"/>
                  <a:pt x="54" y="38"/>
                  <a:pt x="62" y="31"/>
                </a:cubicBezTo>
                <a:cubicBezTo>
                  <a:pt x="69" y="24"/>
                  <a:pt x="77" y="18"/>
                  <a:pt x="86" y="14"/>
                </a:cubicBezTo>
                <a:cubicBezTo>
                  <a:pt x="94" y="9"/>
                  <a:pt x="103" y="5"/>
                  <a:pt x="112" y="3"/>
                </a:cubicBezTo>
                <a:cubicBezTo>
                  <a:pt x="121" y="1"/>
                  <a:pt x="130" y="0"/>
                  <a:pt x="139" y="0"/>
                </a:cubicBezTo>
                <a:lnTo>
                  <a:pt x="8381" y="0"/>
                </a:lnTo>
                <a:cubicBezTo>
                  <a:pt x="8393" y="0"/>
                  <a:pt x="8405" y="1"/>
                  <a:pt x="8417" y="3"/>
                </a:cubicBezTo>
                <a:cubicBezTo>
                  <a:pt x="8429" y="5"/>
                  <a:pt x="8441" y="9"/>
                  <a:pt x="8452" y="14"/>
                </a:cubicBezTo>
                <a:cubicBezTo>
                  <a:pt x="8463" y="18"/>
                  <a:pt x="8474" y="24"/>
                  <a:pt x="8484" y="31"/>
                </a:cubicBezTo>
                <a:cubicBezTo>
                  <a:pt x="8494" y="38"/>
                  <a:pt x="8504" y="45"/>
                  <a:pt x="8512" y="54"/>
                </a:cubicBezTo>
                <a:cubicBezTo>
                  <a:pt x="8521" y="63"/>
                  <a:pt x="8528" y="72"/>
                  <a:pt x="8535" y="82"/>
                </a:cubicBezTo>
                <a:cubicBezTo>
                  <a:pt x="8542" y="92"/>
                  <a:pt x="8548" y="103"/>
                  <a:pt x="8552" y="114"/>
                </a:cubicBezTo>
                <a:cubicBezTo>
                  <a:pt x="8557" y="125"/>
                  <a:pt x="8561" y="137"/>
                  <a:pt x="8563" y="149"/>
                </a:cubicBezTo>
                <a:cubicBezTo>
                  <a:pt x="8565" y="161"/>
                  <a:pt x="8567" y="173"/>
                  <a:pt x="8567" y="185"/>
                </a:cubicBezTo>
                <a:lnTo>
                  <a:pt x="8567" y="7939"/>
                </a:lnTo>
                <a:cubicBezTo>
                  <a:pt x="8567" y="7952"/>
                  <a:pt x="8565" y="7964"/>
                  <a:pt x="8563" y="7976"/>
                </a:cubicBezTo>
                <a:cubicBezTo>
                  <a:pt x="8561" y="7988"/>
                  <a:pt x="8557" y="7999"/>
                  <a:pt x="8552" y="8010"/>
                </a:cubicBezTo>
                <a:cubicBezTo>
                  <a:pt x="8548" y="8022"/>
                  <a:pt x="8542" y="8032"/>
                  <a:pt x="8535" y="8043"/>
                </a:cubicBezTo>
                <a:cubicBezTo>
                  <a:pt x="8528" y="8053"/>
                  <a:pt x="8521" y="8062"/>
                  <a:pt x="8512" y="8071"/>
                </a:cubicBezTo>
                <a:cubicBezTo>
                  <a:pt x="8504" y="8079"/>
                  <a:pt x="8494" y="8087"/>
                  <a:pt x="8484" y="8094"/>
                </a:cubicBezTo>
                <a:cubicBezTo>
                  <a:pt x="8474" y="8101"/>
                  <a:pt x="8463" y="8106"/>
                  <a:pt x="8452" y="8111"/>
                </a:cubicBezTo>
                <a:cubicBezTo>
                  <a:pt x="8441" y="8116"/>
                  <a:pt x="8429" y="8119"/>
                  <a:pt x="8417" y="8122"/>
                </a:cubicBezTo>
                <a:cubicBezTo>
                  <a:pt x="8405" y="8124"/>
                  <a:pt x="8393" y="8125"/>
                  <a:pt x="8381" y="8125"/>
                </a:cubicBezTo>
                <a:lnTo>
                  <a:pt x="139" y="8125"/>
                </a:lnTo>
                <a:cubicBezTo>
                  <a:pt x="130" y="8125"/>
                  <a:pt x="121" y="8124"/>
                  <a:pt x="112" y="8122"/>
                </a:cubicBezTo>
                <a:cubicBezTo>
                  <a:pt x="103" y="8119"/>
                  <a:pt x="94" y="8116"/>
                  <a:pt x="86" y="8111"/>
                </a:cubicBezTo>
                <a:cubicBezTo>
                  <a:pt x="77" y="8106"/>
                  <a:pt x="69" y="8101"/>
                  <a:pt x="62" y="8094"/>
                </a:cubicBezTo>
                <a:cubicBezTo>
                  <a:pt x="54" y="8087"/>
                  <a:pt x="47" y="8079"/>
                  <a:pt x="41" y="8071"/>
                </a:cubicBezTo>
                <a:cubicBezTo>
                  <a:pt x="34" y="8062"/>
                  <a:pt x="29" y="8053"/>
                  <a:pt x="23" y="8043"/>
                </a:cubicBezTo>
                <a:cubicBezTo>
                  <a:pt x="18" y="8032"/>
                  <a:pt x="14" y="8022"/>
                  <a:pt x="11" y="8010"/>
                </a:cubicBezTo>
                <a:cubicBezTo>
                  <a:pt x="7" y="7999"/>
                  <a:pt x="4" y="7988"/>
                  <a:pt x="3" y="7976"/>
                </a:cubicBezTo>
                <a:cubicBezTo>
                  <a:pt x="1" y="7964"/>
                  <a:pt x="0" y="7952"/>
                  <a:pt x="0" y="793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64" name="任意多邊形 1163"/>
          <p:cNvSpPr/>
          <p:nvPr/>
        </p:nvSpPr>
        <p:spPr>
          <a:xfrm>
            <a:off x="7061400" y="902520"/>
            <a:ext cx="66960" cy="2925000"/>
          </a:xfrm>
          <a:custGeom>
            <a:avLst/>
            <a:gdLst/>
            <a:ahLst/>
            <a:cxnLst/>
            <a:rect l="0" t="0" r="r" b="b"/>
            <a:pathLst>
              <a:path w="186" h="8125">
                <a:moveTo>
                  <a:pt x="151" y="14"/>
                </a:moveTo>
                <a:cubicBezTo>
                  <a:pt x="139" y="23"/>
                  <a:pt x="129" y="36"/>
                  <a:pt x="121" y="54"/>
                </a:cubicBezTo>
                <a:cubicBezTo>
                  <a:pt x="112" y="71"/>
                  <a:pt x="105" y="91"/>
                  <a:pt x="100" y="114"/>
                </a:cubicBezTo>
                <a:cubicBezTo>
                  <a:pt x="96" y="137"/>
                  <a:pt x="93" y="161"/>
                  <a:pt x="93" y="185"/>
                </a:cubicBezTo>
                <a:lnTo>
                  <a:pt x="93" y="7939"/>
                </a:lnTo>
                <a:cubicBezTo>
                  <a:pt x="93" y="7964"/>
                  <a:pt x="96" y="7988"/>
                  <a:pt x="100" y="8010"/>
                </a:cubicBezTo>
                <a:cubicBezTo>
                  <a:pt x="105" y="8033"/>
                  <a:pt x="112" y="8053"/>
                  <a:pt x="121" y="8071"/>
                </a:cubicBezTo>
                <a:cubicBezTo>
                  <a:pt x="129" y="8088"/>
                  <a:pt x="139" y="8102"/>
                  <a:pt x="151" y="8111"/>
                </a:cubicBezTo>
                <a:cubicBezTo>
                  <a:pt x="162" y="8120"/>
                  <a:pt x="174" y="8125"/>
                  <a:pt x="186" y="8125"/>
                </a:cubicBezTo>
                <a:cubicBezTo>
                  <a:pt x="162" y="8125"/>
                  <a:pt x="138" y="8120"/>
                  <a:pt x="115" y="8111"/>
                </a:cubicBezTo>
                <a:cubicBezTo>
                  <a:pt x="92" y="8102"/>
                  <a:pt x="71" y="8088"/>
                  <a:pt x="54" y="8071"/>
                </a:cubicBezTo>
                <a:cubicBezTo>
                  <a:pt x="37" y="8053"/>
                  <a:pt x="23" y="8033"/>
                  <a:pt x="14" y="8010"/>
                </a:cubicBezTo>
                <a:cubicBezTo>
                  <a:pt x="4" y="7988"/>
                  <a:pt x="0" y="7964"/>
                  <a:pt x="0" y="7939"/>
                </a:cubicBezTo>
                <a:lnTo>
                  <a:pt x="0" y="185"/>
                </a:lnTo>
                <a:cubicBezTo>
                  <a:pt x="0" y="161"/>
                  <a:pt x="4" y="137"/>
                  <a:pt x="14" y="114"/>
                </a:cubicBezTo>
                <a:cubicBezTo>
                  <a:pt x="23" y="91"/>
                  <a:pt x="37" y="71"/>
                  <a:pt x="54" y="54"/>
                </a:cubicBezTo>
                <a:cubicBezTo>
                  <a:pt x="71" y="36"/>
                  <a:pt x="92" y="23"/>
                  <a:pt x="115" y="14"/>
                </a:cubicBezTo>
                <a:cubicBezTo>
                  <a:pt x="138" y="4"/>
                  <a:pt x="162" y="0"/>
                  <a:pt x="186" y="0"/>
                </a:cubicBezTo>
                <a:cubicBezTo>
                  <a:pt x="174" y="0"/>
                  <a:pt x="162" y="4"/>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65" name="任意多邊形 1164"/>
          <p:cNvSpPr/>
          <p:nvPr/>
        </p:nvSpPr>
        <p:spPr>
          <a:xfrm>
            <a:off x="7261920" y="1069560"/>
            <a:ext cx="417960" cy="417960"/>
          </a:xfrm>
          <a:custGeom>
            <a:avLst/>
            <a:gdLst/>
            <a:ahLst/>
            <a:cxnLst/>
            <a:rect l="0" t="0" r="r" b="b"/>
            <a:pathLst>
              <a:path w="1161" h="1161">
                <a:moveTo>
                  <a:pt x="1161" y="580"/>
                </a:moveTo>
                <a:cubicBezTo>
                  <a:pt x="1161" y="599"/>
                  <a:pt x="1160" y="618"/>
                  <a:pt x="1159" y="637"/>
                </a:cubicBezTo>
                <a:cubicBezTo>
                  <a:pt x="1157" y="656"/>
                  <a:pt x="1154" y="675"/>
                  <a:pt x="1150" y="693"/>
                </a:cubicBezTo>
                <a:cubicBezTo>
                  <a:pt x="1146" y="712"/>
                  <a:pt x="1142" y="730"/>
                  <a:pt x="1136" y="749"/>
                </a:cubicBezTo>
                <a:cubicBezTo>
                  <a:pt x="1131" y="767"/>
                  <a:pt x="1124" y="785"/>
                  <a:pt x="1117" y="802"/>
                </a:cubicBezTo>
                <a:cubicBezTo>
                  <a:pt x="1110" y="820"/>
                  <a:pt x="1102" y="837"/>
                  <a:pt x="1093" y="854"/>
                </a:cubicBezTo>
                <a:cubicBezTo>
                  <a:pt x="1084" y="870"/>
                  <a:pt x="1074" y="887"/>
                  <a:pt x="1063" y="903"/>
                </a:cubicBezTo>
                <a:cubicBezTo>
                  <a:pt x="1053" y="918"/>
                  <a:pt x="1042" y="934"/>
                  <a:pt x="1030" y="948"/>
                </a:cubicBezTo>
                <a:cubicBezTo>
                  <a:pt x="1018" y="963"/>
                  <a:pt x="1005" y="977"/>
                  <a:pt x="991" y="990"/>
                </a:cubicBezTo>
                <a:cubicBezTo>
                  <a:pt x="978" y="1004"/>
                  <a:pt x="964" y="1017"/>
                  <a:pt x="949" y="1029"/>
                </a:cubicBezTo>
                <a:cubicBezTo>
                  <a:pt x="934" y="1041"/>
                  <a:pt x="919" y="1052"/>
                  <a:pt x="903" y="1063"/>
                </a:cubicBezTo>
                <a:cubicBezTo>
                  <a:pt x="888" y="1073"/>
                  <a:pt x="871" y="1083"/>
                  <a:pt x="855" y="1093"/>
                </a:cubicBezTo>
                <a:cubicBezTo>
                  <a:pt x="838" y="1102"/>
                  <a:pt x="821" y="1110"/>
                  <a:pt x="803" y="1117"/>
                </a:cubicBezTo>
                <a:cubicBezTo>
                  <a:pt x="785" y="1125"/>
                  <a:pt x="768" y="1131"/>
                  <a:pt x="749" y="1136"/>
                </a:cubicBezTo>
                <a:cubicBezTo>
                  <a:pt x="731" y="1142"/>
                  <a:pt x="713" y="1147"/>
                  <a:pt x="694" y="1150"/>
                </a:cubicBezTo>
                <a:cubicBezTo>
                  <a:pt x="676" y="1154"/>
                  <a:pt x="657" y="1157"/>
                  <a:pt x="638" y="1159"/>
                </a:cubicBezTo>
                <a:cubicBezTo>
                  <a:pt x="619" y="1160"/>
                  <a:pt x="600" y="1161"/>
                  <a:pt x="581" y="1161"/>
                </a:cubicBezTo>
                <a:cubicBezTo>
                  <a:pt x="562" y="1161"/>
                  <a:pt x="543" y="1160"/>
                  <a:pt x="524" y="1159"/>
                </a:cubicBezTo>
                <a:cubicBezTo>
                  <a:pt x="505" y="1157"/>
                  <a:pt x="486" y="1154"/>
                  <a:pt x="468" y="1150"/>
                </a:cubicBezTo>
                <a:cubicBezTo>
                  <a:pt x="449" y="1147"/>
                  <a:pt x="431" y="1142"/>
                  <a:pt x="413" y="1136"/>
                </a:cubicBezTo>
                <a:cubicBezTo>
                  <a:pt x="394" y="1131"/>
                  <a:pt x="376" y="1125"/>
                  <a:pt x="359" y="1117"/>
                </a:cubicBezTo>
                <a:cubicBezTo>
                  <a:pt x="341" y="1110"/>
                  <a:pt x="324" y="1102"/>
                  <a:pt x="307" y="1093"/>
                </a:cubicBezTo>
                <a:cubicBezTo>
                  <a:pt x="291" y="1083"/>
                  <a:pt x="274" y="1073"/>
                  <a:pt x="259" y="1063"/>
                </a:cubicBezTo>
                <a:cubicBezTo>
                  <a:pt x="243" y="1052"/>
                  <a:pt x="228" y="1041"/>
                  <a:pt x="213" y="1029"/>
                </a:cubicBezTo>
                <a:cubicBezTo>
                  <a:pt x="198" y="1017"/>
                  <a:pt x="184" y="1004"/>
                  <a:pt x="171" y="990"/>
                </a:cubicBezTo>
                <a:cubicBezTo>
                  <a:pt x="157" y="977"/>
                  <a:pt x="144" y="963"/>
                  <a:pt x="132" y="948"/>
                </a:cubicBezTo>
                <a:cubicBezTo>
                  <a:pt x="119" y="934"/>
                  <a:pt x="108" y="918"/>
                  <a:pt x="97" y="903"/>
                </a:cubicBezTo>
                <a:cubicBezTo>
                  <a:pt x="87" y="887"/>
                  <a:pt x="77" y="870"/>
                  <a:pt x="68" y="854"/>
                </a:cubicBezTo>
                <a:cubicBezTo>
                  <a:pt x="59" y="837"/>
                  <a:pt x="51" y="820"/>
                  <a:pt x="44" y="802"/>
                </a:cubicBezTo>
                <a:cubicBezTo>
                  <a:pt x="37" y="785"/>
                  <a:pt x="30" y="767"/>
                  <a:pt x="25" y="749"/>
                </a:cubicBezTo>
                <a:cubicBezTo>
                  <a:pt x="19" y="730"/>
                  <a:pt x="15" y="712"/>
                  <a:pt x="11" y="693"/>
                </a:cubicBezTo>
                <a:cubicBezTo>
                  <a:pt x="7" y="675"/>
                  <a:pt x="4" y="656"/>
                  <a:pt x="2" y="637"/>
                </a:cubicBezTo>
                <a:cubicBezTo>
                  <a:pt x="1" y="618"/>
                  <a:pt x="0" y="599"/>
                  <a:pt x="0" y="580"/>
                </a:cubicBezTo>
                <a:cubicBezTo>
                  <a:pt x="0" y="561"/>
                  <a:pt x="1" y="542"/>
                  <a:pt x="2" y="523"/>
                </a:cubicBezTo>
                <a:cubicBezTo>
                  <a:pt x="4" y="504"/>
                  <a:pt x="7" y="486"/>
                  <a:pt x="11" y="467"/>
                </a:cubicBezTo>
                <a:cubicBezTo>
                  <a:pt x="15" y="448"/>
                  <a:pt x="19" y="430"/>
                  <a:pt x="25" y="412"/>
                </a:cubicBezTo>
                <a:cubicBezTo>
                  <a:pt x="30" y="393"/>
                  <a:pt x="37" y="376"/>
                  <a:pt x="44" y="358"/>
                </a:cubicBezTo>
                <a:cubicBezTo>
                  <a:pt x="51" y="340"/>
                  <a:pt x="59" y="323"/>
                  <a:pt x="68" y="307"/>
                </a:cubicBezTo>
                <a:cubicBezTo>
                  <a:pt x="77" y="290"/>
                  <a:pt x="87" y="273"/>
                  <a:pt x="97" y="258"/>
                </a:cubicBezTo>
                <a:cubicBezTo>
                  <a:pt x="108" y="242"/>
                  <a:pt x="119" y="227"/>
                  <a:pt x="132" y="212"/>
                </a:cubicBezTo>
                <a:cubicBezTo>
                  <a:pt x="144" y="197"/>
                  <a:pt x="157" y="183"/>
                  <a:pt x="171" y="170"/>
                </a:cubicBezTo>
                <a:cubicBezTo>
                  <a:pt x="184" y="156"/>
                  <a:pt x="198" y="144"/>
                  <a:pt x="213" y="131"/>
                </a:cubicBezTo>
                <a:cubicBezTo>
                  <a:pt x="228" y="119"/>
                  <a:pt x="243" y="108"/>
                  <a:pt x="259" y="98"/>
                </a:cubicBezTo>
                <a:cubicBezTo>
                  <a:pt x="274" y="87"/>
                  <a:pt x="291" y="77"/>
                  <a:pt x="307" y="68"/>
                </a:cubicBezTo>
                <a:cubicBezTo>
                  <a:pt x="324" y="59"/>
                  <a:pt x="341" y="51"/>
                  <a:pt x="359" y="44"/>
                </a:cubicBezTo>
                <a:cubicBezTo>
                  <a:pt x="376" y="37"/>
                  <a:pt x="394" y="30"/>
                  <a:pt x="413" y="25"/>
                </a:cubicBezTo>
                <a:cubicBezTo>
                  <a:pt x="431" y="19"/>
                  <a:pt x="449" y="15"/>
                  <a:pt x="468" y="11"/>
                </a:cubicBezTo>
                <a:cubicBezTo>
                  <a:pt x="486" y="7"/>
                  <a:pt x="505" y="4"/>
                  <a:pt x="524" y="3"/>
                </a:cubicBezTo>
                <a:cubicBezTo>
                  <a:pt x="543" y="1"/>
                  <a:pt x="562" y="0"/>
                  <a:pt x="581" y="0"/>
                </a:cubicBezTo>
                <a:cubicBezTo>
                  <a:pt x="600" y="0"/>
                  <a:pt x="619" y="1"/>
                  <a:pt x="638" y="3"/>
                </a:cubicBezTo>
                <a:cubicBezTo>
                  <a:pt x="657" y="4"/>
                  <a:pt x="676" y="7"/>
                  <a:pt x="694" y="11"/>
                </a:cubicBezTo>
                <a:cubicBezTo>
                  <a:pt x="713" y="15"/>
                  <a:pt x="731" y="19"/>
                  <a:pt x="749" y="25"/>
                </a:cubicBezTo>
                <a:cubicBezTo>
                  <a:pt x="768" y="30"/>
                  <a:pt x="785" y="37"/>
                  <a:pt x="803" y="44"/>
                </a:cubicBezTo>
                <a:cubicBezTo>
                  <a:pt x="821" y="51"/>
                  <a:pt x="838" y="59"/>
                  <a:pt x="855" y="68"/>
                </a:cubicBezTo>
                <a:cubicBezTo>
                  <a:pt x="871" y="77"/>
                  <a:pt x="888" y="87"/>
                  <a:pt x="903" y="98"/>
                </a:cubicBezTo>
                <a:cubicBezTo>
                  <a:pt x="919" y="108"/>
                  <a:pt x="934" y="119"/>
                  <a:pt x="949" y="131"/>
                </a:cubicBezTo>
                <a:cubicBezTo>
                  <a:pt x="964" y="144"/>
                  <a:pt x="978" y="156"/>
                  <a:pt x="991" y="170"/>
                </a:cubicBezTo>
                <a:cubicBezTo>
                  <a:pt x="1005" y="183"/>
                  <a:pt x="1018" y="197"/>
                  <a:pt x="1030" y="212"/>
                </a:cubicBezTo>
                <a:cubicBezTo>
                  <a:pt x="1042" y="227"/>
                  <a:pt x="1053" y="242"/>
                  <a:pt x="1063" y="258"/>
                </a:cubicBezTo>
                <a:cubicBezTo>
                  <a:pt x="1074" y="273"/>
                  <a:pt x="1084" y="290"/>
                  <a:pt x="1093" y="307"/>
                </a:cubicBezTo>
                <a:cubicBezTo>
                  <a:pt x="1102" y="323"/>
                  <a:pt x="1110" y="340"/>
                  <a:pt x="1117" y="358"/>
                </a:cubicBezTo>
                <a:cubicBezTo>
                  <a:pt x="1124" y="376"/>
                  <a:pt x="1131" y="393"/>
                  <a:pt x="1136" y="412"/>
                </a:cubicBezTo>
                <a:cubicBezTo>
                  <a:pt x="1142" y="430"/>
                  <a:pt x="1146" y="448"/>
                  <a:pt x="1150" y="467"/>
                </a:cubicBezTo>
                <a:cubicBezTo>
                  <a:pt x="1154" y="486"/>
                  <a:pt x="1157" y="504"/>
                  <a:pt x="1159" y="523"/>
                </a:cubicBezTo>
                <a:cubicBezTo>
                  <a:pt x="1160" y="542"/>
                  <a:pt x="1161" y="561"/>
                  <a:pt x="1161" y="580"/>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166" name="圖片 1165"/>
          <p:cNvPicPr/>
          <p:nvPr/>
        </p:nvPicPr>
        <p:blipFill>
          <a:blip r:embed="rId9"/>
          <a:stretch>
            <a:fillRect/>
          </a:stretch>
        </p:blipFill>
        <p:spPr>
          <a:xfrm>
            <a:off x="7370640" y="1178280"/>
            <a:ext cx="200160" cy="200160"/>
          </a:xfrm>
          <a:prstGeom prst="rect">
            <a:avLst/>
          </a:prstGeom>
          <a:noFill/>
          <a:ln w="0">
            <a:noFill/>
          </a:ln>
        </p:spPr>
      </p:pic>
      <p:sp>
        <p:nvSpPr>
          <p:cNvPr id="1167" name="文字框 1166"/>
          <p:cNvSpPr txBox="1"/>
          <p:nvPr/>
        </p:nvSpPr>
        <p:spPr>
          <a:xfrm>
            <a:off x="4150440" y="347292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存在保管成本</a:t>
            </a:r>
            <a:endParaRPr lang="en-US" sz="1050" b="0" u="none" strike="noStrike">
              <a:solidFill>
                <a:srgbClr val="000000"/>
              </a:solidFill>
              <a:effectLst/>
              <a:uFillTx/>
              <a:latin typeface="Times New Roman" panose="02020603050405020304"/>
            </a:endParaRPr>
          </a:p>
        </p:txBody>
      </p:sp>
      <p:sp>
        <p:nvSpPr>
          <p:cNvPr id="1168" name="文字框 1167"/>
          <p:cNvSpPr txBox="1"/>
          <p:nvPr/>
        </p:nvSpPr>
        <p:spPr>
          <a:xfrm>
            <a:off x="7782840" y="1176120"/>
            <a:ext cx="8388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防御性股票</a:t>
            </a:r>
            <a:endParaRPr lang="en-US" sz="1320" b="0" u="none" strike="noStrike">
              <a:solidFill>
                <a:srgbClr val="000000"/>
              </a:solidFill>
              <a:effectLst/>
              <a:uFillTx/>
              <a:latin typeface="Times New Roman" panose="02020603050405020304"/>
            </a:endParaRPr>
          </a:p>
        </p:txBody>
      </p:sp>
      <p:pic>
        <p:nvPicPr>
          <p:cNvPr id="1169" name="圖片 1168"/>
          <p:cNvPicPr/>
          <p:nvPr/>
        </p:nvPicPr>
        <p:blipFill>
          <a:blip r:embed="rId4"/>
          <a:stretch>
            <a:fillRect/>
          </a:stretch>
        </p:blipFill>
        <p:spPr>
          <a:xfrm>
            <a:off x="7261920" y="1955520"/>
            <a:ext cx="133200" cy="133200"/>
          </a:xfrm>
          <a:prstGeom prst="rect">
            <a:avLst/>
          </a:prstGeom>
          <a:noFill/>
          <a:ln w="0">
            <a:noFill/>
          </a:ln>
        </p:spPr>
      </p:pic>
      <p:sp>
        <p:nvSpPr>
          <p:cNvPr id="1170" name="文字框 1169"/>
          <p:cNvSpPr txBox="1"/>
          <p:nvPr/>
        </p:nvSpPr>
        <p:spPr>
          <a:xfrm>
            <a:off x="7264800" y="164340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优势</a:t>
            </a:r>
            <a:endParaRPr lang="en-US" sz="1180" b="0" u="none" strike="noStrike">
              <a:solidFill>
                <a:srgbClr val="000000"/>
              </a:solidFill>
              <a:effectLst/>
              <a:uFillTx/>
              <a:latin typeface="Times New Roman" panose="02020603050405020304"/>
            </a:endParaRPr>
          </a:p>
        </p:txBody>
      </p:sp>
      <p:pic>
        <p:nvPicPr>
          <p:cNvPr id="1171" name="圖片 1170"/>
          <p:cNvPicPr/>
          <p:nvPr/>
        </p:nvPicPr>
        <p:blipFill>
          <a:blip r:embed="rId4"/>
          <a:stretch>
            <a:fillRect/>
          </a:stretch>
        </p:blipFill>
        <p:spPr>
          <a:xfrm>
            <a:off x="7261920" y="2189520"/>
            <a:ext cx="133200" cy="133200"/>
          </a:xfrm>
          <a:prstGeom prst="rect">
            <a:avLst/>
          </a:prstGeom>
          <a:noFill/>
          <a:ln w="0">
            <a:noFill/>
          </a:ln>
        </p:spPr>
      </p:pic>
      <p:sp>
        <p:nvSpPr>
          <p:cNvPr id="1172" name="文字框 1171"/>
          <p:cNvSpPr txBox="1"/>
          <p:nvPr/>
        </p:nvSpPr>
        <p:spPr>
          <a:xfrm>
            <a:off x="7465320" y="193536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需求稳定，盈利较为坚韧</a:t>
            </a:r>
            <a:endParaRPr lang="en-US" sz="1050" b="0" u="none" strike="noStrike">
              <a:solidFill>
                <a:srgbClr val="000000"/>
              </a:solidFill>
              <a:effectLst/>
              <a:uFillTx/>
              <a:latin typeface="Times New Roman" panose="02020603050405020304"/>
            </a:endParaRPr>
          </a:p>
        </p:txBody>
      </p:sp>
      <p:pic>
        <p:nvPicPr>
          <p:cNvPr id="1173" name="圖片 1172"/>
          <p:cNvPicPr/>
          <p:nvPr/>
        </p:nvPicPr>
        <p:blipFill>
          <a:blip r:embed="rId4"/>
          <a:stretch>
            <a:fillRect/>
          </a:stretch>
        </p:blipFill>
        <p:spPr>
          <a:xfrm>
            <a:off x="7261920" y="2423520"/>
            <a:ext cx="133200" cy="133200"/>
          </a:xfrm>
          <a:prstGeom prst="rect">
            <a:avLst/>
          </a:prstGeom>
          <a:noFill/>
          <a:ln w="0">
            <a:noFill/>
          </a:ln>
        </p:spPr>
      </p:pic>
      <p:sp>
        <p:nvSpPr>
          <p:cNvPr id="1174" name="文字框 1173"/>
          <p:cNvSpPr txBox="1"/>
          <p:nvPr/>
        </p:nvSpPr>
        <p:spPr>
          <a:xfrm>
            <a:off x="7465320" y="2169360"/>
            <a:ext cx="10735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股息相对稳定可靠</a:t>
            </a:r>
            <a:endParaRPr lang="en-US" sz="1050" b="0" u="none" strike="noStrike">
              <a:solidFill>
                <a:srgbClr val="000000"/>
              </a:solidFill>
              <a:effectLst/>
              <a:uFillTx/>
              <a:latin typeface="Times New Roman" panose="02020603050405020304"/>
            </a:endParaRPr>
          </a:p>
        </p:txBody>
      </p:sp>
      <p:sp>
        <p:nvSpPr>
          <p:cNvPr id="1175" name="文字框 1174"/>
          <p:cNvSpPr txBox="1"/>
          <p:nvPr/>
        </p:nvSpPr>
        <p:spPr>
          <a:xfrm>
            <a:off x="7465320" y="240336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市场下跌中表现出较强抗跌性</a:t>
            </a:r>
            <a:endParaRPr lang="en-US" sz="1050" b="0" u="none" strike="noStrike">
              <a:solidFill>
                <a:srgbClr val="000000"/>
              </a:solidFill>
              <a:effectLst/>
              <a:uFillTx/>
              <a:latin typeface="Times New Roman" panose="02020603050405020304"/>
            </a:endParaRPr>
          </a:p>
        </p:txBody>
      </p:sp>
      <p:pic>
        <p:nvPicPr>
          <p:cNvPr id="1176" name="圖片 1175"/>
          <p:cNvPicPr/>
          <p:nvPr/>
        </p:nvPicPr>
        <p:blipFill>
          <a:blip r:embed="rId5"/>
          <a:stretch>
            <a:fillRect/>
          </a:stretch>
        </p:blipFill>
        <p:spPr>
          <a:xfrm>
            <a:off x="7261920" y="3025080"/>
            <a:ext cx="83160" cy="133200"/>
          </a:xfrm>
          <a:prstGeom prst="rect">
            <a:avLst/>
          </a:prstGeom>
          <a:noFill/>
          <a:ln w="0">
            <a:noFill/>
          </a:ln>
        </p:spPr>
      </p:pic>
      <p:sp>
        <p:nvSpPr>
          <p:cNvPr id="1177" name="文字框 1176"/>
          <p:cNvSpPr txBox="1"/>
          <p:nvPr/>
        </p:nvSpPr>
        <p:spPr>
          <a:xfrm>
            <a:off x="7264800" y="271296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劣势</a:t>
            </a:r>
            <a:endParaRPr lang="en-US" sz="1180" b="0" u="none" strike="noStrike">
              <a:solidFill>
                <a:srgbClr val="000000"/>
              </a:solidFill>
              <a:effectLst/>
              <a:uFillTx/>
              <a:latin typeface="Times New Roman" panose="02020603050405020304"/>
            </a:endParaRPr>
          </a:p>
        </p:txBody>
      </p:sp>
      <p:pic>
        <p:nvPicPr>
          <p:cNvPr id="1178" name="圖片 1177"/>
          <p:cNvPicPr/>
          <p:nvPr/>
        </p:nvPicPr>
        <p:blipFill>
          <a:blip r:embed="rId5"/>
          <a:stretch>
            <a:fillRect/>
          </a:stretch>
        </p:blipFill>
        <p:spPr>
          <a:xfrm>
            <a:off x="7261920" y="3259080"/>
            <a:ext cx="83160" cy="133200"/>
          </a:xfrm>
          <a:prstGeom prst="rect">
            <a:avLst/>
          </a:prstGeom>
          <a:noFill/>
          <a:ln w="0">
            <a:noFill/>
          </a:ln>
        </p:spPr>
      </p:pic>
      <p:sp>
        <p:nvSpPr>
          <p:cNvPr id="1179" name="文字框 1178"/>
          <p:cNvSpPr txBox="1"/>
          <p:nvPr/>
        </p:nvSpPr>
        <p:spPr>
          <a:xfrm>
            <a:off x="7415280" y="300492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无法完全免疫系统性风险</a:t>
            </a:r>
            <a:endParaRPr lang="en-US" sz="1050" b="0" u="none" strike="noStrike">
              <a:solidFill>
                <a:srgbClr val="000000"/>
              </a:solidFill>
              <a:effectLst/>
              <a:uFillTx/>
              <a:latin typeface="Times New Roman" panose="02020603050405020304"/>
            </a:endParaRPr>
          </a:p>
        </p:txBody>
      </p:sp>
      <p:sp>
        <p:nvSpPr>
          <p:cNvPr id="1180" name="任意多邊形 1179"/>
          <p:cNvSpPr/>
          <p:nvPr/>
        </p:nvSpPr>
        <p:spPr>
          <a:xfrm>
            <a:off x="551520" y="3994200"/>
            <a:ext cx="3083760" cy="2925360"/>
          </a:xfrm>
          <a:custGeom>
            <a:avLst/>
            <a:gdLst/>
            <a:ahLst/>
            <a:cxnLst/>
            <a:rect l="0" t="0" r="r" b="b"/>
            <a:pathLst>
              <a:path w="8566" h="8126">
                <a:moveTo>
                  <a:pt x="0" y="7940"/>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8"/>
                  <a:pt x="61" y="32"/>
                </a:cubicBezTo>
                <a:cubicBezTo>
                  <a:pt x="69" y="25"/>
                  <a:pt x="77" y="19"/>
                  <a:pt x="86" y="14"/>
                </a:cubicBezTo>
                <a:cubicBezTo>
                  <a:pt x="94" y="10"/>
                  <a:pt x="103" y="6"/>
                  <a:pt x="112" y="4"/>
                </a:cubicBezTo>
                <a:cubicBezTo>
                  <a:pt x="121" y="2"/>
                  <a:pt x="130" y="0"/>
                  <a:pt x="139" y="0"/>
                </a:cubicBezTo>
                <a:lnTo>
                  <a:pt x="8380" y="0"/>
                </a:lnTo>
                <a:cubicBezTo>
                  <a:pt x="8393" y="0"/>
                  <a:pt x="8405" y="2"/>
                  <a:pt x="8417" y="4"/>
                </a:cubicBezTo>
                <a:cubicBezTo>
                  <a:pt x="8429" y="6"/>
                  <a:pt x="8440" y="10"/>
                  <a:pt x="8452" y="14"/>
                </a:cubicBezTo>
                <a:cubicBezTo>
                  <a:pt x="8463" y="19"/>
                  <a:pt x="8474" y="25"/>
                  <a:pt x="8484" y="32"/>
                </a:cubicBezTo>
                <a:cubicBezTo>
                  <a:pt x="8494" y="38"/>
                  <a:pt x="8503" y="46"/>
                  <a:pt x="8512" y="55"/>
                </a:cubicBezTo>
                <a:cubicBezTo>
                  <a:pt x="8520" y="63"/>
                  <a:pt x="8528" y="73"/>
                  <a:pt x="8535" y="83"/>
                </a:cubicBezTo>
                <a:cubicBezTo>
                  <a:pt x="8542" y="93"/>
                  <a:pt x="8547" y="104"/>
                  <a:pt x="8552" y="115"/>
                </a:cubicBezTo>
                <a:cubicBezTo>
                  <a:pt x="8557" y="126"/>
                  <a:pt x="8560" y="138"/>
                  <a:pt x="8563" y="150"/>
                </a:cubicBezTo>
                <a:cubicBezTo>
                  <a:pt x="8565" y="162"/>
                  <a:pt x="8566" y="174"/>
                  <a:pt x="8566" y="186"/>
                </a:cubicBezTo>
                <a:lnTo>
                  <a:pt x="8566" y="7940"/>
                </a:lnTo>
                <a:cubicBezTo>
                  <a:pt x="8566" y="7952"/>
                  <a:pt x="8565" y="7964"/>
                  <a:pt x="8563" y="7976"/>
                </a:cubicBezTo>
                <a:cubicBezTo>
                  <a:pt x="8560" y="7988"/>
                  <a:pt x="8557" y="8000"/>
                  <a:pt x="8552" y="8011"/>
                </a:cubicBezTo>
                <a:cubicBezTo>
                  <a:pt x="8547" y="8023"/>
                  <a:pt x="8542" y="8033"/>
                  <a:pt x="8535" y="8043"/>
                </a:cubicBezTo>
                <a:cubicBezTo>
                  <a:pt x="8528" y="8054"/>
                  <a:pt x="8520" y="8063"/>
                  <a:pt x="8512" y="8072"/>
                </a:cubicBezTo>
                <a:cubicBezTo>
                  <a:pt x="8503" y="8080"/>
                  <a:pt x="8494" y="8088"/>
                  <a:pt x="8484" y="8095"/>
                </a:cubicBezTo>
                <a:cubicBezTo>
                  <a:pt x="8474" y="8101"/>
                  <a:pt x="8463" y="8107"/>
                  <a:pt x="8452" y="8112"/>
                </a:cubicBezTo>
                <a:cubicBezTo>
                  <a:pt x="8440" y="8116"/>
                  <a:pt x="8429" y="8120"/>
                  <a:pt x="8417" y="8122"/>
                </a:cubicBezTo>
                <a:cubicBezTo>
                  <a:pt x="8405" y="8125"/>
                  <a:pt x="8393" y="8126"/>
                  <a:pt x="8380" y="8126"/>
                </a:cubicBezTo>
                <a:lnTo>
                  <a:pt x="139" y="8126"/>
                </a:lnTo>
                <a:cubicBezTo>
                  <a:pt x="130" y="8126"/>
                  <a:pt x="121" y="8125"/>
                  <a:pt x="112" y="8122"/>
                </a:cubicBezTo>
                <a:cubicBezTo>
                  <a:pt x="103" y="8120"/>
                  <a:pt x="94" y="8116"/>
                  <a:pt x="86" y="8112"/>
                </a:cubicBezTo>
                <a:cubicBezTo>
                  <a:pt x="77" y="8107"/>
                  <a:pt x="69" y="8101"/>
                  <a:pt x="61" y="8095"/>
                </a:cubicBezTo>
                <a:cubicBezTo>
                  <a:pt x="54" y="8088"/>
                  <a:pt x="47" y="8080"/>
                  <a:pt x="40" y="8072"/>
                </a:cubicBezTo>
                <a:cubicBezTo>
                  <a:pt x="34" y="8063"/>
                  <a:pt x="28" y="8054"/>
                  <a:pt x="23" y="8043"/>
                </a:cubicBezTo>
                <a:cubicBezTo>
                  <a:pt x="18" y="8033"/>
                  <a:pt x="14" y="8023"/>
                  <a:pt x="10" y="8011"/>
                </a:cubicBezTo>
                <a:cubicBezTo>
                  <a:pt x="7" y="8000"/>
                  <a:pt x="4" y="7988"/>
                  <a:pt x="2" y="7976"/>
                </a:cubicBezTo>
                <a:cubicBezTo>
                  <a:pt x="0" y="7964"/>
                  <a:pt x="0" y="7952"/>
                  <a:pt x="0" y="794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81" name="任意多邊形 1180"/>
          <p:cNvSpPr/>
          <p:nvPr/>
        </p:nvSpPr>
        <p:spPr>
          <a:xfrm>
            <a:off x="534600" y="3994200"/>
            <a:ext cx="67320" cy="2925360"/>
          </a:xfrm>
          <a:custGeom>
            <a:avLst/>
            <a:gdLst/>
            <a:ahLst/>
            <a:cxnLst/>
            <a:rect l="0" t="0" r="r" b="b"/>
            <a:pathLst>
              <a:path w="187" h="8126">
                <a:moveTo>
                  <a:pt x="151" y="14"/>
                </a:moveTo>
                <a:cubicBezTo>
                  <a:pt x="140" y="24"/>
                  <a:pt x="130" y="37"/>
                  <a:pt x="121" y="55"/>
                </a:cubicBezTo>
                <a:cubicBezTo>
                  <a:pt x="112" y="72"/>
                  <a:pt x="106" y="92"/>
                  <a:pt x="101" y="115"/>
                </a:cubicBezTo>
                <a:cubicBezTo>
                  <a:pt x="96" y="138"/>
                  <a:pt x="94" y="161"/>
                  <a:pt x="94" y="186"/>
                </a:cubicBezTo>
                <a:lnTo>
                  <a:pt x="94" y="7940"/>
                </a:lnTo>
                <a:cubicBezTo>
                  <a:pt x="94" y="7965"/>
                  <a:pt x="96" y="7989"/>
                  <a:pt x="101" y="8011"/>
                </a:cubicBezTo>
                <a:cubicBezTo>
                  <a:pt x="106" y="8034"/>
                  <a:pt x="112" y="8054"/>
                  <a:pt x="121" y="8072"/>
                </a:cubicBezTo>
                <a:cubicBezTo>
                  <a:pt x="130" y="8089"/>
                  <a:pt x="140" y="8102"/>
                  <a:pt x="151" y="8112"/>
                </a:cubicBezTo>
                <a:cubicBezTo>
                  <a:pt x="163" y="8121"/>
                  <a:pt x="175" y="8126"/>
                  <a:pt x="187" y="8126"/>
                </a:cubicBezTo>
                <a:cubicBezTo>
                  <a:pt x="162" y="8126"/>
                  <a:pt x="139" y="8121"/>
                  <a:pt x="116" y="8112"/>
                </a:cubicBezTo>
                <a:cubicBezTo>
                  <a:pt x="93" y="8102"/>
                  <a:pt x="72" y="8089"/>
                  <a:pt x="55" y="8072"/>
                </a:cubicBezTo>
                <a:cubicBezTo>
                  <a:pt x="37" y="8054"/>
                  <a:pt x="24" y="8034"/>
                  <a:pt x="14" y="8011"/>
                </a:cubicBezTo>
                <a:cubicBezTo>
                  <a:pt x="5" y="7989"/>
                  <a:pt x="0" y="7965"/>
                  <a:pt x="0" y="7940"/>
                </a:cubicBezTo>
                <a:lnTo>
                  <a:pt x="0" y="186"/>
                </a:lnTo>
                <a:cubicBezTo>
                  <a:pt x="0" y="161"/>
                  <a:pt x="5" y="138"/>
                  <a:pt x="14" y="115"/>
                </a:cubicBezTo>
                <a:cubicBezTo>
                  <a:pt x="24" y="92"/>
                  <a:pt x="37" y="72"/>
                  <a:pt x="55" y="55"/>
                </a:cubicBezTo>
                <a:cubicBezTo>
                  <a:pt x="72" y="37"/>
                  <a:pt x="93" y="24"/>
                  <a:pt x="116" y="14"/>
                </a:cubicBezTo>
                <a:cubicBezTo>
                  <a:pt x="139" y="5"/>
                  <a:pt x="162" y="0"/>
                  <a:pt x="187" y="0"/>
                </a:cubicBezTo>
                <a:cubicBezTo>
                  <a:pt x="175" y="0"/>
                  <a:pt x="163"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82" name="任意多邊形 1181"/>
          <p:cNvSpPr/>
          <p:nvPr/>
        </p:nvSpPr>
        <p:spPr>
          <a:xfrm>
            <a:off x="735120" y="4161600"/>
            <a:ext cx="418320" cy="417960"/>
          </a:xfrm>
          <a:custGeom>
            <a:avLst/>
            <a:gdLst/>
            <a:ahLst/>
            <a:cxnLst/>
            <a:rect l="0" t="0" r="r" b="b"/>
            <a:pathLst>
              <a:path w="1162" h="1161">
                <a:moveTo>
                  <a:pt x="1162" y="580"/>
                </a:moveTo>
                <a:cubicBezTo>
                  <a:pt x="1162" y="599"/>
                  <a:pt x="1161" y="618"/>
                  <a:pt x="1159" y="638"/>
                </a:cubicBezTo>
                <a:cubicBezTo>
                  <a:pt x="1157" y="657"/>
                  <a:pt x="1154" y="675"/>
                  <a:pt x="1151" y="694"/>
                </a:cubicBezTo>
                <a:cubicBezTo>
                  <a:pt x="1147" y="713"/>
                  <a:pt x="1142" y="731"/>
                  <a:pt x="1137" y="749"/>
                </a:cubicBezTo>
                <a:cubicBezTo>
                  <a:pt x="1131" y="768"/>
                  <a:pt x="1125" y="785"/>
                  <a:pt x="1118" y="803"/>
                </a:cubicBezTo>
                <a:cubicBezTo>
                  <a:pt x="1110" y="821"/>
                  <a:pt x="1102" y="838"/>
                  <a:pt x="1093" y="854"/>
                </a:cubicBezTo>
                <a:cubicBezTo>
                  <a:pt x="1084" y="871"/>
                  <a:pt x="1075" y="888"/>
                  <a:pt x="1064" y="903"/>
                </a:cubicBezTo>
                <a:cubicBezTo>
                  <a:pt x="1054" y="919"/>
                  <a:pt x="1042" y="934"/>
                  <a:pt x="1030" y="949"/>
                </a:cubicBezTo>
                <a:cubicBezTo>
                  <a:pt x="1018" y="964"/>
                  <a:pt x="1005" y="978"/>
                  <a:pt x="992" y="991"/>
                </a:cubicBezTo>
                <a:cubicBezTo>
                  <a:pt x="978" y="1005"/>
                  <a:pt x="964" y="1017"/>
                  <a:pt x="950" y="1030"/>
                </a:cubicBezTo>
                <a:cubicBezTo>
                  <a:pt x="935" y="1042"/>
                  <a:pt x="920" y="1053"/>
                  <a:pt x="904" y="1063"/>
                </a:cubicBezTo>
                <a:cubicBezTo>
                  <a:pt x="888" y="1074"/>
                  <a:pt x="872" y="1084"/>
                  <a:pt x="854" y="1093"/>
                </a:cubicBezTo>
                <a:cubicBezTo>
                  <a:pt x="837" y="1102"/>
                  <a:pt x="820" y="1110"/>
                  <a:pt x="803" y="1117"/>
                </a:cubicBezTo>
                <a:cubicBezTo>
                  <a:pt x="785" y="1124"/>
                  <a:pt x="767" y="1131"/>
                  <a:pt x="749" y="1136"/>
                </a:cubicBezTo>
                <a:cubicBezTo>
                  <a:pt x="731" y="1142"/>
                  <a:pt x="712" y="1146"/>
                  <a:pt x="694" y="1150"/>
                </a:cubicBezTo>
                <a:cubicBezTo>
                  <a:pt x="675" y="1154"/>
                  <a:pt x="656" y="1157"/>
                  <a:pt x="637" y="1158"/>
                </a:cubicBezTo>
                <a:cubicBezTo>
                  <a:pt x="619" y="1160"/>
                  <a:pt x="600" y="1161"/>
                  <a:pt x="581" y="1161"/>
                </a:cubicBezTo>
                <a:cubicBezTo>
                  <a:pt x="562" y="1161"/>
                  <a:pt x="543" y="1160"/>
                  <a:pt x="524" y="1158"/>
                </a:cubicBezTo>
                <a:cubicBezTo>
                  <a:pt x="505" y="1157"/>
                  <a:pt x="486" y="1154"/>
                  <a:pt x="467" y="1150"/>
                </a:cubicBezTo>
                <a:cubicBezTo>
                  <a:pt x="449" y="1146"/>
                  <a:pt x="430" y="1142"/>
                  <a:pt x="412" y="1136"/>
                </a:cubicBezTo>
                <a:cubicBezTo>
                  <a:pt x="394" y="1131"/>
                  <a:pt x="376" y="1124"/>
                  <a:pt x="358" y="1117"/>
                </a:cubicBezTo>
                <a:cubicBezTo>
                  <a:pt x="341" y="1110"/>
                  <a:pt x="324" y="1102"/>
                  <a:pt x="307" y="1093"/>
                </a:cubicBezTo>
                <a:cubicBezTo>
                  <a:pt x="290" y="1084"/>
                  <a:pt x="274" y="1074"/>
                  <a:pt x="258" y="1063"/>
                </a:cubicBezTo>
                <a:cubicBezTo>
                  <a:pt x="242" y="1053"/>
                  <a:pt x="227" y="1042"/>
                  <a:pt x="212" y="1030"/>
                </a:cubicBezTo>
                <a:cubicBezTo>
                  <a:pt x="198" y="1017"/>
                  <a:pt x="184" y="1005"/>
                  <a:pt x="170" y="991"/>
                </a:cubicBezTo>
                <a:cubicBezTo>
                  <a:pt x="157" y="978"/>
                  <a:pt x="144" y="964"/>
                  <a:pt x="132" y="949"/>
                </a:cubicBezTo>
                <a:cubicBezTo>
                  <a:pt x="120" y="934"/>
                  <a:pt x="109" y="919"/>
                  <a:pt x="98" y="903"/>
                </a:cubicBezTo>
                <a:cubicBezTo>
                  <a:pt x="87" y="888"/>
                  <a:pt x="78" y="871"/>
                  <a:pt x="69" y="854"/>
                </a:cubicBezTo>
                <a:cubicBezTo>
                  <a:pt x="60" y="838"/>
                  <a:pt x="52" y="821"/>
                  <a:pt x="44" y="803"/>
                </a:cubicBezTo>
                <a:cubicBezTo>
                  <a:pt x="37" y="785"/>
                  <a:pt x="31" y="768"/>
                  <a:pt x="25" y="749"/>
                </a:cubicBezTo>
                <a:cubicBezTo>
                  <a:pt x="20" y="731"/>
                  <a:pt x="15" y="713"/>
                  <a:pt x="11" y="694"/>
                </a:cubicBezTo>
                <a:cubicBezTo>
                  <a:pt x="8" y="675"/>
                  <a:pt x="5" y="657"/>
                  <a:pt x="3" y="638"/>
                </a:cubicBezTo>
                <a:cubicBezTo>
                  <a:pt x="1" y="618"/>
                  <a:pt x="0" y="599"/>
                  <a:pt x="0" y="580"/>
                </a:cubicBezTo>
                <a:cubicBezTo>
                  <a:pt x="0" y="561"/>
                  <a:pt x="1" y="542"/>
                  <a:pt x="3" y="523"/>
                </a:cubicBezTo>
                <a:cubicBezTo>
                  <a:pt x="5" y="504"/>
                  <a:pt x="8" y="485"/>
                  <a:pt x="11" y="467"/>
                </a:cubicBezTo>
                <a:cubicBezTo>
                  <a:pt x="15" y="448"/>
                  <a:pt x="20" y="430"/>
                  <a:pt x="25" y="411"/>
                </a:cubicBezTo>
                <a:cubicBezTo>
                  <a:pt x="31" y="393"/>
                  <a:pt x="37" y="375"/>
                  <a:pt x="44" y="358"/>
                </a:cubicBezTo>
                <a:cubicBezTo>
                  <a:pt x="52" y="340"/>
                  <a:pt x="60" y="323"/>
                  <a:pt x="69" y="306"/>
                </a:cubicBezTo>
                <a:cubicBezTo>
                  <a:pt x="78" y="290"/>
                  <a:pt x="87" y="273"/>
                  <a:pt x="98" y="258"/>
                </a:cubicBezTo>
                <a:cubicBezTo>
                  <a:pt x="109" y="242"/>
                  <a:pt x="120" y="226"/>
                  <a:pt x="132" y="212"/>
                </a:cubicBezTo>
                <a:cubicBezTo>
                  <a:pt x="144" y="197"/>
                  <a:pt x="157" y="183"/>
                  <a:pt x="170" y="170"/>
                </a:cubicBezTo>
                <a:cubicBezTo>
                  <a:pt x="184" y="156"/>
                  <a:pt x="198" y="143"/>
                  <a:pt x="212" y="131"/>
                </a:cubicBezTo>
                <a:cubicBezTo>
                  <a:pt x="227" y="119"/>
                  <a:pt x="242" y="108"/>
                  <a:pt x="258" y="97"/>
                </a:cubicBezTo>
                <a:cubicBezTo>
                  <a:pt x="274" y="87"/>
                  <a:pt x="290" y="77"/>
                  <a:pt x="307" y="68"/>
                </a:cubicBezTo>
                <a:cubicBezTo>
                  <a:pt x="324" y="59"/>
                  <a:pt x="341" y="51"/>
                  <a:pt x="358" y="44"/>
                </a:cubicBezTo>
                <a:cubicBezTo>
                  <a:pt x="376" y="37"/>
                  <a:pt x="394" y="30"/>
                  <a:pt x="412" y="25"/>
                </a:cubicBezTo>
                <a:cubicBezTo>
                  <a:pt x="430" y="19"/>
                  <a:pt x="449" y="14"/>
                  <a:pt x="467" y="11"/>
                </a:cubicBezTo>
                <a:cubicBezTo>
                  <a:pt x="486" y="7"/>
                  <a:pt x="505" y="4"/>
                  <a:pt x="524" y="2"/>
                </a:cubicBezTo>
                <a:cubicBezTo>
                  <a:pt x="543" y="1"/>
                  <a:pt x="562" y="0"/>
                  <a:pt x="581" y="0"/>
                </a:cubicBezTo>
                <a:cubicBezTo>
                  <a:pt x="600" y="0"/>
                  <a:pt x="619" y="1"/>
                  <a:pt x="637" y="2"/>
                </a:cubicBezTo>
                <a:cubicBezTo>
                  <a:pt x="656" y="4"/>
                  <a:pt x="675" y="7"/>
                  <a:pt x="694" y="11"/>
                </a:cubicBezTo>
                <a:cubicBezTo>
                  <a:pt x="712" y="14"/>
                  <a:pt x="731" y="19"/>
                  <a:pt x="749" y="25"/>
                </a:cubicBezTo>
                <a:cubicBezTo>
                  <a:pt x="767" y="30"/>
                  <a:pt x="785" y="37"/>
                  <a:pt x="803" y="44"/>
                </a:cubicBezTo>
                <a:cubicBezTo>
                  <a:pt x="820" y="51"/>
                  <a:pt x="837" y="59"/>
                  <a:pt x="854" y="68"/>
                </a:cubicBezTo>
                <a:cubicBezTo>
                  <a:pt x="872" y="77"/>
                  <a:pt x="888" y="87"/>
                  <a:pt x="904" y="97"/>
                </a:cubicBezTo>
                <a:cubicBezTo>
                  <a:pt x="920" y="108"/>
                  <a:pt x="935" y="119"/>
                  <a:pt x="950" y="131"/>
                </a:cubicBezTo>
                <a:cubicBezTo>
                  <a:pt x="964" y="143"/>
                  <a:pt x="978" y="156"/>
                  <a:pt x="992" y="170"/>
                </a:cubicBezTo>
                <a:cubicBezTo>
                  <a:pt x="1005" y="183"/>
                  <a:pt x="1018" y="197"/>
                  <a:pt x="1030" y="212"/>
                </a:cubicBezTo>
                <a:cubicBezTo>
                  <a:pt x="1042" y="226"/>
                  <a:pt x="1054" y="242"/>
                  <a:pt x="1064" y="258"/>
                </a:cubicBezTo>
                <a:cubicBezTo>
                  <a:pt x="1075" y="273"/>
                  <a:pt x="1084" y="290"/>
                  <a:pt x="1093" y="306"/>
                </a:cubicBezTo>
                <a:cubicBezTo>
                  <a:pt x="1102" y="323"/>
                  <a:pt x="1110" y="340"/>
                  <a:pt x="1118" y="358"/>
                </a:cubicBezTo>
                <a:cubicBezTo>
                  <a:pt x="1125" y="375"/>
                  <a:pt x="1131" y="393"/>
                  <a:pt x="1137" y="411"/>
                </a:cubicBezTo>
                <a:cubicBezTo>
                  <a:pt x="1142" y="430"/>
                  <a:pt x="1147" y="448"/>
                  <a:pt x="1151" y="467"/>
                </a:cubicBezTo>
                <a:cubicBezTo>
                  <a:pt x="1154" y="485"/>
                  <a:pt x="1157" y="504"/>
                  <a:pt x="1159" y="523"/>
                </a:cubicBezTo>
                <a:cubicBezTo>
                  <a:pt x="1161" y="542"/>
                  <a:pt x="1162" y="561"/>
                  <a:pt x="1162" y="580"/>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183" name="圖片 1182"/>
          <p:cNvPicPr/>
          <p:nvPr/>
        </p:nvPicPr>
        <p:blipFill>
          <a:blip r:embed="rId10"/>
          <a:stretch>
            <a:fillRect/>
          </a:stretch>
        </p:blipFill>
        <p:spPr>
          <a:xfrm>
            <a:off x="835560" y="4270320"/>
            <a:ext cx="225360" cy="200160"/>
          </a:xfrm>
          <a:prstGeom prst="rect">
            <a:avLst/>
          </a:prstGeom>
          <a:noFill/>
          <a:ln w="0">
            <a:noFill/>
          </a:ln>
        </p:spPr>
      </p:pic>
      <p:sp>
        <p:nvSpPr>
          <p:cNvPr id="1184" name="文字框 1183"/>
          <p:cNvSpPr txBox="1"/>
          <p:nvPr/>
        </p:nvSpPr>
        <p:spPr>
          <a:xfrm>
            <a:off x="7415280" y="323892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股价仍会随大盘下跌，只是幅度较小</a:t>
            </a:r>
            <a:endParaRPr lang="en-US" sz="1050" b="0" u="none" strike="noStrike">
              <a:solidFill>
                <a:srgbClr val="000000"/>
              </a:solidFill>
              <a:effectLst/>
              <a:uFillTx/>
              <a:latin typeface="Times New Roman" panose="02020603050405020304"/>
            </a:endParaRPr>
          </a:p>
        </p:txBody>
      </p:sp>
      <p:sp>
        <p:nvSpPr>
          <p:cNvPr id="1185" name="文字框 1184"/>
          <p:cNvSpPr txBox="1"/>
          <p:nvPr/>
        </p:nvSpPr>
        <p:spPr>
          <a:xfrm>
            <a:off x="1253520" y="4268160"/>
            <a:ext cx="134172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现金及现金等价物</a:t>
            </a:r>
            <a:endParaRPr lang="en-US" sz="1320" b="0" u="none" strike="noStrike">
              <a:solidFill>
                <a:srgbClr val="000000"/>
              </a:solidFill>
              <a:effectLst/>
              <a:uFillTx/>
              <a:latin typeface="Times New Roman" panose="02020603050405020304"/>
            </a:endParaRPr>
          </a:p>
        </p:txBody>
      </p:sp>
      <p:pic>
        <p:nvPicPr>
          <p:cNvPr id="1186" name="圖片 1185"/>
          <p:cNvPicPr/>
          <p:nvPr/>
        </p:nvPicPr>
        <p:blipFill>
          <a:blip r:embed="rId4"/>
          <a:stretch>
            <a:fillRect/>
          </a:stretch>
        </p:blipFill>
        <p:spPr>
          <a:xfrm>
            <a:off x="735480" y="5047560"/>
            <a:ext cx="133200" cy="133200"/>
          </a:xfrm>
          <a:prstGeom prst="rect">
            <a:avLst/>
          </a:prstGeom>
          <a:noFill/>
          <a:ln w="0">
            <a:noFill/>
          </a:ln>
        </p:spPr>
      </p:pic>
      <p:sp>
        <p:nvSpPr>
          <p:cNvPr id="1187" name="文字框 1186"/>
          <p:cNvSpPr txBox="1"/>
          <p:nvPr/>
        </p:nvSpPr>
        <p:spPr>
          <a:xfrm>
            <a:off x="735480" y="473544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优势</a:t>
            </a:r>
            <a:endParaRPr lang="en-US" sz="1180" b="0" u="none" strike="noStrike">
              <a:solidFill>
                <a:srgbClr val="000000"/>
              </a:solidFill>
              <a:effectLst/>
              <a:uFillTx/>
              <a:latin typeface="Times New Roman" panose="02020603050405020304"/>
            </a:endParaRPr>
          </a:p>
        </p:txBody>
      </p:sp>
      <p:pic>
        <p:nvPicPr>
          <p:cNvPr id="1188" name="圖片 1187"/>
          <p:cNvPicPr/>
          <p:nvPr/>
        </p:nvPicPr>
        <p:blipFill>
          <a:blip r:embed="rId4"/>
          <a:stretch>
            <a:fillRect/>
          </a:stretch>
        </p:blipFill>
        <p:spPr>
          <a:xfrm>
            <a:off x="735480" y="5281560"/>
            <a:ext cx="133200" cy="133200"/>
          </a:xfrm>
          <a:prstGeom prst="rect">
            <a:avLst/>
          </a:prstGeom>
          <a:noFill/>
          <a:ln w="0">
            <a:noFill/>
          </a:ln>
        </p:spPr>
      </p:pic>
      <p:sp>
        <p:nvSpPr>
          <p:cNvPr id="1189" name="文字框 1188"/>
          <p:cNvSpPr txBox="1"/>
          <p:nvPr/>
        </p:nvSpPr>
        <p:spPr>
          <a:xfrm>
            <a:off x="936000" y="502740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极致的流动性和安全性</a:t>
            </a:r>
            <a:endParaRPr lang="en-US" sz="1050" b="0" u="none" strike="noStrike">
              <a:solidFill>
                <a:srgbClr val="000000"/>
              </a:solidFill>
              <a:effectLst/>
              <a:uFillTx/>
              <a:latin typeface="Times New Roman" panose="02020603050405020304"/>
            </a:endParaRPr>
          </a:p>
        </p:txBody>
      </p:sp>
      <p:pic>
        <p:nvPicPr>
          <p:cNvPr id="1190" name="圖片 1189"/>
          <p:cNvPicPr/>
          <p:nvPr/>
        </p:nvPicPr>
        <p:blipFill>
          <a:blip r:embed="rId4"/>
          <a:stretch>
            <a:fillRect/>
          </a:stretch>
        </p:blipFill>
        <p:spPr>
          <a:xfrm>
            <a:off x="735480" y="5515560"/>
            <a:ext cx="133200" cy="133200"/>
          </a:xfrm>
          <a:prstGeom prst="rect">
            <a:avLst/>
          </a:prstGeom>
          <a:noFill/>
          <a:ln w="0">
            <a:noFill/>
          </a:ln>
        </p:spPr>
      </p:pic>
      <p:sp>
        <p:nvSpPr>
          <p:cNvPr id="1191" name="文字框 1190"/>
          <p:cNvSpPr txBox="1"/>
          <p:nvPr/>
        </p:nvSpPr>
        <p:spPr>
          <a:xfrm>
            <a:off x="936000" y="526140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市场暴跌时提供购买廉价资产的机会</a:t>
            </a:r>
            <a:endParaRPr lang="en-US" sz="1050" b="0" u="none" strike="noStrike">
              <a:solidFill>
                <a:srgbClr val="000000"/>
              </a:solidFill>
              <a:effectLst/>
              <a:uFillTx/>
              <a:latin typeface="Times New Roman" panose="02020603050405020304"/>
            </a:endParaRPr>
          </a:p>
        </p:txBody>
      </p:sp>
      <p:sp>
        <p:nvSpPr>
          <p:cNvPr id="1192" name="文字框 1191"/>
          <p:cNvSpPr txBox="1"/>
          <p:nvPr/>
        </p:nvSpPr>
        <p:spPr>
          <a:xfrm>
            <a:off x="936000" y="549540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名义价值的绝对保证</a:t>
            </a:r>
            <a:endParaRPr lang="en-US" sz="1050" b="0" u="none" strike="noStrike">
              <a:solidFill>
                <a:srgbClr val="000000"/>
              </a:solidFill>
              <a:effectLst/>
              <a:uFillTx/>
              <a:latin typeface="Times New Roman" panose="02020603050405020304"/>
            </a:endParaRPr>
          </a:p>
        </p:txBody>
      </p:sp>
      <p:pic>
        <p:nvPicPr>
          <p:cNvPr id="1193" name="圖片 1192"/>
          <p:cNvPicPr/>
          <p:nvPr/>
        </p:nvPicPr>
        <p:blipFill>
          <a:blip r:embed="rId5"/>
          <a:stretch>
            <a:fillRect/>
          </a:stretch>
        </p:blipFill>
        <p:spPr>
          <a:xfrm>
            <a:off x="735480" y="6117120"/>
            <a:ext cx="83160" cy="133200"/>
          </a:xfrm>
          <a:prstGeom prst="rect">
            <a:avLst/>
          </a:prstGeom>
          <a:noFill/>
          <a:ln w="0">
            <a:noFill/>
          </a:ln>
        </p:spPr>
      </p:pic>
      <p:sp>
        <p:nvSpPr>
          <p:cNvPr id="1194" name="文字框 1193"/>
          <p:cNvSpPr txBox="1"/>
          <p:nvPr/>
        </p:nvSpPr>
        <p:spPr>
          <a:xfrm>
            <a:off x="735480" y="580500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劣势</a:t>
            </a:r>
            <a:endParaRPr lang="en-US" sz="1180" b="0" u="none" strike="noStrike">
              <a:solidFill>
                <a:srgbClr val="000000"/>
              </a:solidFill>
              <a:effectLst/>
              <a:uFillTx/>
              <a:latin typeface="Times New Roman" panose="02020603050405020304"/>
            </a:endParaRPr>
          </a:p>
        </p:txBody>
      </p:sp>
      <p:pic>
        <p:nvPicPr>
          <p:cNvPr id="1195" name="圖片 1194"/>
          <p:cNvPicPr/>
          <p:nvPr/>
        </p:nvPicPr>
        <p:blipFill>
          <a:blip r:embed="rId5"/>
          <a:stretch>
            <a:fillRect/>
          </a:stretch>
        </p:blipFill>
        <p:spPr>
          <a:xfrm>
            <a:off x="735480" y="6351120"/>
            <a:ext cx="83160" cy="133200"/>
          </a:xfrm>
          <a:prstGeom prst="rect">
            <a:avLst/>
          </a:prstGeom>
          <a:noFill/>
          <a:ln w="0">
            <a:noFill/>
          </a:ln>
        </p:spPr>
      </p:pic>
      <p:sp>
        <p:nvSpPr>
          <p:cNvPr id="1196" name="文字框 1195"/>
          <p:cNvSpPr txBox="1"/>
          <p:nvPr/>
        </p:nvSpPr>
        <p:spPr>
          <a:xfrm>
            <a:off x="885960" y="609696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长期持有面临通货膨胀导致的购买力侵蚀</a:t>
            </a:r>
            <a:endParaRPr lang="en-US" sz="1050" b="0" u="none" strike="noStrike">
              <a:solidFill>
                <a:srgbClr val="000000"/>
              </a:solidFill>
              <a:effectLst/>
              <a:uFillTx/>
              <a:latin typeface="Times New Roman" panose="02020603050405020304"/>
            </a:endParaRPr>
          </a:p>
        </p:txBody>
      </p:sp>
      <p:sp>
        <p:nvSpPr>
          <p:cNvPr id="1197" name="任意多邊形 1196"/>
          <p:cNvSpPr/>
          <p:nvPr/>
        </p:nvSpPr>
        <p:spPr>
          <a:xfrm>
            <a:off x="3818880" y="3994200"/>
            <a:ext cx="3075480" cy="2925360"/>
          </a:xfrm>
          <a:custGeom>
            <a:avLst/>
            <a:gdLst/>
            <a:ahLst/>
            <a:cxnLst/>
            <a:rect l="0" t="0" r="r" b="b"/>
            <a:pathLst>
              <a:path w="8543" h="8126">
                <a:moveTo>
                  <a:pt x="0" y="7940"/>
                </a:moveTo>
                <a:lnTo>
                  <a:pt x="0" y="186"/>
                </a:lnTo>
                <a:cubicBezTo>
                  <a:pt x="0" y="174"/>
                  <a:pt x="1" y="162"/>
                  <a:pt x="3" y="150"/>
                </a:cubicBezTo>
                <a:cubicBezTo>
                  <a:pt x="4" y="138"/>
                  <a:pt x="7" y="126"/>
                  <a:pt x="10" y="115"/>
                </a:cubicBezTo>
                <a:cubicBezTo>
                  <a:pt x="14" y="104"/>
                  <a:pt x="18" y="93"/>
                  <a:pt x="23" y="83"/>
                </a:cubicBezTo>
                <a:cubicBezTo>
                  <a:pt x="28" y="73"/>
                  <a:pt x="34" y="63"/>
                  <a:pt x="41" y="55"/>
                </a:cubicBezTo>
                <a:cubicBezTo>
                  <a:pt x="47" y="46"/>
                  <a:pt x="54" y="38"/>
                  <a:pt x="62" y="32"/>
                </a:cubicBezTo>
                <a:cubicBezTo>
                  <a:pt x="69" y="25"/>
                  <a:pt x="77" y="19"/>
                  <a:pt x="86" y="14"/>
                </a:cubicBezTo>
                <a:cubicBezTo>
                  <a:pt x="94" y="10"/>
                  <a:pt x="103" y="6"/>
                  <a:pt x="112" y="4"/>
                </a:cubicBezTo>
                <a:cubicBezTo>
                  <a:pt x="121" y="2"/>
                  <a:pt x="130" y="0"/>
                  <a:pt x="139" y="0"/>
                </a:cubicBezTo>
                <a:lnTo>
                  <a:pt x="8358" y="0"/>
                </a:lnTo>
                <a:cubicBezTo>
                  <a:pt x="8370" y="0"/>
                  <a:pt x="8382" y="2"/>
                  <a:pt x="8394" y="4"/>
                </a:cubicBezTo>
                <a:cubicBezTo>
                  <a:pt x="8406" y="6"/>
                  <a:pt x="8417" y="10"/>
                  <a:pt x="8429" y="14"/>
                </a:cubicBezTo>
                <a:cubicBezTo>
                  <a:pt x="8440" y="19"/>
                  <a:pt x="8451" y="25"/>
                  <a:pt x="8461" y="32"/>
                </a:cubicBezTo>
                <a:cubicBezTo>
                  <a:pt x="8471" y="38"/>
                  <a:pt x="8480" y="46"/>
                  <a:pt x="8489" y="55"/>
                </a:cubicBezTo>
                <a:cubicBezTo>
                  <a:pt x="8497" y="63"/>
                  <a:pt x="8505" y="73"/>
                  <a:pt x="8512" y="83"/>
                </a:cubicBezTo>
                <a:cubicBezTo>
                  <a:pt x="8519" y="93"/>
                  <a:pt x="8524" y="104"/>
                  <a:pt x="8529" y="115"/>
                </a:cubicBezTo>
                <a:cubicBezTo>
                  <a:pt x="8534" y="126"/>
                  <a:pt x="8537" y="138"/>
                  <a:pt x="8540" y="150"/>
                </a:cubicBezTo>
                <a:cubicBezTo>
                  <a:pt x="8542" y="162"/>
                  <a:pt x="8543" y="174"/>
                  <a:pt x="8543" y="186"/>
                </a:cubicBezTo>
                <a:lnTo>
                  <a:pt x="8543" y="7940"/>
                </a:lnTo>
                <a:cubicBezTo>
                  <a:pt x="8543" y="7952"/>
                  <a:pt x="8542" y="7964"/>
                  <a:pt x="8540" y="7976"/>
                </a:cubicBezTo>
                <a:cubicBezTo>
                  <a:pt x="8537" y="7988"/>
                  <a:pt x="8534" y="8000"/>
                  <a:pt x="8529" y="8011"/>
                </a:cubicBezTo>
                <a:cubicBezTo>
                  <a:pt x="8524" y="8023"/>
                  <a:pt x="8519" y="8033"/>
                  <a:pt x="8512" y="8043"/>
                </a:cubicBezTo>
                <a:cubicBezTo>
                  <a:pt x="8505" y="8054"/>
                  <a:pt x="8497" y="8063"/>
                  <a:pt x="8489" y="8072"/>
                </a:cubicBezTo>
                <a:cubicBezTo>
                  <a:pt x="8480" y="8080"/>
                  <a:pt x="8471" y="8088"/>
                  <a:pt x="8461" y="8095"/>
                </a:cubicBezTo>
                <a:cubicBezTo>
                  <a:pt x="8451" y="8101"/>
                  <a:pt x="8440" y="8107"/>
                  <a:pt x="8429" y="8112"/>
                </a:cubicBezTo>
                <a:cubicBezTo>
                  <a:pt x="8417" y="8116"/>
                  <a:pt x="8406" y="8120"/>
                  <a:pt x="8394" y="8122"/>
                </a:cubicBezTo>
                <a:cubicBezTo>
                  <a:pt x="8382" y="8125"/>
                  <a:pt x="8370" y="8126"/>
                  <a:pt x="8358" y="8126"/>
                </a:cubicBezTo>
                <a:lnTo>
                  <a:pt x="139" y="8126"/>
                </a:lnTo>
                <a:cubicBezTo>
                  <a:pt x="130" y="8126"/>
                  <a:pt x="121" y="8125"/>
                  <a:pt x="112" y="8122"/>
                </a:cubicBezTo>
                <a:cubicBezTo>
                  <a:pt x="103" y="8120"/>
                  <a:pt x="94" y="8116"/>
                  <a:pt x="86" y="8112"/>
                </a:cubicBezTo>
                <a:cubicBezTo>
                  <a:pt x="77" y="8107"/>
                  <a:pt x="69" y="8101"/>
                  <a:pt x="62" y="8095"/>
                </a:cubicBezTo>
                <a:cubicBezTo>
                  <a:pt x="54" y="8088"/>
                  <a:pt x="47" y="8080"/>
                  <a:pt x="41" y="8072"/>
                </a:cubicBezTo>
                <a:cubicBezTo>
                  <a:pt x="34" y="8063"/>
                  <a:pt x="28" y="8054"/>
                  <a:pt x="23" y="8043"/>
                </a:cubicBezTo>
                <a:cubicBezTo>
                  <a:pt x="18" y="8033"/>
                  <a:pt x="14" y="8023"/>
                  <a:pt x="10" y="8011"/>
                </a:cubicBezTo>
                <a:cubicBezTo>
                  <a:pt x="7" y="8000"/>
                  <a:pt x="4" y="7988"/>
                  <a:pt x="3" y="7976"/>
                </a:cubicBezTo>
                <a:cubicBezTo>
                  <a:pt x="1" y="7964"/>
                  <a:pt x="0" y="7952"/>
                  <a:pt x="0" y="794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98" name="任意多邊形 1197"/>
          <p:cNvSpPr/>
          <p:nvPr/>
        </p:nvSpPr>
        <p:spPr>
          <a:xfrm>
            <a:off x="3801960" y="3994200"/>
            <a:ext cx="67320" cy="2925360"/>
          </a:xfrm>
          <a:custGeom>
            <a:avLst/>
            <a:gdLst/>
            <a:ahLst/>
            <a:cxnLst/>
            <a:rect l="0" t="0" r="r" b="b"/>
            <a:pathLst>
              <a:path w="187" h="8126">
                <a:moveTo>
                  <a:pt x="0" y="0"/>
                </a:moveTo>
                <a:lnTo>
                  <a:pt x="187" y="0"/>
                </a:lnTo>
                <a:lnTo>
                  <a:pt x="187" y="8126"/>
                </a:lnTo>
                <a:lnTo>
                  <a:pt x="0" y="8126"/>
                </a:lnTo>
                <a:lnTo>
                  <a:pt x="0" y="0"/>
                </a:ln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199" name="任意多邊形 1198"/>
          <p:cNvSpPr/>
          <p:nvPr/>
        </p:nvSpPr>
        <p:spPr>
          <a:xfrm>
            <a:off x="4002840" y="4161600"/>
            <a:ext cx="417960" cy="417960"/>
          </a:xfrm>
          <a:custGeom>
            <a:avLst/>
            <a:gdLst/>
            <a:ahLst/>
            <a:cxnLst/>
            <a:rect l="0" t="0" r="r" b="b"/>
            <a:pathLst>
              <a:path w="1161" h="1161">
                <a:moveTo>
                  <a:pt x="1161" y="580"/>
                </a:moveTo>
                <a:cubicBezTo>
                  <a:pt x="1161" y="599"/>
                  <a:pt x="1160" y="618"/>
                  <a:pt x="1158" y="638"/>
                </a:cubicBezTo>
                <a:cubicBezTo>
                  <a:pt x="1157" y="657"/>
                  <a:pt x="1154" y="675"/>
                  <a:pt x="1150" y="694"/>
                </a:cubicBezTo>
                <a:cubicBezTo>
                  <a:pt x="1146" y="713"/>
                  <a:pt x="1142" y="731"/>
                  <a:pt x="1136" y="749"/>
                </a:cubicBezTo>
                <a:cubicBezTo>
                  <a:pt x="1131" y="768"/>
                  <a:pt x="1124" y="785"/>
                  <a:pt x="1117" y="803"/>
                </a:cubicBezTo>
                <a:cubicBezTo>
                  <a:pt x="1110" y="821"/>
                  <a:pt x="1102" y="838"/>
                  <a:pt x="1093" y="854"/>
                </a:cubicBezTo>
                <a:cubicBezTo>
                  <a:pt x="1084" y="871"/>
                  <a:pt x="1074" y="888"/>
                  <a:pt x="1063" y="903"/>
                </a:cubicBezTo>
                <a:cubicBezTo>
                  <a:pt x="1052" y="919"/>
                  <a:pt x="1041" y="934"/>
                  <a:pt x="1028" y="949"/>
                </a:cubicBezTo>
                <a:cubicBezTo>
                  <a:pt x="1016" y="964"/>
                  <a:pt x="1004" y="978"/>
                  <a:pt x="990" y="991"/>
                </a:cubicBezTo>
                <a:cubicBezTo>
                  <a:pt x="977" y="1005"/>
                  <a:pt x="963" y="1017"/>
                  <a:pt x="948" y="1030"/>
                </a:cubicBezTo>
                <a:cubicBezTo>
                  <a:pt x="933" y="1042"/>
                  <a:pt x="918" y="1053"/>
                  <a:pt x="902" y="1063"/>
                </a:cubicBezTo>
                <a:cubicBezTo>
                  <a:pt x="886" y="1074"/>
                  <a:pt x="870" y="1084"/>
                  <a:pt x="853" y="1093"/>
                </a:cubicBezTo>
                <a:cubicBezTo>
                  <a:pt x="837" y="1102"/>
                  <a:pt x="820" y="1110"/>
                  <a:pt x="802" y="1117"/>
                </a:cubicBezTo>
                <a:cubicBezTo>
                  <a:pt x="784" y="1124"/>
                  <a:pt x="767" y="1131"/>
                  <a:pt x="748" y="1136"/>
                </a:cubicBezTo>
                <a:cubicBezTo>
                  <a:pt x="730" y="1142"/>
                  <a:pt x="712" y="1146"/>
                  <a:pt x="693" y="1150"/>
                </a:cubicBezTo>
                <a:cubicBezTo>
                  <a:pt x="674" y="1154"/>
                  <a:pt x="656" y="1157"/>
                  <a:pt x="637" y="1158"/>
                </a:cubicBezTo>
                <a:cubicBezTo>
                  <a:pt x="618" y="1160"/>
                  <a:pt x="599" y="1161"/>
                  <a:pt x="580" y="1161"/>
                </a:cubicBezTo>
                <a:cubicBezTo>
                  <a:pt x="561" y="1161"/>
                  <a:pt x="542" y="1160"/>
                  <a:pt x="523" y="1158"/>
                </a:cubicBezTo>
                <a:cubicBezTo>
                  <a:pt x="504" y="1157"/>
                  <a:pt x="485" y="1154"/>
                  <a:pt x="467" y="1150"/>
                </a:cubicBezTo>
                <a:cubicBezTo>
                  <a:pt x="448" y="1146"/>
                  <a:pt x="430" y="1142"/>
                  <a:pt x="411" y="1136"/>
                </a:cubicBezTo>
                <a:cubicBezTo>
                  <a:pt x="393" y="1131"/>
                  <a:pt x="375" y="1124"/>
                  <a:pt x="358" y="1117"/>
                </a:cubicBezTo>
                <a:cubicBezTo>
                  <a:pt x="340" y="1110"/>
                  <a:pt x="323" y="1102"/>
                  <a:pt x="306" y="1093"/>
                </a:cubicBezTo>
                <a:cubicBezTo>
                  <a:pt x="290" y="1084"/>
                  <a:pt x="273" y="1074"/>
                  <a:pt x="257" y="1063"/>
                </a:cubicBezTo>
                <a:cubicBezTo>
                  <a:pt x="242" y="1053"/>
                  <a:pt x="226" y="1042"/>
                  <a:pt x="212" y="1030"/>
                </a:cubicBezTo>
                <a:cubicBezTo>
                  <a:pt x="197" y="1017"/>
                  <a:pt x="183" y="1005"/>
                  <a:pt x="170" y="991"/>
                </a:cubicBezTo>
                <a:cubicBezTo>
                  <a:pt x="156" y="978"/>
                  <a:pt x="143" y="964"/>
                  <a:pt x="131" y="949"/>
                </a:cubicBezTo>
                <a:cubicBezTo>
                  <a:pt x="119" y="934"/>
                  <a:pt x="108" y="919"/>
                  <a:pt x="97" y="903"/>
                </a:cubicBezTo>
                <a:cubicBezTo>
                  <a:pt x="87" y="888"/>
                  <a:pt x="77" y="871"/>
                  <a:pt x="68" y="854"/>
                </a:cubicBezTo>
                <a:cubicBezTo>
                  <a:pt x="59" y="838"/>
                  <a:pt x="51" y="821"/>
                  <a:pt x="44" y="803"/>
                </a:cubicBezTo>
                <a:cubicBezTo>
                  <a:pt x="36" y="785"/>
                  <a:pt x="30" y="768"/>
                  <a:pt x="25" y="749"/>
                </a:cubicBezTo>
                <a:cubicBezTo>
                  <a:pt x="19" y="731"/>
                  <a:pt x="14" y="713"/>
                  <a:pt x="11" y="694"/>
                </a:cubicBezTo>
                <a:cubicBezTo>
                  <a:pt x="7" y="675"/>
                  <a:pt x="4" y="657"/>
                  <a:pt x="2" y="638"/>
                </a:cubicBezTo>
                <a:cubicBezTo>
                  <a:pt x="0" y="618"/>
                  <a:pt x="0" y="599"/>
                  <a:pt x="0" y="580"/>
                </a:cubicBezTo>
                <a:cubicBezTo>
                  <a:pt x="0" y="561"/>
                  <a:pt x="0" y="542"/>
                  <a:pt x="2" y="523"/>
                </a:cubicBezTo>
                <a:cubicBezTo>
                  <a:pt x="4" y="504"/>
                  <a:pt x="7" y="485"/>
                  <a:pt x="11" y="467"/>
                </a:cubicBezTo>
                <a:cubicBezTo>
                  <a:pt x="14" y="448"/>
                  <a:pt x="19" y="430"/>
                  <a:pt x="25" y="411"/>
                </a:cubicBezTo>
                <a:cubicBezTo>
                  <a:pt x="30" y="393"/>
                  <a:pt x="36" y="375"/>
                  <a:pt x="44" y="358"/>
                </a:cubicBezTo>
                <a:cubicBezTo>
                  <a:pt x="51" y="340"/>
                  <a:pt x="59" y="323"/>
                  <a:pt x="68" y="306"/>
                </a:cubicBezTo>
                <a:cubicBezTo>
                  <a:pt x="77" y="290"/>
                  <a:pt x="87" y="273"/>
                  <a:pt x="97" y="258"/>
                </a:cubicBezTo>
                <a:cubicBezTo>
                  <a:pt x="108" y="242"/>
                  <a:pt x="119" y="226"/>
                  <a:pt x="131" y="212"/>
                </a:cubicBezTo>
                <a:cubicBezTo>
                  <a:pt x="143" y="197"/>
                  <a:pt x="156" y="183"/>
                  <a:pt x="170" y="170"/>
                </a:cubicBezTo>
                <a:cubicBezTo>
                  <a:pt x="183" y="156"/>
                  <a:pt x="197" y="143"/>
                  <a:pt x="212" y="131"/>
                </a:cubicBezTo>
                <a:cubicBezTo>
                  <a:pt x="226" y="119"/>
                  <a:pt x="242" y="108"/>
                  <a:pt x="257" y="97"/>
                </a:cubicBezTo>
                <a:cubicBezTo>
                  <a:pt x="273" y="87"/>
                  <a:pt x="290" y="77"/>
                  <a:pt x="306" y="68"/>
                </a:cubicBezTo>
                <a:cubicBezTo>
                  <a:pt x="323" y="59"/>
                  <a:pt x="340" y="51"/>
                  <a:pt x="358" y="44"/>
                </a:cubicBezTo>
                <a:cubicBezTo>
                  <a:pt x="375" y="37"/>
                  <a:pt x="393" y="30"/>
                  <a:pt x="411" y="25"/>
                </a:cubicBezTo>
                <a:cubicBezTo>
                  <a:pt x="430" y="19"/>
                  <a:pt x="448" y="14"/>
                  <a:pt x="467" y="11"/>
                </a:cubicBezTo>
                <a:cubicBezTo>
                  <a:pt x="485" y="7"/>
                  <a:pt x="504" y="4"/>
                  <a:pt x="523" y="2"/>
                </a:cubicBezTo>
                <a:cubicBezTo>
                  <a:pt x="542" y="1"/>
                  <a:pt x="561" y="0"/>
                  <a:pt x="580" y="0"/>
                </a:cubicBezTo>
                <a:cubicBezTo>
                  <a:pt x="599" y="0"/>
                  <a:pt x="618" y="1"/>
                  <a:pt x="637" y="2"/>
                </a:cubicBezTo>
                <a:cubicBezTo>
                  <a:pt x="656" y="4"/>
                  <a:pt x="674" y="7"/>
                  <a:pt x="693" y="11"/>
                </a:cubicBezTo>
                <a:cubicBezTo>
                  <a:pt x="712" y="14"/>
                  <a:pt x="730" y="19"/>
                  <a:pt x="748" y="25"/>
                </a:cubicBezTo>
                <a:cubicBezTo>
                  <a:pt x="767" y="30"/>
                  <a:pt x="784" y="37"/>
                  <a:pt x="802" y="44"/>
                </a:cubicBezTo>
                <a:cubicBezTo>
                  <a:pt x="820" y="51"/>
                  <a:pt x="837" y="59"/>
                  <a:pt x="853" y="68"/>
                </a:cubicBezTo>
                <a:cubicBezTo>
                  <a:pt x="870" y="77"/>
                  <a:pt x="886" y="87"/>
                  <a:pt x="902" y="97"/>
                </a:cubicBezTo>
                <a:cubicBezTo>
                  <a:pt x="918" y="108"/>
                  <a:pt x="933" y="119"/>
                  <a:pt x="948" y="131"/>
                </a:cubicBezTo>
                <a:cubicBezTo>
                  <a:pt x="963" y="143"/>
                  <a:pt x="977" y="156"/>
                  <a:pt x="990" y="170"/>
                </a:cubicBezTo>
                <a:cubicBezTo>
                  <a:pt x="1004" y="183"/>
                  <a:pt x="1016" y="197"/>
                  <a:pt x="1028" y="212"/>
                </a:cubicBezTo>
                <a:cubicBezTo>
                  <a:pt x="1041" y="226"/>
                  <a:pt x="1052" y="242"/>
                  <a:pt x="1063" y="258"/>
                </a:cubicBezTo>
                <a:cubicBezTo>
                  <a:pt x="1074" y="273"/>
                  <a:pt x="1084" y="290"/>
                  <a:pt x="1093" y="306"/>
                </a:cubicBezTo>
                <a:cubicBezTo>
                  <a:pt x="1102" y="323"/>
                  <a:pt x="1110" y="340"/>
                  <a:pt x="1117" y="358"/>
                </a:cubicBezTo>
                <a:cubicBezTo>
                  <a:pt x="1124" y="375"/>
                  <a:pt x="1131" y="393"/>
                  <a:pt x="1136" y="411"/>
                </a:cubicBezTo>
                <a:cubicBezTo>
                  <a:pt x="1142" y="430"/>
                  <a:pt x="1146" y="448"/>
                  <a:pt x="1150" y="467"/>
                </a:cubicBezTo>
                <a:cubicBezTo>
                  <a:pt x="1154" y="485"/>
                  <a:pt x="1157" y="504"/>
                  <a:pt x="1158" y="523"/>
                </a:cubicBezTo>
                <a:cubicBezTo>
                  <a:pt x="1160" y="542"/>
                  <a:pt x="1161" y="561"/>
                  <a:pt x="1161" y="580"/>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200" name="圖片 1199"/>
          <p:cNvPicPr/>
          <p:nvPr/>
        </p:nvPicPr>
        <p:blipFill>
          <a:blip r:embed="rId11"/>
          <a:stretch>
            <a:fillRect/>
          </a:stretch>
        </p:blipFill>
        <p:spPr>
          <a:xfrm>
            <a:off x="4094640" y="4270320"/>
            <a:ext cx="225360" cy="200160"/>
          </a:xfrm>
          <a:prstGeom prst="rect">
            <a:avLst/>
          </a:prstGeom>
          <a:noFill/>
          <a:ln w="0">
            <a:noFill/>
          </a:ln>
        </p:spPr>
      </p:pic>
      <p:sp>
        <p:nvSpPr>
          <p:cNvPr id="1201" name="文字框 1200"/>
          <p:cNvSpPr txBox="1"/>
          <p:nvPr/>
        </p:nvSpPr>
        <p:spPr>
          <a:xfrm>
            <a:off x="885960" y="633096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几乎没有收益</a:t>
            </a:r>
            <a:endParaRPr lang="en-US" sz="1050" b="0" u="none" strike="noStrike">
              <a:solidFill>
                <a:srgbClr val="000000"/>
              </a:solidFill>
              <a:effectLst/>
              <a:uFillTx/>
              <a:latin typeface="Times New Roman" panose="02020603050405020304"/>
            </a:endParaRPr>
          </a:p>
        </p:txBody>
      </p:sp>
      <p:sp>
        <p:nvSpPr>
          <p:cNvPr id="1202" name="文字框 1201"/>
          <p:cNvSpPr txBox="1"/>
          <p:nvPr/>
        </p:nvSpPr>
        <p:spPr>
          <a:xfrm>
            <a:off x="4518000" y="426816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另类投资</a:t>
            </a:r>
            <a:endParaRPr lang="en-US" sz="1320" b="0" u="none" strike="noStrike">
              <a:solidFill>
                <a:srgbClr val="000000"/>
              </a:solidFill>
              <a:effectLst/>
              <a:uFillTx/>
              <a:latin typeface="Times New Roman" panose="02020603050405020304"/>
            </a:endParaRPr>
          </a:p>
        </p:txBody>
      </p:sp>
      <p:pic>
        <p:nvPicPr>
          <p:cNvPr id="1203" name="圖片 1202"/>
          <p:cNvPicPr/>
          <p:nvPr/>
        </p:nvPicPr>
        <p:blipFill>
          <a:blip r:embed="rId7"/>
          <a:stretch>
            <a:fillRect/>
          </a:stretch>
        </p:blipFill>
        <p:spPr>
          <a:xfrm>
            <a:off x="4002840" y="5047560"/>
            <a:ext cx="133200" cy="133200"/>
          </a:xfrm>
          <a:prstGeom prst="rect">
            <a:avLst/>
          </a:prstGeom>
          <a:noFill/>
          <a:ln w="0">
            <a:noFill/>
          </a:ln>
        </p:spPr>
      </p:pic>
      <p:sp>
        <p:nvSpPr>
          <p:cNvPr id="1204" name="文字框 1203"/>
          <p:cNvSpPr txBox="1"/>
          <p:nvPr/>
        </p:nvSpPr>
        <p:spPr>
          <a:xfrm>
            <a:off x="3999960" y="473544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优势</a:t>
            </a:r>
            <a:endParaRPr lang="en-US" sz="1180" b="0" u="none" strike="noStrike">
              <a:solidFill>
                <a:srgbClr val="000000"/>
              </a:solidFill>
              <a:effectLst/>
              <a:uFillTx/>
              <a:latin typeface="Times New Roman" panose="02020603050405020304"/>
            </a:endParaRPr>
          </a:p>
        </p:txBody>
      </p:sp>
      <p:pic>
        <p:nvPicPr>
          <p:cNvPr id="1205" name="圖片 1204"/>
          <p:cNvPicPr/>
          <p:nvPr/>
        </p:nvPicPr>
        <p:blipFill>
          <a:blip r:embed="rId7"/>
          <a:stretch>
            <a:fillRect/>
          </a:stretch>
        </p:blipFill>
        <p:spPr>
          <a:xfrm>
            <a:off x="4002840" y="5281560"/>
            <a:ext cx="133200" cy="133200"/>
          </a:xfrm>
          <a:prstGeom prst="rect">
            <a:avLst/>
          </a:prstGeom>
          <a:noFill/>
          <a:ln w="0">
            <a:noFill/>
          </a:ln>
        </p:spPr>
      </p:pic>
      <p:sp>
        <p:nvSpPr>
          <p:cNvPr id="1206" name="文字框 1205"/>
          <p:cNvSpPr txBox="1"/>
          <p:nvPr/>
        </p:nvSpPr>
        <p:spPr>
          <a:xfrm>
            <a:off x="4200480" y="502740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与公开市场关联度低</a:t>
            </a:r>
            <a:endParaRPr lang="en-US" sz="1050" b="0" u="none" strike="noStrike">
              <a:solidFill>
                <a:srgbClr val="000000"/>
              </a:solidFill>
              <a:effectLst/>
              <a:uFillTx/>
              <a:latin typeface="Times New Roman" panose="02020603050405020304"/>
            </a:endParaRPr>
          </a:p>
        </p:txBody>
      </p:sp>
      <p:pic>
        <p:nvPicPr>
          <p:cNvPr id="1207" name="圖片 1206"/>
          <p:cNvPicPr/>
          <p:nvPr/>
        </p:nvPicPr>
        <p:blipFill>
          <a:blip r:embed="rId7"/>
          <a:stretch>
            <a:fillRect/>
          </a:stretch>
        </p:blipFill>
        <p:spPr>
          <a:xfrm>
            <a:off x="4002840" y="5515560"/>
            <a:ext cx="133200" cy="133200"/>
          </a:xfrm>
          <a:prstGeom prst="rect">
            <a:avLst/>
          </a:prstGeom>
          <a:noFill/>
          <a:ln w="0">
            <a:noFill/>
          </a:ln>
        </p:spPr>
      </p:pic>
      <p:sp>
        <p:nvSpPr>
          <p:cNvPr id="1208" name="文字框 1207"/>
          <p:cNvSpPr txBox="1"/>
          <p:nvPr/>
        </p:nvSpPr>
        <p:spPr>
          <a:xfrm>
            <a:off x="4200480" y="526140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可能提供独特的风险收益来源</a:t>
            </a:r>
            <a:endParaRPr lang="en-US" sz="1050" b="0" u="none" strike="noStrike">
              <a:solidFill>
                <a:srgbClr val="000000"/>
              </a:solidFill>
              <a:effectLst/>
              <a:uFillTx/>
              <a:latin typeface="Times New Roman" panose="02020603050405020304"/>
            </a:endParaRPr>
          </a:p>
        </p:txBody>
      </p:sp>
      <p:sp>
        <p:nvSpPr>
          <p:cNvPr id="1209" name="文字框 1208"/>
          <p:cNvSpPr txBox="1"/>
          <p:nvPr/>
        </p:nvSpPr>
        <p:spPr>
          <a:xfrm>
            <a:off x="4200480" y="549540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非流动性可能带来额外收益溢价</a:t>
            </a:r>
            <a:endParaRPr lang="en-US" sz="1050" b="0" u="none" strike="noStrike">
              <a:solidFill>
                <a:srgbClr val="000000"/>
              </a:solidFill>
              <a:effectLst/>
              <a:uFillTx/>
              <a:latin typeface="Times New Roman" panose="02020603050405020304"/>
            </a:endParaRPr>
          </a:p>
        </p:txBody>
      </p:sp>
      <p:pic>
        <p:nvPicPr>
          <p:cNvPr id="1210" name="圖片 1209"/>
          <p:cNvPicPr/>
          <p:nvPr/>
        </p:nvPicPr>
        <p:blipFill>
          <a:blip r:embed="rId8"/>
          <a:stretch>
            <a:fillRect/>
          </a:stretch>
        </p:blipFill>
        <p:spPr>
          <a:xfrm>
            <a:off x="4002840" y="6117120"/>
            <a:ext cx="83160" cy="133200"/>
          </a:xfrm>
          <a:prstGeom prst="rect">
            <a:avLst/>
          </a:prstGeom>
          <a:noFill/>
          <a:ln w="0">
            <a:noFill/>
          </a:ln>
        </p:spPr>
      </p:pic>
      <p:sp>
        <p:nvSpPr>
          <p:cNvPr id="1211" name="文字框 1210"/>
          <p:cNvSpPr txBox="1"/>
          <p:nvPr/>
        </p:nvSpPr>
        <p:spPr>
          <a:xfrm>
            <a:off x="3999960" y="5805000"/>
            <a:ext cx="30240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劣势</a:t>
            </a:r>
            <a:endParaRPr lang="en-US" sz="1180" b="0" u="none" strike="noStrike">
              <a:solidFill>
                <a:srgbClr val="000000"/>
              </a:solidFill>
              <a:effectLst/>
              <a:uFillTx/>
              <a:latin typeface="Times New Roman" panose="02020603050405020304"/>
            </a:endParaRPr>
          </a:p>
        </p:txBody>
      </p:sp>
      <p:pic>
        <p:nvPicPr>
          <p:cNvPr id="1212" name="圖片 1211"/>
          <p:cNvPicPr/>
          <p:nvPr/>
        </p:nvPicPr>
        <p:blipFill>
          <a:blip r:embed="rId8"/>
          <a:stretch>
            <a:fillRect/>
          </a:stretch>
        </p:blipFill>
        <p:spPr>
          <a:xfrm>
            <a:off x="4002840" y="6351120"/>
            <a:ext cx="83160" cy="133200"/>
          </a:xfrm>
          <a:prstGeom prst="rect">
            <a:avLst/>
          </a:prstGeom>
          <a:noFill/>
          <a:ln w="0">
            <a:noFill/>
          </a:ln>
        </p:spPr>
      </p:pic>
      <p:sp>
        <p:nvSpPr>
          <p:cNvPr id="1213" name="文字框 1212"/>
          <p:cNvSpPr txBox="1"/>
          <p:nvPr/>
        </p:nvSpPr>
        <p:spPr>
          <a:xfrm>
            <a:off x="4150440" y="609696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投资门槛高</a:t>
            </a:r>
            <a:endParaRPr lang="en-US" sz="1050" b="0" u="none" strike="noStrike">
              <a:solidFill>
                <a:srgbClr val="000000"/>
              </a:solidFill>
              <a:effectLst/>
              <a:uFillTx/>
              <a:latin typeface="Times New Roman" panose="02020603050405020304"/>
            </a:endParaRPr>
          </a:p>
        </p:txBody>
      </p:sp>
      <p:pic>
        <p:nvPicPr>
          <p:cNvPr id="1214" name="圖片 1213"/>
          <p:cNvPicPr/>
          <p:nvPr/>
        </p:nvPicPr>
        <p:blipFill>
          <a:blip r:embed="rId8"/>
          <a:stretch>
            <a:fillRect/>
          </a:stretch>
        </p:blipFill>
        <p:spPr>
          <a:xfrm>
            <a:off x="4002840" y="6585120"/>
            <a:ext cx="83160" cy="133200"/>
          </a:xfrm>
          <a:prstGeom prst="rect">
            <a:avLst/>
          </a:prstGeom>
          <a:noFill/>
          <a:ln w="0">
            <a:noFill/>
          </a:ln>
        </p:spPr>
      </p:pic>
      <p:sp>
        <p:nvSpPr>
          <p:cNvPr id="1215" name="文字框 1214"/>
          <p:cNvSpPr txBox="1"/>
          <p:nvPr/>
        </p:nvSpPr>
        <p:spPr>
          <a:xfrm>
            <a:off x="4150440" y="633096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流动性差，透明度低</a:t>
            </a:r>
            <a:endParaRPr lang="en-US" sz="1050" b="0" u="none" strike="noStrike">
              <a:solidFill>
                <a:srgbClr val="000000"/>
              </a:solidFill>
              <a:effectLst/>
              <a:uFillTx/>
              <a:latin typeface="Times New Roman" panose="02020603050405020304"/>
            </a:endParaRPr>
          </a:p>
        </p:txBody>
      </p:sp>
      <p:sp>
        <p:nvSpPr>
          <p:cNvPr id="1216" name="任意多邊形 1215"/>
          <p:cNvSpPr/>
          <p:nvPr/>
        </p:nvSpPr>
        <p:spPr>
          <a:xfrm>
            <a:off x="7077960" y="3994200"/>
            <a:ext cx="3084120" cy="2925360"/>
          </a:xfrm>
          <a:custGeom>
            <a:avLst/>
            <a:gdLst/>
            <a:ahLst/>
            <a:cxnLst/>
            <a:rect l="0" t="0" r="r" b="b"/>
            <a:pathLst>
              <a:path w="8567" h="8126">
                <a:moveTo>
                  <a:pt x="0" y="7940"/>
                </a:moveTo>
                <a:lnTo>
                  <a:pt x="0" y="186"/>
                </a:lnTo>
                <a:cubicBezTo>
                  <a:pt x="0" y="174"/>
                  <a:pt x="1" y="162"/>
                  <a:pt x="3" y="150"/>
                </a:cubicBezTo>
                <a:cubicBezTo>
                  <a:pt x="4" y="138"/>
                  <a:pt x="7" y="126"/>
                  <a:pt x="11" y="115"/>
                </a:cubicBezTo>
                <a:cubicBezTo>
                  <a:pt x="14" y="104"/>
                  <a:pt x="18" y="93"/>
                  <a:pt x="23" y="83"/>
                </a:cubicBezTo>
                <a:cubicBezTo>
                  <a:pt x="29" y="73"/>
                  <a:pt x="34" y="63"/>
                  <a:pt x="41" y="55"/>
                </a:cubicBezTo>
                <a:cubicBezTo>
                  <a:pt x="47" y="46"/>
                  <a:pt x="54" y="38"/>
                  <a:pt x="62" y="32"/>
                </a:cubicBezTo>
                <a:cubicBezTo>
                  <a:pt x="69" y="25"/>
                  <a:pt x="77" y="19"/>
                  <a:pt x="86" y="14"/>
                </a:cubicBezTo>
                <a:cubicBezTo>
                  <a:pt x="94" y="10"/>
                  <a:pt x="103" y="6"/>
                  <a:pt x="112" y="4"/>
                </a:cubicBezTo>
                <a:cubicBezTo>
                  <a:pt x="121" y="2"/>
                  <a:pt x="130" y="0"/>
                  <a:pt x="139" y="0"/>
                </a:cubicBezTo>
                <a:lnTo>
                  <a:pt x="8381" y="0"/>
                </a:lnTo>
                <a:cubicBezTo>
                  <a:pt x="8393" y="0"/>
                  <a:pt x="8405" y="2"/>
                  <a:pt x="8417" y="4"/>
                </a:cubicBezTo>
                <a:cubicBezTo>
                  <a:pt x="8429" y="6"/>
                  <a:pt x="8441" y="10"/>
                  <a:pt x="8452" y="14"/>
                </a:cubicBezTo>
                <a:cubicBezTo>
                  <a:pt x="8463" y="19"/>
                  <a:pt x="8474" y="25"/>
                  <a:pt x="8484" y="32"/>
                </a:cubicBezTo>
                <a:cubicBezTo>
                  <a:pt x="8494" y="38"/>
                  <a:pt x="8504" y="46"/>
                  <a:pt x="8512" y="55"/>
                </a:cubicBezTo>
                <a:cubicBezTo>
                  <a:pt x="8521" y="63"/>
                  <a:pt x="8528" y="73"/>
                  <a:pt x="8535" y="83"/>
                </a:cubicBezTo>
                <a:cubicBezTo>
                  <a:pt x="8542" y="93"/>
                  <a:pt x="8548" y="104"/>
                  <a:pt x="8552" y="115"/>
                </a:cubicBezTo>
                <a:cubicBezTo>
                  <a:pt x="8557" y="126"/>
                  <a:pt x="8561" y="138"/>
                  <a:pt x="8563" y="150"/>
                </a:cubicBezTo>
                <a:cubicBezTo>
                  <a:pt x="8565" y="162"/>
                  <a:pt x="8567" y="174"/>
                  <a:pt x="8567" y="186"/>
                </a:cubicBezTo>
                <a:lnTo>
                  <a:pt x="8567" y="7940"/>
                </a:lnTo>
                <a:cubicBezTo>
                  <a:pt x="8567" y="7952"/>
                  <a:pt x="8565" y="7964"/>
                  <a:pt x="8563" y="7976"/>
                </a:cubicBezTo>
                <a:cubicBezTo>
                  <a:pt x="8561" y="7988"/>
                  <a:pt x="8557" y="8000"/>
                  <a:pt x="8552" y="8011"/>
                </a:cubicBezTo>
                <a:cubicBezTo>
                  <a:pt x="8548" y="8023"/>
                  <a:pt x="8542" y="8033"/>
                  <a:pt x="8535" y="8043"/>
                </a:cubicBezTo>
                <a:cubicBezTo>
                  <a:pt x="8528" y="8054"/>
                  <a:pt x="8521" y="8063"/>
                  <a:pt x="8512" y="8072"/>
                </a:cubicBezTo>
                <a:cubicBezTo>
                  <a:pt x="8504" y="8080"/>
                  <a:pt x="8494" y="8088"/>
                  <a:pt x="8484" y="8095"/>
                </a:cubicBezTo>
                <a:cubicBezTo>
                  <a:pt x="8474" y="8101"/>
                  <a:pt x="8463" y="8107"/>
                  <a:pt x="8452" y="8112"/>
                </a:cubicBezTo>
                <a:cubicBezTo>
                  <a:pt x="8441" y="8116"/>
                  <a:pt x="8429" y="8120"/>
                  <a:pt x="8417" y="8122"/>
                </a:cubicBezTo>
                <a:cubicBezTo>
                  <a:pt x="8405" y="8125"/>
                  <a:pt x="8393" y="8126"/>
                  <a:pt x="8381" y="8126"/>
                </a:cubicBezTo>
                <a:lnTo>
                  <a:pt x="139" y="8126"/>
                </a:lnTo>
                <a:cubicBezTo>
                  <a:pt x="130" y="8126"/>
                  <a:pt x="121" y="8125"/>
                  <a:pt x="112" y="8122"/>
                </a:cubicBezTo>
                <a:cubicBezTo>
                  <a:pt x="103" y="8120"/>
                  <a:pt x="94" y="8116"/>
                  <a:pt x="86" y="8112"/>
                </a:cubicBezTo>
                <a:cubicBezTo>
                  <a:pt x="77" y="8107"/>
                  <a:pt x="69" y="8101"/>
                  <a:pt x="62" y="8095"/>
                </a:cubicBezTo>
                <a:cubicBezTo>
                  <a:pt x="54" y="8088"/>
                  <a:pt x="47" y="8080"/>
                  <a:pt x="41" y="8072"/>
                </a:cubicBezTo>
                <a:cubicBezTo>
                  <a:pt x="34" y="8063"/>
                  <a:pt x="29" y="8054"/>
                  <a:pt x="23" y="8043"/>
                </a:cubicBezTo>
                <a:cubicBezTo>
                  <a:pt x="18" y="8033"/>
                  <a:pt x="14" y="8023"/>
                  <a:pt x="11" y="8011"/>
                </a:cubicBezTo>
                <a:cubicBezTo>
                  <a:pt x="7" y="8000"/>
                  <a:pt x="4" y="7988"/>
                  <a:pt x="3" y="7976"/>
                </a:cubicBezTo>
                <a:cubicBezTo>
                  <a:pt x="1" y="7964"/>
                  <a:pt x="0" y="7952"/>
                  <a:pt x="0" y="794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17" name="任意多邊形 1216"/>
          <p:cNvSpPr/>
          <p:nvPr/>
        </p:nvSpPr>
        <p:spPr>
          <a:xfrm>
            <a:off x="7061400" y="3994200"/>
            <a:ext cx="66960" cy="2925360"/>
          </a:xfrm>
          <a:custGeom>
            <a:avLst/>
            <a:gdLst/>
            <a:ahLst/>
            <a:cxnLst/>
            <a:rect l="0" t="0" r="r" b="b"/>
            <a:pathLst>
              <a:path w="186" h="8126">
                <a:moveTo>
                  <a:pt x="151" y="14"/>
                </a:moveTo>
                <a:cubicBezTo>
                  <a:pt x="139" y="24"/>
                  <a:pt x="129" y="37"/>
                  <a:pt x="121" y="55"/>
                </a:cubicBezTo>
                <a:cubicBezTo>
                  <a:pt x="112" y="72"/>
                  <a:pt x="105" y="92"/>
                  <a:pt x="100" y="115"/>
                </a:cubicBezTo>
                <a:cubicBezTo>
                  <a:pt x="96" y="138"/>
                  <a:pt x="93" y="161"/>
                  <a:pt x="93" y="186"/>
                </a:cubicBezTo>
                <a:lnTo>
                  <a:pt x="93" y="7940"/>
                </a:lnTo>
                <a:cubicBezTo>
                  <a:pt x="93" y="7965"/>
                  <a:pt x="96" y="7989"/>
                  <a:pt x="100" y="8011"/>
                </a:cubicBezTo>
                <a:cubicBezTo>
                  <a:pt x="105" y="8034"/>
                  <a:pt x="112" y="8054"/>
                  <a:pt x="121" y="8072"/>
                </a:cubicBezTo>
                <a:cubicBezTo>
                  <a:pt x="129" y="8089"/>
                  <a:pt x="139" y="8102"/>
                  <a:pt x="151" y="8112"/>
                </a:cubicBezTo>
                <a:cubicBezTo>
                  <a:pt x="162" y="8121"/>
                  <a:pt x="174" y="8126"/>
                  <a:pt x="186" y="8126"/>
                </a:cubicBezTo>
                <a:cubicBezTo>
                  <a:pt x="162" y="8126"/>
                  <a:pt x="138" y="8121"/>
                  <a:pt x="115" y="8112"/>
                </a:cubicBezTo>
                <a:cubicBezTo>
                  <a:pt x="92" y="8102"/>
                  <a:pt x="71" y="8089"/>
                  <a:pt x="54" y="8072"/>
                </a:cubicBezTo>
                <a:cubicBezTo>
                  <a:pt x="37" y="8054"/>
                  <a:pt x="23" y="8034"/>
                  <a:pt x="14" y="8011"/>
                </a:cubicBezTo>
                <a:cubicBezTo>
                  <a:pt x="4" y="7989"/>
                  <a:pt x="0" y="7965"/>
                  <a:pt x="0" y="7940"/>
                </a:cubicBezTo>
                <a:lnTo>
                  <a:pt x="0" y="186"/>
                </a:lnTo>
                <a:cubicBezTo>
                  <a:pt x="0" y="161"/>
                  <a:pt x="4" y="138"/>
                  <a:pt x="14" y="115"/>
                </a:cubicBezTo>
                <a:cubicBezTo>
                  <a:pt x="23" y="92"/>
                  <a:pt x="37" y="72"/>
                  <a:pt x="54" y="55"/>
                </a:cubicBezTo>
                <a:cubicBezTo>
                  <a:pt x="71" y="37"/>
                  <a:pt x="92" y="24"/>
                  <a:pt x="115" y="14"/>
                </a:cubicBezTo>
                <a:cubicBezTo>
                  <a:pt x="138" y="5"/>
                  <a:pt x="162" y="0"/>
                  <a:pt x="186" y="0"/>
                </a:cubicBezTo>
                <a:cubicBezTo>
                  <a:pt x="174" y="0"/>
                  <a:pt x="162" y="5"/>
                  <a:pt x="151" y="14"/>
                </a:cubicBezTo>
                <a:close/>
              </a:path>
            </a:pathLst>
          </a:custGeom>
          <a:solidFill>
            <a:srgbClr val="F6AD55"/>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18" name="任意多邊形 1217"/>
          <p:cNvSpPr/>
          <p:nvPr/>
        </p:nvSpPr>
        <p:spPr>
          <a:xfrm>
            <a:off x="7261920" y="4161600"/>
            <a:ext cx="417960" cy="417960"/>
          </a:xfrm>
          <a:custGeom>
            <a:avLst/>
            <a:gdLst/>
            <a:ahLst/>
            <a:cxnLst/>
            <a:rect l="0" t="0" r="r" b="b"/>
            <a:pathLst>
              <a:path w="1161" h="1161">
                <a:moveTo>
                  <a:pt x="1161" y="580"/>
                </a:moveTo>
                <a:cubicBezTo>
                  <a:pt x="1161" y="599"/>
                  <a:pt x="1160" y="618"/>
                  <a:pt x="1159" y="638"/>
                </a:cubicBezTo>
                <a:cubicBezTo>
                  <a:pt x="1157" y="657"/>
                  <a:pt x="1154" y="675"/>
                  <a:pt x="1150" y="694"/>
                </a:cubicBezTo>
                <a:cubicBezTo>
                  <a:pt x="1146" y="713"/>
                  <a:pt x="1142" y="731"/>
                  <a:pt x="1136" y="749"/>
                </a:cubicBezTo>
                <a:cubicBezTo>
                  <a:pt x="1131" y="768"/>
                  <a:pt x="1124" y="785"/>
                  <a:pt x="1117" y="803"/>
                </a:cubicBezTo>
                <a:cubicBezTo>
                  <a:pt x="1110" y="821"/>
                  <a:pt x="1102" y="838"/>
                  <a:pt x="1093" y="854"/>
                </a:cubicBezTo>
                <a:cubicBezTo>
                  <a:pt x="1084" y="871"/>
                  <a:pt x="1074" y="888"/>
                  <a:pt x="1063" y="903"/>
                </a:cubicBezTo>
                <a:cubicBezTo>
                  <a:pt x="1053" y="919"/>
                  <a:pt x="1042" y="934"/>
                  <a:pt x="1030" y="949"/>
                </a:cubicBezTo>
                <a:cubicBezTo>
                  <a:pt x="1018" y="964"/>
                  <a:pt x="1005" y="978"/>
                  <a:pt x="991" y="991"/>
                </a:cubicBezTo>
                <a:cubicBezTo>
                  <a:pt x="978" y="1005"/>
                  <a:pt x="964" y="1017"/>
                  <a:pt x="949" y="1030"/>
                </a:cubicBezTo>
                <a:cubicBezTo>
                  <a:pt x="934" y="1042"/>
                  <a:pt x="919" y="1053"/>
                  <a:pt x="903" y="1063"/>
                </a:cubicBezTo>
                <a:cubicBezTo>
                  <a:pt x="888" y="1074"/>
                  <a:pt x="871" y="1084"/>
                  <a:pt x="855" y="1093"/>
                </a:cubicBezTo>
                <a:cubicBezTo>
                  <a:pt x="838" y="1102"/>
                  <a:pt x="821" y="1110"/>
                  <a:pt x="803" y="1117"/>
                </a:cubicBezTo>
                <a:cubicBezTo>
                  <a:pt x="785" y="1124"/>
                  <a:pt x="768" y="1131"/>
                  <a:pt x="749" y="1136"/>
                </a:cubicBezTo>
                <a:cubicBezTo>
                  <a:pt x="731" y="1142"/>
                  <a:pt x="713" y="1146"/>
                  <a:pt x="694" y="1150"/>
                </a:cubicBezTo>
                <a:cubicBezTo>
                  <a:pt x="676" y="1154"/>
                  <a:pt x="657" y="1157"/>
                  <a:pt x="638" y="1158"/>
                </a:cubicBezTo>
                <a:cubicBezTo>
                  <a:pt x="619" y="1160"/>
                  <a:pt x="600" y="1161"/>
                  <a:pt x="581" y="1161"/>
                </a:cubicBezTo>
                <a:cubicBezTo>
                  <a:pt x="562" y="1161"/>
                  <a:pt x="543" y="1160"/>
                  <a:pt x="524" y="1158"/>
                </a:cubicBezTo>
                <a:cubicBezTo>
                  <a:pt x="505" y="1157"/>
                  <a:pt x="486" y="1154"/>
                  <a:pt x="468" y="1150"/>
                </a:cubicBezTo>
                <a:cubicBezTo>
                  <a:pt x="449" y="1146"/>
                  <a:pt x="431" y="1142"/>
                  <a:pt x="413" y="1136"/>
                </a:cubicBezTo>
                <a:cubicBezTo>
                  <a:pt x="394" y="1131"/>
                  <a:pt x="376" y="1124"/>
                  <a:pt x="359" y="1117"/>
                </a:cubicBezTo>
                <a:cubicBezTo>
                  <a:pt x="341" y="1110"/>
                  <a:pt x="324" y="1102"/>
                  <a:pt x="307" y="1093"/>
                </a:cubicBezTo>
                <a:cubicBezTo>
                  <a:pt x="291" y="1084"/>
                  <a:pt x="274" y="1074"/>
                  <a:pt x="259" y="1063"/>
                </a:cubicBezTo>
                <a:cubicBezTo>
                  <a:pt x="243" y="1053"/>
                  <a:pt x="228" y="1042"/>
                  <a:pt x="213" y="1030"/>
                </a:cubicBezTo>
                <a:cubicBezTo>
                  <a:pt x="198" y="1017"/>
                  <a:pt x="184" y="1005"/>
                  <a:pt x="171" y="991"/>
                </a:cubicBezTo>
                <a:cubicBezTo>
                  <a:pt x="157" y="978"/>
                  <a:pt x="144" y="964"/>
                  <a:pt x="132" y="949"/>
                </a:cubicBezTo>
                <a:cubicBezTo>
                  <a:pt x="119" y="934"/>
                  <a:pt x="108" y="919"/>
                  <a:pt x="97" y="903"/>
                </a:cubicBezTo>
                <a:cubicBezTo>
                  <a:pt x="87" y="888"/>
                  <a:pt x="77" y="871"/>
                  <a:pt x="68" y="854"/>
                </a:cubicBezTo>
                <a:cubicBezTo>
                  <a:pt x="59" y="838"/>
                  <a:pt x="51" y="821"/>
                  <a:pt x="44" y="803"/>
                </a:cubicBezTo>
                <a:cubicBezTo>
                  <a:pt x="37" y="785"/>
                  <a:pt x="30" y="768"/>
                  <a:pt x="25" y="749"/>
                </a:cubicBezTo>
                <a:cubicBezTo>
                  <a:pt x="19" y="731"/>
                  <a:pt x="15" y="713"/>
                  <a:pt x="11" y="694"/>
                </a:cubicBezTo>
                <a:cubicBezTo>
                  <a:pt x="7" y="675"/>
                  <a:pt x="4" y="657"/>
                  <a:pt x="2" y="638"/>
                </a:cubicBezTo>
                <a:cubicBezTo>
                  <a:pt x="1" y="618"/>
                  <a:pt x="0" y="599"/>
                  <a:pt x="0" y="580"/>
                </a:cubicBezTo>
                <a:cubicBezTo>
                  <a:pt x="0" y="561"/>
                  <a:pt x="1" y="542"/>
                  <a:pt x="2" y="523"/>
                </a:cubicBezTo>
                <a:cubicBezTo>
                  <a:pt x="4" y="504"/>
                  <a:pt x="7" y="485"/>
                  <a:pt x="11" y="467"/>
                </a:cubicBezTo>
                <a:cubicBezTo>
                  <a:pt x="15" y="448"/>
                  <a:pt x="19" y="430"/>
                  <a:pt x="25" y="411"/>
                </a:cubicBezTo>
                <a:cubicBezTo>
                  <a:pt x="30" y="393"/>
                  <a:pt x="37" y="375"/>
                  <a:pt x="44" y="358"/>
                </a:cubicBezTo>
                <a:cubicBezTo>
                  <a:pt x="51" y="340"/>
                  <a:pt x="59" y="323"/>
                  <a:pt x="68" y="306"/>
                </a:cubicBezTo>
                <a:cubicBezTo>
                  <a:pt x="77" y="290"/>
                  <a:pt x="87" y="273"/>
                  <a:pt x="97" y="258"/>
                </a:cubicBezTo>
                <a:cubicBezTo>
                  <a:pt x="108" y="242"/>
                  <a:pt x="119" y="226"/>
                  <a:pt x="132" y="212"/>
                </a:cubicBezTo>
                <a:cubicBezTo>
                  <a:pt x="144" y="197"/>
                  <a:pt x="157" y="183"/>
                  <a:pt x="171" y="170"/>
                </a:cubicBezTo>
                <a:cubicBezTo>
                  <a:pt x="184" y="156"/>
                  <a:pt x="198" y="143"/>
                  <a:pt x="213" y="131"/>
                </a:cubicBezTo>
                <a:cubicBezTo>
                  <a:pt x="228" y="119"/>
                  <a:pt x="243" y="108"/>
                  <a:pt x="259" y="97"/>
                </a:cubicBezTo>
                <a:cubicBezTo>
                  <a:pt x="274" y="87"/>
                  <a:pt x="291" y="77"/>
                  <a:pt x="307" y="68"/>
                </a:cubicBezTo>
                <a:cubicBezTo>
                  <a:pt x="324" y="59"/>
                  <a:pt x="341" y="51"/>
                  <a:pt x="359" y="44"/>
                </a:cubicBezTo>
                <a:cubicBezTo>
                  <a:pt x="376" y="37"/>
                  <a:pt x="394" y="30"/>
                  <a:pt x="413" y="25"/>
                </a:cubicBezTo>
                <a:cubicBezTo>
                  <a:pt x="431" y="19"/>
                  <a:pt x="449" y="14"/>
                  <a:pt x="468" y="11"/>
                </a:cubicBezTo>
                <a:cubicBezTo>
                  <a:pt x="486" y="7"/>
                  <a:pt x="505" y="4"/>
                  <a:pt x="524" y="2"/>
                </a:cubicBezTo>
                <a:cubicBezTo>
                  <a:pt x="543" y="1"/>
                  <a:pt x="562" y="0"/>
                  <a:pt x="581" y="0"/>
                </a:cubicBezTo>
                <a:cubicBezTo>
                  <a:pt x="600" y="0"/>
                  <a:pt x="619" y="1"/>
                  <a:pt x="638" y="2"/>
                </a:cubicBezTo>
                <a:cubicBezTo>
                  <a:pt x="657" y="4"/>
                  <a:pt x="676" y="7"/>
                  <a:pt x="694" y="11"/>
                </a:cubicBezTo>
                <a:cubicBezTo>
                  <a:pt x="713" y="14"/>
                  <a:pt x="731" y="19"/>
                  <a:pt x="749" y="25"/>
                </a:cubicBezTo>
                <a:cubicBezTo>
                  <a:pt x="768" y="30"/>
                  <a:pt x="785" y="37"/>
                  <a:pt x="803" y="44"/>
                </a:cubicBezTo>
                <a:cubicBezTo>
                  <a:pt x="821" y="51"/>
                  <a:pt x="838" y="59"/>
                  <a:pt x="855" y="68"/>
                </a:cubicBezTo>
                <a:cubicBezTo>
                  <a:pt x="871" y="77"/>
                  <a:pt x="888" y="87"/>
                  <a:pt x="903" y="97"/>
                </a:cubicBezTo>
                <a:cubicBezTo>
                  <a:pt x="919" y="108"/>
                  <a:pt x="934" y="119"/>
                  <a:pt x="949" y="131"/>
                </a:cubicBezTo>
                <a:cubicBezTo>
                  <a:pt x="964" y="143"/>
                  <a:pt x="978" y="156"/>
                  <a:pt x="991" y="170"/>
                </a:cubicBezTo>
                <a:cubicBezTo>
                  <a:pt x="1005" y="183"/>
                  <a:pt x="1018" y="197"/>
                  <a:pt x="1030" y="212"/>
                </a:cubicBezTo>
                <a:cubicBezTo>
                  <a:pt x="1042" y="226"/>
                  <a:pt x="1053" y="242"/>
                  <a:pt x="1063" y="258"/>
                </a:cubicBezTo>
                <a:cubicBezTo>
                  <a:pt x="1074" y="273"/>
                  <a:pt x="1084" y="290"/>
                  <a:pt x="1093" y="306"/>
                </a:cubicBezTo>
                <a:cubicBezTo>
                  <a:pt x="1102" y="323"/>
                  <a:pt x="1110" y="340"/>
                  <a:pt x="1117" y="358"/>
                </a:cubicBezTo>
                <a:cubicBezTo>
                  <a:pt x="1124" y="375"/>
                  <a:pt x="1131" y="393"/>
                  <a:pt x="1136" y="411"/>
                </a:cubicBezTo>
                <a:cubicBezTo>
                  <a:pt x="1142" y="430"/>
                  <a:pt x="1146" y="448"/>
                  <a:pt x="1150" y="467"/>
                </a:cubicBezTo>
                <a:cubicBezTo>
                  <a:pt x="1154" y="485"/>
                  <a:pt x="1157" y="504"/>
                  <a:pt x="1159" y="523"/>
                </a:cubicBezTo>
                <a:cubicBezTo>
                  <a:pt x="1160" y="542"/>
                  <a:pt x="1161" y="561"/>
                  <a:pt x="1161" y="580"/>
                </a:cubicBezTo>
                <a:close/>
              </a:path>
            </a:pathLst>
          </a:custGeom>
          <a:solidFill>
            <a:srgbClr val="FFFFFF">
              <a:alpha val="2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219" name="圖片 1218"/>
          <p:cNvPicPr/>
          <p:nvPr/>
        </p:nvPicPr>
        <p:blipFill>
          <a:blip r:embed="rId12"/>
          <a:stretch>
            <a:fillRect/>
          </a:stretch>
        </p:blipFill>
        <p:spPr>
          <a:xfrm>
            <a:off x="7345440" y="4270320"/>
            <a:ext cx="250200" cy="200160"/>
          </a:xfrm>
          <a:prstGeom prst="rect">
            <a:avLst/>
          </a:prstGeom>
          <a:noFill/>
          <a:ln w="0">
            <a:noFill/>
          </a:ln>
        </p:spPr>
      </p:pic>
      <p:sp>
        <p:nvSpPr>
          <p:cNvPr id="1220" name="文字框 1219"/>
          <p:cNvSpPr txBox="1"/>
          <p:nvPr/>
        </p:nvSpPr>
        <p:spPr>
          <a:xfrm>
            <a:off x="4150440" y="6564960"/>
            <a:ext cx="10735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不适合普通投资者</a:t>
            </a:r>
            <a:endParaRPr lang="en-US" sz="1050" b="0" u="none" strike="noStrike">
              <a:solidFill>
                <a:srgbClr val="000000"/>
              </a:solidFill>
              <a:effectLst/>
              <a:uFillTx/>
              <a:latin typeface="Times New Roman" panose="02020603050405020304"/>
            </a:endParaRPr>
          </a:p>
        </p:txBody>
      </p:sp>
      <p:sp>
        <p:nvSpPr>
          <p:cNvPr id="1221" name="文字框 1220"/>
          <p:cNvSpPr txBox="1"/>
          <p:nvPr/>
        </p:nvSpPr>
        <p:spPr>
          <a:xfrm>
            <a:off x="7782840" y="4268160"/>
            <a:ext cx="671400" cy="212400"/>
          </a:xfrm>
          <a:prstGeom prst="rect">
            <a:avLst/>
          </a:prstGeom>
          <a:noFill/>
          <a:ln w="0">
            <a:noFill/>
          </a:ln>
        </p:spPr>
        <p:txBody>
          <a:bodyPr wrap="none" lIns="0" tIns="0" rIns="0" bIns="0" anchor="t">
            <a:spAutoFit/>
          </a:bodyPr>
          <a:p>
            <a:r>
              <a:rPr lang="zh-CN" sz="1320" b="0" u="none" strike="noStrike">
                <a:solidFill>
                  <a:srgbClr val="FCD34D"/>
                </a:solidFill>
                <a:effectLst/>
                <a:uFillTx/>
                <a:latin typeface="WenQuanYiZenHei"/>
                <a:ea typeface="WenQuanYiZenHei"/>
              </a:rPr>
              <a:t>核心原则</a:t>
            </a:r>
            <a:endParaRPr lang="en-US" sz="1320" b="0" u="none" strike="noStrike">
              <a:solidFill>
                <a:srgbClr val="000000"/>
              </a:solidFill>
              <a:effectLst/>
              <a:uFillTx/>
              <a:latin typeface="Times New Roman" panose="02020603050405020304"/>
            </a:endParaRPr>
          </a:p>
        </p:txBody>
      </p:sp>
      <p:sp>
        <p:nvSpPr>
          <p:cNvPr id="1222" name="文字框 1221"/>
          <p:cNvSpPr txBox="1"/>
          <p:nvPr/>
        </p:nvSpPr>
        <p:spPr>
          <a:xfrm>
            <a:off x="7264800" y="4735440"/>
            <a:ext cx="906120" cy="189360"/>
          </a:xfrm>
          <a:prstGeom prst="rect">
            <a:avLst/>
          </a:prstGeom>
          <a:noFill/>
          <a:ln w="0">
            <a:noFill/>
          </a:ln>
        </p:spPr>
        <p:txBody>
          <a:bodyPr wrap="none" lIns="0" tIns="0" rIns="0" bIns="0" anchor="t">
            <a:spAutoFit/>
          </a:bodyPr>
          <a:p>
            <a:r>
              <a:rPr lang="zh-CN" sz="1180" b="0" u="none" strike="noStrike">
                <a:solidFill>
                  <a:srgbClr val="FFFFFF"/>
                </a:solidFill>
                <a:effectLst/>
                <a:uFillTx/>
                <a:latin typeface="WenQuanYiZenHei"/>
                <a:ea typeface="WenQuanYiZenHei"/>
              </a:rPr>
              <a:t>多元化是关键</a:t>
            </a:r>
            <a:endParaRPr lang="en-US" sz="1180" b="0" u="none" strike="noStrike">
              <a:solidFill>
                <a:srgbClr val="000000"/>
              </a:solidFill>
              <a:effectLst/>
              <a:uFillTx/>
              <a:latin typeface="Times New Roman" panose="02020603050405020304"/>
            </a:endParaRPr>
          </a:p>
        </p:txBody>
      </p:sp>
      <p:sp>
        <p:nvSpPr>
          <p:cNvPr id="1223" name="文字框 1222"/>
          <p:cNvSpPr txBox="1"/>
          <p:nvPr/>
        </p:nvSpPr>
        <p:spPr>
          <a:xfrm>
            <a:off x="7264800" y="5060880"/>
            <a:ext cx="2683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没有任何一种资产能够完美地规避所有风险，</a:t>
            </a:r>
            <a:endParaRPr lang="en-US" sz="1050" b="0" u="none" strike="noStrike">
              <a:solidFill>
                <a:srgbClr val="000000"/>
              </a:solidFill>
              <a:effectLst/>
              <a:uFillTx/>
              <a:latin typeface="Times New Roman" panose="02020603050405020304"/>
            </a:endParaRPr>
          </a:p>
        </p:txBody>
      </p:sp>
      <p:sp>
        <p:nvSpPr>
          <p:cNvPr id="1224" name="文字框 1223"/>
          <p:cNvSpPr txBox="1"/>
          <p:nvPr/>
        </p:nvSpPr>
        <p:spPr>
          <a:xfrm>
            <a:off x="7264800" y="526140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构建多元化的投资组合是抵御危机的核心策</a:t>
            </a:r>
            <a:endParaRPr lang="en-US" sz="1050" b="0" u="none" strike="noStrike">
              <a:solidFill>
                <a:srgbClr val="000000"/>
              </a:solidFill>
              <a:effectLst/>
              <a:uFillTx/>
              <a:latin typeface="Times New Roman" panose="02020603050405020304"/>
            </a:endParaRPr>
          </a:p>
        </p:txBody>
      </p:sp>
      <p:pic>
        <p:nvPicPr>
          <p:cNvPr id="1225" name="圖片 1224"/>
          <p:cNvPicPr/>
          <p:nvPr/>
        </p:nvPicPr>
        <p:blipFill>
          <a:blip r:embed="rId13"/>
          <a:stretch>
            <a:fillRect/>
          </a:stretch>
        </p:blipFill>
        <p:spPr>
          <a:xfrm>
            <a:off x="8532360" y="6501600"/>
            <a:ext cx="191880" cy="250200"/>
          </a:xfrm>
          <a:prstGeom prst="rect">
            <a:avLst/>
          </a:prstGeom>
          <a:noFill/>
          <a:ln w="0">
            <a:noFill/>
          </a:ln>
        </p:spPr>
      </p:pic>
      <p:sp>
        <p:nvSpPr>
          <p:cNvPr id="1226" name="文字框 1225"/>
          <p:cNvSpPr txBox="1"/>
          <p:nvPr/>
        </p:nvSpPr>
        <p:spPr>
          <a:xfrm>
            <a:off x="7264800" y="546192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略。</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7" name="圖片 1226"/>
          <p:cNvPicPr/>
          <p:nvPr/>
        </p:nvPicPr>
        <p:blipFill>
          <a:blip r:embed="rId1"/>
          <a:stretch>
            <a:fillRect/>
          </a:stretch>
        </p:blipFill>
        <p:spPr>
          <a:xfrm>
            <a:off x="0" y="0"/>
            <a:ext cx="10696320" cy="7194600"/>
          </a:xfrm>
          <a:prstGeom prst="rect">
            <a:avLst/>
          </a:prstGeom>
          <a:noFill/>
          <a:ln w="0">
            <a:noFill/>
          </a:ln>
        </p:spPr>
      </p:pic>
      <p:pic>
        <p:nvPicPr>
          <p:cNvPr id="1228" name="圖片 1227"/>
          <p:cNvPicPr/>
          <p:nvPr/>
        </p:nvPicPr>
        <p:blipFill>
          <a:blip r:embed="rId2"/>
          <a:stretch>
            <a:fillRect/>
          </a:stretch>
        </p:blipFill>
        <p:spPr>
          <a:xfrm>
            <a:off x="534960" y="735480"/>
            <a:ext cx="3208680" cy="33120"/>
          </a:xfrm>
          <a:prstGeom prst="rect">
            <a:avLst/>
          </a:prstGeom>
          <a:noFill/>
          <a:ln w="0">
            <a:noFill/>
          </a:ln>
        </p:spPr>
      </p:pic>
      <p:sp>
        <p:nvSpPr>
          <p:cNvPr id="1229" name="文字框 1228"/>
          <p:cNvSpPr txBox="1"/>
          <p:nvPr/>
        </p:nvSpPr>
        <p:spPr>
          <a:xfrm>
            <a:off x="534960" y="312120"/>
            <a:ext cx="450432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投资配置建议：基于风险承受能力</a:t>
            </a:r>
            <a:endParaRPr lang="en-US" sz="2370" b="0" u="none" strike="noStrike">
              <a:solidFill>
                <a:srgbClr val="000000"/>
              </a:solidFill>
              <a:effectLst/>
              <a:uFillTx/>
              <a:latin typeface="Times New Roman" panose="02020603050405020304"/>
            </a:endParaRPr>
          </a:p>
        </p:txBody>
      </p:sp>
      <p:sp>
        <p:nvSpPr>
          <p:cNvPr id="1230" name="任意多邊形 1229"/>
          <p:cNvSpPr/>
          <p:nvPr/>
        </p:nvSpPr>
        <p:spPr>
          <a:xfrm>
            <a:off x="534600" y="5724000"/>
            <a:ext cx="9627480" cy="969840"/>
          </a:xfrm>
          <a:custGeom>
            <a:avLst/>
            <a:gdLst/>
            <a:ahLst/>
            <a:cxnLst/>
            <a:rect l="0" t="0" r="r" b="b"/>
            <a:pathLst>
              <a:path w="26743" h="2694">
                <a:moveTo>
                  <a:pt x="0" y="2508"/>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26557" y="0"/>
                </a:lnTo>
                <a:cubicBezTo>
                  <a:pt x="26569" y="0"/>
                  <a:pt x="26581" y="2"/>
                  <a:pt x="26593" y="4"/>
                </a:cubicBezTo>
                <a:cubicBezTo>
                  <a:pt x="26605" y="6"/>
                  <a:pt x="26617" y="10"/>
                  <a:pt x="26628" y="15"/>
                </a:cubicBezTo>
                <a:cubicBezTo>
                  <a:pt x="26639" y="19"/>
                  <a:pt x="26650" y="25"/>
                  <a:pt x="26660" y="32"/>
                </a:cubicBezTo>
                <a:cubicBezTo>
                  <a:pt x="26670" y="39"/>
                  <a:pt x="26680" y="46"/>
                  <a:pt x="26688" y="55"/>
                </a:cubicBezTo>
                <a:cubicBezTo>
                  <a:pt x="26697" y="63"/>
                  <a:pt x="26704" y="73"/>
                  <a:pt x="26711" y="83"/>
                </a:cubicBezTo>
                <a:cubicBezTo>
                  <a:pt x="26718" y="93"/>
                  <a:pt x="26724" y="104"/>
                  <a:pt x="26728" y="115"/>
                </a:cubicBezTo>
                <a:cubicBezTo>
                  <a:pt x="26733" y="126"/>
                  <a:pt x="26737" y="138"/>
                  <a:pt x="26739" y="150"/>
                </a:cubicBezTo>
                <a:cubicBezTo>
                  <a:pt x="26741" y="162"/>
                  <a:pt x="26743" y="174"/>
                  <a:pt x="26743" y="186"/>
                </a:cubicBezTo>
                <a:lnTo>
                  <a:pt x="26743" y="2508"/>
                </a:lnTo>
                <a:cubicBezTo>
                  <a:pt x="26743" y="2521"/>
                  <a:pt x="26741" y="2533"/>
                  <a:pt x="26739" y="2545"/>
                </a:cubicBezTo>
                <a:cubicBezTo>
                  <a:pt x="26737" y="2557"/>
                  <a:pt x="26733" y="2568"/>
                  <a:pt x="26728" y="2580"/>
                </a:cubicBezTo>
                <a:cubicBezTo>
                  <a:pt x="26724" y="2591"/>
                  <a:pt x="26718" y="2601"/>
                  <a:pt x="26711" y="2612"/>
                </a:cubicBezTo>
                <a:cubicBezTo>
                  <a:pt x="26704" y="2622"/>
                  <a:pt x="26697" y="2631"/>
                  <a:pt x="26688" y="2640"/>
                </a:cubicBezTo>
                <a:cubicBezTo>
                  <a:pt x="26680" y="2648"/>
                  <a:pt x="26670" y="2656"/>
                  <a:pt x="26660" y="2663"/>
                </a:cubicBezTo>
                <a:cubicBezTo>
                  <a:pt x="26650" y="2670"/>
                  <a:pt x="26639" y="2675"/>
                  <a:pt x="26628" y="2680"/>
                </a:cubicBezTo>
                <a:cubicBezTo>
                  <a:pt x="26617" y="2685"/>
                  <a:pt x="26605" y="2688"/>
                  <a:pt x="26593" y="2691"/>
                </a:cubicBezTo>
                <a:cubicBezTo>
                  <a:pt x="26581" y="2693"/>
                  <a:pt x="26569" y="2694"/>
                  <a:pt x="26557" y="2694"/>
                </a:cubicBezTo>
                <a:lnTo>
                  <a:pt x="186" y="2694"/>
                </a:lnTo>
                <a:cubicBezTo>
                  <a:pt x="174" y="2694"/>
                  <a:pt x="162" y="2693"/>
                  <a:pt x="150" y="2691"/>
                </a:cubicBezTo>
                <a:cubicBezTo>
                  <a:pt x="138" y="2688"/>
                  <a:pt x="126" y="2685"/>
                  <a:pt x="115" y="2680"/>
                </a:cubicBezTo>
                <a:cubicBezTo>
                  <a:pt x="104" y="2675"/>
                  <a:pt x="93" y="2670"/>
                  <a:pt x="83" y="2663"/>
                </a:cubicBezTo>
                <a:cubicBezTo>
                  <a:pt x="73" y="2656"/>
                  <a:pt x="63" y="2648"/>
                  <a:pt x="55" y="2640"/>
                </a:cubicBezTo>
                <a:cubicBezTo>
                  <a:pt x="46" y="2631"/>
                  <a:pt x="38" y="2622"/>
                  <a:pt x="31" y="2612"/>
                </a:cubicBezTo>
                <a:cubicBezTo>
                  <a:pt x="25" y="2601"/>
                  <a:pt x="19" y="2591"/>
                  <a:pt x="14" y="2580"/>
                </a:cubicBezTo>
                <a:cubicBezTo>
                  <a:pt x="10" y="2568"/>
                  <a:pt x="6" y="2557"/>
                  <a:pt x="4" y="2545"/>
                </a:cubicBezTo>
                <a:cubicBezTo>
                  <a:pt x="1" y="2533"/>
                  <a:pt x="0" y="2521"/>
                  <a:pt x="0" y="250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231" name="圖片 1230"/>
          <p:cNvPicPr/>
          <p:nvPr/>
        </p:nvPicPr>
        <p:blipFill>
          <a:blip r:embed="rId3"/>
          <a:stretch>
            <a:fillRect/>
          </a:stretch>
        </p:blipFill>
        <p:spPr>
          <a:xfrm>
            <a:off x="668520" y="5874840"/>
            <a:ext cx="200160" cy="200160"/>
          </a:xfrm>
          <a:prstGeom prst="rect">
            <a:avLst/>
          </a:prstGeom>
          <a:noFill/>
          <a:ln w="0">
            <a:noFill/>
          </a:ln>
        </p:spPr>
      </p:pic>
      <p:sp>
        <p:nvSpPr>
          <p:cNvPr id="1232" name="文字框 1231"/>
          <p:cNvSpPr txBox="1"/>
          <p:nvPr/>
        </p:nvSpPr>
        <p:spPr>
          <a:xfrm>
            <a:off x="534960" y="982800"/>
            <a:ext cx="617004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面对金融危机的威胁，投资者应根据自身风险承受能力、投资期限和财务目标，采取差异化的配置策略。</a:t>
            </a:r>
            <a:endParaRPr lang="en-US" sz="1050" b="0" u="none" strike="noStrike">
              <a:solidFill>
                <a:srgbClr val="000000"/>
              </a:solidFill>
              <a:effectLst/>
              <a:uFillTx/>
              <a:latin typeface="Times New Roman" panose="02020603050405020304"/>
            </a:endParaRPr>
          </a:p>
        </p:txBody>
      </p:sp>
      <p:sp>
        <p:nvSpPr>
          <p:cNvPr id="1233" name="文字框 1232"/>
          <p:cNvSpPr txBox="1"/>
          <p:nvPr/>
        </p:nvSpPr>
        <p:spPr>
          <a:xfrm>
            <a:off x="969480" y="587268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多元化是关键</a:t>
            </a:r>
            <a:endParaRPr lang="en-US" sz="1320" b="0" u="none" strike="noStrike">
              <a:solidFill>
                <a:srgbClr val="000000"/>
              </a:solidFill>
              <a:effectLst/>
              <a:uFillTx/>
              <a:latin typeface="Times New Roman" panose="02020603050405020304"/>
            </a:endParaRPr>
          </a:p>
        </p:txBody>
      </p:sp>
      <p:sp>
        <p:nvSpPr>
          <p:cNvPr id="1234" name="文字框 1233"/>
          <p:cNvSpPr txBox="1"/>
          <p:nvPr/>
        </p:nvSpPr>
        <p:spPr>
          <a:xfrm>
            <a:off x="668520" y="6172200"/>
            <a:ext cx="938844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成功的危机应对策略并非建立在精准预测危机何时到来的基础上，而是建立在拥有一个无论在顺境还是逆境中都表现稳健的、经过深思熟虑的资产组合之上。定</a:t>
            </a:r>
            <a:endParaRPr lang="en-US" sz="1050" b="0" u="none" strike="noStrike">
              <a:solidFill>
                <a:srgbClr val="000000"/>
              </a:solidFill>
              <a:effectLst/>
              <a:uFillTx/>
              <a:latin typeface="Times New Roman" panose="02020603050405020304"/>
            </a:endParaRPr>
          </a:p>
        </p:txBody>
      </p:sp>
      <p:sp>
        <p:nvSpPr>
          <p:cNvPr id="1235" name="文字框 1234"/>
          <p:cNvSpPr txBox="1"/>
          <p:nvPr/>
        </p:nvSpPr>
        <p:spPr>
          <a:xfrm>
            <a:off x="668520" y="6372720"/>
            <a:ext cx="49629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期审视和动态调整资产配置，是穿越金融风暴、实现长期资本保值增值的根本保障。</a:t>
            </a:r>
            <a:endParaRPr lang="en-US" sz="1050" b="0" u="none" strike="noStrike">
              <a:solidFill>
                <a:srgbClr val="000000"/>
              </a:solidFill>
              <a:effectLst/>
              <a:uFillTx/>
              <a:latin typeface="Times New Roman" panose="02020603050405020304"/>
            </a:endParaRPr>
          </a:p>
        </p:txBody>
      </p:sp>
      <p:sp>
        <p:nvSpPr>
          <p:cNvPr id="1236" name="文字框 1235"/>
          <p:cNvSpPr txBox="1"/>
          <p:nvPr/>
        </p:nvSpPr>
        <p:spPr>
          <a:xfrm>
            <a:off x="534960" y="690696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1237" name="任意多邊形 1236"/>
          <p:cNvSpPr/>
          <p:nvPr/>
        </p:nvSpPr>
        <p:spPr>
          <a:xfrm>
            <a:off x="601560" y="1370160"/>
            <a:ext cx="3075480" cy="4087080"/>
          </a:xfrm>
          <a:custGeom>
            <a:avLst/>
            <a:gdLst/>
            <a:ahLst/>
            <a:cxnLst/>
            <a:rect l="0" t="0" r="r" b="b"/>
            <a:pathLst>
              <a:path w="8543" h="11353">
                <a:moveTo>
                  <a:pt x="0" y="11167"/>
                </a:moveTo>
                <a:lnTo>
                  <a:pt x="0" y="186"/>
                </a:lnTo>
                <a:cubicBezTo>
                  <a:pt x="0" y="174"/>
                  <a:pt x="1" y="162"/>
                  <a:pt x="3" y="150"/>
                </a:cubicBezTo>
                <a:cubicBezTo>
                  <a:pt x="6" y="138"/>
                  <a:pt x="9" y="126"/>
                  <a:pt x="14" y="115"/>
                </a:cubicBezTo>
                <a:cubicBezTo>
                  <a:pt x="19" y="104"/>
                  <a:pt x="24" y="93"/>
                  <a:pt x="31" y="83"/>
                </a:cubicBezTo>
                <a:cubicBezTo>
                  <a:pt x="38" y="73"/>
                  <a:pt x="46" y="63"/>
                  <a:pt x="54" y="55"/>
                </a:cubicBezTo>
                <a:cubicBezTo>
                  <a:pt x="63" y="46"/>
                  <a:pt x="72" y="39"/>
                  <a:pt x="82" y="32"/>
                </a:cubicBezTo>
                <a:cubicBezTo>
                  <a:pt x="93" y="25"/>
                  <a:pt x="103" y="19"/>
                  <a:pt x="114" y="15"/>
                </a:cubicBezTo>
                <a:cubicBezTo>
                  <a:pt x="126" y="10"/>
                  <a:pt x="137" y="6"/>
                  <a:pt x="149" y="4"/>
                </a:cubicBezTo>
                <a:cubicBezTo>
                  <a:pt x="161" y="2"/>
                  <a:pt x="173" y="0"/>
                  <a:pt x="186" y="0"/>
                </a:cubicBezTo>
                <a:lnTo>
                  <a:pt x="8358" y="0"/>
                </a:lnTo>
                <a:cubicBezTo>
                  <a:pt x="8370" y="0"/>
                  <a:pt x="8382" y="2"/>
                  <a:pt x="8394" y="4"/>
                </a:cubicBezTo>
                <a:cubicBezTo>
                  <a:pt x="8406" y="6"/>
                  <a:pt x="8417" y="10"/>
                  <a:pt x="8429" y="15"/>
                </a:cubicBezTo>
                <a:cubicBezTo>
                  <a:pt x="8440" y="19"/>
                  <a:pt x="8451" y="25"/>
                  <a:pt x="8461" y="32"/>
                </a:cubicBezTo>
                <a:cubicBezTo>
                  <a:pt x="8471" y="39"/>
                  <a:pt x="8480" y="46"/>
                  <a:pt x="8489" y="55"/>
                </a:cubicBezTo>
                <a:cubicBezTo>
                  <a:pt x="8497" y="63"/>
                  <a:pt x="8505" y="73"/>
                  <a:pt x="8512" y="83"/>
                </a:cubicBezTo>
                <a:cubicBezTo>
                  <a:pt x="8519" y="93"/>
                  <a:pt x="8524" y="104"/>
                  <a:pt x="8529" y="115"/>
                </a:cubicBezTo>
                <a:cubicBezTo>
                  <a:pt x="8534" y="126"/>
                  <a:pt x="8537" y="138"/>
                  <a:pt x="8540" y="150"/>
                </a:cubicBezTo>
                <a:cubicBezTo>
                  <a:pt x="8542" y="162"/>
                  <a:pt x="8543" y="174"/>
                  <a:pt x="8543" y="186"/>
                </a:cubicBezTo>
                <a:lnTo>
                  <a:pt x="8543" y="11167"/>
                </a:lnTo>
                <a:cubicBezTo>
                  <a:pt x="8543" y="11179"/>
                  <a:pt x="8542" y="11191"/>
                  <a:pt x="8540" y="11203"/>
                </a:cubicBezTo>
                <a:cubicBezTo>
                  <a:pt x="8537" y="11215"/>
                  <a:pt x="8534" y="11227"/>
                  <a:pt x="8529" y="11238"/>
                </a:cubicBezTo>
                <a:cubicBezTo>
                  <a:pt x="8524" y="11249"/>
                  <a:pt x="8519" y="11260"/>
                  <a:pt x="8512" y="11270"/>
                </a:cubicBezTo>
                <a:cubicBezTo>
                  <a:pt x="8505" y="11280"/>
                  <a:pt x="8497" y="11290"/>
                  <a:pt x="8489" y="11298"/>
                </a:cubicBezTo>
                <a:cubicBezTo>
                  <a:pt x="8480" y="11307"/>
                  <a:pt x="8471" y="11315"/>
                  <a:pt x="8461" y="11321"/>
                </a:cubicBezTo>
                <a:cubicBezTo>
                  <a:pt x="8451" y="11328"/>
                  <a:pt x="8440" y="11334"/>
                  <a:pt x="8429" y="11338"/>
                </a:cubicBezTo>
                <a:cubicBezTo>
                  <a:pt x="8417" y="11343"/>
                  <a:pt x="8406" y="11347"/>
                  <a:pt x="8394" y="11349"/>
                </a:cubicBezTo>
                <a:cubicBezTo>
                  <a:pt x="8382" y="11351"/>
                  <a:pt x="8370" y="11353"/>
                  <a:pt x="8358" y="11353"/>
                </a:cubicBezTo>
                <a:lnTo>
                  <a:pt x="186" y="11353"/>
                </a:lnTo>
                <a:cubicBezTo>
                  <a:pt x="173" y="11353"/>
                  <a:pt x="161" y="11351"/>
                  <a:pt x="149" y="11349"/>
                </a:cubicBezTo>
                <a:cubicBezTo>
                  <a:pt x="137" y="11347"/>
                  <a:pt x="126" y="11343"/>
                  <a:pt x="114" y="11338"/>
                </a:cubicBezTo>
                <a:cubicBezTo>
                  <a:pt x="103" y="11334"/>
                  <a:pt x="93" y="11328"/>
                  <a:pt x="82" y="11321"/>
                </a:cubicBezTo>
                <a:cubicBezTo>
                  <a:pt x="72" y="11315"/>
                  <a:pt x="63" y="11307"/>
                  <a:pt x="54" y="11298"/>
                </a:cubicBezTo>
                <a:cubicBezTo>
                  <a:pt x="46" y="11290"/>
                  <a:pt x="38" y="11280"/>
                  <a:pt x="31" y="11270"/>
                </a:cubicBezTo>
                <a:cubicBezTo>
                  <a:pt x="24" y="11260"/>
                  <a:pt x="19" y="11249"/>
                  <a:pt x="14" y="11238"/>
                </a:cubicBezTo>
                <a:cubicBezTo>
                  <a:pt x="9" y="11227"/>
                  <a:pt x="6" y="11215"/>
                  <a:pt x="3" y="11203"/>
                </a:cubicBezTo>
                <a:cubicBezTo>
                  <a:pt x="1" y="11191"/>
                  <a:pt x="0" y="11179"/>
                  <a:pt x="0" y="1116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38" name="任意多邊形 1237"/>
          <p:cNvSpPr/>
          <p:nvPr/>
        </p:nvSpPr>
        <p:spPr>
          <a:xfrm>
            <a:off x="768600" y="1537560"/>
            <a:ext cx="501840" cy="501480"/>
          </a:xfrm>
          <a:custGeom>
            <a:avLst/>
            <a:gdLst/>
            <a:ahLst/>
            <a:cxnLst/>
            <a:rect l="0" t="0" r="r" b="b"/>
            <a:pathLst>
              <a:path w="1394" h="1393">
                <a:moveTo>
                  <a:pt x="1394" y="697"/>
                </a:moveTo>
                <a:cubicBezTo>
                  <a:pt x="1394" y="720"/>
                  <a:pt x="1393" y="743"/>
                  <a:pt x="1391" y="765"/>
                </a:cubicBezTo>
                <a:cubicBezTo>
                  <a:pt x="1388" y="788"/>
                  <a:pt x="1385" y="811"/>
                  <a:pt x="1381" y="833"/>
                </a:cubicBezTo>
                <a:cubicBezTo>
                  <a:pt x="1376" y="855"/>
                  <a:pt x="1371" y="877"/>
                  <a:pt x="1364" y="899"/>
                </a:cubicBezTo>
                <a:cubicBezTo>
                  <a:pt x="1357" y="921"/>
                  <a:pt x="1350" y="943"/>
                  <a:pt x="1340" y="964"/>
                </a:cubicBezTo>
                <a:cubicBezTo>
                  <a:pt x="1331" y="985"/>
                  <a:pt x="1321" y="1005"/>
                  <a:pt x="1311" y="1025"/>
                </a:cubicBezTo>
                <a:cubicBezTo>
                  <a:pt x="1300" y="1045"/>
                  <a:pt x="1288" y="1065"/>
                  <a:pt x="1276" y="1084"/>
                </a:cubicBezTo>
                <a:cubicBezTo>
                  <a:pt x="1263" y="1103"/>
                  <a:pt x="1249" y="1121"/>
                  <a:pt x="1235" y="1139"/>
                </a:cubicBezTo>
                <a:cubicBezTo>
                  <a:pt x="1220" y="1157"/>
                  <a:pt x="1205" y="1173"/>
                  <a:pt x="1189" y="1190"/>
                </a:cubicBezTo>
                <a:cubicBezTo>
                  <a:pt x="1173" y="1206"/>
                  <a:pt x="1156" y="1221"/>
                  <a:pt x="1138" y="1235"/>
                </a:cubicBezTo>
                <a:cubicBezTo>
                  <a:pt x="1121" y="1250"/>
                  <a:pt x="1102" y="1263"/>
                  <a:pt x="1083" y="1276"/>
                </a:cubicBezTo>
                <a:cubicBezTo>
                  <a:pt x="1064" y="1289"/>
                  <a:pt x="1045" y="1301"/>
                  <a:pt x="1025" y="1311"/>
                </a:cubicBezTo>
                <a:cubicBezTo>
                  <a:pt x="1005" y="1322"/>
                  <a:pt x="984" y="1332"/>
                  <a:pt x="963" y="1340"/>
                </a:cubicBezTo>
                <a:cubicBezTo>
                  <a:pt x="942" y="1349"/>
                  <a:pt x="920" y="1357"/>
                  <a:pt x="899" y="1363"/>
                </a:cubicBezTo>
                <a:cubicBezTo>
                  <a:pt x="877" y="1370"/>
                  <a:pt x="855" y="1376"/>
                  <a:pt x="832" y="1380"/>
                </a:cubicBezTo>
                <a:cubicBezTo>
                  <a:pt x="810" y="1385"/>
                  <a:pt x="787" y="1388"/>
                  <a:pt x="765" y="1390"/>
                </a:cubicBezTo>
                <a:cubicBezTo>
                  <a:pt x="742" y="1392"/>
                  <a:pt x="719" y="1393"/>
                  <a:pt x="696" y="1393"/>
                </a:cubicBezTo>
                <a:cubicBezTo>
                  <a:pt x="674" y="1393"/>
                  <a:pt x="651" y="1392"/>
                  <a:pt x="628" y="1390"/>
                </a:cubicBezTo>
                <a:cubicBezTo>
                  <a:pt x="606" y="1388"/>
                  <a:pt x="583" y="1385"/>
                  <a:pt x="561" y="1380"/>
                </a:cubicBezTo>
                <a:cubicBezTo>
                  <a:pt x="538" y="1376"/>
                  <a:pt x="516" y="1370"/>
                  <a:pt x="494" y="1363"/>
                </a:cubicBezTo>
                <a:cubicBezTo>
                  <a:pt x="473" y="1357"/>
                  <a:pt x="451" y="1349"/>
                  <a:pt x="430" y="1340"/>
                </a:cubicBezTo>
                <a:cubicBezTo>
                  <a:pt x="409" y="1332"/>
                  <a:pt x="388" y="1322"/>
                  <a:pt x="368" y="1311"/>
                </a:cubicBezTo>
                <a:cubicBezTo>
                  <a:pt x="348" y="1301"/>
                  <a:pt x="329" y="1289"/>
                  <a:pt x="310" y="1276"/>
                </a:cubicBezTo>
                <a:cubicBezTo>
                  <a:pt x="291" y="1263"/>
                  <a:pt x="272" y="1250"/>
                  <a:pt x="255" y="1235"/>
                </a:cubicBezTo>
                <a:cubicBezTo>
                  <a:pt x="237" y="1221"/>
                  <a:pt x="220" y="1206"/>
                  <a:pt x="204" y="1190"/>
                </a:cubicBezTo>
                <a:cubicBezTo>
                  <a:pt x="188" y="1173"/>
                  <a:pt x="173" y="1157"/>
                  <a:pt x="158" y="1139"/>
                </a:cubicBezTo>
                <a:cubicBezTo>
                  <a:pt x="144" y="1121"/>
                  <a:pt x="130" y="1103"/>
                  <a:pt x="117" y="1084"/>
                </a:cubicBezTo>
                <a:cubicBezTo>
                  <a:pt x="105" y="1065"/>
                  <a:pt x="93" y="1045"/>
                  <a:pt x="82" y="1025"/>
                </a:cubicBezTo>
                <a:cubicBezTo>
                  <a:pt x="72" y="1005"/>
                  <a:pt x="62" y="985"/>
                  <a:pt x="53" y="964"/>
                </a:cubicBezTo>
                <a:cubicBezTo>
                  <a:pt x="44" y="943"/>
                  <a:pt x="37" y="921"/>
                  <a:pt x="30" y="899"/>
                </a:cubicBezTo>
                <a:cubicBezTo>
                  <a:pt x="23" y="877"/>
                  <a:pt x="18" y="855"/>
                  <a:pt x="13" y="833"/>
                </a:cubicBezTo>
                <a:cubicBezTo>
                  <a:pt x="9" y="811"/>
                  <a:pt x="6" y="788"/>
                  <a:pt x="3" y="765"/>
                </a:cubicBezTo>
                <a:cubicBezTo>
                  <a:pt x="1" y="743"/>
                  <a:pt x="0" y="720"/>
                  <a:pt x="0" y="697"/>
                </a:cubicBezTo>
                <a:cubicBezTo>
                  <a:pt x="0" y="674"/>
                  <a:pt x="1" y="652"/>
                  <a:pt x="3" y="629"/>
                </a:cubicBezTo>
                <a:cubicBezTo>
                  <a:pt x="6" y="606"/>
                  <a:pt x="9" y="583"/>
                  <a:pt x="13" y="560"/>
                </a:cubicBezTo>
                <a:cubicBezTo>
                  <a:pt x="18" y="538"/>
                  <a:pt x="23" y="516"/>
                  <a:pt x="30" y="494"/>
                </a:cubicBezTo>
                <a:cubicBezTo>
                  <a:pt x="37" y="472"/>
                  <a:pt x="44" y="451"/>
                  <a:pt x="53" y="430"/>
                </a:cubicBezTo>
                <a:cubicBezTo>
                  <a:pt x="62" y="409"/>
                  <a:pt x="72" y="388"/>
                  <a:pt x="82" y="368"/>
                </a:cubicBezTo>
                <a:cubicBezTo>
                  <a:pt x="93" y="348"/>
                  <a:pt x="105" y="328"/>
                  <a:pt x="117" y="309"/>
                </a:cubicBezTo>
                <a:cubicBezTo>
                  <a:pt x="130" y="290"/>
                  <a:pt x="144" y="272"/>
                  <a:pt x="158" y="254"/>
                </a:cubicBezTo>
                <a:cubicBezTo>
                  <a:pt x="173" y="237"/>
                  <a:pt x="188" y="220"/>
                  <a:pt x="204" y="204"/>
                </a:cubicBezTo>
                <a:cubicBezTo>
                  <a:pt x="220" y="188"/>
                  <a:pt x="237" y="172"/>
                  <a:pt x="255" y="158"/>
                </a:cubicBezTo>
                <a:cubicBezTo>
                  <a:pt x="272" y="143"/>
                  <a:pt x="291" y="130"/>
                  <a:pt x="310" y="117"/>
                </a:cubicBezTo>
                <a:cubicBezTo>
                  <a:pt x="329" y="104"/>
                  <a:pt x="348" y="93"/>
                  <a:pt x="368" y="82"/>
                </a:cubicBezTo>
                <a:cubicBezTo>
                  <a:pt x="388" y="71"/>
                  <a:pt x="409" y="61"/>
                  <a:pt x="430" y="53"/>
                </a:cubicBezTo>
                <a:cubicBezTo>
                  <a:pt x="451" y="44"/>
                  <a:pt x="473" y="36"/>
                  <a:pt x="494" y="30"/>
                </a:cubicBezTo>
                <a:cubicBezTo>
                  <a:pt x="516" y="23"/>
                  <a:pt x="538" y="18"/>
                  <a:pt x="561" y="13"/>
                </a:cubicBezTo>
                <a:cubicBezTo>
                  <a:pt x="583" y="9"/>
                  <a:pt x="606" y="5"/>
                  <a:pt x="628" y="3"/>
                </a:cubicBezTo>
                <a:cubicBezTo>
                  <a:pt x="651" y="1"/>
                  <a:pt x="674" y="0"/>
                  <a:pt x="696" y="0"/>
                </a:cubicBezTo>
                <a:cubicBezTo>
                  <a:pt x="719" y="0"/>
                  <a:pt x="742" y="1"/>
                  <a:pt x="765" y="3"/>
                </a:cubicBezTo>
                <a:cubicBezTo>
                  <a:pt x="787" y="5"/>
                  <a:pt x="810" y="9"/>
                  <a:pt x="832" y="13"/>
                </a:cubicBezTo>
                <a:cubicBezTo>
                  <a:pt x="855" y="18"/>
                  <a:pt x="877" y="23"/>
                  <a:pt x="899" y="30"/>
                </a:cubicBezTo>
                <a:cubicBezTo>
                  <a:pt x="920" y="36"/>
                  <a:pt x="942" y="44"/>
                  <a:pt x="963" y="53"/>
                </a:cubicBezTo>
                <a:cubicBezTo>
                  <a:pt x="984" y="61"/>
                  <a:pt x="1005" y="71"/>
                  <a:pt x="1025" y="82"/>
                </a:cubicBezTo>
                <a:cubicBezTo>
                  <a:pt x="1045" y="93"/>
                  <a:pt x="1064" y="104"/>
                  <a:pt x="1083" y="117"/>
                </a:cubicBezTo>
                <a:cubicBezTo>
                  <a:pt x="1102" y="130"/>
                  <a:pt x="1121" y="143"/>
                  <a:pt x="1138" y="158"/>
                </a:cubicBezTo>
                <a:cubicBezTo>
                  <a:pt x="1156" y="172"/>
                  <a:pt x="1173" y="188"/>
                  <a:pt x="1189" y="204"/>
                </a:cubicBezTo>
                <a:cubicBezTo>
                  <a:pt x="1205" y="220"/>
                  <a:pt x="1220" y="237"/>
                  <a:pt x="1235" y="254"/>
                </a:cubicBezTo>
                <a:cubicBezTo>
                  <a:pt x="1249" y="272"/>
                  <a:pt x="1263" y="290"/>
                  <a:pt x="1276" y="309"/>
                </a:cubicBezTo>
                <a:cubicBezTo>
                  <a:pt x="1288" y="328"/>
                  <a:pt x="1300" y="348"/>
                  <a:pt x="1311" y="368"/>
                </a:cubicBezTo>
                <a:cubicBezTo>
                  <a:pt x="1321" y="388"/>
                  <a:pt x="1331" y="409"/>
                  <a:pt x="1340" y="430"/>
                </a:cubicBezTo>
                <a:cubicBezTo>
                  <a:pt x="1350" y="451"/>
                  <a:pt x="1357" y="472"/>
                  <a:pt x="1364" y="494"/>
                </a:cubicBezTo>
                <a:cubicBezTo>
                  <a:pt x="1371" y="516"/>
                  <a:pt x="1376" y="538"/>
                  <a:pt x="1381" y="560"/>
                </a:cubicBezTo>
                <a:cubicBezTo>
                  <a:pt x="1385" y="583"/>
                  <a:pt x="1388" y="606"/>
                  <a:pt x="1391" y="629"/>
                </a:cubicBezTo>
                <a:cubicBezTo>
                  <a:pt x="1393" y="652"/>
                  <a:pt x="1394" y="674"/>
                  <a:pt x="1394" y="697"/>
                </a:cubicBezTo>
                <a:close/>
              </a:path>
            </a:pathLst>
          </a:custGeom>
          <a:solidFill>
            <a:srgbClr val="1E40AF"/>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239" name="圖片 1238"/>
          <p:cNvPicPr/>
          <p:nvPr/>
        </p:nvPicPr>
        <p:blipFill>
          <a:blip r:embed="rId4"/>
          <a:stretch>
            <a:fillRect/>
          </a:stretch>
        </p:blipFill>
        <p:spPr>
          <a:xfrm>
            <a:off x="919080" y="1688040"/>
            <a:ext cx="200160" cy="200160"/>
          </a:xfrm>
          <a:prstGeom prst="rect">
            <a:avLst/>
          </a:prstGeom>
          <a:noFill/>
          <a:ln w="0">
            <a:noFill/>
          </a:ln>
        </p:spPr>
      </p:pic>
      <p:sp>
        <p:nvSpPr>
          <p:cNvPr id="1240" name="文字框 1239"/>
          <p:cNvSpPr txBox="1"/>
          <p:nvPr/>
        </p:nvSpPr>
        <p:spPr>
          <a:xfrm>
            <a:off x="9750240" y="6910920"/>
            <a:ext cx="22923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18 / 24</a:t>
            </a:r>
            <a:endParaRPr lang="en-US" sz="920" b="0" u="none" strike="noStrike">
              <a:solidFill>
                <a:srgbClr val="000000"/>
              </a:solidFill>
              <a:effectLst/>
              <a:uFillTx/>
              <a:latin typeface="Times New Roman" panose="02020603050405020304"/>
            </a:endParaRPr>
          </a:p>
        </p:txBody>
      </p:sp>
      <p:pic>
        <p:nvPicPr>
          <p:cNvPr id="1241" name="圖片 1240"/>
          <p:cNvPicPr/>
          <p:nvPr/>
        </p:nvPicPr>
        <p:blipFill>
          <a:blip r:embed="rId5"/>
          <a:stretch>
            <a:fillRect/>
          </a:stretch>
        </p:blipFill>
        <p:spPr>
          <a:xfrm>
            <a:off x="1470600" y="2273040"/>
            <a:ext cx="1336680" cy="1336680"/>
          </a:xfrm>
          <a:prstGeom prst="rect">
            <a:avLst/>
          </a:prstGeom>
          <a:noFill/>
          <a:ln w="0">
            <a:noFill/>
          </a:ln>
        </p:spPr>
      </p:pic>
      <p:pic>
        <p:nvPicPr>
          <p:cNvPr id="1242" name="圖片 1241"/>
          <p:cNvPicPr/>
          <p:nvPr/>
        </p:nvPicPr>
        <p:blipFill>
          <a:blip r:embed="rId6"/>
          <a:stretch>
            <a:fillRect/>
          </a:stretch>
        </p:blipFill>
        <p:spPr>
          <a:xfrm>
            <a:off x="768960" y="3777120"/>
            <a:ext cx="133200" cy="133200"/>
          </a:xfrm>
          <a:prstGeom prst="rect">
            <a:avLst/>
          </a:prstGeom>
          <a:noFill/>
          <a:ln w="0">
            <a:noFill/>
          </a:ln>
        </p:spPr>
      </p:pic>
      <p:sp>
        <p:nvSpPr>
          <p:cNvPr id="1243" name="文字框 1242"/>
          <p:cNvSpPr txBox="1"/>
          <p:nvPr/>
        </p:nvSpPr>
        <p:spPr>
          <a:xfrm>
            <a:off x="1370520" y="173592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保守型投资者</a:t>
            </a:r>
            <a:endParaRPr lang="en-US" sz="1320" b="0" u="none" strike="noStrike">
              <a:solidFill>
                <a:srgbClr val="000000"/>
              </a:solidFill>
              <a:effectLst/>
              <a:uFillTx/>
              <a:latin typeface="Times New Roman" panose="02020603050405020304"/>
            </a:endParaRPr>
          </a:p>
        </p:txBody>
      </p:sp>
      <p:sp>
        <p:nvSpPr>
          <p:cNvPr id="1244" name="文字框 1243"/>
          <p:cNvSpPr txBox="1"/>
          <p:nvPr/>
        </p:nvSpPr>
        <p:spPr>
          <a:xfrm>
            <a:off x="969480" y="37569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配置大部分资金于高信用等级的政府债券和</a:t>
            </a:r>
            <a:endParaRPr lang="en-US" sz="1050" b="0" u="none" strike="noStrike">
              <a:solidFill>
                <a:srgbClr val="000000"/>
              </a:solidFill>
              <a:effectLst/>
              <a:uFillTx/>
              <a:latin typeface="Times New Roman" panose="02020603050405020304"/>
            </a:endParaRPr>
          </a:p>
        </p:txBody>
      </p:sp>
      <p:pic>
        <p:nvPicPr>
          <p:cNvPr id="1245" name="圖片 1244"/>
          <p:cNvPicPr/>
          <p:nvPr/>
        </p:nvPicPr>
        <p:blipFill>
          <a:blip r:embed="rId6"/>
          <a:stretch>
            <a:fillRect/>
          </a:stretch>
        </p:blipFill>
        <p:spPr>
          <a:xfrm>
            <a:off x="768960" y="4245120"/>
            <a:ext cx="133200" cy="133200"/>
          </a:xfrm>
          <a:prstGeom prst="rect">
            <a:avLst/>
          </a:prstGeom>
          <a:noFill/>
          <a:ln w="0">
            <a:noFill/>
          </a:ln>
        </p:spPr>
      </p:pic>
      <p:sp>
        <p:nvSpPr>
          <p:cNvPr id="1246" name="文字框 1245"/>
          <p:cNvSpPr txBox="1"/>
          <p:nvPr/>
        </p:nvSpPr>
        <p:spPr>
          <a:xfrm>
            <a:off x="969480" y="395784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现金</a:t>
            </a:r>
            <a:endParaRPr lang="en-US" sz="1050" b="0" u="none" strike="noStrike">
              <a:solidFill>
                <a:srgbClr val="000000"/>
              </a:solidFill>
              <a:effectLst/>
              <a:uFillTx/>
              <a:latin typeface="Times New Roman" panose="02020603050405020304"/>
            </a:endParaRPr>
          </a:p>
        </p:txBody>
      </p:sp>
      <p:pic>
        <p:nvPicPr>
          <p:cNvPr id="1247" name="圖片 1246"/>
          <p:cNvPicPr/>
          <p:nvPr/>
        </p:nvPicPr>
        <p:blipFill>
          <a:blip r:embed="rId6"/>
          <a:stretch>
            <a:fillRect/>
          </a:stretch>
        </p:blipFill>
        <p:spPr>
          <a:xfrm>
            <a:off x="768960" y="4512600"/>
            <a:ext cx="133200" cy="133200"/>
          </a:xfrm>
          <a:prstGeom prst="rect">
            <a:avLst/>
          </a:prstGeom>
          <a:noFill/>
          <a:ln w="0">
            <a:noFill/>
          </a:ln>
        </p:spPr>
      </p:pic>
      <p:sp>
        <p:nvSpPr>
          <p:cNvPr id="1248" name="文字框 1247"/>
          <p:cNvSpPr txBox="1"/>
          <p:nvPr/>
        </p:nvSpPr>
        <p:spPr>
          <a:xfrm>
            <a:off x="969480" y="42249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持有少量黄金作为保险，防范极端市场风险</a:t>
            </a:r>
            <a:endParaRPr lang="en-US" sz="1050" b="0" u="none" strike="noStrike">
              <a:solidFill>
                <a:srgbClr val="000000"/>
              </a:solidFill>
              <a:effectLst/>
              <a:uFillTx/>
              <a:latin typeface="Times New Roman" panose="02020603050405020304"/>
            </a:endParaRPr>
          </a:p>
        </p:txBody>
      </p:sp>
      <p:sp>
        <p:nvSpPr>
          <p:cNvPr id="1249" name="文字框 1248"/>
          <p:cNvSpPr txBox="1"/>
          <p:nvPr/>
        </p:nvSpPr>
        <p:spPr>
          <a:xfrm>
            <a:off x="969480" y="449244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防御性股票配置比例较低，优先考虑稳定派</a:t>
            </a:r>
            <a:endParaRPr lang="en-US" sz="1050" b="0" u="none" strike="noStrike">
              <a:solidFill>
                <a:srgbClr val="000000"/>
              </a:solidFill>
              <a:effectLst/>
              <a:uFillTx/>
              <a:latin typeface="Times New Roman" panose="02020603050405020304"/>
            </a:endParaRPr>
          </a:p>
        </p:txBody>
      </p:sp>
      <p:sp>
        <p:nvSpPr>
          <p:cNvPr id="1250" name="任意多邊形 1249"/>
          <p:cNvSpPr/>
          <p:nvPr/>
        </p:nvSpPr>
        <p:spPr>
          <a:xfrm>
            <a:off x="768600" y="4980240"/>
            <a:ext cx="2741400" cy="9360"/>
          </a:xfrm>
          <a:custGeom>
            <a:avLst/>
            <a:gdLst/>
            <a:ahLst/>
            <a:cxnLst/>
            <a:rect l="0" t="0" r="r" b="b"/>
            <a:pathLst>
              <a:path w="7615" h="26">
                <a:moveTo>
                  <a:pt x="0" y="0"/>
                </a:moveTo>
                <a:lnTo>
                  <a:pt x="7615" y="0"/>
                </a:lnTo>
                <a:lnTo>
                  <a:pt x="7615" y="26"/>
                </a:lnTo>
                <a:lnTo>
                  <a:pt x="0" y="26"/>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1251" name="文字框 1250"/>
          <p:cNvSpPr txBox="1"/>
          <p:nvPr/>
        </p:nvSpPr>
        <p:spPr>
          <a:xfrm>
            <a:off x="969480" y="469296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息的行业</a:t>
            </a:r>
            <a:endParaRPr lang="en-US" sz="1050" b="0" u="none" strike="noStrike">
              <a:solidFill>
                <a:srgbClr val="000000"/>
              </a:solidFill>
              <a:effectLst/>
              <a:uFillTx/>
              <a:latin typeface="Times New Roman" panose="02020603050405020304"/>
            </a:endParaRPr>
          </a:p>
        </p:txBody>
      </p:sp>
      <p:sp>
        <p:nvSpPr>
          <p:cNvPr id="1252" name="任意多邊形 1251"/>
          <p:cNvSpPr/>
          <p:nvPr/>
        </p:nvSpPr>
        <p:spPr>
          <a:xfrm>
            <a:off x="3810600" y="1370160"/>
            <a:ext cx="3075480" cy="4087080"/>
          </a:xfrm>
          <a:custGeom>
            <a:avLst/>
            <a:gdLst/>
            <a:ahLst/>
            <a:cxnLst/>
            <a:rect l="0" t="0" r="r" b="b"/>
            <a:pathLst>
              <a:path w="8543" h="11353">
                <a:moveTo>
                  <a:pt x="0" y="11167"/>
                </a:moveTo>
                <a:lnTo>
                  <a:pt x="0" y="186"/>
                </a:lnTo>
                <a:cubicBezTo>
                  <a:pt x="0" y="174"/>
                  <a:pt x="1" y="162"/>
                  <a:pt x="3" y="150"/>
                </a:cubicBezTo>
                <a:cubicBezTo>
                  <a:pt x="6" y="138"/>
                  <a:pt x="9" y="126"/>
                  <a:pt x="14" y="115"/>
                </a:cubicBezTo>
                <a:cubicBezTo>
                  <a:pt x="18" y="104"/>
                  <a:pt x="24" y="93"/>
                  <a:pt x="31" y="83"/>
                </a:cubicBezTo>
                <a:cubicBezTo>
                  <a:pt x="38" y="73"/>
                  <a:pt x="45" y="63"/>
                  <a:pt x="54" y="55"/>
                </a:cubicBezTo>
                <a:cubicBezTo>
                  <a:pt x="63" y="46"/>
                  <a:pt x="72" y="39"/>
                  <a:pt x="82" y="32"/>
                </a:cubicBezTo>
                <a:cubicBezTo>
                  <a:pt x="92" y="25"/>
                  <a:pt x="103" y="19"/>
                  <a:pt x="114" y="15"/>
                </a:cubicBezTo>
                <a:cubicBezTo>
                  <a:pt x="126" y="10"/>
                  <a:pt x="137" y="6"/>
                  <a:pt x="149" y="4"/>
                </a:cubicBezTo>
                <a:cubicBezTo>
                  <a:pt x="161" y="2"/>
                  <a:pt x="173" y="0"/>
                  <a:pt x="185" y="0"/>
                </a:cubicBezTo>
                <a:lnTo>
                  <a:pt x="8357" y="0"/>
                </a:lnTo>
                <a:cubicBezTo>
                  <a:pt x="8370" y="0"/>
                  <a:pt x="8382" y="2"/>
                  <a:pt x="8394" y="4"/>
                </a:cubicBezTo>
                <a:cubicBezTo>
                  <a:pt x="8406" y="6"/>
                  <a:pt x="8417" y="10"/>
                  <a:pt x="8428" y="15"/>
                </a:cubicBezTo>
                <a:cubicBezTo>
                  <a:pt x="8440" y="19"/>
                  <a:pt x="8450" y="25"/>
                  <a:pt x="8461" y="32"/>
                </a:cubicBezTo>
                <a:cubicBezTo>
                  <a:pt x="8471" y="39"/>
                  <a:pt x="8480" y="46"/>
                  <a:pt x="8489" y="55"/>
                </a:cubicBezTo>
                <a:cubicBezTo>
                  <a:pt x="8497" y="63"/>
                  <a:pt x="8505" y="73"/>
                  <a:pt x="8512" y="83"/>
                </a:cubicBezTo>
                <a:cubicBezTo>
                  <a:pt x="8519" y="93"/>
                  <a:pt x="8524" y="104"/>
                  <a:pt x="8529" y="115"/>
                </a:cubicBezTo>
                <a:cubicBezTo>
                  <a:pt x="8534" y="126"/>
                  <a:pt x="8537" y="138"/>
                  <a:pt x="8539" y="150"/>
                </a:cubicBezTo>
                <a:cubicBezTo>
                  <a:pt x="8542" y="162"/>
                  <a:pt x="8543" y="174"/>
                  <a:pt x="8543" y="186"/>
                </a:cubicBezTo>
                <a:lnTo>
                  <a:pt x="8543" y="11167"/>
                </a:lnTo>
                <a:cubicBezTo>
                  <a:pt x="8543" y="11179"/>
                  <a:pt x="8542" y="11191"/>
                  <a:pt x="8539" y="11203"/>
                </a:cubicBezTo>
                <a:cubicBezTo>
                  <a:pt x="8537" y="11215"/>
                  <a:pt x="8534" y="11227"/>
                  <a:pt x="8529" y="11238"/>
                </a:cubicBezTo>
                <a:cubicBezTo>
                  <a:pt x="8524" y="11249"/>
                  <a:pt x="8519" y="11260"/>
                  <a:pt x="8512" y="11270"/>
                </a:cubicBezTo>
                <a:cubicBezTo>
                  <a:pt x="8505" y="11280"/>
                  <a:pt x="8497" y="11290"/>
                  <a:pt x="8489" y="11298"/>
                </a:cubicBezTo>
                <a:cubicBezTo>
                  <a:pt x="8480" y="11307"/>
                  <a:pt x="8471" y="11315"/>
                  <a:pt x="8461" y="11321"/>
                </a:cubicBezTo>
                <a:cubicBezTo>
                  <a:pt x="8450" y="11328"/>
                  <a:pt x="8440" y="11334"/>
                  <a:pt x="8428" y="11338"/>
                </a:cubicBezTo>
                <a:cubicBezTo>
                  <a:pt x="8417" y="11343"/>
                  <a:pt x="8406" y="11347"/>
                  <a:pt x="8394" y="11349"/>
                </a:cubicBezTo>
                <a:cubicBezTo>
                  <a:pt x="8382" y="11351"/>
                  <a:pt x="8370" y="11353"/>
                  <a:pt x="8357" y="11353"/>
                </a:cubicBezTo>
                <a:lnTo>
                  <a:pt x="185" y="11353"/>
                </a:lnTo>
                <a:cubicBezTo>
                  <a:pt x="173" y="11353"/>
                  <a:pt x="161" y="11351"/>
                  <a:pt x="149" y="11349"/>
                </a:cubicBezTo>
                <a:cubicBezTo>
                  <a:pt x="137" y="11347"/>
                  <a:pt x="126" y="11343"/>
                  <a:pt x="114" y="11338"/>
                </a:cubicBezTo>
                <a:cubicBezTo>
                  <a:pt x="103" y="11334"/>
                  <a:pt x="92" y="11328"/>
                  <a:pt x="82" y="11321"/>
                </a:cubicBezTo>
                <a:cubicBezTo>
                  <a:pt x="72" y="11315"/>
                  <a:pt x="63" y="11307"/>
                  <a:pt x="54" y="11298"/>
                </a:cubicBezTo>
                <a:cubicBezTo>
                  <a:pt x="45" y="11290"/>
                  <a:pt x="38" y="11280"/>
                  <a:pt x="31" y="11270"/>
                </a:cubicBezTo>
                <a:cubicBezTo>
                  <a:pt x="24" y="11260"/>
                  <a:pt x="18" y="11249"/>
                  <a:pt x="14" y="11238"/>
                </a:cubicBezTo>
                <a:cubicBezTo>
                  <a:pt x="9" y="11227"/>
                  <a:pt x="6" y="11215"/>
                  <a:pt x="3" y="11203"/>
                </a:cubicBezTo>
                <a:cubicBezTo>
                  <a:pt x="1" y="11191"/>
                  <a:pt x="0" y="11179"/>
                  <a:pt x="0" y="1116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53" name="任意多邊形 1252"/>
          <p:cNvSpPr/>
          <p:nvPr/>
        </p:nvSpPr>
        <p:spPr>
          <a:xfrm>
            <a:off x="3977640" y="1537560"/>
            <a:ext cx="501840" cy="501480"/>
          </a:xfrm>
          <a:custGeom>
            <a:avLst/>
            <a:gdLst/>
            <a:ahLst/>
            <a:cxnLst/>
            <a:rect l="0" t="0" r="r" b="b"/>
            <a:pathLst>
              <a:path w="1394" h="1393">
                <a:moveTo>
                  <a:pt x="1394" y="697"/>
                </a:moveTo>
                <a:cubicBezTo>
                  <a:pt x="1394" y="720"/>
                  <a:pt x="1393" y="743"/>
                  <a:pt x="1390" y="765"/>
                </a:cubicBezTo>
                <a:cubicBezTo>
                  <a:pt x="1388" y="788"/>
                  <a:pt x="1385" y="811"/>
                  <a:pt x="1380" y="833"/>
                </a:cubicBezTo>
                <a:cubicBezTo>
                  <a:pt x="1376" y="855"/>
                  <a:pt x="1370" y="877"/>
                  <a:pt x="1364" y="899"/>
                </a:cubicBezTo>
                <a:cubicBezTo>
                  <a:pt x="1357" y="921"/>
                  <a:pt x="1349" y="943"/>
                  <a:pt x="1341" y="964"/>
                </a:cubicBezTo>
                <a:cubicBezTo>
                  <a:pt x="1332" y="985"/>
                  <a:pt x="1322" y="1005"/>
                  <a:pt x="1311" y="1025"/>
                </a:cubicBezTo>
                <a:cubicBezTo>
                  <a:pt x="1301" y="1045"/>
                  <a:pt x="1289" y="1065"/>
                  <a:pt x="1276" y="1084"/>
                </a:cubicBezTo>
                <a:cubicBezTo>
                  <a:pt x="1264" y="1103"/>
                  <a:pt x="1250" y="1121"/>
                  <a:pt x="1236" y="1139"/>
                </a:cubicBezTo>
                <a:cubicBezTo>
                  <a:pt x="1221" y="1157"/>
                  <a:pt x="1206" y="1173"/>
                  <a:pt x="1190" y="1190"/>
                </a:cubicBezTo>
                <a:cubicBezTo>
                  <a:pt x="1174" y="1206"/>
                  <a:pt x="1157" y="1221"/>
                  <a:pt x="1139" y="1235"/>
                </a:cubicBezTo>
                <a:cubicBezTo>
                  <a:pt x="1121" y="1250"/>
                  <a:pt x="1103" y="1263"/>
                  <a:pt x="1084" y="1276"/>
                </a:cubicBezTo>
                <a:cubicBezTo>
                  <a:pt x="1065" y="1289"/>
                  <a:pt x="1046" y="1301"/>
                  <a:pt x="1026" y="1311"/>
                </a:cubicBezTo>
                <a:cubicBezTo>
                  <a:pt x="1005" y="1322"/>
                  <a:pt x="985" y="1332"/>
                  <a:pt x="964" y="1340"/>
                </a:cubicBezTo>
                <a:cubicBezTo>
                  <a:pt x="943" y="1349"/>
                  <a:pt x="921" y="1357"/>
                  <a:pt x="899" y="1363"/>
                </a:cubicBezTo>
                <a:cubicBezTo>
                  <a:pt x="878" y="1370"/>
                  <a:pt x="856" y="1376"/>
                  <a:pt x="833" y="1380"/>
                </a:cubicBezTo>
                <a:cubicBezTo>
                  <a:pt x="811" y="1385"/>
                  <a:pt x="788" y="1388"/>
                  <a:pt x="765" y="1390"/>
                </a:cubicBezTo>
                <a:cubicBezTo>
                  <a:pt x="742" y="1392"/>
                  <a:pt x="719" y="1393"/>
                  <a:pt x="696" y="1393"/>
                </a:cubicBezTo>
                <a:cubicBezTo>
                  <a:pt x="673" y="1393"/>
                  <a:pt x="651" y="1392"/>
                  <a:pt x="628" y="1390"/>
                </a:cubicBezTo>
                <a:cubicBezTo>
                  <a:pt x="605" y="1388"/>
                  <a:pt x="583" y="1385"/>
                  <a:pt x="560" y="1380"/>
                </a:cubicBezTo>
                <a:cubicBezTo>
                  <a:pt x="538" y="1376"/>
                  <a:pt x="516" y="1370"/>
                  <a:pt x="494" y="1363"/>
                </a:cubicBezTo>
                <a:cubicBezTo>
                  <a:pt x="472" y="1357"/>
                  <a:pt x="451" y="1349"/>
                  <a:pt x="430" y="1340"/>
                </a:cubicBezTo>
                <a:cubicBezTo>
                  <a:pt x="409" y="1332"/>
                  <a:pt x="388" y="1322"/>
                  <a:pt x="368" y="1311"/>
                </a:cubicBezTo>
                <a:cubicBezTo>
                  <a:pt x="348" y="1301"/>
                  <a:pt x="328" y="1289"/>
                  <a:pt x="309" y="1276"/>
                </a:cubicBezTo>
                <a:cubicBezTo>
                  <a:pt x="290" y="1263"/>
                  <a:pt x="272" y="1250"/>
                  <a:pt x="255" y="1235"/>
                </a:cubicBezTo>
                <a:cubicBezTo>
                  <a:pt x="237" y="1221"/>
                  <a:pt x="220" y="1206"/>
                  <a:pt x="204" y="1190"/>
                </a:cubicBezTo>
                <a:cubicBezTo>
                  <a:pt x="188" y="1173"/>
                  <a:pt x="172" y="1157"/>
                  <a:pt x="158" y="1139"/>
                </a:cubicBezTo>
                <a:cubicBezTo>
                  <a:pt x="144" y="1121"/>
                  <a:pt x="130" y="1103"/>
                  <a:pt x="117" y="1084"/>
                </a:cubicBezTo>
                <a:cubicBezTo>
                  <a:pt x="105" y="1065"/>
                  <a:pt x="93" y="1045"/>
                  <a:pt x="82" y="1025"/>
                </a:cubicBezTo>
                <a:cubicBezTo>
                  <a:pt x="71" y="1005"/>
                  <a:pt x="62" y="985"/>
                  <a:pt x="53" y="964"/>
                </a:cubicBezTo>
                <a:cubicBezTo>
                  <a:pt x="44" y="943"/>
                  <a:pt x="37" y="921"/>
                  <a:pt x="30" y="899"/>
                </a:cubicBezTo>
                <a:cubicBezTo>
                  <a:pt x="23" y="877"/>
                  <a:pt x="18" y="855"/>
                  <a:pt x="13" y="833"/>
                </a:cubicBezTo>
                <a:cubicBezTo>
                  <a:pt x="9" y="811"/>
                  <a:pt x="6" y="788"/>
                  <a:pt x="3" y="765"/>
                </a:cubicBezTo>
                <a:cubicBezTo>
                  <a:pt x="1" y="743"/>
                  <a:pt x="0" y="720"/>
                  <a:pt x="0" y="697"/>
                </a:cubicBezTo>
                <a:cubicBezTo>
                  <a:pt x="0" y="674"/>
                  <a:pt x="1" y="652"/>
                  <a:pt x="3" y="629"/>
                </a:cubicBezTo>
                <a:cubicBezTo>
                  <a:pt x="6" y="606"/>
                  <a:pt x="9" y="583"/>
                  <a:pt x="13" y="560"/>
                </a:cubicBezTo>
                <a:cubicBezTo>
                  <a:pt x="18" y="538"/>
                  <a:pt x="23" y="516"/>
                  <a:pt x="30" y="494"/>
                </a:cubicBezTo>
                <a:cubicBezTo>
                  <a:pt x="37" y="472"/>
                  <a:pt x="44" y="451"/>
                  <a:pt x="53" y="430"/>
                </a:cubicBezTo>
                <a:cubicBezTo>
                  <a:pt x="62" y="409"/>
                  <a:pt x="71" y="388"/>
                  <a:pt x="82" y="368"/>
                </a:cubicBezTo>
                <a:cubicBezTo>
                  <a:pt x="93" y="348"/>
                  <a:pt x="105" y="328"/>
                  <a:pt x="117" y="309"/>
                </a:cubicBezTo>
                <a:cubicBezTo>
                  <a:pt x="130" y="290"/>
                  <a:pt x="144" y="272"/>
                  <a:pt x="158" y="254"/>
                </a:cubicBezTo>
                <a:cubicBezTo>
                  <a:pt x="172" y="237"/>
                  <a:pt x="188" y="220"/>
                  <a:pt x="204" y="204"/>
                </a:cubicBezTo>
                <a:cubicBezTo>
                  <a:pt x="220" y="188"/>
                  <a:pt x="237" y="172"/>
                  <a:pt x="255" y="158"/>
                </a:cubicBezTo>
                <a:cubicBezTo>
                  <a:pt x="272" y="143"/>
                  <a:pt x="290" y="130"/>
                  <a:pt x="309" y="117"/>
                </a:cubicBezTo>
                <a:cubicBezTo>
                  <a:pt x="328" y="104"/>
                  <a:pt x="348" y="93"/>
                  <a:pt x="368" y="82"/>
                </a:cubicBezTo>
                <a:cubicBezTo>
                  <a:pt x="388" y="71"/>
                  <a:pt x="409" y="61"/>
                  <a:pt x="430" y="53"/>
                </a:cubicBezTo>
                <a:cubicBezTo>
                  <a:pt x="451" y="44"/>
                  <a:pt x="472" y="36"/>
                  <a:pt x="494" y="30"/>
                </a:cubicBezTo>
                <a:cubicBezTo>
                  <a:pt x="516" y="23"/>
                  <a:pt x="538" y="18"/>
                  <a:pt x="560" y="13"/>
                </a:cubicBezTo>
                <a:cubicBezTo>
                  <a:pt x="583" y="9"/>
                  <a:pt x="605" y="5"/>
                  <a:pt x="628" y="3"/>
                </a:cubicBezTo>
                <a:cubicBezTo>
                  <a:pt x="651" y="1"/>
                  <a:pt x="673" y="0"/>
                  <a:pt x="696" y="0"/>
                </a:cubicBezTo>
                <a:cubicBezTo>
                  <a:pt x="719" y="0"/>
                  <a:pt x="742" y="1"/>
                  <a:pt x="765" y="3"/>
                </a:cubicBezTo>
                <a:cubicBezTo>
                  <a:pt x="788" y="5"/>
                  <a:pt x="811" y="9"/>
                  <a:pt x="833" y="13"/>
                </a:cubicBezTo>
                <a:cubicBezTo>
                  <a:pt x="856" y="18"/>
                  <a:pt x="878" y="23"/>
                  <a:pt x="899" y="30"/>
                </a:cubicBezTo>
                <a:cubicBezTo>
                  <a:pt x="921" y="36"/>
                  <a:pt x="943" y="44"/>
                  <a:pt x="964" y="53"/>
                </a:cubicBezTo>
                <a:cubicBezTo>
                  <a:pt x="985" y="61"/>
                  <a:pt x="1005" y="71"/>
                  <a:pt x="1026" y="82"/>
                </a:cubicBezTo>
                <a:cubicBezTo>
                  <a:pt x="1046" y="93"/>
                  <a:pt x="1065" y="104"/>
                  <a:pt x="1084" y="117"/>
                </a:cubicBezTo>
                <a:cubicBezTo>
                  <a:pt x="1103" y="130"/>
                  <a:pt x="1121" y="143"/>
                  <a:pt x="1139" y="158"/>
                </a:cubicBezTo>
                <a:cubicBezTo>
                  <a:pt x="1157" y="172"/>
                  <a:pt x="1174" y="188"/>
                  <a:pt x="1190" y="204"/>
                </a:cubicBezTo>
                <a:cubicBezTo>
                  <a:pt x="1206" y="220"/>
                  <a:pt x="1221" y="237"/>
                  <a:pt x="1236" y="254"/>
                </a:cubicBezTo>
                <a:cubicBezTo>
                  <a:pt x="1250" y="272"/>
                  <a:pt x="1264" y="290"/>
                  <a:pt x="1276" y="309"/>
                </a:cubicBezTo>
                <a:cubicBezTo>
                  <a:pt x="1289" y="328"/>
                  <a:pt x="1301" y="348"/>
                  <a:pt x="1311" y="368"/>
                </a:cubicBezTo>
                <a:cubicBezTo>
                  <a:pt x="1322" y="388"/>
                  <a:pt x="1332" y="409"/>
                  <a:pt x="1341" y="430"/>
                </a:cubicBezTo>
                <a:cubicBezTo>
                  <a:pt x="1349" y="451"/>
                  <a:pt x="1357" y="472"/>
                  <a:pt x="1364" y="494"/>
                </a:cubicBezTo>
                <a:cubicBezTo>
                  <a:pt x="1370" y="516"/>
                  <a:pt x="1376" y="538"/>
                  <a:pt x="1380" y="560"/>
                </a:cubicBezTo>
                <a:cubicBezTo>
                  <a:pt x="1385" y="583"/>
                  <a:pt x="1388" y="606"/>
                  <a:pt x="1390" y="629"/>
                </a:cubicBezTo>
                <a:cubicBezTo>
                  <a:pt x="1393" y="652"/>
                  <a:pt x="1394" y="674"/>
                  <a:pt x="1394" y="697"/>
                </a:cubicBezTo>
                <a:close/>
              </a:path>
            </a:pathLst>
          </a:custGeom>
          <a:solidFill>
            <a:srgbClr val="D97706"/>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254" name="圖片 1253"/>
          <p:cNvPicPr/>
          <p:nvPr/>
        </p:nvPicPr>
        <p:blipFill>
          <a:blip r:embed="rId7"/>
          <a:stretch>
            <a:fillRect/>
          </a:stretch>
        </p:blipFill>
        <p:spPr>
          <a:xfrm>
            <a:off x="4103280" y="1688040"/>
            <a:ext cx="250200" cy="200160"/>
          </a:xfrm>
          <a:prstGeom prst="rect">
            <a:avLst/>
          </a:prstGeom>
          <a:noFill/>
          <a:ln w="0">
            <a:noFill/>
          </a:ln>
        </p:spPr>
      </p:pic>
      <p:sp>
        <p:nvSpPr>
          <p:cNvPr id="1255" name="文字框 1254"/>
          <p:cNvSpPr txBox="1"/>
          <p:nvPr/>
        </p:nvSpPr>
        <p:spPr>
          <a:xfrm>
            <a:off x="768960" y="5102640"/>
            <a:ext cx="12078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核心目标：资本保全</a:t>
            </a:r>
            <a:endParaRPr lang="en-US" sz="1050" b="0" u="none" strike="noStrike">
              <a:solidFill>
                <a:srgbClr val="000000"/>
              </a:solidFill>
              <a:effectLst/>
              <a:uFillTx/>
              <a:latin typeface="Times New Roman" panose="02020603050405020304"/>
            </a:endParaRPr>
          </a:p>
        </p:txBody>
      </p:sp>
      <p:pic>
        <p:nvPicPr>
          <p:cNvPr id="1256" name="圖片 1255"/>
          <p:cNvPicPr/>
          <p:nvPr/>
        </p:nvPicPr>
        <p:blipFill>
          <a:blip r:embed="rId8"/>
          <a:stretch>
            <a:fillRect/>
          </a:stretch>
        </p:blipFill>
        <p:spPr>
          <a:xfrm>
            <a:off x="4679640" y="2273040"/>
            <a:ext cx="1336680" cy="1336680"/>
          </a:xfrm>
          <a:prstGeom prst="rect">
            <a:avLst/>
          </a:prstGeom>
          <a:noFill/>
          <a:ln w="0">
            <a:noFill/>
          </a:ln>
        </p:spPr>
      </p:pic>
      <p:pic>
        <p:nvPicPr>
          <p:cNvPr id="1257" name="圖片 1256"/>
          <p:cNvPicPr/>
          <p:nvPr/>
        </p:nvPicPr>
        <p:blipFill>
          <a:blip r:embed="rId6"/>
          <a:stretch>
            <a:fillRect/>
          </a:stretch>
        </p:blipFill>
        <p:spPr>
          <a:xfrm>
            <a:off x="3977640" y="3777120"/>
            <a:ext cx="133200" cy="133200"/>
          </a:xfrm>
          <a:prstGeom prst="rect">
            <a:avLst/>
          </a:prstGeom>
          <a:noFill/>
          <a:ln w="0">
            <a:noFill/>
          </a:ln>
        </p:spPr>
      </p:pic>
      <p:sp>
        <p:nvSpPr>
          <p:cNvPr id="1258" name="文字框 1257"/>
          <p:cNvSpPr txBox="1"/>
          <p:nvPr/>
        </p:nvSpPr>
        <p:spPr>
          <a:xfrm>
            <a:off x="4579560" y="173592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稳健型投资者</a:t>
            </a:r>
            <a:endParaRPr lang="en-US" sz="1320" b="0" u="none" strike="noStrike">
              <a:solidFill>
                <a:srgbClr val="000000"/>
              </a:solidFill>
              <a:effectLst/>
              <a:uFillTx/>
              <a:latin typeface="Times New Roman" panose="02020603050405020304"/>
            </a:endParaRPr>
          </a:p>
        </p:txBody>
      </p:sp>
      <p:sp>
        <p:nvSpPr>
          <p:cNvPr id="1259" name="文字框 1258"/>
          <p:cNvSpPr txBox="1"/>
          <p:nvPr/>
        </p:nvSpPr>
        <p:spPr>
          <a:xfrm>
            <a:off x="4178520" y="375696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将</a:t>
            </a:r>
            <a:endParaRPr lang="en-US" sz="1050" b="0" u="none" strike="noStrike">
              <a:solidFill>
                <a:srgbClr val="000000"/>
              </a:solidFill>
              <a:effectLst/>
              <a:uFillTx/>
              <a:latin typeface="Times New Roman" panose="02020603050405020304"/>
            </a:endParaRPr>
          </a:p>
        </p:txBody>
      </p:sp>
      <p:sp>
        <p:nvSpPr>
          <p:cNvPr id="1260" name="文字框 1259"/>
          <p:cNvSpPr txBox="1"/>
          <p:nvPr/>
        </p:nvSpPr>
        <p:spPr>
          <a:xfrm>
            <a:off x="4312080" y="3761640"/>
            <a:ext cx="517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40-60%</a:t>
            </a:r>
            <a:endParaRPr lang="en-US" sz="1050" b="0" u="none" strike="noStrike">
              <a:solidFill>
                <a:srgbClr val="000000"/>
              </a:solidFill>
              <a:effectLst/>
              <a:uFillTx/>
              <a:latin typeface="Times New Roman" panose="02020603050405020304"/>
            </a:endParaRPr>
          </a:p>
        </p:txBody>
      </p:sp>
      <p:pic>
        <p:nvPicPr>
          <p:cNvPr id="1261" name="圖片 1260"/>
          <p:cNvPicPr/>
          <p:nvPr/>
        </p:nvPicPr>
        <p:blipFill>
          <a:blip r:embed="rId6"/>
          <a:stretch>
            <a:fillRect/>
          </a:stretch>
        </p:blipFill>
        <p:spPr>
          <a:xfrm>
            <a:off x="3977640" y="4044600"/>
            <a:ext cx="133200" cy="133200"/>
          </a:xfrm>
          <a:prstGeom prst="rect">
            <a:avLst/>
          </a:prstGeom>
          <a:noFill/>
          <a:ln w="0">
            <a:noFill/>
          </a:ln>
        </p:spPr>
      </p:pic>
      <p:sp>
        <p:nvSpPr>
          <p:cNvPr id="1262" name="文字框 1261"/>
          <p:cNvSpPr txBox="1"/>
          <p:nvPr/>
        </p:nvSpPr>
        <p:spPr>
          <a:xfrm>
            <a:off x="4827600" y="3756960"/>
            <a:ext cx="1476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的资产配置于债券和现金</a:t>
            </a:r>
            <a:endParaRPr lang="en-US" sz="1050" b="0" u="none" strike="noStrike">
              <a:solidFill>
                <a:srgbClr val="000000"/>
              </a:solidFill>
              <a:effectLst/>
              <a:uFillTx/>
              <a:latin typeface="Times New Roman" panose="02020603050405020304"/>
            </a:endParaRPr>
          </a:p>
        </p:txBody>
      </p:sp>
      <p:sp>
        <p:nvSpPr>
          <p:cNvPr id="1263" name="文字框 1262"/>
          <p:cNvSpPr txBox="1"/>
          <p:nvPr/>
        </p:nvSpPr>
        <p:spPr>
          <a:xfrm>
            <a:off x="4178520" y="4029120"/>
            <a:ext cx="517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30-40%</a:t>
            </a:r>
            <a:endParaRPr lang="en-US" sz="1050" b="0" u="none" strike="noStrike">
              <a:solidFill>
                <a:srgbClr val="000000"/>
              </a:solidFill>
              <a:effectLst/>
              <a:uFillTx/>
              <a:latin typeface="Times New Roman" panose="02020603050405020304"/>
            </a:endParaRPr>
          </a:p>
        </p:txBody>
      </p:sp>
      <p:pic>
        <p:nvPicPr>
          <p:cNvPr id="1264" name="圖片 1263"/>
          <p:cNvPicPr/>
          <p:nvPr/>
        </p:nvPicPr>
        <p:blipFill>
          <a:blip r:embed="rId6"/>
          <a:stretch>
            <a:fillRect/>
          </a:stretch>
        </p:blipFill>
        <p:spPr>
          <a:xfrm>
            <a:off x="3977640" y="4312080"/>
            <a:ext cx="133200" cy="133200"/>
          </a:xfrm>
          <a:prstGeom prst="rect">
            <a:avLst/>
          </a:prstGeom>
          <a:noFill/>
          <a:ln w="0">
            <a:noFill/>
          </a:ln>
        </p:spPr>
      </p:pic>
      <p:sp>
        <p:nvSpPr>
          <p:cNvPr id="1265" name="文字框 1264"/>
          <p:cNvSpPr txBox="1"/>
          <p:nvPr/>
        </p:nvSpPr>
        <p:spPr>
          <a:xfrm>
            <a:off x="4694040" y="4024440"/>
            <a:ext cx="10735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配置于防御性股票</a:t>
            </a:r>
            <a:endParaRPr lang="en-US" sz="1050" b="0" u="none" strike="noStrike">
              <a:solidFill>
                <a:srgbClr val="000000"/>
              </a:solidFill>
              <a:effectLst/>
              <a:uFillTx/>
              <a:latin typeface="Times New Roman" panose="02020603050405020304"/>
            </a:endParaRPr>
          </a:p>
        </p:txBody>
      </p:sp>
      <p:sp>
        <p:nvSpPr>
          <p:cNvPr id="1266" name="文字框 1265"/>
          <p:cNvSpPr txBox="1"/>
          <p:nvPr/>
        </p:nvSpPr>
        <p:spPr>
          <a:xfrm>
            <a:off x="4178520" y="429192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配置</a:t>
            </a:r>
            <a:endParaRPr lang="en-US" sz="1050" b="0" u="none" strike="noStrike">
              <a:solidFill>
                <a:srgbClr val="000000"/>
              </a:solidFill>
              <a:effectLst/>
              <a:uFillTx/>
              <a:latin typeface="Times New Roman" panose="02020603050405020304"/>
            </a:endParaRPr>
          </a:p>
        </p:txBody>
      </p:sp>
      <p:sp>
        <p:nvSpPr>
          <p:cNvPr id="1267" name="文字框 1266"/>
          <p:cNvSpPr txBox="1"/>
          <p:nvPr/>
        </p:nvSpPr>
        <p:spPr>
          <a:xfrm>
            <a:off x="4445640" y="4296600"/>
            <a:ext cx="432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5-10%</a:t>
            </a:r>
            <a:endParaRPr lang="en-US" sz="1050" b="0" u="none" strike="noStrike">
              <a:solidFill>
                <a:srgbClr val="000000"/>
              </a:solidFill>
              <a:effectLst/>
              <a:uFillTx/>
              <a:latin typeface="Times New Roman" panose="02020603050405020304"/>
            </a:endParaRPr>
          </a:p>
        </p:txBody>
      </p:sp>
      <p:sp>
        <p:nvSpPr>
          <p:cNvPr id="1268" name="文字框 1267"/>
          <p:cNvSpPr txBox="1"/>
          <p:nvPr/>
        </p:nvSpPr>
        <p:spPr>
          <a:xfrm>
            <a:off x="4876200" y="429192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的黄金作为投资组合的对冲工</a:t>
            </a:r>
            <a:endParaRPr lang="en-US" sz="1050" b="0" u="none" strike="noStrike">
              <a:solidFill>
                <a:srgbClr val="000000"/>
              </a:solidFill>
              <a:effectLst/>
              <a:uFillTx/>
              <a:latin typeface="Times New Roman" panose="02020603050405020304"/>
            </a:endParaRPr>
          </a:p>
        </p:txBody>
      </p:sp>
      <p:sp>
        <p:nvSpPr>
          <p:cNvPr id="1269" name="任意多邊形 1268"/>
          <p:cNvSpPr/>
          <p:nvPr/>
        </p:nvSpPr>
        <p:spPr>
          <a:xfrm>
            <a:off x="3977640" y="4980240"/>
            <a:ext cx="2741400" cy="9360"/>
          </a:xfrm>
          <a:custGeom>
            <a:avLst/>
            <a:gdLst/>
            <a:ahLst/>
            <a:cxnLst/>
            <a:rect l="0" t="0" r="r" b="b"/>
            <a:pathLst>
              <a:path w="7615" h="26">
                <a:moveTo>
                  <a:pt x="0" y="0"/>
                </a:moveTo>
                <a:lnTo>
                  <a:pt x="7615" y="0"/>
                </a:lnTo>
                <a:lnTo>
                  <a:pt x="7615" y="26"/>
                </a:lnTo>
                <a:lnTo>
                  <a:pt x="0" y="26"/>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1270" name="文字框 1269"/>
          <p:cNvSpPr txBox="1"/>
          <p:nvPr/>
        </p:nvSpPr>
        <p:spPr>
          <a:xfrm>
            <a:off x="4178520" y="449244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具</a:t>
            </a:r>
            <a:endParaRPr lang="en-US" sz="1050" b="0" u="none" strike="noStrike">
              <a:solidFill>
                <a:srgbClr val="000000"/>
              </a:solidFill>
              <a:effectLst/>
              <a:uFillTx/>
              <a:latin typeface="Times New Roman" panose="02020603050405020304"/>
            </a:endParaRPr>
          </a:p>
        </p:txBody>
      </p:sp>
      <p:sp>
        <p:nvSpPr>
          <p:cNvPr id="1271" name="任意多邊形 1270"/>
          <p:cNvSpPr/>
          <p:nvPr/>
        </p:nvSpPr>
        <p:spPr>
          <a:xfrm>
            <a:off x="7019280" y="1370160"/>
            <a:ext cx="3075840" cy="4087080"/>
          </a:xfrm>
          <a:custGeom>
            <a:avLst/>
            <a:gdLst/>
            <a:ahLst/>
            <a:cxnLst/>
            <a:rect l="0" t="0" r="r" b="b"/>
            <a:pathLst>
              <a:path w="8544" h="11353">
                <a:moveTo>
                  <a:pt x="0" y="11167"/>
                </a:moveTo>
                <a:lnTo>
                  <a:pt x="0" y="186"/>
                </a:lnTo>
                <a:cubicBezTo>
                  <a:pt x="0" y="174"/>
                  <a:pt x="2" y="162"/>
                  <a:pt x="4" y="150"/>
                </a:cubicBezTo>
                <a:cubicBezTo>
                  <a:pt x="6" y="138"/>
                  <a:pt x="10" y="126"/>
                  <a:pt x="15" y="115"/>
                </a:cubicBezTo>
                <a:cubicBezTo>
                  <a:pt x="19" y="104"/>
                  <a:pt x="25" y="93"/>
                  <a:pt x="32" y="83"/>
                </a:cubicBezTo>
                <a:cubicBezTo>
                  <a:pt x="39"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8358" y="0"/>
                </a:lnTo>
                <a:cubicBezTo>
                  <a:pt x="8370" y="0"/>
                  <a:pt x="8382" y="2"/>
                  <a:pt x="8394" y="4"/>
                </a:cubicBezTo>
                <a:cubicBezTo>
                  <a:pt x="8406" y="6"/>
                  <a:pt x="8418" y="10"/>
                  <a:pt x="8429" y="15"/>
                </a:cubicBezTo>
                <a:cubicBezTo>
                  <a:pt x="8440" y="19"/>
                  <a:pt x="8451" y="25"/>
                  <a:pt x="8461" y="32"/>
                </a:cubicBezTo>
                <a:cubicBezTo>
                  <a:pt x="8471" y="39"/>
                  <a:pt x="8481" y="46"/>
                  <a:pt x="8489" y="55"/>
                </a:cubicBezTo>
                <a:cubicBezTo>
                  <a:pt x="8498" y="63"/>
                  <a:pt x="8506" y="73"/>
                  <a:pt x="8513" y="83"/>
                </a:cubicBezTo>
                <a:cubicBezTo>
                  <a:pt x="8519" y="93"/>
                  <a:pt x="8525" y="104"/>
                  <a:pt x="8530" y="115"/>
                </a:cubicBezTo>
                <a:cubicBezTo>
                  <a:pt x="8534" y="126"/>
                  <a:pt x="8538" y="138"/>
                  <a:pt x="8540" y="150"/>
                </a:cubicBezTo>
                <a:cubicBezTo>
                  <a:pt x="8543" y="162"/>
                  <a:pt x="8544" y="174"/>
                  <a:pt x="8544" y="186"/>
                </a:cubicBezTo>
                <a:lnTo>
                  <a:pt x="8544" y="11167"/>
                </a:lnTo>
                <a:cubicBezTo>
                  <a:pt x="8544" y="11179"/>
                  <a:pt x="8543" y="11191"/>
                  <a:pt x="8540" y="11203"/>
                </a:cubicBezTo>
                <a:cubicBezTo>
                  <a:pt x="8538" y="11215"/>
                  <a:pt x="8534" y="11227"/>
                  <a:pt x="8530" y="11238"/>
                </a:cubicBezTo>
                <a:cubicBezTo>
                  <a:pt x="8525" y="11249"/>
                  <a:pt x="8519" y="11260"/>
                  <a:pt x="8513" y="11270"/>
                </a:cubicBezTo>
                <a:cubicBezTo>
                  <a:pt x="8506" y="11280"/>
                  <a:pt x="8498" y="11290"/>
                  <a:pt x="8489" y="11298"/>
                </a:cubicBezTo>
                <a:cubicBezTo>
                  <a:pt x="8481" y="11307"/>
                  <a:pt x="8471" y="11315"/>
                  <a:pt x="8461" y="11321"/>
                </a:cubicBezTo>
                <a:cubicBezTo>
                  <a:pt x="8451" y="11328"/>
                  <a:pt x="8440" y="11334"/>
                  <a:pt x="8429" y="11338"/>
                </a:cubicBezTo>
                <a:cubicBezTo>
                  <a:pt x="8418" y="11343"/>
                  <a:pt x="8406" y="11347"/>
                  <a:pt x="8394" y="11349"/>
                </a:cubicBezTo>
                <a:cubicBezTo>
                  <a:pt x="8382" y="11351"/>
                  <a:pt x="8370" y="11353"/>
                  <a:pt x="8358" y="11353"/>
                </a:cubicBezTo>
                <a:lnTo>
                  <a:pt x="186" y="11353"/>
                </a:lnTo>
                <a:cubicBezTo>
                  <a:pt x="174" y="11353"/>
                  <a:pt x="162" y="11351"/>
                  <a:pt x="150" y="11349"/>
                </a:cubicBezTo>
                <a:cubicBezTo>
                  <a:pt x="138" y="11347"/>
                  <a:pt x="126" y="11343"/>
                  <a:pt x="115" y="11338"/>
                </a:cubicBezTo>
                <a:cubicBezTo>
                  <a:pt x="104" y="11334"/>
                  <a:pt x="93" y="11328"/>
                  <a:pt x="83" y="11321"/>
                </a:cubicBezTo>
                <a:cubicBezTo>
                  <a:pt x="73" y="11315"/>
                  <a:pt x="63" y="11307"/>
                  <a:pt x="55" y="11298"/>
                </a:cubicBezTo>
                <a:cubicBezTo>
                  <a:pt x="46" y="11290"/>
                  <a:pt x="39" y="11280"/>
                  <a:pt x="32" y="11270"/>
                </a:cubicBezTo>
                <a:cubicBezTo>
                  <a:pt x="25" y="11260"/>
                  <a:pt x="19" y="11249"/>
                  <a:pt x="15" y="11238"/>
                </a:cubicBezTo>
                <a:cubicBezTo>
                  <a:pt x="10" y="11227"/>
                  <a:pt x="6" y="11215"/>
                  <a:pt x="4" y="11203"/>
                </a:cubicBezTo>
                <a:cubicBezTo>
                  <a:pt x="2" y="11191"/>
                  <a:pt x="0" y="11179"/>
                  <a:pt x="0" y="11167"/>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72" name="任意多邊形 1271"/>
          <p:cNvSpPr/>
          <p:nvPr/>
        </p:nvSpPr>
        <p:spPr>
          <a:xfrm>
            <a:off x="7186680" y="1537560"/>
            <a:ext cx="501840" cy="501480"/>
          </a:xfrm>
          <a:custGeom>
            <a:avLst/>
            <a:gdLst/>
            <a:ahLst/>
            <a:cxnLst/>
            <a:rect l="0" t="0" r="r" b="b"/>
            <a:pathLst>
              <a:path w="1394" h="1393">
                <a:moveTo>
                  <a:pt x="1394" y="697"/>
                </a:moveTo>
                <a:cubicBezTo>
                  <a:pt x="1394" y="720"/>
                  <a:pt x="1392" y="743"/>
                  <a:pt x="1390" y="765"/>
                </a:cubicBezTo>
                <a:cubicBezTo>
                  <a:pt x="1388" y="788"/>
                  <a:pt x="1385" y="811"/>
                  <a:pt x="1380" y="833"/>
                </a:cubicBezTo>
                <a:cubicBezTo>
                  <a:pt x="1376" y="855"/>
                  <a:pt x="1370" y="877"/>
                  <a:pt x="1364" y="899"/>
                </a:cubicBezTo>
                <a:cubicBezTo>
                  <a:pt x="1357" y="921"/>
                  <a:pt x="1349" y="943"/>
                  <a:pt x="1340" y="964"/>
                </a:cubicBezTo>
                <a:cubicBezTo>
                  <a:pt x="1332" y="985"/>
                  <a:pt x="1322" y="1005"/>
                  <a:pt x="1311" y="1025"/>
                </a:cubicBezTo>
                <a:cubicBezTo>
                  <a:pt x="1301" y="1045"/>
                  <a:pt x="1289" y="1065"/>
                  <a:pt x="1276" y="1084"/>
                </a:cubicBezTo>
                <a:cubicBezTo>
                  <a:pt x="1263" y="1103"/>
                  <a:pt x="1250" y="1121"/>
                  <a:pt x="1235" y="1139"/>
                </a:cubicBezTo>
                <a:cubicBezTo>
                  <a:pt x="1221" y="1157"/>
                  <a:pt x="1206" y="1173"/>
                  <a:pt x="1190" y="1190"/>
                </a:cubicBezTo>
                <a:cubicBezTo>
                  <a:pt x="1173" y="1206"/>
                  <a:pt x="1157" y="1221"/>
                  <a:pt x="1139" y="1235"/>
                </a:cubicBezTo>
                <a:cubicBezTo>
                  <a:pt x="1121" y="1250"/>
                  <a:pt x="1103" y="1263"/>
                  <a:pt x="1084" y="1276"/>
                </a:cubicBezTo>
                <a:cubicBezTo>
                  <a:pt x="1065" y="1289"/>
                  <a:pt x="1046" y="1301"/>
                  <a:pt x="1025" y="1311"/>
                </a:cubicBezTo>
                <a:cubicBezTo>
                  <a:pt x="1005" y="1322"/>
                  <a:pt x="985" y="1332"/>
                  <a:pt x="964" y="1340"/>
                </a:cubicBezTo>
                <a:cubicBezTo>
                  <a:pt x="943" y="1349"/>
                  <a:pt x="921" y="1357"/>
                  <a:pt x="899" y="1363"/>
                </a:cubicBezTo>
                <a:cubicBezTo>
                  <a:pt x="877" y="1370"/>
                  <a:pt x="855" y="1376"/>
                  <a:pt x="833" y="1380"/>
                </a:cubicBezTo>
                <a:cubicBezTo>
                  <a:pt x="811" y="1385"/>
                  <a:pt x="788" y="1388"/>
                  <a:pt x="765" y="1390"/>
                </a:cubicBezTo>
                <a:cubicBezTo>
                  <a:pt x="743" y="1392"/>
                  <a:pt x="720" y="1393"/>
                  <a:pt x="697" y="1393"/>
                </a:cubicBezTo>
                <a:cubicBezTo>
                  <a:pt x="674" y="1393"/>
                  <a:pt x="652" y="1392"/>
                  <a:pt x="629" y="1390"/>
                </a:cubicBezTo>
                <a:cubicBezTo>
                  <a:pt x="606" y="1388"/>
                  <a:pt x="584" y="1385"/>
                  <a:pt x="561" y="1380"/>
                </a:cubicBezTo>
                <a:cubicBezTo>
                  <a:pt x="539" y="1376"/>
                  <a:pt x="517" y="1370"/>
                  <a:pt x="495" y="1363"/>
                </a:cubicBezTo>
                <a:cubicBezTo>
                  <a:pt x="473" y="1357"/>
                  <a:pt x="452" y="1349"/>
                  <a:pt x="431" y="1340"/>
                </a:cubicBezTo>
                <a:cubicBezTo>
                  <a:pt x="410" y="1332"/>
                  <a:pt x="389" y="1322"/>
                  <a:pt x="369" y="1311"/>
                </a:cubicBezTo>
                <a:cubicBezTo>
                  <a:pt x="349" y="1301"/>
                  <a:pt x="329" y="1289"/>
                  <a:pt x="310" y="1276"/>
                </a:cubicBezTo>
                <a:cubicBezTo>
                  <a:pt x="291" y="1263"/>
                  <a:pt x="273" y="1250"/>
                  <a:pt x="255" y="1235"/>
                </a:cubicBezTo>
                <a:cubicBezTo>
                  <a:pt x="238" y="1221"/>
                  <a:pt x="220" y="1206"/>
                  <a:pt x="204" y="1190"/>
                </a:cubicBezTo>
                <a:cubicBezTo>
                  <a:pt x="188" y="1173"/>
                  <a:pt x="172" y="1157"/>
                  <a:pt x="158" y="1139"/>
                </a:cubicBezTo>
                <a:cubicBezTo>
                  <a:pt x="143" y="1121"/>
                  <a:pt x="130" y="1103"/>
                  <a:pt x="117" y="1084"/>
                </a:cubicBezTo>
                <a:cubicBezTo>
                  <a:pt x="104" y="1065"/>
                  <a:pt x="93" y="1045"/>
                  <a:pt x="82" y="1025"/>
                </a:cubicBezTo>
                <a:cubicBezTo>
                  <a:pt x="71" y="1005"/>
                  <a:pt x="61" y="985"/>
                  <a:pt x="53" y="964"/>
                </a:cubicBezTo>
                <a:cubicBezTo>
                  <a:pt x="44" y="943"/>
                  <a:pt x="36" y="921"/>
                  <a:pt x="30" y="899"/>
                </a:cubicBezTo>
                <a:cubicBezTo>
                  <a:pt x="23" y="877"/>
                  <a:pt x="18" y="855"/>
                  <a:pt x="13" y="833"/>
                </a:cubicBezTo>
                <a:cubicBezTo>
                  <a:pt x="9" y="811"/>
                  <a:pt x="5" y="788"/>
                  <a:pt x="3" y="765"/>
                </a:cubicBezTo>
                <a:cubicBezTo>
                  <a:pt x="1" y="743"/>
                  <a:pt x="0" y="720"/>
                  <a:pt x="0" y="697"/>
                </a:cubicBezTo>
                <a:cubicBezTo>
                  <a:pt x="0" y="674"/>
                  <a:pt x="1" y="652"/>
                  <a:pt x="3" y="629"/>
                </a:cubicBezTo>
                <a:cubicBezTo>
                  <a:pt x="5" y="606"/>
                  <a:pt x="9" y="583"/>
                  <a:pt x="13" y="560"/>
                </a:cubicBezTo>
                <a:cubicBezTo>
                  <a:pt x="18" y="538"/>
                  <a:pt x="23" y="516"/>
                  <a:pt x="30" y="494"/>
                </a:cubicBezTo>
                <a:cubicBezTo>
                  <a:pt x="36" y="472"/>
                  <a:pt x="44" y="451"/>
                  <a:pt x="53" y="430"/>
                </a:cubicBezTo>
                <a:cubicBezTo>
                  <a:pt x="61" y="409"/>
                  <a:pt x="71" y="388"/>
                  <a:pt x="82" y="368"/>
                </a:cubicBezTo>
                <a:cubicBezTo>
                  <a:pt x="93" y="348"/>
                  <a:pt x="104" y="328"/>
                  <a:pt x="117" y="309"/>
                </a:cubicBezTo>
                <a:cubicBezTo>
                  <a:pt x="130" y="290"/>
                  <a:pt x="143" y="272"/>
                  <a:pt x="158" y="254"/>
                </a:cubicBezTo>
                <a:cubicBezTo>
                  <a:pt x="172" y="237"/>
                  <a:pt x="188" y="220"/>
                  <a:pt x="204" y="204"/>
                </a:cubicBezTo>
                <a:cubicBezTo>
                  <a:pt x="220" y="188"/>
                  <a:pt x="238" y="172"/>
                  <a:pt x="255" y="158"/>
                </a:cubicBezTo>
                <a:cubicBezTo>
                  <a:pt x="273" y="143"/>
                  <a:pt x="291" y="130"/>
                  <a:pt x="310" y="117"/>
                </a:cubicBezTo>
                <a:cubicBezTo>
                  <a:pt x="329" y="104"/>
                  <a:pt x="349" y="93"/>
                  <a:pt x="369" y="82"/>
                </a:cubicBezTo>
                <a:cubicBezTo>
                  <a:pt x="389" y="71"/>
                  <a:pt x="410" y="61"/>
                  <a:pt x="431" y="53"/>
                </a:cubicBezTo>
                <a:cubicBezTo>
                  <a:pt x="452" y="44"/>
                  <a:pt x="473" y="36"/>
                  <a:pt x="495" y="30"/>
                </a:cubicBezTo>
                <a:cubicBezTo>
                  <a:pt x="517" y="23"/>
                  <a:pt x="539" y="18"/>
                  <a:pt x="561" y="13"/>
                </a:cubicBezTo>
                <a:cubicBezTo>
                  <a:pt x="584" y="9"/>
                  <a:pt x="606" y="5"/>
                  <a:pt x="629" y="3"/>
                </a:cubicBezTo>
                <a:cubicBezTo>
                  <a:pt x="652" y="1"/>
                  <a:pt x="674" y="0"/>
                  <a:pt x="697" y="0"/>
                </a:cubicBezTo>
                <a:cubicBezTo>
                  <a:pt x="720" y="0"/>
                  <a:pt x="743" y="1"/>
                  <a:pt x="765" y="3"/>
                </a:cubicBezTo>
                <a:cubicBezTo>
                  <a:pt x="788" y="5"/>
                  <a:pt x="811" y="9"/>
                  <a:pt x="833" y="13"/>
                </a:cubicBezTo>
                <a:cubicBezTo>
                  <a:pt x="855" y="18"/>
                  <a:pt x="877" y="23"/>
                  <a:pt x="899" y="30"/>
                </a:cubicBezTo>
                <a:cubicBezTo>
                  <a:pt x="921" y="36"/>
                  <a:pt x="943" y="44"/>
                  <a:pt x="964" y="53"/>
                </a:cubicBezTo>
                <a:cubicBezTo>
                  <a:pt x="985" y="61"/>
                  <a:pt x="1005" y="71"/>
                  <a:pt x="1025" y="82"/>
                </a:cubicBezTo>
                <a:cubicBezTo>
                  <a:pt x="1046" y="93"/>
                  <a:pt x="1065" y="104"/>
                  <a:pt x="1084" y="117"/>
                </a:cubicBezTo>
                <a:cubicBezTo>
                  <a:pt x="1103" y="130"/>
                  <a:pt x="1121" y="143"/>
                  <a:pt x="1139" y="158"/>
                </a:cubicBezTo>
                <a:cubicBezTo>
                  <a:pt x="1157" y="172"/>
                  <a:pt x="1173" y="188"/>
                  <a:pt x="1190" y="204"/>
                </a:cubicBezTo>
                <a:cubicBezTo>
                  <a:pt x="1206" y="220"/>
                  <a:pt x="1221" y="237"/>
                  <a:pt x="1235" y="254"/>
                </a:cubicBezTo>
                <a:cubicBezTo>
                  <a:pt x="1250" y="272"/>
                  <a:pt x="1263" y="290"/>
                  <a:pt x="1276" y="309"/>
                </a:cubicBezTo>
                <a:cubicBezTo>
                  <a:pt x="1289" y="328"/>
                  <a:pt x="1301" y="348"/>
                  <a:pt x="1311" y="368"/>
                </a:cubicBezTo>
                <a:cubicBezTo>
                  <a:pt x="1322" y="388"/>
                  <a:pt x="1332" y="409"/>
                  <a:pt x="1340" y="430"/>
                </a:cubicBezTo>
                <a:cubicBezTo>
                  <a:pt x="1349" y="451"/>
                  <a:pt x="1357" y="472"/>
                  <a:pt x="1364" y="494"/>
                </a:cubicBezTo>
                <a:cubicBezTo>
                  <a:pt x="1370" y="516"/>
                  <a:pt x="1376" y="538"/>
                  <a:pt x="1380" y="560"/>
                </a:cubicBezTo>
                <a:cubicBezTo>
                  <a:pt x="1385" y="583"/>
                  <a:pt x="1388" y="606"/>
                  <a:pt x="1390" y="629"/>
                </a:cubicBezTo>
                <a:cubicBezTo>
                  <a:pt x="1392" y="652"/>
                  <a:pt x="1394" y="674"/>
                  <a:pt x="1394" y="697"/>
                </a:cubicBezTo>
                <a:close/>
              </a:path>
            </a:pathLst>
          </a:custGeom>
          <a:solidFill>
            <a:srgbClr val="047857"/>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pic>
        <p:nvPicPr>
          <p:cNvPr id="1273" name="圖片 1272"/>
          <p:cNvPicPr/>
          <p:nvPr/>
        </p:nvPicPr>
        <p:blipFill>
          <a:blip r:embed="rId9"/>
          <a:stretch>
            <a:fillRect/>
          </a:stretch>
        </p:blipFill>
        <p:spPr>
          <a:xfrm>
            <a:off x="7337160" y="1688040"/>
            <a:ext cx="200160" cy="200160"/>
          </a:xfrm>
          <a:prstGeom prst="rect">
            <a:avLst/>
          </a:prstGeom>
          <a:noFill/>
          <a:ln w="0">
            <a:noFill/>
          </a:ln>
        </p:spPr>
      </p:pic>
      <p:sp>
        <p:nvSpPr>
          <p:cNvPr id="1274" name="文字框 1273"/>
          <p:cNvSpPr txBox="1"/>
          <p:nvPr/>
        </p:nvSpPr>
        <p:spPr>
          <a:xfrm>
            <a:off x="3977640" y="5102640"/>
            <a:ext cx="160992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核心目标：平衡风险与回报</a:t>
            </a:r>
            <a:endParaRPr lang="en-US" sz="1050" b="0" u="none" strike="noStrike">
              <a:solidFill>
                <a:srgbClr val="000000"/>
              </a:solidFill>
              <a:effectLst/>
              <a:uFillTx/>
              <a:latin typeface="Times New Roman" panose="02020603050405020304"/>
            </a:endParaRPr>
          </a:p>
        </p:txBody>
      </p:sp>
      <p:pic>
        <p:nvPicPr>
          <p:cNvPr id="1275" name="圖片 1274"/>
          <p:cNvPicPr/>
          <p:nvPr/>
        </p:nvPicPr>
        <p:blipFill>
          <a:blip r:embed="rId10"/>
          <a:stretch>
            <a:fillRect/>
          </a:stretch>
        </p:blipFill>
        <p:spPr>
          <a:xfrm>
            <a:off x="7888680" y="2273040"/>
            <a:ext cx="1336680" cy="1336680"/>
          </a:xfrm>
          <a:prstGeom prst="rect">
            <a:avLst/>
          </a:prstGeom>
          <a:noFill/>
          <a:ln w="0">
            <a:noFill/>
          </a:ln>
        </p:spPr>
      </p:pic>
      <p:pic>
        <p:nvPicPr>
          <p:cNvPr id="1276" name="圖片 1275"/>
          <p:cNvPicPr/>
          <p:nvPr/>
        </p:nvPicPr>
        <p:blipFill>
          <a:blip r:embed="rId6"/>
          <a:stretch>
            <a:fillRect/>
          </a:stretch>
        </p:blipFill>
        <p:spPr>
          <a:xfrm>
            <a:off x="7186680" y="3777120"/>
            <a:ext cx="133200" cy="133200"/>
          </a:xfrm>
          <a:prstGeom prst="rect">
            <a:avLst/>
          </a:prstGeom>
          <a:noFill/>
          <a:ln w="0">
            <a:noFill/>
          </a:ln>
        </p:spPr>
      </p:pic>
      <p:sp>
        <p:nvSpPr>
          <p:cNvPr id="1277" name="文字框 1276"/>
          <p:cNvSpPr txBox="1"/>
          <p:nvPr/>
        </p:nvSpPr>
        <p:spPr>
          <a:xfrm>
            <a:off x="7788600" y="173592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积极型投资者</a:t>
            </a:r>
            <a:endParaRPr lang="en-US" sz="1320" b="0" u="none" strike="noStrike">
              <a:solidFill>
                <a:srgbClr val="000000"/>
              </a:solidFill>
              <a:effectLst/>
              <a:uFillTx/>
              <a:latin typeface="Times New Roman" panose="02020603050405020304"/>
            </a:endParaRPr>
          </a:p>
        </p:txBody>
      </p:sp>
      <p:sp>
        <p:nvSpPr>
          <p:cNvPr id="1278" name="文字框 1277"/>
          <p:cNvSpPr txBox="1"/>
          <p:nvPr/>
        </p:nvSpPr>
        <p:spPr>
          <a:xfrm>
            <a:off x="7387200" y="375696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配置一定比例避险资产（如债券和黄金）作</a:t>
            </a:r>
            <a:endParaRPr lang="en-US" sz="1050" b="0" u="none" strike="noStrike">
              <a:solidFill>
                <a:srgbClr val="000000"/>
              </a:solidFill>
              <a:effectLst/>
              <a:uFillTx/>
              <a:latin typeface="Times New Roman" panose="02020603050405020304"/>
            </a:endParaRPr>
          </a:p>
        </p:txBody>
      </p:sp>
      <p:pic>
        <p:nvPicPr>
          <p:cNvPr id="1279" name="圖片 1278"/>
          <p:cNvPicPr/>
          <p:nvPr/>
        </p:nvPicPr>
        <p:blipFill>
          <a:blip r:embed="rId6"/>
          <a:stretch>
            <a:fillRect/>
          </a:stretch>
        </p:blipFill>
        <p:spPr>
          <a:xfrm>
            <a:off x="7186680" y="4245120"/>
            <a:ext cx="133200" cy="133200"/>
          </a:xfrm>
          <a:prstGeom prst="rect">
            <a:avLst/>
          </a:prstGeom>
          <a:noFill/>
          <a:ln w="0">
            <a:noFill/>
          </a:ln>
        </p:spPr>
      </p:pic>
      <p:sp>
        <p:nvSpPr>
          <p:cNvPr id="1280" name="文字框 1279"/>
          <p:cNvSpPr txBox="1"/>
          <p:nvPr/>
        </p:nvSpPr>
        <p:spPr>
          <a:xfrm>
            <a:off x="7387200" y="395784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为安全垫</a:t>
            </a:r>
            <a:endParaRPr lang="en-US" sz="1050" b="0" u="none" strike="noStrike">
              <a:solidFill>
                <a:srgbClr val="000000"/>
              </a:solidFill>
              <a:effectLst/>
              <a:uFillTx/>
              <a:latin typeface="Times New Roman" panose="02020603050405020304"/>
            </a:endParaRPr>
          </a:p>
        </p:txBody>
      </p:sp>
      <p:pic>
        <p:nvPicPr>
          <p:cNvPr id="1281" name="圖片 1280"/>
          <p:cNvPicPr/>
          <p:nvPr/>
        </p:nvPicPr>
        <p:blipFill>
          <a:blip r:embed="rId6"/>
          <a:stretch>
            <a:fillRect/>
          </a:stretch>
        </p:blipFill>
        <p:spPr>
          <a:xfrm>
            <a:off x="7186680" y="4512600"/>
            <a:ext cx="133200" cy="133200"/>
          </a:xfrm>
          <a:prstGeom prst="rect">
            <a:avLst/>
          </a:prstGeom>
          <a:noFill/>
          <a:ln w="0">
            <a:noFill/>
          </a:ln>
        </p:spPr>
      </p:pic>
      <p:sp>
        <p:nvSpPr>
          <p:cNvPr id="1282" name="文字框 1281"/>
          <p:cNvSpPr txBox="1"/>
          <p:nvPr/>
        </p:nvSpPr>
        <p:spPr>
          <a:xfrm>
            <a:off x="7387200" y="4224960"/>
            <a:ext cx="1609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维持较高比例的防御性股票</a:t>
            </a:r>
            <a:endParaRPr lang="en-US" sz="1050" b="0" u="none" strike="noStrike">
              <a:solidFill>
                <a:srgbClr val="000000"/>
              </a:solidFill>
              <a:effectLst/>
              <a:uFillTx/>
              <a:latin typeface="Times New Roman" panose="02020603050405020304"/>
            </a:endParaRPr>
          </a:p>
        </p:txBody>
      </p:sp>
      <p:sp>
        <p:nvSpPr>
          <p:cNvPr id="1283" name="文字框 1282"/>
          <p:cNvSpPr txBox="1"/>
          <p:nvPr/>
        </p:nvSpPr>
        <p:spPr>
          <a:xfrm>
            <a:off x="7387200" y="449244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利用现金在市场过度恐慌时寻找错杀的投资</a:t>
            </a:r>
            <a:endParaRPr lang="en-US" sz="1050" b="0" u="none" strike="noStrike">
              <a:solidFill>
                <a:srgbClr val="000000"/>
              </a:solidFill>
              <a:effectLst/>
              <a:uFillTx/>
              <a:latin typeface="Times New Roman" panose="02020603050405020304"/>
            </a:endParaRPr>
          </a:p>
        </p:txBody>
      </p:sp>
      <p:sp>
        <p:nvSpPr>
          <p:cNvPr id="1284" name="任意多邊形 1283"/>
          <p:cNvSpPr/>
          <p:nvPr/>
        </p:nvSpPr>
        <p:spPr>
          <a:xfrm>
            <a:off x="7186680" y="4980240"/>
            <a:ext cx="2741400" cy="9360"/>
          </a:xfrm>
          <a:custGeom>
            <a:avLst/>
            <a:gdLst/>
            <a:ahLst/>
            <a:cxnLst/>
            <a:rect l="0" t="0" r="r" b="b"/>
            <a:pathLst>
              <a:path w="7615" h="26">
                <a:moveTo>
                  <a:pt x="0" y="0"/>
                </a:moveTo>
                <a:lnTo>
                  <a:pt x="7615" y="0"/>
                </a:lnTo>
                <a:lnTo>
                  <a:pt x="7615" y="26"/>
                </a:lnTo>
                <a:lnTo>
                  <a:pt x="0" y="26"/>
                </a:lnTo>
                <a:lnTo>
                  <a:pt x="0" y="0"/>
                </a:lnTo>
                <a:close/>
              </a:path>
            </a:pathLst>
          </a:custGeom>
          <a:solidFill>
            <a:srgbClr val="4B5563"/>
          </a:solidFill>
          <a:ln w="0">
            <a:noFill/>
          </a:ln>
        </p:spPr>
        <p:txBody>
          <a:bodyPr lIns="0" tIns="0" rIns="0" bIns="0" anchor="t">
            <a:noAutofit/>
          </a:bodyPr>
          <a:p>
            <a:endParaRPr lang="en-US" sz="2400" b="0" u="none" strike="noStrike">
              <a:solidFill>
                <a:srgbClr val="FFFFFF"/>
              </a:solidFill>
              <a:effectLst/>
              <a:uFillTx/>
              <a:latin typeface="Times New Roman" panose="02020603050405020304"/>
            </a:endParaRPr>
          </a:p>
        </p:txBody>
      </p:sp>
      <p:sp>
        <p:nvSpPr>
          <p:cNvPr id="1285" name="文字框 1284"/>
          <p:cNvSpPr txBox="1"/>
          <p:nvPr/>
        </p:nvSpPr>
        <p:spPr>
          <a:xfrm>
            <a:off x="7387200" y="46929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机会</a:t>
            </a:r>
            <a:endParaRPr lang="en-US" sz="1050" b="0" u="none" strike="noStrike">
              <a:solidFill>
                <a:srgbClr val="000000"/>
              </a:solidFill>
              <a:effectLst/>
              <a:uFillTx/>
              <a:latin typeface="Times New Roman" panose="02020603050405020304"/>
            </a:endParaRPr>
          </a:p>
        </p:txBody>
      </p:sp>
      <p:sp>
        <p:nvSpPr>
          <p:cNvPr id="1286" name="文字框 1285"/>
          <p:cNvSpPr txBox="1"/>
          <p:nvPr/>
        </p:nvSpPr>
        <p:spPr>
          <a:xfrm>
            <a:off x="7186680" y="5102640"/>
            <a:ext cx="2012400" cy="169560"/>
          </a:xfrm>
          <a:prstGeom prst="rect">
            <a:avLst/>
          </a:prstGeom>
          <a:noFill/>
          <a:ln w="0">
            <a:noFill/>
          </a:ln>
        </p:spPr>
        <p:txBody>
          <a:bodyPr wrap="none" lIns="0" tIns="0" rIns="0" bIns="0" anchor="t">
            <a:spAutoFit/>
          </a:bodyPr>
          <a:p>
            <a:r>
              <a:rPr lang="zh-CN" sz="1050" b="0" u="none" strike="noStrike">
                <a:solidFill>
                  <a:srgbClr val="FCD34D"/>
                </a:solidFill>
                <a:effectLst/>
                <a:uFillTx/>
                <a:latin typeface="WenQuanYiZenHei"/>
                <a:ea typeface="WenQuanYiZenHei"/>
              </a:rPr>
              <a:t>核心目标：把握危机中的增长机会</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7" name="圖片 1286"/>
          <p:cNvPicPr/>
          <p:nvPr/>
        </p:nvPicPr>
        <p:blipFill>
          <a:blip r:embed="rId1"/>
          <a:stretch>
            <a:fillRect/>
          </a:stretch>
        </p:blipFill>
        <p:spPr>
          <a:xfrm>
            <a:off x="0" y="0"/>
            <a:ext cx="10696320" cy="7086240"/>
          </a:xfrm>
          <a:prstGeom prst="rect">
            <a:avLst/>
          </a:prstGeom>
          <a:noFill/>
          <a:ln w="0">
            <a:noFill/>
          </a:ln>
        </p:spPr>
      </p:pic>
      <p:pic>
        <p:nvPicPr>
          <p:cNvPr id="1288" name="圖片 1287"/>
          <p:cNvPicPr/>
          <p:nvPr/>
        </p:nvPicPr>
        <p:blipFill>
          <a:blip r:embed="rId2"/>
          <a:stretch>
            <a:fillRect/>
          </a:stretch>
        </p:blipFill>
        <p:spPr>
          <a:xfrm>
            <a:off x="534960" y="735480"/>
            <a:ext cx="3208680" cy="33120"/>
          </a:xfrm>
          <a:prstGeom prst="rect">
            <a:avLst/>
          </a:prstGeom>
          <a:noFill/>
          <a:ln w="0">
            <a:noFill/>
          </a:ln>
        </p:spPr>
      </p:pic>
      <p:pic>
        <p:nvPicPr>
          <p:cNvPr id="1289" name="圖片 1288"/>
          <p:cNvPicPr/>
          <p:nvPr/>
        </p:nvPicPr>
        <p:blipFill>
          <a:blip r:embed="rId3"/>
          <a:stretch>
            <a:fillRect/>
          </a:stretch>
        </p:blipFill>
        <p:spPr>
          <a:xfrm>
            <a:off x="534960" y="927720"/>
            <a:ext cx="150120" cy="200160"/>
          </a:xfrm>
          <a:prstGeom prst="rect">
            <a:avLst/>
          </a:prstGeom>
          <a:noFill/>
          <a:ln w="0">
            <a:noFill/>
          </a:ln>
        </p:spPr>
      </p:pic>
      <p:sp>
        <p:nvSpPr>
          <p:cNvPr id="1290" name="文字框 1289"/>
          <p:cNvSpPr txBox="1"/>
          <p:nvPr/>
        </p:nvSpPr>
        <p:spPr>
          <a:xfrm>
            <a:off x="534960" y="312120"/>
            <a:ext cx="360360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结论：构建抗危机投资组合</a:t>
            </a:r>
            <a:endParaRPr lang="en-US" sz="2370" b="0" u="none" strike="noStrike">
              <a:solidFill>
                <a:srgbClr val="000000"/>
              </a:solidFill>
              <a:effectLst/>
              <a:uFillTx/>
              <a:latin typeface="Times New Roman" panose="02020603050405020304"/>
            </a:endParaRPr>
          </a:p>
        </p:txBody>
      </p:sp>
      <p:pic>
        <p:nvPicPr>
          <p:cNvPr id="1291" name="圖片 1290"/>
          <p:cNvPicPr/>
          <p:nvPr/>
        </p:nvPicPr>
        <p:blipFill>
          <a:blip r:embed="rId4"/>
          <a:stretch>
            <a:fillRect/>
          </a:stretch>
        </p:blipFill>
        <p:spPr>
          <a:xfrm>
            <a:off x="5548680" y="927720"/>
            <a:ext cx="200160" cy="200160"/>
          </a:xfrm>
          <a:prstGeom prst="rect">
            <a:avLst/>
          </a:prstGeom>
          <a:noFill/>
          <a:ln w="0">
            <a:noFill/>
          </a:ln>
        </p:spPr>
      </p:pic>
      <p:sp>
        <p:nvSpPr>
          <p:cNvPr id="1292" name="文字框 1291"/>
          <p:cNvSpPr txBox="1"/>
          <p:nvPr/>
        </p:nvSpPr>
        <p:spPr>
          <a:xfrm>
            <a:off x="752040" y="910080"/>
            <a:ext cx="80532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关键发现</a:t>
            </a:r>
            <a:endParaRPr lang="en-US" sz="1580" b="0" u="none" strike="noStrike">
              <a:solidFill>
                <a:srgbClr val="000000"/>
              </a:solidFill>
              <a:effectLst/>
              <a:uFillTx/>
              <a:latin typeface="Times New Roman" panose="02020603050405020304"/>
            </a:endParaRPr>
          </a:p>
        </p:txBody>
      </p:sp>
      <p:pic>
        <p:nvPicPr>
          <p:cNvPr id="1293" name="圖片 1292"/>
          <p:cNvPicPr/>
          <p:nvPr/>
        </p:nvPicPr>
        <p:blipFill>
          <a:blip r:embed="rId5"/>
          <a:stretch>
            <a:fillRect/>
          </a:stretch>
        </p:blipFill>
        <p:spPr>
          <a:xfrm>
            <a:off x="5548680" y="1303560"/>
            <a:ext cx="4612680" cy="2088720"/>
          </a:xfrm>
          <a:prstGeom prst="rect">
            <a:avLst/>
          </a:prstGeom>
          <a:noFill/>
          <a:ln w="0">
            <a:noFill/>
          </a:ln>
        </p:spPr>
      </p:pic>
      <p:sp>
        <p:nvSpPr>
          <p:cNvPr id="1294" name="任意多邊形 1293"/>
          <p:cNvSpPr/>
          <p:nvPr/>
        </p:nvSpPr>
        <p:spPr>
          <a:xfrm>
            <a:off x="5548680" y="3643200"/>
            <a:ext cx="2239920" cy="1237320"/>
          </a:xfrm>
          <a:custGeom>
            <a:avLst/>
            <a:gdLst/>
            <a:ahLst/>
            <a:cxnLst/>
            <a:rect l="0" t="0" r="r" b="b"/>
            <a:pathLst>
              <a:path w="6222" h="3437">
                <a:moveTo>
                  <a:pt x="0" y="3251"/>
                </a:moveTo>
                <a:lnTo>
                  <a:pt x="0" y="186"/>
                </a:lnTo>
                <a:cubicBezTo>
                  <a:pt x="0" y="174"/>
                  <a:pt x="1" y="162"/>
                  <a:pt x="4" y="150"/>
                </a:cubicBezTo>
                <a:cubicBezTo>
                  <a:pt x="6" y="138"/>
                  <a:pt x="9" y="126"/>
                  <a:pt x="14" y="115"/>
                </a:cubicBezTo>
                <a:cubicBezTo>
                  <a:pt x="19" y="104"/>
                  <a:pt x="24" y="93"/>
                  <a:pt x="31" y="83"/>
                </a:cubicBezTo>
                <a:cubicBezTo>
                  <a:pt x="38" y="73"/>
                  <a:pt x="46" y="63"/>
                  <a:pt x="54" y="55"/>
                </a:cubicBezTo>
                <a:cubicBezTo>
                  <a:pt x="63" y="46"/>
                  <a:pt x="72" y="38"/>
                  <a:pt x="83" y="32"/>
                </a:cubicBezTo>
                <a:cubicBezTo>
                  <a:pt x="93" y="25"/>
                  <a:pt x="103" y="19"/>
                  <a:pt x="115" y="15"/>
                </a:cubicBezTo>
                <a:cubicBezTo>
                  <a:pt x="126" y="10"/>
                  <a:pt x="137" y="6"/>
                  <a:pt x="150" y="4"/>
                </a:cubicBezTo>
                <a:cubicBezTo>
                  <a:pt x="162" y="2"/>
                  <a:pt x="174" y="0"/>
                  <a:pt x="187" y="0"/>
                </a:cubicBezTo>
                <a:lnTo>
                  <a:pt x="6036" y="0"/>
                </a:lnTo>
                <a:cubicBezTo>
                  <a:pt x="6049" y="0"/>
                  <a:pt x="6061" y="2"/>
                  <a:pt x="6073" y="4"/>
                </a:cubicBezTo>
                <a:cubicBezTo>
                  <a:pt x="6085" y="6"/>
                  <a:pt x="6096" y="10"/>
                  <a:pt x="6107" y="15"/>
                </a:cubicBezTo>
                <a:cubicBezTo>
                  <a:pt x="6119" y="19"/>
                  <a:pt x="6129" y="25"/>
                  <a:pt x="6140" y="32"/>
                </a:cubicBezTo>
                <a:cubicBezTo>
                  <a:pt x="6150" y="38"/>
                  <a:pt x="6159" y="46"/>
                  <a:pt x="6168" y="55"/>
                </a:cubicBezTo>
                <a:cubicBezTo>
                  <a:pt x="6176" y="63"/>
                  <a:pt x="6184" y="73"/>
                  <a:pt x="6191" y="83"/>
                </a:cubicBezTo>
                <a:cubicBezTo>
                  <a:pt x="6198" y="93"/>
                  <a:pt x="6203" y="104"/>
                  <a:pt x="6208" y="115"/>
                </a:cubicBezTo>
                <a:cubicBezTo>
                  <a:pt x="6213" y="126"/>
                  <a:pt x="6216" y="138"/>
                  <a:pt x="6218" y="150"/>
                </a:cubicBezTo>
                <a:cubicBezTo>
                  <a:pt x="6221" y="162"/>
                  <a:pt x="6222" y="174"/>
                  <a:pt x="6222" y="186"/>
                </a:cubicBezTo>
                <a:lnTo>
                  <a:pt x="6222" y="3251"/>
                </a:lnTo>
                <a:cubicBezTo>
                  <a:pt x="6222" y="3263"/>
                  <a:pt x="6221" y="3275"/>
                  <a:pt x="6218" y="3287"/>
                </a:cubicBezTo>
                <a:cubicBezTo>
                  <a:pt x="6216" y="3299"/>
                  <a:pt x="6213" y="3311"/>
                  <a:pt x="6208" y="3322"/>
                </a:cubicBezTo>
                <a:cubicBezTo>
                  <a:pt x="6203" y="3334"/>
                  <a:pt x="6198" y="3344"/>
                  <a:pt x="6191" y="3354"/>
                </a:cubicBezTo>
                <a:cubicBezTo>
                  <a:pt x="6184" y="3365"/>
                  <a:pt x="6176" y="3374"/>
                  <a:pt x="6168" y="3383"/>
                </a:cubicBezTo>
                <a:cubicBezTo>
                  <a:pt x="6159" y="3391"/>
                  <a:pt x="6150" y="3399"/>
                  <a:pt x="6140" y="3406"/>
                </a:cubicBezTo>
                <a:cubicBezTo>
                  <a:pt x="6129" y="3412"/>
                  <a:pt x="6119" y="3418"/>
                  <a:pt x="6107" y="3423"/>
                </a:cubicBezTo>
                <a:cubicBezTo>
                  <a:pt x="6096" y="3427"/>
                  <a:pt x="6085" y="3431"/>
                  <a:pt x="6073" y="3433"/>
                </a:cubicBezTo>
                <a:cubicBezTo>
                  <a:pt x="6061" y="3436"/>
                  <a:pt x="6049" y="3437"/>
                  <a:pt x="6036" y="3437"/>
                </a:cubicBezTo>
                <a:lnTo>
                  <a:pt x="187" y="3437"/>
                </a:lnTo>
                <a:cubicBezTo>
                  <a:pt x="174" y="3437"/>
                  <a:pt x="162" y="3436"/>
                  <a:pt x="150" y="3433"/>
                </a:cubicBezTo>
                <a:cubicBezTo>
                  <a:pt x="137" y="3431"/>
                  <a:pt x="126" y="3427"/>
                  <a:pt x="115" y="3423"/>
                </a:cubicBezTo>
                <a:cubicBezTo>
                  <a:pt x="103" y="3418"/>
                  <a:pt x="93" y="3412"/>
                  <a:pt x="83" y="3406"/>
                </a:cubicBezTo>
                <a:cubicBezTo>
                  <a:pt x="72" y="3399"/>
                  <a:pt x="63" y="3391"/>
                  <a:pt x="54" y="3383"/>
                </a:cubicBezTo>
                <a:cubicBezTo>
                  <a:pt x="46" y="3374"/>
                  <a:pt x="38" y="3365"/>
                  <a:pt x="31" y="3354"/>
                </a:cubicBezTo>
                <a:cubicBezTo>
                  <a:pt x="24" y="3344"/>
                  <a:pt x="19" y="3334"/>
                  <a:pt x="14" y="3322"/>
                </a:cubicBezTo>
                <a:cubicBezTo>
                  <a:pt x="9" y="3311"/>
                  <a:pt x="6" y="3299"/>
                  <a:pt x="4" y="3287"/>
                </a:cubicBezTo>
                <a:cubicBezTo>
                  <a:pt x="1" y="3275"/>
                  <a:pt x="0" y="3263"/>
                  <a:pt x="0" y="3251"/>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295" name="圖片 1294"/>
          <p:cNvPicPr/>
          <p:nvPr/>
        </p:nvPicPr>
        <p:blipFill>
          <a:blip r:embed="rId6"/>
          <a:stretch>
            <a:fillRect/>
          </a:stretch>
        </p:blipFill>
        <p:spPr>
          <a:xfrm>
            <a:off x="5682600" y="3818880"/>
            <a:ext cx="191880" cy="150120"/>
          </a:xfrm>
          <a:prstGeom prst="rect">
            <a:avLst/>
          </a:prstGeom>
          <a:noFill/>
          <a:ln w="0">
            <a:noFill/>
          </a:ln>
        </p:spPr>
      </p:pic>
      <p:sp>
        <p:nvSpPr>
          <p:cNvPr id="1296" name="文字框 1295"/>
          <p:cNvSpPr txBox="1"/>
          <p:nvPr/>
        </p:nvSpPr>
        <p:spPr>
          <a:xfrm>
            <a:off x="5816160" y="910080"/>
            <a:ext cx="181116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抗危机资产组合构建</a:t>
            </a:r>
            <a:endParaRPr lang="en-US" sz="1580" b="0" u="none" strike="noStrike">
              <a:solidFill>
                <a:srgbClr val="000000"/>
              </a:solidFill>
              <a:effectLst/>
              <a:uFillTx/>
              <a:latin typeface="Times New Roman" panose="02020603050405020304"/>
            </a:endParaRPr>
          </a:p>
        </p:txBody>
      </p:sp>
      <p:pic>
        <p:nvPicPr>
          <p:cNvPr id="1297" name="圖片 1296"/>
          <p:cNvPicPr/>
          <p:nvPr/>
        </p:nvPicPr>
        <p:blipFill>
          <a:blip r:embed="rId7"/>
          <a:stretch>
            <a:fillRect/>
          </a:stretch>
        </p:blipFill>
        <p:spPr>
          <a:xfrm>
            <a:off x="5682600" y="4111560"/>
            <a:ext cx="133200" cy="133200"/>
          </a:xfrm>
          <a:prstGeom prst="rect">
            <a:avLst/>
          </a:prstGeom>
          <a:noFill/>
          <a:ln w="0">
            <a:noFill/>
          </a:ln>
        </p:spPr>
      </p:pic>
      <p:sp>
        <p:nvSpPr>
          <p:cNvPr id="1298" name="文字框 1297"/>
          <p:cNvSpPr txBox="1"/>
          <p:nvPr/>
        </p:nvSpPr>
        <p:spPr>
          <a:xfrm>
            <a:off x="5941440" y="3799440"/>
            <a:ext cx="90612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保守型投资者</a:t>
            </a:r>
            <a:endParaRPr lang="en-US" sz="1180" b="0" u="none" strike="noStrike">
              <a:solidFill>
                <a:srgbClr val="000000"/>
              </a:solidFill>
              <a:effectLst/>
              <a:uFillTx/>
              <a:latin typeface="Times New Roman" panose="02020603050405020304"/>
            </a:endParaRPr>
          </a:p>
        </p:txBody>
      </p:sp>
      <p:pic>
        <p:nvPicPr>
          <p:cNvPr id="1299" name="圖片 1298"/>
          <p:cNvPicPr/>
          <p:nvPr/>
        </p:nvPicPr>
        <p:blipFill>
          <a:blip r:embed="rId7"/>
          <a:stretch>
            <a:fillRect/>
          </a:stretch>
        </p:blipFill>
        <p:spPr>
          <a:xfrm>
            <a:off x="5682600" y="4345560"/>
            <a:ext cx="133200" cy="133200"/>
          </a:xfrm>
          <a:prstGeom prst="rect">
            <a:avLst/>
          </a:prstGeom>
          <a:noFill/>
          <a:ln w="0">
            <a:noFill/>
          </a:ln>
        </p:spPr>
      </p:pic>
      <p:sp>
        <p:nvSpPr>
          <p:cNvPr id="1300" name="文字框 1299"/>
          <p:cNvSpPr txBox="1"/>
          <p:nvPr/>
        </p:nvSpPr>
        <p:spPr>
          <a:xfrm>
            <a:off x="5883120" y="409140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高比例政府债券与现金</a:t>
            </a:r>
            <a:endParaRPr lang="en-US" sz="1050" b="0" u="none" strike="noStrike">
              <a:solidFill>
                <a:srgbClr val="000000"/>
              </a:solidFill>
              <a:effectLst/>
              <a:uFillTx/>
              <a:latin typeface="Times New Roman" panose="02020603050405020304"/>
            </a:endParaRPr>
          </a:p>
        </p:txBody>
      </p:sp>
      <p:pic>
        <p:nvPicPr>
          <p:cNvPr id="1301" name="圖片 1300"/>
          <p:cNvPicPr/>
          <p:nvPr/>
        </p:nvPicPr>
        <p:blipFill>
          <a:blip r:embed="rId7"/>
          <a:stretch>
            <a:fillRect/>
          </a:stretch>
        </p:blipFill>
        <p:spPr>
          <a:xfrm>
            <a:off x="5682600" y="4579560"/>
            <a:ext cx="133200" cy="133200"/>
          </a:xfrm>
          <a:prstGeom prst="rect">
            <a:avLst/>
          </a:prstGeom>
          <a:noFill/>
          <a:ln w="0">
            <a:noFill/>
          </a:ln>
        </p:spPr>
      </p:pic>
      <p:sp>
        <p:nvSpPr>
          <p:cNvPr id="1302" name="文字框 1301"/>
          <p:cNvSpPr txBox="1"/>
          <p:nvPr/>
        </p:nvSpPr>
        <p:spPr>
          <a:xfrm>
            <a:off x="5883120" y="4325400"/>
            <a:ext cx="10735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适量黄金作为保险</a:t>
            </a:r>
            <a:endParaRPr lang="en-US" sz="1050" b="0" u="none" strike="noStrike">
              <a:solidFill>
                <a:srgbClr val="000000"/>
              </a:solidFill>
              <a:effectLst/>
              <a:uFillTx/>
              <a:latin typeface="Times New Roman" panose="02020603050405020304"/>
            </a:endParaRPr>
          </a:p>
        </p:txBody>
      </p:sp>
      <p:sp>
        <p:nvSpPr>
          <p:cNvPr id="1303" name="任意多邊形 1302"/>
          <p:cNvSpPr/>
          <p:nvPr/>
        </p:nvSpPr>
        <p:spPr>
          <a:xfrm>
            <a:off x="7921800" y="3643200"/>
            <a:ext cx="2240280" cy="1237320"/>
          </a:xfrm>
          <a:custGeom>
            <a:avLst/>
            <a:gdLst/>
            <a:ahLst/>
            <a:cxnLst/>
            <a:rect l="0" t="0" r="r" b="b"/>
            <a:pathLst>
              <a:path w="6223" h="3437">
                <a:moveTo>
                  <a:pt x="0" y="3251"/>
                </a:moveTo>
                <a:lnTo>
                  <a:pt x="0" y="186"/>
                </a:lnTo>
                <a:cubicBezTo>
                  <a:pt x="0" y="174"/>
                  <a:pt x="2" y="162"/>
                  <a:pt x="4" y="150"/>
                </a:cubicBezTo>
                <a:cubicBezTo>
                  <a:pt x="6" y="138"/>
                  <a:pt x="10" y="126"/>
                  <a:pt x="15" y="115"/>
                </a:cubicBezTo>
                <a:cubicBezTo>
                  <a:pt x="19" y="104"/>
                  <a:pt x="25" y="93"/>
                  <a:pt x="32" y="83"/>
                </a:cubicBezTo>
                <a:cubicBezTo>
                  <a:pt x="39" y="73"/>
                  <a:pt x="46" y="63"/>
                  <a:pt x="55" y="55"/>
                </a:cubicBezTo>
                <a:cubicBezTo>
                  <a:pt x="63" y="46"/>
                  <a:pt x="73" y="38"/>
                  <a:pt x="83" y="32"/>
                </a:cubicBezTo>
                <a:cubicBezTo>
                  <a:pt x="93" y="25"/>
                  <a:pt x="104" y="19"/>
                  <a:pt x="115" y="15"/>
                </a:cubicBezTo>
                <a:cubicBezTo>
                  <a:pt x="126" y="10"/>
                  <a:pt x="138" y="6"/>
                  <a:pt x="150" y="4"/>
                </a:cubicBezTo>
                <a:cubicBezTo>
                  <a:pt x="162" y="2"/>
                  <a:pt x="174" y="0"/>
                  <a:pt x="186" y="0"/>
                </a:cubicBezTo>
                <a:lnTo>
                  <a:pt x="6037" y="0"/>
                </a:lnTo>
                <a:cubicBezTo>
                  <a:pt x="6049" y="0"/>
                  <a:pt x="6061" y="2"/>
                  <a:pt x="6073" y="4"/>
                </a:cubicBezTo>
                <a:cubicBezTo>
                  <a:pt x="6085" y="6"/>
                  <a:pt x="6097" y="10"/>
                  <a:pt x="6108" y="15"/>
                </a:cubicBezTo>
                <a:cubicBezTo>
                  <a:pt x="6119" y="19"/>
                  <a:pt x="6130" y="25"/>
                  <a:pt x="6140" y="32"/>
                </a:cubicBezTo>
                <a:cubicBezTo>
                  <a:pt x="6150" y="38"/>
                  <a:pt x="6160" y="46"/>
                  <a:pt x="6168" y="55"/>
                </a:cubicBezTo>
                <a:cubicBezTo>
                  <a:pt x="6177" y="63"/>
                  <a:pt x="6184" y="73"/>
                  <a:pt x="6191" y="83"/>
                </a:cubicBezTo>
                <a:cubicBezTo>
                  <a:pt x="6198" y="93"/>
                  <a:pt x="6204" y="104"/>
                  <a:pt x="6208" y="115"/>
                </a:cubicBezTo>
                <a:cubicBezTo>
                  <a:pt x="6213" y="126"/>
                  <a:pt x="6217" y="138"/>
                  <a:pt x="6219" y="150"/>
                </a:cubicBezTo>
                <a:cubicBezTo>
                  <a:pt x="6221" y="162"/>
                  <a:pt x="6223" y="174"/>
                  <a:pt x="6223" y="186"/>
                </a:cubicBezTo>
                <a:lnTo>
                  <a:pt x="6223" y="3251"/>
                </a:lnTo>
                <a:cubicBezTo>
                  <a:pt x="6223" y="3263"/>
                  <a:pt x="6221" y="3275"/>
                  <a:pt x="6219" y="3287"/>
                </a:cubicBezTo>
                <a:cubicBezTo>
                  <a:pt x="6217" y="3299"/>
                  <a:pt x="6213" y="3311"/>
                  <a:pt x="6208" y="3322"/>
                </a:cubicBezTo>
                <a:cubicBezTo>
                  <a:pt x="6204" y="3334"/>
                  <a:pt x="6198" y="3344"/>
                  <a:pt x="6191" y="3354"/>
                </a:cubicBezTo>
                <a:cubicBezTo>
                  <a:pt x="6184" y="3365"/>
                  <a:pt x="6177" y="3374"/>
                  <a:pt x="6168" y="3383"/>
                </a:cubicBezTo>
                <a:cubicBezTo>
                  <a:pt x="6160" y="3391"/>
                  <a:pt x="6150" y="3399"/>
                  <a:pt x="6140" y="3406"/>
                </a:cubicBezTo>
                <a:cubicBezTo>
                  <a:pt x="6130" y="3412"/>
                  <a:pt x="6119" y="3418"/>
                  <a:pt x="6108" y="3423"/>
                </a:cubicBezTo>
                <a:cubicBezTo>
                  <a:pt x="6097" y="3427"/>
                  <a:pt x="6085" y="3431"/>
                  <a:pt x="6073" y="3433"/>
                </a:cubicBezTo>
                <a:cubicBezTo>
                  <a:pt x="6061" y="3436"/>
                  <a:pt x="6049" y="3437"/>
                  <a:pt x="6037" y="3437"/>
                </a:cubicBezTo>
                <a:lnTo>
                  <a:pt x="186" y="3437"/>
                </a:lnTo>
                <a:cubicBezTo>
                  <a:pt x="174" y="3437"/>
                  <a:pt x="162" y="3436"/>
                  <a:pt x="150" y="3433"/>
                </a:cubicBezTo>
                <a:cubicBezTo>
                  <a:pt x="138" y="3431"/>
                  <a:pt x="126" y="3427"/>
                  <a:pt x="115" y="3423"/>
                </a:cubicBezTo>
                <a:cubicBezTo>
                  <a:pt x="104" y="3418"/>
                  <a:pt x="93" y="3412"/>
                  <a:pt x="83" y="3406"/>
                </a:cubicBezTo>
                <a:cubicBezTo>
                  <a:pt x="73" y="3399"/>
                  <a:pt x="63" y="3391"/>
                  <a:pt x="55" y="3383"/>
                </a:cubicBezTo>
                <a:cubicBezTo>
                  <a:pt x="46" y="3374"/>
                  <a:pt x="39" y="3365"/>
                  <a:pt x="32" y="3354"/>
                </a:cubicBezTo>
                <a:cubicBezTo>
                  <a:pt x="25" y="3344"/>
                  <a:pt x="19" y="3334"/>
                  <a:pt x="15" y="3322"/>
                </a:cubicBezTo>
                <a:cubicBezTo>
                  <a:pt x="10" y="3311"/>
                  <a:pt x="6" y="3299"/>
                  <a:pt x="4" y="3287"/>
                </a:cubicBezTo>
                <a:cubicBezTo>
                  <a:pt x="2" y="3275"/>
                  <a:pt x="0" y="3263"/>
                  <a:pt x="0" y="3251"/>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304" name="圖片 1303"/>
          <p:cNvPicPr/>
          <p:nvPr/>
        </p:nvPicPr>
        <p:blipFill>
          <a:blip r:embed="rId8"/>
          <a:stretch>
            <a:fillRect/>
          </a:stretch>
        </p:blipFill>
        <p:spPr>
          <a:xfrm>
            <a:off x="8055720" y="3818880"/>
            <a:ext cx="191880" cy="150120"/>
          </a:xfrm>
          <a:prstGeom prst="rect">
            <a:avLst/>
          </a:prstGeom>
          <a:noFill/>
          <a:ln w="0">
            <a:noFill/>
          </a:ln>
        </p:spPr>
      </p:pic>
      <p:sp>
        <p:nvSpPr>
          <p:cNvPr id="1305" name="文字框 1304"/>
          <p:cNvSpPr txBox="1"/>
          <p:nvPr/>
        </p:nvSpPr>
        <p:spPr>
          <a:xfrm>
            <a:off x="5883120" y="455940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少量防御性股票</a:t>
            </a:r>
            <a:endParaRPr lang="en-US" sz="1050" b="0" u="none" strike="noStrike">
              <a:solidFill>
                <a:srgbClr val="000000"/>
              </a:solidFill>
              <a:effectLst/>
              <a:uFillTx/>
              <a:latin typeface="Times New Roman" panose="02020603050405020304"/>
            </a:endParaRPr>
          </a:p>
        </p:txBody>
      </p:sp>
      <p:pic>
        <p:nvPicPr>
          <p:cNvPr id="1306" name="圖片 1305"/>
          <p:cNvPicPr/>
          <p:nvPr/>
        </p:nvPicPr>
        <p:blipFill>
          <a:blip r:embed="rId7"/>
          <a:stretch>
            <a:fillRect/>
          </a:stretch>
        </p:blipFill>
        <p:spPr>
          <a:xfrm>
            <a:off x="8055720" y="4111560"/>
            <a:ext cx="133200" cy="133200"/>
          </a:xfrm>
          <a:prstGeom prst="rect">
            <a:avLst/>
          </a:prstGeom>
          <a:noFill/>
          <a:ln w="0">
            <a:noFill/>
          </a:ln>
        </p:spPr>
      </p:pic>
      <p:sp>
        <p:nvSpPr>
          <p:cNvPr id="1307" name="文字框 1306"/>
          <p:cNvSpPr txBox="1"/>
          <p:nvPr/>
        </p:nvSpPr>
        <p:spPr>
          <a:xfrm>
            <a:off x="8314920" y="3799440"/>
            <a:ext cx="90612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稳健型投资者</a:t>
            </a:r>
            <a:endParaRPr lang="en-US" sz="1180" b="0" u="none" strike="noStrike">
              <a:solidFill>
                <a:srgbClr val="000000"/>
              </a:solidFill>
              <a:effectLst/>
              <a:uFillTx/>
              <a:latin typeface="Times New Roman" panose="02020603050405020304"/>
            </a:endParaRPr>
          </a:p>
        </p:txBody>
      </p:sp>
      <p:sp>
        <p:nvSpPr>
          <p:cNvPr id="1308" name="文字框 1307"/>
          <p:cNvSpPr txBox="1"/>
          <p:nvPr/>
        </p:nvSpPr>
        <p:spPr>
          <a:xfrm>
            <a:off x="8256240" y="4096080"/>
            <a:ext cx="517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40-60%</a:t>
            </a:r>
            <a:endParaRPr lang="en-US" sz="1050" b="0" u="none" strike="noStrike">
              <a:solidFill>
                <a:srgbClr val="000000"/>
              </a:solidFill>
              <a:effectLst/>
              <a:uFillTx/>
              <a:latin typeface="Times New Roman" panose="02020603050405020304"/>
            </a:endParaRPr>
          </a:p>
        </p:txBody>
      </p:sp>
      <p:pic>
        <p:nvPicPr>
          <p:cNvPr id="1309" name="圖片 1308"/>
          <p:cNvPicPr/>
          <p:nvPr/>
        </p:nvPicPr>
        <p:blipFill>
          <a:blip r:embed="rId7"/>
          <a:stretch>
            <a:fillRect/>
          </a:stretch>
        </p:blipFill>
        <p:spPr>
          <a:xfrm>
            <a:off x="8055720" y="4345560"/>
            <a:ext cx="133200" cy="133200"/>
          </a:xfrm>
          <a:prstGeom prst="rect">
            <a:avLst/>
          </a:prstGeom>
          <a:noFill/>
          <a:ln w="0">
            <a:noFill/>
          </a:ln>
        </p:spPr>
      </p:pic>
      <p:sp>
        <p:nvSpPr>
          <p:cNvPr id="1310" name="文字框 1309"/>
          <p:cNvSpPr txBox="1"/>
          <p:nvPr/>
        </p:nvSpPr>
        <p:spPr>
          <a:xfrm>
            <a:off x="8772120" y="409140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债券和现金</a:t>
            </a:r>
            <a:endParaRPr lang="en-US" sz="1050" b="0" u="none" strike="noStrike">
              <a:solidFill>
                <a:srgbClr val="000000"/>
              </a:solidFill>
              <a:effectLst/>
              <a:uFillTx/>
              <a:latin typeface="Times New Roman" panose="02020603050405020304"/>
            </a:endParaRPr>
          </a:p>
        </p:txBody>
      </p:sp>
      <p:sp>
        <p:nvSpPr>
          <p:cNvPr id="1311" name="文字框 1310"/>
          <p:cNvSpPr txBox="1"/>
          <p:nvPr/>
        </p:nvSpPr>
        <p:spPr>
          <a:xfrm>
            <a:off x="8256240" y="4330080"/>
            <a:ext cx="517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30-40%</a:t>
            </a:r>
            <a:endParaRPr lang="en-US" sz="1050" b="0" u="none" strike="noStrike">
              <a:solidFill>
                <a:srgbClr val="000000"/>
              </a:solidFill>
              <a:effectLst/>
              <a:uFillTx/>
              <a:latin typeface="Times New Roman" panose="02020603050405020304"/>
            </a:endParaRPr>
          </a:p>
        </p:txBody>
      </p:sp>
      <p:pic>
        <p:nvPicPr>
          <p:cNvPr id="1312" name="圖片 1311"/>
          <p:cNvPicPr/>
          <p:nvPr/>
        </p:nvPicPr>
        <p:blipFill>
          <a:blip r:embed="rId7"/>
          <a:stretch>
            <a:fillRect/>
          </a:stretch>
        </p:blipFill>
        <p:spPr>
          <a:xfrm>
            <a:off x="8055720" y="4579560"/>
            <a:ext cx="133200" cy="133200"/>
          </a:xfrm>
          <a:prstGeom prst="rect">
            <a:avLst/>
          </a:prstGeom>
          <a:noFill/>
          <a:ln w="0">
            <a:noFill/>
          </a:ln>
        </p:spPr>
      </p:pic>
      <p:sp>
        <p:nvSpPr>
          <p:cNvPr id="1313" name="文字框 1312"/>
          <p:cNvSpPr txBox="1"/>
          <p:nvPr/>
        </p:nvSpPr>
        <p:spPr>
          <a:xfrm>
            <a:off x="8772120" y="432540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防御性股票</a:t>
            </a:r>
            <a:endParaRPr lang="en-US" sz="1050" b="0" u="none" strike="noStrike">
              <a:solidFill>
                <a:srgbClr val="000000"/>
              </a:solidFill>
              <a:effectLst/>
              <a:uFillTx/>
              <a:latin typeface="Times New Roman" panose="02020603050405020304"/>
            </a:endParaRPr>
          </a:p>
        </p:txBody>
      </p:sp>
      <p:sp>
        <p:nvSpPr>
          <p:cNvPr id="1314" name="文字框 1313"/>
          <p:cNvSpPr txBox="1"/>
          <p:nvPr/>
        </p:nvSpPr>
        <p:spPr>
          <a:xfrm>
            <a:off x="8256240" y="4564080"/>
            <a:ext cx="432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5-10%</a:t>
            </a:r>
            <a:endParaRPr lang="en-US" sz="1050" b="0" u="none" strike="noStrike">
              <a:solidFill>
                <a:srgbClr val="000000"/>
              </a:solidFill>
              <a:effectLst/>
              <a:uFillTx/>
              <a:latin typeface="Times New Roman" panose="02020603050405020304"/>
            </a:endParaRPr>
          </a:p>
        </p:txBody>
      </p:sp>
      <p:sp>
        <p:nvSpPr>
          <p:cNvPr id="1315" name="任意多邊形 1314"/>
          <p:cNvSpPr/>
          <p:nvPr/>
        </p:nvSpPr>
        <p:spPr>
          <a:xfrm>
            <a:off x="5548680" y="5013720"/>
            <a:ext cx="2239920" cy="1571400"/>
          </a:xfrm>
          <a:custGeom>
            <a:avLst/>
            <a:gdLst/>
            <a:ahLst/>
            <a:cxnLst/>
            <a:rect l="0" t="0" r="r" b="b"/>
            <a:pathLst>
              <a:path w="6222" h="4365">
                <a:moveTo>
                  <a:pt x="0" y="4180"/>
                </a:moveTo>
                <a:lnTo>
                  <a:pt x="0" y="186"/>
                </a:lnTo>
                <a:cubicBezTo>
                  <a:pt x="0" y="174"/>
                  <a:pt x="1" y="162"/>
                  <a:pt x="4" y="150"/>
                </a:cubicBezTo>
                <a:cubicBezTo>
                  <a:pt x="6" y="138"/>
                  <a:pt x="9" y="126"/>
                  <a:pt x="14" y="115"/>
                </a:cubicBezTo>
                <a:cubicBezTo>
                  <a:pt x="19" y="104"/>
                  <a:pt x="24" y="93"/>
                  <a:pt x="31" y="83"/>
                </a:cubicBezTo>
                <a:cubicBezTo>
                  <a:pt x="38" y="73"/>
                  <a:pt x="46" y="63"/>
                  <a:pt x="54" y="55"/>
                </a:cubicBezTo>
                <a:cubicBezTo>
                  <a:pt x="63" y="46"/>
                  <a:pt x="72" y="38"/>
                  <a:pt x="83" y="32"/>
                </a:cubicBezTo>
                <a:cubicBezTo>
                  <a:pt x="93" y="25"/>
                  <a:pt x="103" y="19"/>
                  <a:pt x="115" y="14"/>
                </a:cubicBezTo>
                <a:cubicBezTo>
                  <a:pt x="126" y="10"/>
                  <a:pt x="137" y="6"/>
                  <a:pt x="150" y="4"/>
                </a:cubicBezTo>
                <a:cubicBezTo>
                  <a:pt x="162" y="2"/>
                  <a:pt x="174" y="0"/>
                  <a:pt x="187" y="0"/>
                </a:cubicBezTo>
                <a:lnTo>
                  <a:pt x="6036" y="0"/>
                </a:lnTo>
                <a:cubicBezTo>
                  <a:pt x="6049" y="0"/>
                  <a:pt x="6061" y="2"/>
                  <a:pt x="6073" y="4"/>
                </a:cubicBezTo>
                <a:cubicBezTo>
                  <a:pt x="6085" y="6"/>
                  <a:pt x="6096" y="10"/>
                  <a:pt x="6107" y="14"/>
                </a:cubicBezTo>
                <a:cubicBezTo>
                  <a:pt x="6119" y="19"/>
                  <a:pt x="6129" y="25"/>
                  <a:pt x="6140" y="32"/>
                </a:cubicBezTo>
                <a:cubicBezTo>
                  <a:pt x="6150" y="38"/>
                  <a:pt x="6159" y="46"/>
                  <a:pt x="6168" y="55"/>
                </a:cubicBezTo>
                <a:cubicBezTo>
                  <a:pt x="6176" y="63"/>
                  <a:pt x="6184" y="73"/>
                  <a:pt x="6191" y="83"/>
                </a:cubicBezTo>
                <a:cubicBezTo>
                  <a:pt x="6198" y="93"/>
                  <a:pt x="6203" y="104"/>
                  <a:pt x="6208" y="115"/>
                </a:cubicBezTo>
                <a:cubicBezTo>
                  <a:pt x="6213" y="126"/>
                  <a:pt x="6216" y="138"/>
                  <a:pt x="6218" y="150"/>
                </a:cubicBezTo>
                <a:cubicBezTo>
                  <a:pt x="6221" y="162"/>
                  <a:pt x="6222" y="174"/>
                  <a:pt x="6222" y="186"/>
                </a:cubicBezTo>
                <a:lnTo>
                  <a:pt x="6222" y="4180"/>
                </a:lnTo>
                <a:cubicBezTo>
                  <a:pt x="6222" y="4192"/>
                  <a:pt x="6221" y="4204"/>
                  <a:pt x="6218" y="4216"/>
                </a:cubicBezTo>
                <a:cubicBezTo>
                  <a:pt x="6216" y="4228"/>
                  <a:pt x="6213" y="4239"/>
                  <a:pt x="6208" y="4251"/>
                </a:cubicBezTo>
                <a:cubicBezTo>
                  <a:pt x="6203" y="4262"/>
                  <a:pt x="6198" y="4273"/>
                  <a:pt x="6191" y="4283"/>
                </a:cubicBezTo>
                <a:cubicBezTo>
                  <a:pt x="6184" y="4293"/>
                  <a:pt x="6176" y="4302"/>
                  <a:pt x="6168" y="4311"/>
                </a:cubicBezTo>
                <a:cubicBezTo>
                  <a:pt x="6159" y="4320"/>
                  <a:pt x="6150" y="4327"/>
                  <a:pt x="6140" y="4334"/>
                </a:cubicBezTo>
                <a:cubicBezTo>
                  <a:pt x="6129" y="4341"/>
                  <a:pt x="6119" y="4347"/>
                  <a:pt x="6107" y="4351"/>
                </a:cubicBezTo>
                <a:cubicBezTo>
                  <a:pt x="6096" y="4356"/>
                  <a:pt x="6085" y="4359"/>
                  <a:pt x="6073" y="4362"/>
                </a:cubicBezTo>
                <a:cubicBezTo>
                  <a:pt x="6061" y="4364"/>
                  <a:pt x="6049" y="4365"/>
                  <a:pt x="6036" y="4365"/>
                </a:cubicBezTo>
                <a:lnTo>
                  <a:pt x="187" y="4365"/>
                </a:lnTo>
                <a:cubicBezTo>
                  <a:pt x="174" y="4365"/>
                  <a:pt x="162" y="4364"/>
                  <a:pt x="150" y="4362"/>
                </a:cubicBezTo>
                <a:cubicBezTo>
                  <a:pt x="137" y="4359"/>
                  <a:pt x="126" y="4356"/>
                  <a:pt x="115" y="4351"/>
                </a:cubicBezTo>
                <a:cubicBezTo>
                  <a:pt x="103" y="4347"/>
                  <a:pt x="93" y="4341"/>
                  <a:pt x="83" y="4334"/>
                </a:cubicBezTo>
                <a:cubicBezTo>
                  <a:pt x="72" y="4327"/>
                  <a:pt x="63" y="4320"/>
                  <a:pt x="54" y="4311"/>
                </a:cubicBezTo>
                <a:cubicBezTo>
                  <a:pt x="46" y="4302"/>
                  <a:pt x="38" y="4293"/>
                  <a:pt x="31" y="4283"/>
                </a:cubicBezTo>
                <a:cubicBezTo>
                  <a:pt x="24" y="4273"/>
                  <a:pt x="19" y="4262"/>
                  <a:pt x="14" y="4251"/>
                </a:cubicBezTo>
                <a:cubicBezTo>
                  <a:pt x="9" y="4239"/>
                  <a:pt x="6" y="4228"/>
                  <a:pt x="4" y="4216"/>
                </a:cubicBezTo>
                <a:cubicBezTo>
                  <a:pt x="1" y="4204"/>
                  <a:pt x="0" y="4192"/>
                  <a:pt x="0" y="418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316" name="圖片 1315"/>
          <p:cNvPicPr/>
          <p:nvPr/>
        </p:nvPicPr>
        <p:blipFill>
          <a:blip r:embed="rId9"/>
          <a:stretch>
            <a:fillRect/>
          </a:stretch>
        </p:blipFill>
        <p:spPr>
          <a:xfrm>
            <a:off x="5682600" y="5189400"/>
            <a:ext cx="150120" cy="150120"/>
          </a:xfrm>
          <a:prstGeom prst="rect">
            <a:avLst/>
          </a:prstGeom>
          <a:noFill/>
          <a:ln w="0">
            <a:noFill/>
          </a:ln>
        </p:spPr>
      </p:pic>
      <p:sp>
        <p:nvSpPr>
          <p:cNvPr id="1317" name="文字框 1316"/>
          <p:cNvSpPr txBox="1"/>
          <p:nvPr/>
        </p:nvSpPr>
        <p:spPr>
          <a:xfrm>
            <a:off x="8686800" y="455940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黄金</a:t>
            </a:r>
            <a:endParaRPr lang="en-US" sz="1050" b="0" u="none" strike="noStrike">
              <a:solidFill>
                <a:srgbClr val="000000"/>
              </a:solidFill>
              <a:effectLst/>
              <a:uFillTx/>
              <a:latin typeface="Times New Roman" panose="02020603050405020304"/>
            </a:endParaRPr>
          </a:p>
        </p:txBody>
      </p:sp>
      <p:pic>
        <p:nvPicPr>
          <p:cNvPr id="1318" name="圖片 1317"/>
          <p:cNvPicPr/>
          <p:nvPr/>
        </p:nvPicPr>
        <p:blipFill>
          <a:blip r:embed="rId7"/>
          <a:stretch>
            <a:fillRect/>
          </a:stretch>
        </p:blipFill>
        <p:spPr>
          <a:xfrm>
            <a:off x="5682600" y="5482080"/>
            <a:ext cx="133200" cy="133200"/>
          </a:xfrm>
          <a:prstGeom prst="rect">
            <a:avLst/>
          </a:prstGeom>
          <a:noFill/>
          <a:ln w="0">
            <a:noFill/>
          </a:ln>
        </p:spPr>
      </p:pic>
      <p:sp>
        <p:nvSpPr>
          <p:cNvPr id="1319" name="文字框 1318"/>
          <p:cNvSpPr txBox="1"/>
          <p:nvPr/>
        </p:nvSpPr>
        <p:spPr>
          <a:xfrm>
            <a:off x="5899680" y="5169960"/>
            <a:ext cx="90612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积极型投资者</a:t>
            </a:r>
            <a:endParaRPr lang="en-US" sz="1180" b="0" u="none" strike="noStrike">
              <a:solidFill>
                <a:srgbClr val="000000"/>
              </a:solidFill>
              <a:effectLst/>
              <a:uFillTx/>
              <a:latin typeface="Times New Roman" panose="02020603050405020304"/>
            </a:endParaRPr>
          </a:p>
        </p:txBody>
      </p:sp>
      <p:pic>
        <p:nvPicPr>
          <p:cNvPr id="1320" name="圖片 1319"/>
          <p:cNvPicPr/>
          <p:nvPr/>
        </p:nvPicPr>
        <p:blipFill>
          <a:blip r:embed="rId7"/>
          <a:stretch>
            <a:fillRect/>
          </a:stretch>
        </p:blipFill>
        <p:spPr>
          <a:xfrm>
            <a:off x="5682600" y="5716080"/>
            <a:ext cx="133200" cy="133200"/>
          </a:xfrm>
          <a:prstGeom prst="rect">
            <a:avLst/>
          </a:prstGeom>
          <a:noFill/>
          <a:ln w="0">
            <a:noFill/>
          </a:ln>
        </p:spPr>
      </p:pic>
      <p:sp>
        <p:nvSpPr>
          <p:cNvPr id="1321" name="文字框 1320"/>
          <p:cNvSpPr txBox="1"/>
          <p:nvPr/>
        </p:nvSpPr>
        <p:spPr>
          <a:xfrm>
            <a:off x="5883120" y="546192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较高比例防御性股票</a:t>
            </a:r>
            <a:endParaRPr lang="en-US" sz="1050" b="0" u="none" strike="noStrike">
              <a:solidFill>
                <a:srgbClr val="000000"/>
              </a:solidFill>
              <a:effectLst/>
              <a:uFillTx/>
              <a:latin typeface="Times New Roman" panose="02020603050405020304"/>
            </a:endParaRPr>
          </a:p>
        </p:txBody>
      </p:sp>
      <p:pic>
        <p:nvPicPr>
          <p:cNvPr id="1322" name="圖片 1321"/>
          <p:cNvPicPr/>
          <p:nvPr/>
        </p:nvPicPr>
        <p:blipFill>
          <a:blip r:embed="rId7"/>
          <a:stretch>
            <a:fillRect/>
          </a:stretch>
        </p:blipFill>
        <p:spPr>
          <a:xfrm>
            <a:off x="5682600" y="5950080"/>
            <a:ext cx="133200" cy="133200"/>
          </a:xfrm>
          <a:prstGeom prst="rect">
            <a:avLst/>
          </a:prstGeom>
          <a:noFill/>
          <a:ln w="0">
            <a:noFill/>
          </a:ln>
        </p:spPr>
      </p:pic>
      <p:sp>
        <p:nvSpPr>
          <p:cNvPr id="1323" name="文字框 1322"/>
          <p:cNvSpPr txBox="1"/>
          <p:nvPr/>
        </p:nvSpPr>
        <p:spPr>
          <a:xfrm>
            <a:off x="5883120" y="569592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适量避险资产作安全垫</a:t>
            </a:r>
            <a:endParaRPr lang="en-US" sz="1050" b="0" u="none" strike="noStrike">
              <a:solidFill>
                <a:srgbClr val="000000"/>
              </a:solidFill>
              <a:effectLst/>
              <a:uFillTx/>
              <a:latin typeface="Times New Roman" panose="02020603050405020304"/>
            </a:endParaRPr>
          </a:p>
        </p:txBody>
      </p:sp>
      <p:sp>
        <p:nvSpPr>
          <p:cNvPr id="1324" name="任意多邊形 1323"/>
          <p:cNvSpPr/>
          <p:nvPr/>
        </p:nvSpPr>
        <p:spPr>
          <a:xfrm>
            <a:off x="7921800" y="5013720"/>
            <a:ext cx="2240280" cy="1571400"/>
          </a:xfrm>
          <a:custGeom>
            <a:avLst/>
            <a:gdLst/>
            <a:ahLst/>
            <a:cxnLst/>
            <a:rect l="0" t="0" r="r" b="b"/>
            <a:pathLst>
              <a:path w="6223" h="4365">
                <a:moveTo>
                  <a:pt x="0" y="4180"/>
                </a:moveTo>
                <a:lnTo>
                  <a:pt x="0" y="186"/>
                </a:lnTo>
                <a:cubicBezTo>
                  <a:pt x="0" y="174"/>
                  <a:pt x="2" y="162"/>
                  <a:pt x="4" y="150"/>
                </a:cubicBezTo>
                <a:cubicBezTo>
                  <a:pt x="6" y="138"/>
                  <a:pt x="10" y="126"/>
                  <a:pt x="15" y="115"/>
                </a:cubicBezTo>
                <a:cubicBezTo>
                  <a:pt x="19" y="104"/>
                  <a:pt x="25" y="93"/>
                  <a:pt x="32" y="83"/>
                </a:cubicBezTo>
                <a:cubicBezTo>
                  <a:pt x="39"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6037" y="0"/>
                </a:lnTo>
                <a:cubicBezTo>
                  <a:pt x="6049" y="0"/>
                  <a:pt x="6061" y="2"/>
                  <a:pt x="6073" y="4"/>
                </a:cubicBezTo>
                <a:cubicBezTo>
                  <a:pt x="6085" y="6"/>
                  <a:pt x="6097" y="10"/>
                  <a:pt x="6108" y="14"/>
                </a:cubicBezTo>
                <a:cubicBezTo>
                  <a:pt x="6119" y="19"/>
                  <a:pt x="6130" y="25"/>
                  <a:pt x="6140" y="32"/>
                </a:cubicBezTo>
                <a:cubicBezTo>
                  <a:pt x="6150" y="38"/>
                  <a:pt x="6160" y="46"/>
                  <a:pt x="6168" y="55"/>
                </a:cubicBezTo>
                <a:cubicBezTo>
                  <a:pt x="6177" y="63"/>
                  <a:pt x="6184" y="73"/>
                  <a:pt x="6191" y="83"/>
                </a:cubicBezTo>
                <a:cubicBezTo>
                  <a:pt x="6198" y="93"/>
                  <a:pt x="6204" y="104"/>
                  <a:pt x="6208" y="115"/>
                </a:cubicBezTo>
                <a:cubicBezTo>
                  <a:pt x="6213" y="126"/>
                  <a:pt x="6217" y="138"/>
                  <a:pt x="6219" y="150"/>
                </a:cubicBezTo>
                <a:cubicBezTo>
                  <a:pt x="6221" y="162"/>
                  <a:pt x="6223" y="174"/>
                  <a:pt x="6223" y="186"/>
                </a:cubicBezTo>
                <a:lnTo>
                  <a:pt x="6223" y="4180"/>
                </a:lnTo>
                <a:cubicBezTo>
                  <a:pt x="6223" y="4192"/>
                  <a:pt x="6221" y="4204"/>
                  <a:pt x="6219" y="4216"/>
                </a:cubicBezTo>
                <a:cubicBezTo>
                  <a:pt x="6217" y="4228"/>
                  <a:pt x="6213" y="4239"/>
                  <a:pt x="6208" y="4251"/>
                </a:cubicBezTo>
                <a:cubicBezTo>
                  <a:pt x="6204" y="4262"/>
                  <a:pt x="6198" y="4273"/>
                  <a:pt x="6191" y="4283"/>
                </a:cubicBezTo>
                <a:cubicBezTo>
                  <a:pt x="6184" y="4293"/>
                  <a:pt x="6177" y="4302"/>
                  <a:pt x="6168" y="4311"/>
                </a:cubicBezTo>
                <a:cubicBezTo>
                  <a:pt x="6160" y="4320"/>
                  <a:pt x="6150" y="4327"/>
                  <a:pt x="6140" y="4334"/>
                </a:cubicBezTo>
                <a:cubicBezTo>
                  <a:pt x="6130" y="4341"/>
                  <a:pt x="6119" y="4347"/>
                  <a:pt x="6108" y="4351"/>
                </a:cubicBezTo>
                <a:cubicBezTo>
                  <a:pt x="6097" y="4356"/>
                  <a:pt x="6085" y="4359"/>
                  <a:pt x="6073" y="4362"/>
                </a:cubicBezTo>
                <a:cubicBezTo>
                  <a:pt x="6061" y="4364"/>
                  <a:pt x="6049" y="4365"/>
                  <a:pt x="6037" y="4365"/>
                </a:cubicBezTo>
                <a:lnTo>
                  <a:pt x="186" y="4365"/>
                </a:lnTo>
                <a:cubicBezTo>
                  <a:pt x="174" y="4365"/>
                  <a:pt x="162" y="4364"/>
                  <a:pt x="150" y="4362"/>
                </a:cubicBezTo>
                <a:cubicBezTo>
                  <a:pt x="138" y="4359"/>
                  <a:pt x="126" y="4356"/>
                  <a:pt x="115" y="4351"/>
                </a:cubicBezTo>
                <a:cubicBezTo>
                  <a:pt x="104" y="4347"/>
                  <a:pt x="93" y="4341"/>
                  <a:pt x="83" y="4334"/>
                </a:cubicBezTo>
                <a:cubicBezTo>
                  <a:pt x="73" y="4327"/>
                  <a:pt x="63" y="4320"/>
                  <a:pt x="55" y="4311"/>
                </a:cubicBezTo>
                <a:cubicBezTo>
                  <a:pt x="46" y="4302"/>
                  <a:pt x="39" y="4293"/>
                  <a:pt x="32" y="4283"/>
                </a:cubicBezTo>
                <a:cubicBezTo>
                  <a:pt x="25" y="4273"/>
                  <a:pt x="19" y="4262"/>
                  <a:pt x="15" y="4251"/>
                </a:cubicBezTo>
                <a:cubicBezTo>
                  <a:pt x="10" y="4239"/>
                  <a:pt x="6" y="4228"/>
                  <a:pt x="4" y="4216"/>
                </a:cubicBezTo>
                <a:cubicBezTo>
                  <a:pt x="2" y="4204"/>
                  <a:pt x="0" y="4192"/>
                  <a:pt x="0" y="4180"/>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325" name="圖片 1324"/>
          <p:cNvPicPr/>
          <p:nvPr/>
        </p:nvPicPr>
        <p:blipFill>
          <a:blip r:embed="rId10"/>
          <a:stretch>
            <a:fillRect/>
          </a:stretch>
        </p:blipFill>
        <p:spPr>
          <a:xfrm>
            <a:off x="8055720" y="5189400"/>
            <a:ext cx="150120" cy="150120"/>
          </a:xfrm>
          <a:prstGeom prst="rect">
            <a:avLst/>
          </a:prstGeom>
          <a:noFill/>
          <a:ln w="0">
            <a:noFill/>
          </a:ln>
        </p:spPr>
      </p:pic>
      <p:sp>
        <p:nvSpPr>
          <p:cNvPr id="1326" name="文字框 1325"/>
          <p:cNvSpPr txBox="1"/>
          <p:nvPr/>
        </p:nvSpPr>
        <p:spPr>
          <a:xfrm>
            <a:off x="5883120" y="592992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保留现金寻找投资机会</a:t>
            </a:r>
            <a:endParaRPr lang="en-US" sz="1050" b="0" u="none" strike="noStrike">
              <a:solidFill>
                <a:srgbClr val="000000"/>
              </a:solidFill>
              <a:effectLst/>
              <a:uFillTx/>
              <a:latin typeface="Times New Roman" panose="02020603050405020304"/>
            </a:endParaRPr>
          </a:p>
        </p:txBody>
      </p:sp>
      <p:sp>
        <p:nvSpPr>
          <p:cNvPr id="1327" name="文字框 1326"/>
          <p:cNvSpPr txBox="1"/>
          <p:nvPr/>
        </p:nvSpPr>
        <p:spPr>
          <a:xfrm>
            <a:off x="8273160" y="5169960"/>
            <a:ext cx="90612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核心投资理念</a:t>
            </a:r>
            <a:endParaRPr lang="en-US" sz="1180" b="0" u="none" strike="noStrike">
              <a:solidFill>
                <a:srgbClr val="000000"/>
              </a:solidFill>
              <a:effectLst/>
              <a:uFillTx/>
              <a:latin typeface="Times New Roman" panose="02020603050405020304"/>
            </a:endParaRPr>
          </a:p>
        </p:txBody>
      </p:sp>
      <p:sp>
        <p:nvSpPr>
          <p:cNvPr id="1328" name="文字框 1327"/>
          <p:cNvSpPr txBox="1"/>
          <p:nvPr/>
        </p:nvSpPr>
        <p:spPr>
          <a:xfrm>
            <a:off x="8055720" y="546192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成功的危机应对策略并非建立在</a:t>
            </a:r>
            <a:endParaRPr lang="en-US" sz="1050" b="0" u="none" strike="noStrike">
              <a:solidFill>
                <a:srgbClr val="000000"/>
              </a:solidFill>
              <a:effectLst/>
              <a:uFillTx/>
              <a:latin typeface="Times New Roman" panose="02020603050405020304"/>
            </a:endParaRPr>
          </a:p>
        </p:txBody>
      </p:sp>
      <p:sp>
        <p:nvSpPr>
          <p:cNvPr id="1329" name="文字框 1328"/>
          <p:cNvSpPr txBox="1"/>
          <p:nvPr/>
        </p:nvSpPr>
        <p:spPr>
          <a:xfrm>
            <a:off x="8055720" y="566244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精准预测危机何时到来的基础</a:t>
            </a:r>
            <a:endParaRPr lang="en-US" sz="1050" b="0" u="none" strike="noStrike">
              <a:solidFill>
                <a:srgbClr val="000000"/>
              </a:solidFill>
              <a:effectLst/>
              <a:uFillTx/>
              <a:latin typeface="Times New Roman" panose="02020603050405020304"/>
            </a:endParaRPr>
          </a:p>
        </p:txBody>
      </p:sp>
      <p:sp>
        <p:nvSpPr>
          <p:cNvPr id="1330" name="文字框 1329"/>
          <p:cNvSpPr txBox="1"/>
          <p:nvPr/>
        </p:nvSpPr>
        <p:spPr>
          <a:xfrm>
            <a:off x="8055720" y="586296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上，而是建立在拥有一个无论在</a:t>
            </a:r>
            <a:endParaRPr lang="en-US" sz="1050" b="0" u="none" strike="noStrike">
              <a:solidFill>
                <a:srgbClr val="000000"/>
              </a:solidFill>
              <a:effectLst/>
              <a:uFillTx/>
              <a:latin typeface="Times New Roman" panose="02020603050405020304"/>
            </a:endParaRPr>
          </a:p>
        </p:txBody>
      </p:sp>
      <p:sp>
        <p:nvSpPr>
          <p:cNvPr id="1331" name="文字框 1330"/>
          <p:cNvSpPr txBox="1"/>
          <p:nvPr/>
        </p:nvSpPr>
        <p:spPr>
          <a:xfrm>
            <a:off x="8055720" y="606348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顺境还是逆境中都表现稳健的、</a:t>
            </a:r>
            <a:endParaRPr lang="en-US" sz="1050" b="0" u="none" strike="noStrike">
              <a:solidFill>
                <a:srgbClr val="000000"/>
              </a:solidFill>
              <a:effectLst/>
              <a:uFillTx/>
              <a:latin typeface="Times New Roman" panose="02020603050405020304"/>
            </a:endParaRPr>
          </a:p>
        </p:txBody>
      </p:sp>
      <p:sp>
        <p:nvSpPr>
          <p:cNvPr id="1332" name="文字框 1331"/>
          <p:cNvSpPr txBox="1"/>
          <p:nvPr/>
        </p:nvSpPr>
        <p:spPr>
          <a:xfrm>
            <a:off x="8055720" y="6264000"/>
            <a:ext cx="1878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经过深思熟虑的资产组合之上。</a:t>
            </a:r>
            <a:endParaRPr lang="en-US" sz="1050" b="0" u="none" strike="noStrike">
              <a:solidFill>
                <a:srgbClr val="000000"/>
              </a:solidFill>
              <a:effectLst/>
              <a:uFillTx/>
              <a:latin typeface="Times New Roman" panose="02020603050405020304"/>
            </a:endParaRPr>
          </a:p>
        </p:txBody>
      </p:sp>
      <p:sp>
        <p:nvSpPr>
          <p:cNvPr id="1333" name="文字框 1332"/>
          <p:cNvSpPr txBox="1"/>
          <p:nvPr/>
        </p:nvSpPr>
        <p:spPr>
          <a:xfrm>
            <a:off x="534960" y="6798240"/>
            <a:ext cx="105696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抗金融危机资产比较</a:t>
            </a:r>
            <a:endParaRPr lang="en-US" sz="920" b="0" u="none" strike="noStrike">
              <a:solidFill>
                <a:srgbClr val="000000"/>
              </a:solidFill>
              <a:effectLst/>
              <a:uFillTx/>
              <a:latin typeface="Times New Roman" panose="02020603050405020304"/>
            </a:endParaRPr>
          </a:p>
        </p:txBody>
      </p:sp>
      <p:sp>
        <p:nvSpPr>
          <p:cNvPr id="1334" name="任意多邊形 1333"/>
          <p:cNvSpPr/>
          <p:nvPr/>
        </p:nvSpPr>
        <p:spPr>
          <a:xfrm>
            <a:off x="534600" y="1303560"/>
            <a:ext cx="4613400" cy="1170360"/>
          </a:xfrm>
          <a:custGeom>
            <a:avLst/>
            <a:gdLst/>
            <a:ahLst/>
            <a:cxnLst/>
            <a:rect l="0" t="0" r="r" b="b"/>
            <a:pathLst>
              <a:path w="12815" h="3251">
                <a:moveTo>
                  <a:pt x="14" y="114"/>
                </a:moveTo>
                <a:cubicBezTo>
                  <a:pt x="24" y="92"/>
                  <a:pt x="37" y="72"/>
                  <a:pt x="55" y="54"/>
                </a:cubicBezTo>
                <a:cubicBezTo>
                  <a:pt x="72" y="37"/>
                  <a:pt x="92" y="23"/>
                  <a:pt x="115" y="14"/>
                </a:cubicBezTo>
                <a:cubicBezTo>
                  <a:pt x="138" y="4"/>
                  <a:pt x="161" y="0"/>
                  <a:pt x="186" y="0"/>
                </a:cubicBezTo>
                <a:lnTo>
                  <a:pt x="12629" y="0"/>
                </a:lnTo>
                <a:cubicBezTo>
                  <a:pt x="12654" y="0"/>
                  <a:pt x="12677" y="4"/>
                  <a:pt x="12700" y="14"/>
                </a:cubicBezTo>
                <a:cubicBezTo>
                  <a:pt x="12723" y="23"/>
                  <a:pt x="12743" y="37"/>
                  <a:pt x="12760" y="54"/>
                </a:cubicBezTo>
                <a:cubicBezTo>
                  <a:pt x="12778" y="72"/>
                  <a:pt x="12791" y="92"/>
                  <a:pt x="12801" y="114"/>
                </a:cubicBezTo>
                <a:cubicBezTo>
                  <a:pt x="12810" y="137"/>
                  <a:pt x="12815" y="161"/>
                  <a:pt x="12815" y="185"/>
                </a:cubicBezTo>
                <a:lnTo>
                  <a:pt x="12815" y="3065"/>
                </a:lnTo>
                <a:cubicBezTo>
                  <a:pt x="12815" y="3089"/>
                  <a:pt x="12810" y="3113"/>
                  <a:pt x="12801" y="3136"/>
                </a:cubicBezTo>
                <a:cubicBezTo>
                  <a:pt x="12791" y="3159"/>
                  <a:pt x="12778" y="3179"/>
                  <a:pt x="12760" y="3196"/>
                </a:cubicBezTo>
                <a:cubicBezTo>
                  <a:pt x="12743" y="3214"/>
                  <a:pt x="12723" y="3227"/>
                  <a:pt x="12700" y="3236"/>
                </a:cubicBezTo>
                <a:cubicBezTo>
                  <a:pt x="12677" y="3246"/>
                  <a:pt x="12654" y="3251"/>
                  <a:pt x="12629" y="3251"/>
                </a:cubicBezTo>
                <a:lnTo>
                  <a:pt x="186" y="3251"/>
                </a:lnTo>
                <a:cubicBezTo>
                  <a:pt x="161" y="3251"/>
                  <a:pt x="138" y="3246"/>
                  <a:pt x="115" y="3236"/>
                </a:cubicBezTo>
                <a:cubicBezTo>
                  <a:pt x="92" y="3227"/>
                  <a:pt x="72" y="3214"/>
                  <a:pt x="55" y="3196"/>
                </a:cubicBezTo>
                <a:cubicBezTo>
                  <a:pt x="37" y="3179"/>
                  <a:pt x="24" y="3159"/>
                  <a:pt x="14" y="3136"/>
                </a:cubicBezTo>
                <a:cubicBezTo>
                  <a:pt x="5" y="3113"/>
                  <a:pt x="0" y="3089"/>
                  <a:pt x="0" y="3065"/>
                </a:cubicBezTo>
                <a:lnTo>
                  <a:pt x="0" y="185"/>
                </a:lnTo>
                <a:cubicBezTo>
                  <a:pt x="0" y="161"/>
                  <a:pt x="5" y="137"/>
                  <a:pt x="14" y="114"/>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35" name="文字框 1334"/>
          <p:cNvSpPr txBox="1"/>
          <p:nvPr/>
        </p:nvSpPr>
        <p:spPr>
          <a:xfrm>
            <a:off x="9750240" y="6802560"/>
            <a:ext cx="22796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19 / 24</a:t>
            </a:r>
            <a:endParaRPr lang="en-US" sz="920" b="0" u="none" strike="noStrike">
              <a:solidFill>
                <a:srgbClr val="000000"/>
              </a:solidFill>
              <a:effectLst/>
              <a:uFillTx/>
              <a:latin typeface="Times New Roman" panose="02020603050405020304"/>
            </a:endParaRPr>
          </a:p>
        </p:txBody>
      </p:sp>
      <p:sp>
        <p:nvSpPr>
          <p:cNvPr id="1336" name="文字框 1335"/>
          <p:cNvSpPr txBox="1"/>
          <p:nvPr/>
        </p:nvSpPr>
        <p:spPr>
          <a:xfrm>
            <a:off x="693720" y="1451880"/>
            <a:ext cx="150948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没有完美的避险资产</a:t>
            </a:r>
            <a:endParaRPr lang="en-US" sz="1320" b="0" u="none" strike="noStrike">
              <a:solidFill>
                <a:srgbClr val="000000"/>
              </a:solidFill>
              <a:effectLst/>
              <a:uFillTx/>
              <a:latin typeface="Times New Roman" panose="02020603050405020304"/>
            </a:endParaRPr>
          </a:p>
        </p:txBody>
      </p:sp>
      <p:sp>
        <p:nvSpPr>
          <p:cNvPr id="1337" name="文字框 1336"/>
          <p:cNvSpPr txBox="1"/>
          <p:nvPr/>
        </p:nvSpPr>
        <p:spPr>
          <a:xfrm>
            <a:off x="693720" y="175140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各类资产在危机中扮演截然不同的角色，没有任何一种资产能够完美地规</a:t>
            </a:r>
            <a:endParaRPr lang="en-US" sz="1050" b="0" u="none" strike="noStrike">
              <a:solidFill>
                <a:srgbClr val="000000"/>
              </a:solidFill>
              <a:effectLst/>
              <a:uFillTx/>
              <a:latin typeface="Times New Roman" panose="02020603050405020304"/>
            </a:endParaRPr>
          </a:p>
        </p:txBody>
      </p:sp>
      <p:sp>
        <p:nvSpPr>
          <p:cNvPr id="1338" name="文字框 1337"/>
          <p:cNvSpPr txBox="1"/>
          <p:nvPr/>
        </p:nvSpPr>
        <p:spPr>
          <a:xfrm>
            <a:off x="693720" y="195192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避所有风险。成功的危机应对策略建立在拥有一个无论在顺境还是逆境中</a:t>
            </a:r>
            <a:endParaRPr lang="en-US" sz="1050" b="0" u="none" strike="noStrike">
              <a:solidFill>
                <a:srgbClr val="000000"/>
              </a:solidFill>
              <a:effectLst/>
              <a:uFillTx/>
              <a:latin typeface="Times New Roman" panose="02020603050405020304"/>
            </a:endParaRPr>
          </a:p>
        </p:txBody>
      </p:sp>
      <p:sp>
        <p:nvSpPr>
          <p:cNvPr id="1339" name="任意多邊形 1338"/>
          <p:cNvSpPr/>
          <p:nvPr/>
        </p:nvSpPr>
        <p:spPr>
          <a:xfrm>
            <a:off x="534600" y="2607120"/>
            <a:ext cx="4613400" cy="969840"/>
          </a:xfrm>
          <a:custGeom>
            <a:avLst/>
            <a:gdLst/>
            <a:ahLst/>
            <a:cxnLst/>
            <a:rect l="0" t="0" r="r" b="b"/>
            <a:pathLst>
              <a:path w="12815" h="2694">
                <a:moveTo>
                  <a:pt x="14" y="115"/>
                </a:moveTo>
                <a:cubicBezTo>
                  <a:pt x="24" y="92"/>
                  <a:pt x="37" y="72"/>
                  <a:pt x="55" y="54"/>
                </a:cubicBezTo>
                <a:cubicBezTo>
                  <a:pt x="72" y="37"/>
                  <a:pt x="92" y="24"/>
                  <a:pt x="115" y="14"/>
                </a:cubicBezTo>
                <a:cubicBezTo>
                  <a:pt x="138" y="5"/>
                  <a:pt x="161" y="0"/>
                  <a:pt x="186" y="0"/>
                </a:cubicBezTo>
                <a:lnTo>
                  <a:pt x="12629" y="0"/>
                </a:lnTo>
                <a:cubicBezTo>
                  <a:pt x="12654" y="0"/>
                  <a:pt x="12677" y="5"/>
                  <a:pt x="12700" y="14"/>
                </a:cubicBezTo>
                <a:cubicBezTo>
                  <a:pt x="12723" y="24"/>
                  <a:pt x="12743" y="37"/>
                  <a:pt x="12760" y="54"/>
                </a:cubicBezTo>
                <a:cubicBezTo>
                  <a:pt x="12778" y="72"/>
                  <a:pt x="12791" y="92"/>
                  <a:pt x="12801" y="115"/>
                </a:cubicBezTo>
                <a:cubicBezTo>
                  <a:pt x="12810" y="137"/>
                  <a:pt x="12815" y="161"/>
                  <a:pt x="12815" y="186"/>
                </a:cubicBezTo>
                <a:lnTo>
                  <a:pt x="12815" y="2508"/>
                </a:lnTo>
                <a:cubicBezTo>
                  <a:pt x="12815" y="2533"/>
                  <a:pt x="12810" y="2556"/>
                  <a:pt x="12801" y="2579"/>
                </a:cubicBezTo>
                <a:cubicBezTo>
                  <a:pt x="12791" y="2602"/>
                  <a:pt x="12778" y="2622"/>
                  <a:pt x="12760" y="2639"/>
                </a:cubicBezTo>
                <a:cubicBezTo>
                  <a:pt x="12743" y="2657"/>
                  <a:pt x="12723" y="2670"/>
                  <a:pt x="12700" y="2680"/>
                </a:cubicBezTo>
                <a:cubicBezTo>
                  <a:pt x="12677" y="2689"/>
                  <a:pt x="12654" y="2694"/>
                  <a:pt x="12629" y="2694"/>
                </a:cubicBezTo>
                <a:lnTo>
                  <a:pt x="186" y="2694"/>
                </a:lnTo>
                <a:cubicBezTo>
                  <a:pt x="161" y="2694"/>
                  <a:pt x="138" y="2689"/>
                  <a:pt x="115" y="2680"/>
                </a:cubicBezTo>
                <a:cubicBezTo>
                  <a:pt x="92" y="2670"/>
                  <a:pt x="72" y="2657"/>
                  <a:pt x="55" y="2639"/>
                </a:cubicBezTo>
                <a:cubicBezTo>
                  <a:pt x="37" y="2622"/>
                  <a:pt x="24" y="2602"/>
                  <a:pt x="14" y="2579"/>
                </a:cubicBezTo>
                <a:cubicBezTo>
                  <a:pt x="5" y="2556"/>
                  <a:pt x="0" y="2533"/>
                  <a:pt x="0" y="2508"/>
                </a:cubicBezTo>
                <a:lnTo>
                  <a:pt x="0" y="186"/>
                </a:lnTo>
                <a:cubicBezTo>
                  <a:pt x="0" y="161"/>
                  <a:pt x="5" y="137"/>
                  <a:pt x="14" y="1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40" name="文字框 1339"/>
          <p:cNvSpPr txBox="1"/>
          <p:nvPr/>
        </p:nvSpPr>
        <p:spPr>
          <a:xfrm>
            <a:off x="693720" y="2152440"/>
            <a:ext cx="1744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都表现稳健的资产组合之上。</a:t>
            </a:r>
            <a:endParaRPr lang="en-US" sz="1050" b="0" u="none" strike="noStrike">
              <a:solidFill>
                <a:srgbClr val="000000"/>
              </a:solidFill>
              <a:effectLst/>
              <a:uFillTx/>
              <a:latin typeface="Times New Roman" panose="02020603050405020304"/>
            </a:endParaRPr>
          </a:p>
        </p:txBody>
      </p:sp>
      <p:sp>
        <p:nvSpPr>
          <p:cNvPr id="1341" name="文字框 1340"/>
          <p:cNvSpPr txBox="1"/>
          <p:nvPr/>
        </p:nvSpPr>
        <p:spPr>
          <a:xfrm>
            <a:off x="693720" y="275544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多元化是关键</a:t>
            </a:r>
            <a:endParaRPr lang="en-US" sz="1320" b="0" u="none" strike="noStrike">
              <a:solidFill>
                <a:srgbClr val="000000"/>
              </a:solidFill>
              <a:effectLst/>
              <a:uFillTx/>
              <a:latin typeface="Times New Roman" panose="02020603050405020304"/>
            </a:endParaRPr>
          </a:p>
        </p:txBody>
      </p:sp>
      <p:sp>
        <p:nvSpPr>
          <p:cNvPr id="1342" name="文字框 1341"/>
          <p:cNvSpPr txBox="1"/>
          <p:nvPr/>
        </p:nvSpPr>
        <p:spPr>
          <a:xfrm>
            <a:off x="693720" y="305532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构建一个多元化的投资组合是抵御危机的核心策略。通过将资金分散到不</a:t>
            </a:r>
            <a:endParaRPr lang="en-US" sz="1050" b="0" u="none" strike="noStrike">
              <a:solidFill>
                <a:srgbClr val="000000"/>
              </a:solidFill>
              <a:effectLst/>
              <a:uFillTx/>
              <a:latin typeface="Times New Roman" panose="02020603050405020304"/>
            </a:endParaRPr>
          </a:p>
        </p:txBody>
      </p:sp>
      <p:sp>
        <p:nvSpPr>
          <p:cNvPr id="1343" name="任意多邊形 1342"/>
          <p:cNvSpPr/>
          <p:nvPr/>
        </p:nvSpPr>
        <p:spPr>
          <a:xfrm>
            <a:off x="534600" y="3710160"/>
            <a:ext cx="4613400" cy="969840"/>
          </a:xfrm>
          <a:custGeom>
            <a:avLst/>
            <a:gdLst/>
            <a:ahLst/>
            <a:cxnLst/>
            <a:rect l="0" t="0" r="r" b="b"/>
            <a:pathLst>
              <a:path w="12815" h="2694">
                <a:moveTo>
                  <a:pt x="14" y="115"/>
                </a:moveTo>
                <a:cubicBezTo>
                  <a:pt x="24" y="92"/>
                  <a:pt x="37" y="72"/>
                  <a:pt x="55" y="54"/>
                </a:cubicBezTo>
                <a:cubicBezTo>
                  <a:pt x="72" y="37"/>
                  <a:pt x="92" y="24"/>
                  <a:pt x="115" y="14"/>
                </a:cubicBezTo>
                <a:cubicBezTo>
                  <a:pt x="138" y="5"/>
                  <a:pt x="161" y="0"/>
                  <a:pt x="186" y="0"/>
                </a:cubicBezTo>
                <a:lnTo>
                  <a:pt x="12629" y="0"/>
                </a:lnTo>
                <a:cubicBezTo>
                  <a:pt x="12654" y="0"/>
                  <a:pt x="12677" y="5"/>
                  <a:pt x="12700" y="14"/>
                </a:cubicBezTo>
                <a:cubicBezTo>
                  <a:pt x="12723" y="24"/>
                  <a:pt x="12743" y="37"/>
                  <a:pt x="12760" y="54"/>
                </a:cubicBezTo>
                <a:cubicBezTo>
                  <a:pt x="12778" y="72"/>
                  <a:pt x="12791" y="92"/>
                  <a:pt x="12801" y="115"/>
                </a:cubicBezTo>
                <a:cubicBezTo>
                  <a:pt x="12810" y="137"/>
                  <a:pt x="12815" y="161"/>
                  <a:pt x="12815" y="186"/>
                </a:cubicBezTo>
                <a:lnTo>
                  <a:pt x="12815" y="2508"/>
                </a:lnTo>
                <a:cubicBezTo>
                  <a:pt x="12815" y="2533"/>
                  <a:pt x="12810" y="2556"/>
                  <a:pt x="12801" y="2579"/>
                </a:cubicBezTo>
                <a:cubicBezTo>
                  <a:pt x="12791" y="2602"/>
                  <a:pt x="12778" y="2622"/>
                  <a:pt x="12760" y="2639"/>
                </a:cubicBezTo>
                <a:cubicBezTo>
                  <a:pt x="12743" y="2657"/>
                  <a:pt x="12723" y="2670"/>
                  <a:pt x="12700" y="2680"/>
                </a:cubicBezTo>
                <a:cubicBezTo>
                  <a:pt x="12677" y="2689"/>
                  <a:pt x="12654" y="2694"/>
                  <a:pt x="12629" y="2694"/>
                </a:cubicBezTo>
                <a:lnTo>
                  <a:pt x="186" y="2694"/>
                </a:lnTo>
                <a:cubicBezTo>
                  <a:pt x="161" y="2694"/>
                  <a:pt x="138" y="2689"/>
                  <a:pt x="115" y="2680"/>
                </a:cubicBezTo>
                <a:cubicBezTo>
                  <a:pt x="92" y="2670"/>
                  <a:pt x="72" y="2657"/>
                  <a:pt x="55" y="2639"/>
                </a:cubicBezTo>
                <a:cubicBezTo>
                  <a:pt x="37" y="2622"/>
                  <a:pt x="24" y="2602"/>
                  <a:pt x="14" y="2579"/>
                </a:cubicBezTo>
                <a:cubicBezTo>
                  <a:pt x="5" y="2556"/>
                  <a:pt x="0" y="2533"/>
                  <a:pt x="0" y="2508"/>
                </a:cubicBezTo>
                <a:lnTo>
                  <a:pt x="0" y="186"/>
                </a:lnTo>
                <a:cubicBezTo>
                  <a:pt x="0" y="161"/>
                  <a:pt x="5" y="137"/>
                  <a:pt x="14" y="1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44" name="文字框 1343"/>
          <p:cNvSpPr txBox="1"/>
          <p:nvPr/>
        </p:nvSpPr>
        <p:spPr>
          <a:xfrm>
            <a:off x="693720" y="325584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同类型的资产中，可以平滑投资组合的整体波动，提高风险调整后收益。</a:t>
            </a:r>
            <a:endParaRPr lang="en-US" sz="1050" b="0" u="none" strike="noStrike">
              <a:solidFill>
                <a:srgbClr val="000000"/>
              </a:solidFill>
              <a:effectLst/>
              <a:uFillTx/>
              <a:latin typeface="Times New Roman" panose="02020603050405020304"/>
            </a:endParaRPr>
          </a:p>
        </p:txBody>
      </p:sp>
      <p:sp>
        <p:nvSpPr>
          <p:cNvPr id="1345" name="文字框 1344"/>
          <p:cNvSpPr txBox="1"/>
          <p:nvPr/>
        </p:nvSpPr>
        <p:spPr>
          <a:xfrm>
            <a:off x="693720" y="3858480"/>
            <a:ext cx="134172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动态调整至关重要</a:t>
            </a:r>
            <a:endParaRPr lang="en-US" sz="1320" b="0" u="none" strike="noStrike">
              <a:solidFill>
                <a:srgbClr val="000000"/>
              </a:solidFill>
              <a:effectLst/>
              <a:uFillTx/>
              <a:latin typeface="Times New Roman" panose="02020603050405020304"/>
            </a:endParaRPr>
          </a:p>
        </p:txBody>
      </p:sp>
      <p:sp>
        <p:nvSpPr>
          <p:cNvPr id="1346" name="文字框 1345"/>
          <p:cNvSpPr txBox="1"/>
          <p:nvPr/>
        </p:nvSpPr>
        <p:spPr>
          <a:xfrm>
            <a:off x="693720" y="415836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定期审视和动态调整资产配置，是穿越金融风暴、实现长期资本保值增值</a:t>
            </a:r>
            <a:endParaRPr lang="en-US" sz="1050" b="0" u="none" strike="noStrike">
              <a:solidFill>
                <a:srgbClr val="000000"/>
              </a:solidFill>
              <a:effectLst/>
              <a:uFillTx/>
              <a:latin typeface="Times New Roman" panose="02020603050405020304"/>
            </a:endParaRPr>
          </a:p>
        </p:txBody>
      </p:sp>
      <p:sp>
        <p:nvSpPr>
          <p:cNvPr id="1347" name="文字框 1346"/>
          <p:cNvSpPr txBox="1"/>
          <p:nvPr/>
        </p:nvSpPr>
        <p:spPr>
          <a:xfrm>
            <a:off x="693720" y="435888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的根本保障。投资策略应随市场环境和个人需求变化而灵活调整。</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圖片 2"/>
          <p:cNvPicPr>
            <a:picLocks noChangeAspect="1"/>
          </p:cNvPicPr>
          <p:nvPr/>
        </p:nvPicPr>
        <p:blipFill>
          <a:blip r:embed="rId1"/>
          <a:stretch>
            <a:fillRect/>
          </a:stretch>
        </p:blipFill>
        <p:spPr>
          <a:xfrm>
            <a:off x="-635" y="0"/>
            <a:ext cx="10704195" cy="60153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圖片 1"/>
          <p:cNvPicPr>
            <a:picLocks noChangeAspect="1"/>
          </p:cNvPicPr>
          <p:nvPr/>
        </p:nvPicPr>
        <p:blipFill>
          <a:blip r:embed="rId1"/>
          <a:stretch>
            <a:fillRect/>
          </a:stretch>
        </p:blipFill>
        <p:spPr>
          <a:xfrm>
            <a:off x="-5080" y="0"/>
            <a:ext cx="10708640" cy="61131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圖片 1"/>
          <p:cNvPicPr>
            <a:picLocks noChangeAspect="1"/>
          </p:cNvPicPr>
          <p:nvPr/>
        </p:nvPicPr>
        <p:blipFill>
          <a:blip r:embed="rId1"/>
          <a:stretch>
            <a:fillRect/>
          </a:stretch>
        </p:blipFill>
        <p:spPr>
          <a:xfrm>
            <a:off x="0" y="272415"/>
            <a:ext cx="10619740" cy="57429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圖片 2"/>
          <p:cNvPicPr>
            <a:picLocks noChangeAspect="1"/>
          </p:cNvPicPr>
          <p:nvPr/>
        </p:nvPicPr>
        <p:blipFill>
          <a:blip r:embed="rId1"/>
          <a:stretch>
            <a:fillRect/>
          </a:stretch>
        </p:blipFill>
        <p:spPr>
          <a:xfrm>
            <a:off x="813435" y="588645"/>
            <a:ext cx="9077325" cy="48387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7" name="圖片 1286"/>
          <p:cNvPicPr/>
          <p:nvPr/>
        </p:nvPicPr>
        <p:blipFill>
          <a:blip r:embed="rId1"/>
          <a:stretch>
            <a:fillRect/>
          </a:stretch>
        </p:blipFill>
        <p:spPr>
          <a:xfrm>
            <a:off x="0" y="0"/>
            <a:ext cx="10696320" cy="8489880"/>
          </a:xfrm>
          <a:prstGeom prst="rect">
            <a:avLst/>
          </a:prstGeom>
          <a:noFill/>
          <a:ln w="0">
            <a:noFill/>
          </a:ln>
        </p:spPr>
      </p:pic>
      <p:pic>
        <p:nvPicPr>
          <p:cNvPr id="1288" name="圖片 1287"/>
          <p:cNvPicPr/>
          <p:nvPr/>
        </p:nvPicPr>
        <p:blipFill>
          <a:blip r:embed="rId2"/>
          <a:stretch>
            <a:fillRect/>
          </a:stretch>
        </p:blipFill>
        <p:spPr>
          <a:xfrm>
            <a:off x="534960" y="735480"/>
            <a:ext cx="3208680" cy="33120"/>
          </a:xfrm>
          <a:prstGeom prst="rect">
            <a:avLst/>
          </a:prstGeom>
          <a:noFill/>
          <a:ln w="0">
            <a:noFill/>
          </a:ln>
        </p:spPr>
      </p:pic>
      <p:pic>
        <p:nvPicPr>
          <p:cNvPr id="1289" name="圖片 1288"/>
          <p:cNvPicPr/>
          <p:nvPr/>
        </p:nvPicPr>
        <p:blipFill>
          <a:blip r:embed="rId3"/>
          <a:stretch>
            <a:fillRect/>
          </a:stretch>
        </p:blipFill>
        <p:spPr>
          <a:xfrm>
            <a:off x="534960" y="927720"/>
            <a:ext cx="200160" cy="200160"/>
          </a:xfrm>
          <a:prstGeom prst="rect">
            <a:avLst/>
          </a:prstGeom>
          <a:noFill/>
          <a:ln w="0">
            <a:noFill/>
          </a:ln>
        </p:spPr>
      </p:pic>
      <p:sp>
        <p:nvSpPr>
          <p:cNvPr id="1290" name="文字框 1289"/>
          <p:cNvSpPr txBox="1"/>
          <p:nvPr/>
        </p:nvSpPr>
        <p:spPr>
          <a:xfrm>
            <a:off x="534960" y="312120"/>
            <a:ext cx="3903840" cy="378360"/>
          </a:xfrm>
          <a:prstGeom prst="rect">
            <a:avLst/>
          </a:prstGeom>
          <a:noFill/>
          <a:ln w="0">
            <a:noFill/>
          </a:ln>
        </p:spPr>
        <p:txBody>
          <a:bodyPr wrap="none" lIns="0" tIns="0" rIns="0" bIns="0" anchor="t">
            <a:spAutoFit/>
          </a:bodyPr>
          <a:p>
            <a:r>
              <a:rPr lang="zh-CN" sz="2370" b="0" u="none" strike="noStrike">
                <a:solidFill>
                  <a:srgbClr val="FFFFFF"/>
                </a:solidFill>
                <a:effectLst/>
                <a:uFillTx/>
                <a:latin typeface="WenQuanYiZenHei"/>
                <a:ea typeface="WenQuanYiZenHei"/>
              </a:rPr>
              <a:t>美国国债概述与利率政策关系</a:t>
            </a:r>
            <a:endParaRPr lang="en-US" sz="2370" b="0" u="none" strike="noStrike">
              <a:solidFill>
                <a:srgbClr val="000000"/>
              </a:solidFill>
              <a:effectLst/>
              <a:uFillTx/>
              <a:latin typeface="Times New Roman" panose="02020603050405020304"/>
            </a:endParaRPr>
          </a:p>
        </p:txBody>
      </p:sp>
      <p:sp>
        <p:nvSpPr>
          <p:cNvPr id="1291" name="任意多邊形 1290"/>
          <p:cNvSpPr/>
          <p:nvPr/>
        </p:nvSpPr>
        <p:spPr>
          <a:xfrm>
            <a:off x="5548680" y="1303560"/>
            <a:ext cx="4613400" cy="2273400"/>
          </a:xfrm>
          <a:custGeom>
            <a:avLst/>
            <a:gdLst/>
            <a:ahLst/>
            <a:cxnLst/>
            <a:rect l="0" t="0" r="r" b="b"/>
            <a:pathLst>
              <a:path w="12815" h="6315">
                <a:moveTo>
                  <a:pt x="0" y="6129"/>
                </a:moveTo>
                <a:lnTo>
                  <a:pt x="0" y="185"/>
                </a:lnTo>
                <a:cubicBezTo>
                  <a:pt x="0" y="173"/>
                  <a:pt x="1" y="161"/>
                  <a:pt x="4" y="149"/>
                </a:cubicBezTo>
                <a:cubicBezTo>
                  <a:pt x="6" y="137"/>
                  <a:pt x="9" y="126"/>
                  <a:pt x="14" y="114"/>
                </a:cubicBezTo>
                <a:cubicBezTo>
                  <a:pt x="19" y="103"/>
                  <a:pt x="24" y="92"/>
                  <a:pt x="31" y="82"/>
                </a:cubicBezTo>
                <a:cubicBezTo>
                  <a:pt x="38" y="72"/>
                  <a:pt x="46" y="63"/>
                  <a:pt x="54" y="54"/>
                </a:cubicBezTo>
                <a:cubicBezTo>
                  <a:pt x="63" y="46"/>
                  <a:pt x="72" y="38"/>
                  <a:pt x="83" y="31"/>
                </a:cubicBezTo>
                <a:cubicBezTo>
                  <a:pt x="93" y="24"/>
                  <a:pt x="103" y="19"/>
                  <a:pt x="115" y="14"/>
                </a:cubicBezTo>
                <a:cubicBezTo>
                  <a:pt x="126" y="9"/>
                  <a:pt x="137" y="6"/>
                  <a:pt x="149" y="3"/>
                </a:cubicBezTo>
                <a:cubicBezTo>
                  <a:pt x="161" y="1"/>
                  <a:pt x="173" y="0"/>
                  <a:pt x="186" y="0"/>
                </a:cubicBezTo>
                <a:lnTo>
                  <a:pt x="12629" y="0"/>
                </a:lnTo>
                <a:cubicBezTo>
                  <a:pt x="12641" y="0"/>
                  <a:pt x="12653" y="1"/>
                  <a:pt x="12665" y="3"/>
                </a:cubicBezTo>
                <a:cubicBezTo>
                  <a:pt x="12677" y="6"/>
                  <a:pt x="12689" y="9"/>
                  <a:pt x="12700" y="14"/>
                </a:cubicBezTo>
                <a:cubicBezTo>
                  <a:pt x="12711" y="19"/>
                  <a:pt x="12722" y="24"/>
                  <a:pt x="12732" y="31"/>
                </a:cubicBezTo>
                <a:cubicBezTo>
                  <a:pt x="12742" y="38"/>
                  <a:pt x="12752" y="46"/>
                  <a:pt x="12760" y="54"/>
                </a:cubicBezTo>
                <a:cubicBezTo>
                  <a:pt x="12769" y="63"/>
                  <a:pt x="12776" y="72"/>
                  <a:pt x="12783" y="82"/>
                </a:cubicBezTo>
                <a:cubicBezTo>
                  <a:pt x="12790" y="92"/>
                  <a:pt x="12796" y="103"/>
                  <a:pt x="12800" y="114"/>
                </a:cubicBezTo>
                <a:cubicBezTo>
                  <a:pt x="12805" y="126"/>
                  <a:pt x="12809" y="137"/>
                  <a:pt x="12811" y="149"/>
                </a:cubicBezTo>
                <a:cubicBezTo>
                  <a:pt x="12813" y="161"/>
                  <a:pt x="12815" y="173"/>
                  <a:pt x="12815" y="185"/>
                </a:cubicBezTo>
                <a:lnTo>
                  <a:pt x="12815" y="6129"/>
                </a:lnTo>
                <a:cubicBezTo>
                  <a:pt x="12815" y="6141"/>
                  <a:pt x="12813" y="6153"/>
                  <a:pt x="12811" y="6165"/>
                </a:cubicBezTo>
                <a:cubicBezTo>
                  <a:pt x="12809" y="6177"/>
                  <a:pt x="12805" y="6189"/>
                  <a:pt x="12800" y="6200"/>
                </a:cubicBezTo>
                <a:cubicBezTo>
                  <a:pt x="12796" y="6211"/>
                  <a:pt x="12790" y="6222"/>
                  <a:pt x="12783" y="6232"/>
                </a:cubicBezTo>
                <a:cubicBezTo>
                  <a:pt x="12776" y="6242"/>
                  <a:pt x="12769" y="6252"/>
                  <a:pt x="12760" y="6260"/>
                </a:cubicBezTo>
                <a:cubicBezTo>
                  <a:pt x="12752" y="6269"/>
                  <a:pt x="12742" y="6277"/>
                  <a:pt x="12732" y="6283"/>
                </a:cubicBezTo>
                <a:cubicBezTo>
                  <a:pt x="12722" y="6290"/>
                  <a:pt x="12711" y="6296"/>
                  <a:pt x="12700" y="6301"/>
                </a:cubicBezTo>
                <a:cubicBezTo>
                  <a:pt x="12689" y="6305"/>
                  <a:pt x="12677" y="6309"/>
                  <a:pt x="12665" y="6311"/>
                </a:cubicBezTo>
                <a:cubicBezTo>
                  <a:pt x="12653" y="6313"/>
                  <a:pt x="12641" y="6315"/>
                  <a:pt x="12629" y="6315"/>
                </a:cubicBezTo>
                <a:lnTo>
                  <a:pt x="186" y="6315"/>
                </a:lnTo>
                <a:cubicBezTo>
                  <a:pt x="173" y="6315"/>
                  <a:pt x="161" y="6313"/>
                  <a:pt x="149" y="6311"/>
                </a:cubicBezTo>
                <a:cubicBezTo>
                  <a:pt x="137" y="6309"/>
                  <a:pt x="126" y="6305"/>
                  <a:pt x="115" y="6301"/>
                </a:cubicBezTo>
                <a:cubicBezTo>
                  <a:pt x="103" y="6296"/>
                  <a:pt x="93" y="6290"/>
                  <a:pt x="83" y="6283"/>
                </a:cubicBezTo>
                <a:cubicBezTo>
                  <a:pt x="72" y="6277"/>
                  <a:pt x="63" y="6269"/>
                  <a:pt x="54" y="6260"/>
                </a:cubicBezTo>
                <a:cubicBezTo>
                  <a:pt x="46" y="6252"/>
                  <a:pt x="38" y="6242"/>
                  <a:pt x="31" y="6232"/>
                </a:cubicBezTo>
                <a:cubicBezTo>
                  <a:pt x="24" y="6222"/>
                  <a:pt x="19" y="6211"/>
                  <a:pt x="14" y="6200"/>
                </a:cubicBezTo>
                <a:cubicBezTo>
                  <a:pt x="9" y="6189"/>
                  <a:pt x="6" y="6177"/>
                  <a:pt x="4" y="6165"/>
                </a:cubicBezTo>
                <a:cubicBezTo>
                  <a:pt x="1" y="6153"/>
                  <a:pt x="0" y="6141"/>
                  <a:pt x="0" y="6129"/>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92" name="任意多邊形 1291"/>
          <p:cNvSpPr/>
          <p:nvPr/>
        </p:nvSpPr>
        <p:spPr>
          <a:xfrm>
            <a:off x="5548680" y="3710160"/>
            <a:ext cx="4613400" cy="1872360"/>
          </a:xfrm>
          <a:custGeom>
            <a:avLst/>
            <a:gdLst/>
            <a:ahLst/>
            <a:cxnLst/>
            <a:rect l="0" t="0" r="r" b="b"/>
            <a:pathLst>
              <a:path w="12815" h="5201">
                <a:moveTo>
                  <a:pt x="0" y="5015"/>
                </a:moveTo>
                <a:lnTo>
                  <a:pt x="0" y="186"/>
                </a:lnTo>
                <a:cubicBezTo>
                  <a:pt x="0" y="174"/>
                  <a:pt x="1" y="162"/>
                  <a:pt x="4" y="150"/>
                </a:cubicBezTo>
                <a:cubicBezTo>
                  <a:pt x="6" y="138"/>
                  <a:pt x="9" y="126"/>
                  <a:pt x="14" y="115"/>
                </a:cubicBezTo>
                <a:cubicBezTo>
                  <a:pt x="19" y="103"/>
                  <a:pt x="24" y="93"/>
                  <a:pt x="31" y="83"/>
                </a:cubicBezTo>
                <a:cubicBezTo>
                  <a:pt x="38" y="72"/>
                  <a:pt x="46" y="63"/>
                  <a:pt x="54" y="54"/>
                </a:cubicBezTo>
                <a:cubicBezTo>
                  <a:pt x="63" y="46"/>
                  <a:pt x="72" y="38"/>
                  <a:pt x="83" y="31"/>
                </a:cubicBezTo>
                <a:cubicBezTo>
                  <a:pt x="93" y="25"/>
                  <a:pt x="103" y="19"/>
                  <a:pt x="115" y="14"/>
                </a:cubicBezTo>
                <a:cubicBezTo>
                  <a:pt x="126" y="10"/>
                  <a:pt x="137" y="6"/>
                  <a:pt x="149" y="4"/>
                </a:cubicBezTo>
                <a:cubicBezTo>
                  <a:pt x="161" y="1"/>
                  <a:pt x="173" y="0"/>
                  <a:pt x="186" y="0"/>
                </a:cubicBezTo>
                <a:lnTo>
                  <a:pt x="12629" y="0"/>
                </a:lnTo>
                <a:cubicBezTo>
                  <a:pt x="12641" y="0"/>
                  <a:pt x="12653" y="1"/>
                  <a:pt x="12665" y="4"/>
                </a:cubicBezTo>
                <a:cubicBezTo>
                  <a:pt x="12677" y="6"/>
                  <a:pt x="12689" y="10"/>
                  <a:pt x="12700" y="14"/>
                </a:cubicBezTo>
                <a:cubicBezTo>
                  <a:pt x="12711" y="19"/>
                  <a:pt x="12722" y="25"/>
                  <a:pt x="12732" y="31"/>
                </a:cubicBezTo>
                <a:cubicBezTo>
                  <a:pt x="12742" y="38"/>
                  <a:pt x="12752" y="46"/>
                  <a:pt x="12760" y="54"/>
                </a:cubicBezTo>
                <a:cubicBezTo>
                  <a:pt x="12769" y="63"/>
                  <a:pt x="12776" y="72"/>
                  <a:pt x="12783" y="83"/>
                </a:cubicBezTo>
                <a:cubicBezTo>
                  <a:pt x="12790" y="93"/>
                  <a:pt x="12796" y="103"/>
                  <a:pt x="12800" y="115"/>
                </a:cubicBezTo>
                <a:cubicBezTo>
                  <a:pt x="12805" y="126"/>
                  <a:pt x="12809" y="138"/>
                  <a:pt x="12811" y="150"/>
                </a:cubicBezTo>
                <a:cubicBezTo>
                  <a:pt x="12813" y="162"/>
                  <a:pt x="12815" y="174"/>
                  <a:pt x="12815" y="186"/>
                </a:cubicBezTo>
                <a:lnTo>
                  <a:pt x="12815" y="5015"/>
                </a:lnTo>
                <a:cubicBezTo>
                  <a:pt x="12815" y="5027"/>
                  <a:pt x="12813" y="5039"/>
                  <a:pt x="12811" y="5051"/>
                </a:cubicBezTo>
                <a:cubicBezTo>
                  <a:pt x="12809" y="5063"/>
                  <a:pt x="12805" y="5075"/>
                  <a:pt x="12800" y="5086"/>
                </a:cubicBezTo>
                <a:cubicBezTo>
                  <a:pt x="12796" y="5097"/>
                  <a:pt x="12790" y="5108"/>
                  <a:pt x="12783" y="5118"/>
                </a:cubicBezTo>
                <a:cubicBezTo>
                  <a:pt x="12776" y="5128"/>
                  <a:pt x="12769" y="5138"/>
                  <a:pt x="12760" y="5146"/>
                </a:cubicBezTo>
                <a:cubicBezTo>
                  <a:pt x="12752" y="5155"/>
                  <a:pt x="12742" y="5163"/>
                  <a:pt x="12732" y="5170"/>
                </a:cubicBezTo>
                <a:cubicBezTo>
                  <a:pt x="12722" y="5176"/>
                  <a:pt x="12711" y="5182"/>
                  <a:pt x="12700" y="5187"/>
                </a:cubicBezTo>
                <a:cubicBezTo>
                  <a:pt x="12689" y="5191"/>
                  <a:pt x="12677" y="5195"/>
                  <a:pt x="12665" y="5197"/>
                </a:cubicBezTo>
                <a:cubicBezTo>
                  <a:pt x="12653" y="5200"/>
                  <a:pt x="12641" y="5201"/>
                  <a:pt x="12629" y="5201"/>
                </a:cubicBezTo>
                <a:lnTo>
                  <a:pt x="186" y="5201"/>
                </a:lnTo>
                <a:cubicBezTo>
                  <a:pt x="173" y="5201"/>
                  <a:pt x="161" y="5200"/>
                  <a:pt x="149" y="5197"/>
                </a:cubicBezTo>
                <a:cubicBezTo>
                  <a:pt x="137" y="5195"/>
                  <a:pt x="126" y="5191"/>
                  <a:pt x="115" y="5187"/>
                </a:cubicBezTo>
                <a:cubicBezTo>
                  <a:pt x="103" y="5182"/>
                  <a:pt x="93" y="5176"/>
                  <a:pt x="83" y="5170"/>
                </a:cubicBezTo>
                <a:cubicBezTo>
                  <a:pt x="72" y="5163"/>
                  <a:pt x="63" y="5155"/>
                  <a:pt x="54" y="5146"/>
                </a:cubicBezTo>
                <a:cubicBezTo>
                  <a:pt x="46" y="5138"/>
                  <a:pt x="38" y="5128"/>
                  <a:pt x="31" y="5118"/>
                </a:cubicBezTo>
                <a:cubicBezTo>
                  <a:pt x="24" y="5108"/>
                  <a:pt x="19" y="5097"/>
                  <a:pt x="14" y="5086"/>
                </a:cubicBezTo>
                <a:cubicBezTo>
                  <a:pt x="9" y="5075"/>
                  <a:pt x="6" y="5063"/>
                  <a:pt x="4" y="5051"/>
                </a:cubicBezTo>
                <a:cubicBezTo>
                  <a:pt x="1" y="5039"/>
                  <a:pt x="0" y="5027"/>
                  <a:pt x="0" y="50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293" name="任意多邊形 1292"/>
          <p:cNvSpPr/>
          <p:nvPr/>
        </p:nvSpPr>
        <p:spPr>
          <a:xfrm>
            <a:off x="5548680" y="5715720"/>
            <a:ext cx="4613400" cy="2273400"/>
          </a:xfrm>
          <a:custGeom>
            <a:avLst/>
            <a:gdLst/>
            <a:ahLst/>
            <a:cxnLst/>
            <a:rect l="0" t="0" r="r" b="b"/>
            <a:pathLst>
              <a:path w="12815" h="6315">
                <a:moveTo>
                  <a:pt x="0" y="6128"/>
                </a:moveTo>
                <a:lnTo>
                  <a:pt x="0" y="186"/>
                </a:lnTo>
                <a:cubicBezTo>
                  <a:pt x="0" y="174"/>
                  <a:pt x="1" y="162"/>
                  <a:pt x="4" y="150"/>
                </a:cubicBezTo>
                <a:cubicBezTo>
                  <a:pt x="6" y="138"/>
                  <a:pt x="9" y="126"/>
                  <a:pt x="14" y="115"/>
                </a:cubicBezTo>
                <a:cubicBezTo>
                  <a:pt x="19" y="104"/>
                  <a:pt x="24" y="93"/>
                  <a:pt x="31" y="83"/>
                </a:cubicBezTo>
                <a:cubicBezTo>
                  <a:pt x="38" y="73"/>
                  <a:pt x="46" y="63"/>
                  <a:pt x="54" y="55"/>
                </a:cubicBezTo>
                <a:cubicBezTo>
                  <a:pt x="63" y="46"/>
                  <a:pt x="72" y="38"/>
                  <a:pt x="83" y="32"/>
                </a:cubicBezTo>
                <a:cubicBezTo>
                  <a:pt x="93" y="25"/>
                  <a:pt x="103" y="19"/>
                  <a:pt x="115" y="14"/>
                </a:cubicBezTo>
                <a:cubicBezTo>
                  <a:pt x="126" y="10"/>
                  <a:pt x="137" y="6"/>
                  <a:pt x="149" y="4"/>
                </a:cubicBezTo>
                <a:cubicBezTo>
                  <a:pt x="161" y="1"/>
                  <a:pt x="173" y="0"/>
                  <a:pt x="186" y="0"/>
                </a:cubicBezTo>
                <a:lnTo>
                  <a:pt x="12629" y="0"/>
                </a:lnTo>
                <a:cubicBezTo>
                  <a:pt x="12641" y="0"/>
                  <a:pt x="12653" y="1"/>
                  <a:pt x="12665" y="4"/>
                </a:cubicBezTo>
                <a:cubicBezTo>
                  <a:pt x="12677" y="6"/>
                  <a:pt x="12689" y="10"/>
                  <a:pt x="12700" y="14"/>
                </a:cubicBezTo>
                <a:cubicBezTo>
                  <a:pt x="12711" y="19"/>
                  <a:pt x="12722" y="25"/>
                  <a:pt x="12732" y="32"/>
                </a:cubicBezTo>
                <a:cubicBezTo>
                  <a:pt x="12742" y="38"/>
                  <a:pt x="12752" y="46"/>
                  <a:pt x="12760" y="55"/>
                </a:cubicBezTo>
                <a:cubicBezTo>
                  <a:pt x="12769" y="63"/>
                  <a:pt x="12776" y="73"/>
                  <a:pt x="12783" y="83"/>
                </a:cubicBezTo>
                <a:cubicBezTo>
                  <a:pt x="12790" y="93"/>
                  <a:pt x="12796" y="104"/>
                  <a:pt x="12800" y="115"/>
                </a:cubicBezTo>
                <a:cubicBezTo>
                  <a:pt x="12805" y="126"/>
                  <a:pt x="12809" y="138"/>
                  <a:pt x="12811" y="150"/>
                </a:cubicBezTo>
                <a:cubicBezTo>
                  <a:pt x="12813" y="162"/>
                  <a:pt x="12815" y="174"/>
                  <a:pt x="12815" y="186"/>
                </a:cubicBezTo>
                <a:lnTo>
                  <a:pt x="12815" y="6128"/>
                </a:lnTo>
                <a:cubicBezTo>
                  <a:pt x="12815" y="6141"/>
                  <a:pt x="12813" y="6153"/>
                  <a:pt x="12811" y="6165"/>
                </a:cubicBezTo>
                <a:cubicBezTo>
                  <a:pt x="12809" y="6177"/>
                  <a:pt x="12805" y="6188"/>
                  <a:pt x="12800" y="6200"/>
                </a:cubicBezTo>
                <a:cubicBezTo>
                  <a:pt x="12796" y="6211"/>
                  <a:pt x="12790" y="6223"/>
                  <a:pt x="12783" y="6233"/>
                </a:cubicBezTo>
                <a:cubicBezTo>
                  <a:pt x="12776" y="6243"/>
                  <a:pt x="12769" y="6252"/>
                  <a:pt x="12760" y="6261"/>
                </a:cubicBezTo>
                <a:cubicBezTo>
                  <a:pt x="12752" y="6269"/>
                  <a:pt x="12742" y="6277"/>
                  <a:pt x="12732" y="6284"/>
                </a:cubicBezTo>
                <a:cubicBezTo>
                  <a:pt x="12722" y="6291"/>
                  <a:pt x="12711" y="6296"/>
                  <a:pt x="12700" y="6301"/>
                </a:cubicBezTo>
                <a:cubicBezTo>
                  <a:pt x="12689" y="6306"/>
                  <a:pt x="12677" y="6309"/>
                  <a:pt x="12665" y="6312"/>
                </a:cubicBezTo>
                <a:cubicBezTo>
                  <a:pt x="12653" y="6314"/>
                  <a:pt x="12641" y="6315"/>
                  <a:pt x="12629" y="6315"/>
                </a:cubicBezTo>
                <a:lnTo>
                  <a:pt x="186" y="6315"/>
                </a:lnTo>
                <a:cubicBezTo>
                  <a:pt x="173" y="6315"/>
                  <a:pt x="161" y="6314"/>
                  <a:pt x="149" y="6312"/>
                </a:cubicBezTo>
                <a:cubicBezTo>
                  <a:pt x="137" y="6309"/>
                  <a:pt x="126" y="6306"/>
                  <a:pt x="115" y="6301"/>
                </a:cubicBezTo>
                <a:cubicBezTo>
                  <a:pt x="103" y="6296"/>
                  <a:pt x="93" y="6291"/>
                  <a:pt x="83" y="6284"/>
                </a:cubicBezTo>
                <a:cubicBezTo>
                  <a:pt x="72" y="6277"/>
                  <a:pt x="63" y="6269"/>
                  <a:pt x="54" y="6261"/>
                </a:cubicBezTo>
                <a:cubicBezTo>
                  <a:pt x="46" y="6252"/>
                  <a:pt x="38" y="6243"/>
                  <a:pt x="31" y="6233"/>
                </a:cubicBezTo>
                <a:cubicBezTo>
                  <a:pt x="24" y="6223"/>
                  <a:pt x="19" y="6211"/>
                  <a:pt x="14" y="6200"/>
                </a:cubicBezTo>
                <a:cubicBezTo>
                  <a:pt x="9" y="6188"/>
                  <a:pt x="6" y="6177"/>
                  <a:pt x="4" y="6165"/>
                </a:cubicBezTo>
                <a:cubicBezTo>
                  <a:pt x="1" y="6153"/>
                  <a:pt x="0" y="6141"/>
                  <a:pt x="0" y="6128"/>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pic>
        <p:nvPicPr>
          <p:cNvPr id="1294" name="圖片 1293"/>
          <p:cNvPicPr/>
          <p:nvPr/>
        </p:nvPicPr>
        <p:blipFill>
          <a:blip r:embed="rId4"/>
          <a:stretch>
            <a:fillRect/>
          </a:stretch>
        </p:blipFill>
        <p:spPr>
          <a:xfrm>
            <a:off x="5548680" y="927720"/>
            <a:ext cx="200160" cy="200160"/>
          </a:xfrm>
          <a:prstGeom prst="rect">
            <a:avLst/>
          </a:prstGeom>
          <a:noFill/>
          <a:ln w="0">
            <a:noFill/>
          </a:ln>
        </p:spPr>
      </p:pic>
      <p:sp>
        <p:nvSpPr>
          <p:cNvPr id="1295" name="文字框 1294"/>
          <p:cNvSpPr txBox="1"/>
          <p:nvPr/>
        </p:nvSpPr>
        <p:spPr>
          <a:xfrm>
            <a:off x="802080" y="910080"/>
            <a:ext cx="120780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美国国债概述</a:t>
            </a:r>
            <a:endParaRPr lang="en-US" sz="1580" b="0" u="none" strike="noStrike">
              <a:solidFill>
                <a:srgbClr val="000000"/>
              </a:solidFill>
              <a:effectLst/>
              <a:uFillTx/>
              <a:latin typeface="Times New Roman" panose="02020603050405020304"/>
            </a:endParaRPr>
          </a:p>
        </p:txBody>
      </p:sp>
      <p:pic>
        <p:nvPicPr>
          <p:cNvPr id="1296" name="圖片 1295"/>
          <p:cNvPicPr/>
          <p:nvPr/>
        </p:nvPicPr>
        <p:blipFill>
          <a:blip r:embed="rId5"/>
          <a:stretch>
            <a:fillRect/>
          </a:stretch>
        </p:blipFill>
        <p:spPr>
          <a:xfrm>
            <a:off x="5682600" y="1479240"/>
            <a:ext cx="116640" cy="150120"/>
          </a:xfrm>
          <a:prstGeom prst="rect">
            <a:avLst/>
          </a:prstGeom>
          <a:noFill/>
          <a:ln w="0">
            <a:noFill/>
          </a:ln>
        </p:spPr>
      </p:pic>
      <p:sp>
        <p:nvSpPr>
          <p:cNvPr id="1297" name="文字框 1296"/>
          <p:cNvSpPr txBox="1"/>
          <p:nvPr/>
        </p:nvSpPr>
        <p:spPr>
          <a:xfrm>
            <a:off x="5816160" y="910080"/>
            <a:ext cx="1811160" cy="253440"/>
          </a:xfrm>
          <a:prstGeom prst="rect">
            <a:avLst/>
          </a:prstGeom>
          <a:noFill/>
          <a:ln w="0">
            <a:noFill/>
          </a:ln>
        </p:spPr>
        <p:txBody>
          <a:bodyPr wrap="none" lIns="0" tIns="0" rIns="0" bIns="0" anchor="t">
            <a:spAutoFit/>
          </a:bodyPr>
          <a:p>
            <a:r>
              <a:rPr lang="zh-CN" sz="1580" b="0" u="none" strike="noStrike">
                <a:solidFill>
                  <a:srgbClr val="FCD34D"/>
                </a:solidFill>
                <a:effectLst/>
                <a:uFillTx/>
                <a:latin typeface="WenQuanYiZenHei"/>
                <a:ea typeface="WenQuanYiZenHei"/>
              </a:rPr>
              <a:t>与美联储政策的关系</a:t>
            </a:r>
            <a:endParaRPr lang="en-US" sz="1580" b="0" u="none" strike="noStrike">
              <a:solidFill>
                <a:srgbClr val="000000"/>
              </a:solidFill>
              <a:effectLst/>
              <a:uFillTx/>
              <a:latin typeface="Times New Roman" panose="02020603050405020304"/>
            </a:endParaRPr>
          </a:p>
        </p:txBody>
      </p:sp>
      <p:sp>
        <p:nvSpPr>
          <p:cNvPr id="1298" name="文字框 1297"/>
          <p:cNvSpPr txBox="1"/>
          <p:nvPr/>
        </p:nvSpPr>
        <p:spPr>
          <a:xfrm>
            <a:off x="5866560" y="1459800"/>
            <a:ext cx="166032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加息对国债收益率的影响</a:t>
            </a:r>
            <a:endParaRPr lang="en-US" sz="1180" b="0" u="none" strike="noStrike">
              <a:solidFill>
                <a:srgbClr val="000000"/>
              </a:solidFill>
              <a:effectLst/>
              <a:uFillTx/>
              <a:latin typeface="Times New Roman" panose="02020603050405020304"/>
            </a:endParaRPr>
          </a:p>
        </p:txBody>
      </p:sp>
      <p:sp>
        <p:nvSpPr>
          <p:cNvPr id="1299" name="文字框 1298"/>
          <p:cNvSpPr txBox="1"/>
          <p:nvPr/>
        </p:nvSpPr>
        <p:spPr>
          <a:xfrm>
            <a:off x="5682600" y="175140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美联储加息通常旨在抑制通货膨胀和防止经济过热，这一举措会直接推高</a:t>
            </a:r>
            <a:endParaRPr lang="en-US" sz="1050" b="0" u="none" strike="noStrike">
              <a:solidFill>
                <a:srgbClr val="000000"/>
              </a:solidFill>
              <a:effectLst/>
              <a:uFillTx/>
              <a:latin typeface="Times New Roman" panose="02020603050405020304"/>
            </a:endParaRPr>
          </a:p>
        </p:txBody>
      </p:sp>
      <p:sp>
        <p:nvSpPr>
          <p:cNvPr id="1300" name="文字框 1299"/>
          <p:cNvSpPr txBox="1"/>
          <p:nvPr/>
        </p:nvSpPr>
        <p:spPr>
          <a:xfrm>
            <a:off x="5682600" y="195192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短期利率，并通过市场预期传导至中长期利率，但影响程度和机制有所不</a:t>
            </a:r>
            <a:endParaRPr lang="en-US" sz="1050" b="0" u="none" strike="noStrike">
              <a:solidFill>
                <a:srgbClr val="000000"/>
              </a:solidFill>
              <a:effectLst/>
              <a:uFillTx/>
              <a:latin typeface="Times New Roman" panose="02020603050405020304"/>
            </a:endParaRPr>
          </a:p>
        </p:txBody>
      </p:sp>
      <p:pic>
        <p:nvPicPr>
          <p:cNvPr id="1301" name="圖片 1300"/>
          <p:cNvPicPr/>
          <p:nvPr/>
        </p:nvPicPr>
        <p:blipFill>
          <a:blip r:embed="rId6"/>
          <a:stretch>
            <a:fillRect/>
          </a:stretch>
        </p:blipFill>
        <p:spPr>
          <a:xfrm>
            <a:off x="5682600" y="2457000"/>
            <a:ext cx="100080" cy="100080"/>
          </a:xfrm>
          <a:prstGeom prst="rect">
            <a:avLst/>
          </a:prstGeom>
          <a:noFill/>
          <a:ln w="0">
            <a:noFill/>
          </a:ln>
        </p:spPr>
      </p:pic>
      <p:sp>
        <p:nvSpPr>
          <p:cNvPr id="1302" name="文字框 1301"/>
          <p:cNvSpPr txBox="1"/>
          <p:nvPr/>
        </p:nvSpPr>
        <p:spPr>
          <a:xfrm>
            <a:off x="5682600" y="215244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同。</a:t>
            </a:r>
            <a:endParaRPr lang="en-US" sz="1050" b="0" u="none" strike="noStrike">
              <a:solidFill>
                <a:srgbClr val="000000"/>
              </a:solidFill>
              <a:effectLst/>
              <a:uFillTx/>
              <a:latin typeface="Times New Roman" panose="02020603050405020304"/>
            </a:endParaRPr>
          </a:p>
        </p:txBody>
      </p:sp>
      <p:sp>
        <p:nvSpPr>
          <p:cNvPr id="1303" name="文字框 1302"/>
          <p:cNvSpPr txBox="1"/>
          <p:nvPr/>
        </p:nvSpPr>
        <p:spPr>
          <a:xfrm>
            <a:off x="5849640" y="241992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短期国债</a:t>
            </a:r>
            <a:endParaRPr lang="en-US" sz="1050" b="0" u="none" strike="noStrike">
              <a:solidFill>
                <a:srgbClr val="000000"/>
              </a:solidFill>
              <a:effectLst/>
              <a:uFillTx/>
              <a:latin typeface="Times New Roman" panose="02020603050405020304"/>
            </a:endParaRPr>
          </a:p>
        </p:txBody>
      </p:sp>
      <p:sp>
        <p:nvSpPr>
          <p:cNvPr id="1304" name="文字框 1303"/>
          <p:cNvSpPr txBox="1"/>
          <p:nvPr/>
        </p:nvSpPr>
        <p:spPr>
          <a:xfrm>
            <a:off x="6384600" y="2424600"/>
            <a:ext cx="5518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(T-Bills)</a:t>
            </a:r>
            <a:endParaRPr lang="en-US" sz="1050" b="0" u="none" strike="noStrike">
              <a:solidFill>
                <a:srgbClr val="000000"/>
              </a:solidFill>
              <a:effectLst/>
              <a:uFillTx/>
              <a:latin typeface="Times New Roman" panose="02020603050405020304"/>
            </a:endParaRPr>
          </a:p>
        </p:txBody>
      </p:sp>
      <p:sp>
        <p:nvSpPr>
          <p:cNvPr id="1305" name="文字框 1304"/>
          <p:cNvSpPr txBox="1"/>
          <p:nvPr/>
        </p:nvSpPr>
        <p:spPr>
          <a:xfrm>
            <a:off x="6917040" y="2419920"/>
            <a:ext cx="3085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：短期国债的收益率对联邦基金利率最为敏感。由于</a:t>
            </a:r>
            <a:endParaRPr lang="en-US" sz="1050" b="0" u="none" strike="noStrike">
              <a:solidFill>
                <a:srgbClr val="000000"/>
              </a:solidFill>
              <a:effectLst/>
              <a:uFillTx/>
              <a:latin typeface="Times New Roman" panose="02020603050405020304"/>
            </a:endParaRPr>
          </a:p>
        </p:txBody>
      </p:sp>
      <p:pic>
        <p:nvPicPr>
          <p:cNvPr id="1306" name="圖片 1305"/>
          <p:cNvPicPr/>
          <p:nvPr/>
        </p:nvPicPr>
        <p:blipFill>
          <a:blip r:embed="rId6"/>
          <a:stretch>
            <a:fillRect/>
          </a:stretch>
        </p:blipFill>
        <p:spPr>
          <a:xfrm>
            <a:off x="5682600" y="2891520"/>
            <a:ext cx="100080" cy="100080"/>
          </a:xfrm>
          <a:prstGeom prst="rect">
            <a:avLst/>
          </a:prstGeom>
          <a:noFill/>
          <a:ln w="0">
            <a:noFill/>
          </a:ln>
        </p:spPr>
      </p:pic>
      <p:sp>
        <p:nvSpPr>
          <p:cNvPr id="1307" name="文字框 1306"/>
          <p:cNvSpPr txBox="1"/>
          <p:nvPr/>
        </p:nvSpPr>
        <p:spPr>
          <a:xfrm>
            <a:off x="5849640" y="2620440"/>
            <a:ext cx="3085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其期限短，其收益率几乎与联邦基金利率同步上升。</a:t>
            </a:r>
            <a:endParaRPr lang="en-US" sz="1050" b="0" u="none" strike="noStrike">
              <a:solidFill>
                <a:srgbClr val="000000"/>
              </a:solidFill>
              <a:effectLst/>
              <a:uFillTx/>
              <a:latin typeface="Times New Roman" panose="02020603050405020304"/>
            </a:endParaRPr>
          </a:p>
        </p:txBody>
      </p:sp>
      <p:sp>
        <p:nvSpPr>
          <p:cNvPr id="1308" name="文字框 1307"/>
          <p:cNvSpPr txBox="1"/>
          <p:nvPr/>
        </p:nvSpPr>
        <p:spPr>
          <a:xfrm>
            <a:off x="5849640" y="285444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中长期国债</a:t>
            </a:r>
            <a:endParaRPr lang="en-US" sz="1050" b="0" u="none" strike="noStrike">
              <a:solidFill>
                <a:srgbClr val="000000"/>
              </a:solidFill>
              <a:effectLst/>
              <a:uFillTx/>
              <a:latin typeface="Times New Roman" panose="02020603050405020304"/>
            </a:endParaRPr>
          </a:p>
        </p:txBody>
      </p:sp>
      <p:sp>
        <p:nvSpPr>
          <p:cNvPr id="1309" name="文字框 1308"/>
          <p:cNvSpPr txBox="1"/>
          <p:nvPr/>
        </p:nvSpPr>
        <p:spPr>
          <a:xfrm>
            <a:off x="6518160" y="2859120"/>
            <a:ext cx="12952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 (T-Notes, T-Bonds)</a:t>
            </a:r>
            <a:endParaRPr lang="en-US" sz="1050" b="0" u="none" strike="noStrike">
              <a:solidFill>
                <a:srgbClr val="000000"/>
              </a:solidFill>
              <a:effectLst/>
              <a:uFillTx/>
              <a:latin typeface="Times New Roman" panose="02020603050405020304"/>
            </a:endParaRPr>
          </a:p>
        </p:txBody>
      </p:sp>
      <p:sp>
        <p:nvSpPr>
          <p:cNvPr id="1310" name="文字框 1309"/>
          <p:cNvSpPr txBox="1"/>
          <p:nvPr/>
        </p:nvSpPr>
        <p:spPr>
          <a:xfrm>
            <a:off x="7779600" y="285444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：加息对中长期国债收益率的影响更</a:t>
            </a:r>
            <a:endParaRPr lang="en-US" sz="1050" b="0" u="none" strike="noStrike">
              <a:solidFill>
                <a:srgbClr val="000000"/>
              </a:solidFill>
              <a:effectLst/>
              <a:uFillTx/>
              <a:latin typeface="Times New Roman" panose="02020603050405020304"/>
            </a:endParaRPr>
          </a:p>
        </p:txBody>
      </p:sp>
      <p:sp>
        <p:nvSpPr>
          <p:cNvPr id="1311" name="文字框 1310"/>
          <p:cNvSpPr txBox="1"/>
          <p:nvPr/>
        </p:nvSpPr>
        <p:spPr>
          <a:xfrm>
            <a:off x="5849640" y="3055320"/>
            <a:ext cx="40240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为复杂。一方面，基准利率的提高会给所有期限的收益率带来上行压</a:t>
            </a:r>
            <a:endParaRPr lang="en-US" sz="1050" b="0" u="none" strike="noStrike">
              <a:solidFill>
                <a:srgbClr val="000000"/>
              </a:solidFill>
              <a:effectLst/>
              <a:uFillTx/>
              <a:latin typeface="Times New Roman" panose="02020603050405020304"/>
            </a:endParaRPr>
          </a:p>
        </p:txBody>
      </p:sp>
      <p:pic>
        <p:nvPicPr>
          <p:cNvPr id="1312" name="圖片 1311"/>
          <p:cNvPicPr/>
          <p:nvPr/>
        </p:nvPicPr>
        <p:blipFill>
          <a:blip r:embed="rId7"/>
          <a:stretch>
            <a:fillRect/>
          </a:stretch>
        </p:blipFill>
        <p:spPr>
          <a:xfrm>
            <a:off x="5682600" y="3885840"/>
            <a:ext cx="116640" cy="150120"/>
          </a:xfrm>
          <a:prstGeom prst="rect">
            <a:avLst/>
          </a:prstGeom>
          <a:noFill/>
          <a:ln w="0">
            <a:noFill/>
          </a:ln>
        </p:spPr>
      </p:pic>
      <p:sp>
        <p:nvSpPr>
          <p:cNvPr id="1313" name="文字框 1312"/>
          <p:cNvSpPr txBox="1"/>
          <p:nvPr/>
        </p:nvSpPr>
        <p:spPr>
          <a:xfrm>
            <a:off x="5849640" y="3255840"/>
            <a:ext cx="2951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力。另一方面，市场预期在其中扮演了关键角色。</a:t>
            </a:r>
            <a:endParaRPr lang="en-US" sz="1050" b="0" u="none" strike="noStrike">
              <a:solidFill>
                <a:srgbClr val="000000"/>
              </a:solidFill>
              <a:effectLst/>
              <a:uFillTx/>
              <a:latin typeface="Times New Roman" panose="02020603050405020304"/>
            </a:endParaRPr>
          </a:p>
        </p:txBody>
      </p:sp>
      <p:sp>
        <p:nvSpPr>
          <p:cNvPr id="1314" name="文字框 1313"/>
          <p:cNvSpPr txBox="1"/>
          <p:nvPr/>
        </p:nvSpPr>
        <p:spPr>
          <a:xfrm>
            <a:off x="5866560" y="3866400"/>
            <a:ext cx="150948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降息对国债价格的影响</a:t>
            </a:r>
            <a:endParaRPr lang="en-US" sz="1180" b="0" u="none" strike="noStrike">
              <a:solidFill>
                <a:srgbClr val="000000"/>
              </a:solidFill>
              <a:effectLst/>
              <a:uFillTx/>
              <a:latin typeface="Times New Roman" panose="02020603050405020304"/>
            </a:endParaRPr>
          </a:p>
        </p:txBody>
      </p:sp>
      <p:sp>
        <p:nvSpPr>
          <p:cNvPr id="1315" name="文字框 1314"/>
          <p:cNvSpPr txBox="1"/>
          <p:nvPr/>
        </p:nvSpPr>
        <p:spPr>
          <a:xfrm>
            <a:off x="5682600" y="415836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降息是美联储刺激经济增长和应对经济衰退的主要工具。由于债券价格与</a:t>
            </a:r>
            <a:endParaRPr lang="en-US" sz="1050" b="0" u="none" strike="noStrike">
              <a:solidFill>
                <a:srgbClr val="000000"/>
              </a:solidFill>
              <a:effectLst/>
              <a:uFillTx/>
              <a:latin typeface="Times New Roman" panose="02020603050405020304"/>
            </a:endParaRPr>
          </a:p>
        </p:txBody>
      </p:sp>
      <p:pic>
        <p:nvPicPr>
          <p:cNvPr id="1316" name="圖片 1315"/>
          <p:cNvPicPr/>
          <p:nvPr/>
        </p:nvPicPr>
        <p:blipFill>
          <a:blip r:embed="rId8"/>
          <a:stretch>
            <a:fillRect/>
          </a:stretch>
        </p:blipFill>
        <p:spPr>
          <a:xfrm>
            <a:off x="5682600" y="4663080"/>
            <a:ext cx="100080" cy="100080"/>
          </a:xfrm>
          <a:prstGeom prst="rect">
            <a:avLst/>
          </a:prstGeom>
          <a:noFill/>
          <a:ln w="0">
            <a:noFill/>
          </a:ln>
        </p:spPr>
      </p:pic>
      <p:sp>
        <p:nvSpPr>
          <p:cNvPr id="1317" name="文字框 1316"/>
          <p:cNvSpPr txBox="1"/>
          <p:nvPr/>
        </p:nvSpPr>
        <p:spPr>
          <a:xfrm>
            <a:off x="5682600" y="4358880"/>
            <a:ext cx="2817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收益率成反比，降息通常会导致国债价格上涨。</a:t>
            </a:r>
            <a:endParaRPr lang="en-US" sz="1050" b="0" u="none" strike="noStrike">
              <a:solidFill>
                <a:srgbClr val="000000"/>
              </a:solidFill>
              <a:effectLst/>
              <a:uFillTx/>
              <a:latin typeface="Times New Roman" panose="02020603050405020304"/>
            </a:endParaRPr>
          </a:p>
        </p:txBody>
      </p:sp>
      <p:sp>
        <p:nvSpPr>
          <p:cNvPr id="1318" name="文字框 1317"/>
          <p:cNvSpPr txBox="1"/>
          <p:nvPr/>
        </p:nvSpPr>
        <p:spPr>
          <a:xfrm>
            <a:off x="5849640" y="4626360"/>
            <a:ext cx="3755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短期国债：降息使其收益率下降，价格随之上涨，但由于其久期</a:t>
            </a:r>
            <a:endParaRPr lang="en-US" sz="1050" b="0" u="none" strike="noStrike">
              <a:solidFill>
                <a:srgbClr val="000000"/>
              </a:solidFill>
              <a:effectLst/>
              <a:uFillTx/>
              <a:latin typeface="Times New Roman" panose="02020603050405020304"/>
            </a:endParaRPr>
          </a:p>
        </p:txBody>
      </p:sp>
      <p:sp>
        <p:nvSpPr>
          <p:cNvPr id="1319" name="文字框 1318"/>
          <p:cNvSpPr txBox="1"/>
          <p:nvPr/>
        </p:nvSpPr>
        <p:spPr>
          <a:xfrm>
            <a:off x="5849640" y="482688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a:t>
            </a:r>
            <a:endParaRPr lang="en-US" sz="1050" b="0" u="none" strike="noStrike">
              <a:solidFill>
                <a:srgbClr val="000000"/>
              </a:solidFill>
              <a:effectLst/>
              <a:uFillTx/>
              <a:latin typeface="Times New Roman" panose="02020603050405020304"/>
            </a:endParaRPr>
          </a:p>
        </p:txBody>
      </p:sp>
      <p:sp>
        <p:nvSpPr>
          <p:cNvPr id="1320" name="文字框 1319"/>
          <p:cNvSpPr txBox="1"/>
          <p:nvPr/>
        </p:nvSpPr>
        <p:spPr>
          <a:xfrm>
            <a:off x="5983560" y="4831560"/>
            <a:ext cx="58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Duration</a:t>
            </a:r>
            <a:endParaRPr lang="en-US" sz="1050" b="0" u="none" strike="noStrike">
              <a:solidFill>
                <a:srgbClr val="000000"/>
              </a:solidFill>
              <a:effectLst/>
              <a:uFillTx/>
              <a:latin typeface="Times New Roman" panose="02020603050405020304"/>
            </a:endParaRPr>
          </a:p>
        </p:txBody>
      </p:sp>
      <p:pic>
        <p:nvPicPr>
          <p:cNvPr id="1321" name="圖片 1320"/>
          <p:cNvPicPr/>
          <p:nvPr/>
        </p:nvPicPr>
        <p:blipFill>
          <a:blip r:embed="rId8"/>
          <a:stretch>
            <a:fillRect/>
          </a:stretch>
        </p:blipFill>
        <p:spPr>
          <a:xfrm>
            <a:off x="5682600" y="5097600"/>
            <a:ext cx="100080" cy="100080"/>
          </a:xfrm>
          <a:prstGeom prst="rect">
            <a:avLst/>
          </a:prstGeom>
          <a:noFill/>
          <a:ln w="0">
            <a:noFill/>
          </a:ln>
        </p:spPr>
      </p:pic>
      <p:sp>
        <p:nvSpPr>
          <p:cNvPr id="1322" name="文字框 1321"/>
          <p:cNvSpPr txBox="1"/>
          <p:nvPr/>
        </p:nvSpPr>
        <p:spPr>
          <a:xfrm>
            <a:off x="6564240" y="482688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）较短，价格增值幅度相对有限。</a:t>
            </a:r>
            <a:endParaRPr lang="en-US" sz="1050" b="0" u="none" strike="noStrike">
              <a:solidFill>
                <a:srgbClr val="000000"/>
              </a:solidFill>
              <a:effectLst/>
              <a:uFillTx/>
              <a:latin typeface="Times New Roman" panose="02020603050405020304"/>
            </a:endParaRPr>
          </a:p>
        </p:txBody>
      </p:sp>
      <p:sp>
        <p:nvSpPr>
          <p:cNvPr id="1323" name="文字框 1322"/>
          <p:cNvSpPr txBox="1"/>
          <p:nvPr/>
        </p:nvSpPr>
        <p:spPr>
          <a:xfrm>
            <a:off x="5849640" y="506088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中长期国债：由于久期较长，中长期国债的价格对利率下降更为敏感，</a:t>
            </a:r>
            <a:endParaRPr lang="en-US" sz="1050" b="0" u="none" strike="noStrike">
              <a:solidFill>
                <a:srgbClr val="000000"/>
              </a:solidFill>
              <a:effectLst/>
              <a:uFillTx/>
              <a:latin typeface="Times New Roman" panose="02020603050405020304"/>
            </a:endParaRPr>
          </a:p>
        </p:txBody>
      </p:sp>
      <p:pic>
        <p:nvPicPr>
          <p:cNvPr id="1324" name="圖片 1323"/>
          <p:cNvPicPr/>
          <p:nvPr/>
        </p:nvPicPr>
        <p:blipFill>
          <a:blip r:embed="rId9"/>
          <a:stretch>
            <a:fillRect/>
          </a:stretch>
        </p:blipFill>
        <p:spPr>
          <a:xfrm>
            <a:off x="5682600" y="5891400"/>
            <a:ext cx="91440" cy="150120"/>
          </a:xfrm>
          <a:prstGeom prst="rect">
            <a:avLst/>
          </a:prstGeom>
          <a:noFill/>
          <a:ln w="0">
            <a:noFill/>
          </a:ln>
        </p:spPr>
      </p:pic>
      <p:sp>
        <p:nvSpPr>
          <p:cNvPr id="1325" name="文字框 1324"/>
          <p:cNvSpPr txBox="1"/>
          <p:nvPr/>
        </p:nvSpPr>
        <p:spPr>
          <a:xfrm>
            <a:off x="5849640" y="5261400"/>
            <a:ext cx="13417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价格上涨幅度也更大。</a:t>
            </a:r>
            <a:endParaRPr lang="en-US" sz="1050" b="0" u="none" strike="noStrike">
              <a:solidFill>
                <a:srgbClr val="000000"/>
              </a:solidFill>
              <a:effectLst/>
              <a:uFillTx/>
              <a:latin typeface="Times New Roman" panose="02020603050405020304"/>
            </a:endParaRPr>
          </a:p>
        </p:txBody>
      </p:sp>
      <p:sp>
        <p:nvSpPr>
          <p:cNvPr id="1326" name="文字框 1325"/>
          <p:cNvSpPr txBox="1"/>
          <p:nvPr/>
        </p:nvSpPr>
        <p:spPr>
          <a:xfrm>
            <a:off x="5841360" y="5871960"/>
            <a:ext cx="604080" cy="189360"/>
          </a:xfrm>
          <a:prstGeom prst="rect">
            <a:avLst/>
          </a:prstGeom>
          <a:noFill/>
          <a:ln w="0">
            <a:noFill/>
          </a:ln>
        </p:spPr>
        <p:txBody>
          <a:bodyPr wrap="none" lIns="0" tIns="0" rIns="0" bIns="0" anchor="t">
            <a:spAutoFit/>
          </a:bodyPr>
          <a:p>
            <a:r>
              <a:rPr lang="zh-CN" sz="1180" b="0" u="none" strike="noStrike">
                <a:solidFill>
                  <a:srgbClr val="FCD34D"/>
                </a:solidFill>
                <a:effectLst/>
                <a:uFillTx/>
                <a:latin typeface="WenQuanYiZenHei"/>
                <a:ea typeface="WenQuanYiZenHei"/>
              </a:rPr>
              <a:t>汇率影响</a:t>
            </a:r>
            <a:endParaRPr lang="en-US" sz="1180" b="0" u="none" strike="noStrike">
              <a:solidFill>
                <a:srgbClr val="000000"/>
              </a:solidFill>
              <a:effectLst/>
              <a:uFillTx/>
              <a:latin typeface="Times New Roman" panose="02020603050405020304"/>
            </a:endParaRPr>
          </a:p>
        </p:txBody>
      </p:sp>
      <p:sp>
        <p:nvSpPr>
          <p:cNvPr id="1327" name="文字框 1326"/>
          <p:cNvSpPr txBox="1"/>
          <p:nvPr/>
        </p:nvSpPr>
        <p:spPr>
          <a:xfrm>
            <a:off x="5682600" y="616392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美联储的货币政策虽然主要聚焦于国内的通胀和就业目标，但其决策通过</a:t>
            </a:r>
            <a:endParaRPr lang="en-US" sz="1050" b="0" u="none" strike="noStrike">
              <a:solidFill>
                <a:srgbClr val="000000"/>
              </a:solidFill>
              <a:effectLst/>
              <a:uFillTx/>
              <a:latin typeface="Times New Roman" panose="02020603050405020304"/>
            </a:endParaRPr>
          </a:p>
        </p:txBody>
      </p:sp>
      <p:sp>
        <p:nvSpPr>
          <p:cNvPr id="1328" name="文字框 1327"/>
          <p:cNvSpPr txBox="1"/>
          <p:nvPr/>
        </p:nvSpPr>
        <p:spPr>
          <a:xfrm>
            <a:off x="5682600" y="636444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利率和市场预期，深刻影响美元汇率，进而与美国国债市场形成复杂的互</a:t>
            </a:r>
            <a:endParaRPr lang="en-US" sz="1050" b="0" u="none" strike="noStrike">
              <a:solidFill>
                <a:srgbClr val="000000"/>
              </a:solidFill>
              <a:effectLst/>
              <a:uFillTx/>
              <a:latin typeface="Times New Roman" panose="02020603050405020304"/>
            </a:endParaRPr>
          </a:p>
        </p:txBody>
      </p:sp>
      <p:pic>
        <p:nvPicPr>
          <p:cNvPr id="1329" name="圖片 1328"/>
          <p:cNvPicPr/>
          <p:nvPr/>
        </p:nvPicPr>
        <p:blipFill>
          <a:blip r:embed="rId10"/>
          <a:stretch>
            <a:fillRect/>
          </a:stretch>
        </p:blipFill>
        <p:spPr>
          <a:xfrm>
            <a:off x="5682600" y="6869160"/>
            <a:ext cx="100080" cy="100080"/>
          </a:xfrm>
          <a:prstGeom prst="rect">
            <a:avLst/>
          </a:prstGeom>
          <a:noFill/>
          <a:ln w="0">
            <a:noFill/>
          </a:ln>
        </p:spPr>
      </p:pic>
      <p:sp>
        <p:nvSpPr>
          <p:cNvPr id="1330" name="文字框 1329"/>
          <p:cNvSpPr txBox="1"/>
          <p:nvPr/>
        </p:nvSpPr>
        <p:spPr>
          <a:xfrm>
            <a:off x="5682600" y="656496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动关系。</a:t>
            </a:r>
            <a:endParaRPr lang="en-US" sz="1050" b="0" u="none" strike="noStrike">
              <a:solidFill>
                <a:srgbClr val="000000"/>
              </a:solidFill>
              <a:effectLst/>
              <a:uFillTx/>
              <a:latin typeface="Times New Roman" panose="02020603050405020304"/>
            </a:endParaRPr>
          </a:p>
        </p:txBody>
      </p:sp>
      <p:sp>
        <p:nvSpPr>
          <p:cNvPr id="1331" name="文字框 1330"/>
          <p:cNvSpPr txBox="1"/>
          <p:nvPr/>
        </p:nvSpPr>
        <p:spPr>
          <a:xfrm>
            <a:off x="5849640" y="683244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美元升值：当美元走强时，外国投资者购买美国国债的成本会增加。然</a:t>
            </a:r>
            <a:endParaRPr lang="en-US" sz="1050" b="0" u="none" strike="noStrike">
              <a:solidFill>
                <a:srgbClr val="000000"/>
              </a:solidFill>
              <a:effectLst/>
              <a:uFillTx/>
              <a:latin typeface="Times New Roman" panose="02020603050405020304"/>
            </a:endParaRPr>
          </a:p>
        </p:txBody>
      </p:sp>
      <p:sp>
        <p:nvSpPr>
          <p:cNvPr id="1332" name="文字框 1331"/>
          <p:cNvSpPr txBox="1"/>
          <p:nvPr/>
        </p:nvSpPr>
        <p:spPr>
          <a:xfrm>
            <a:off x="5849640" y="703296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而，如果市场预期美元将持续升值，这种升值预期本身可以抵消部分汇</a:t>
            </a:r>
            <a:endParaRPr lang="en-US" sz="1050" b="0" u="none" strike="noStrike">
              <a:solidFill>
                <a:srgbClr val="000000"/>
              </a:solidFill>
              <a:effectLst/>
              <a:uFillTx/>
              <a:latin typeface="Times New Roman" panose="02020603050405020304"/>
            </a:endParaRPr>
          </a:p>
        </p:txBody>
      </p:sp>
      <p:pic>
        <p:nvPicPr>
          <p:cNvPr id="1333" name="圖片 1332"/>
          <p:cNvPicPr/>
          <p:nvPr/>
        </p:nvPicPr>
        <p:blipFill>
          <a:blip r:embed="rId10"/>
          <a:stretch>
            <a:fillRect/>
          </a:stretch>
        </p:blipFill>
        <p:spPr>
          <a:xfrm>
            <a:off x="5682600" y="7504200"/>
            <a:ext cx="100080" cy="100080"/>
          </a:xfrm>
          <a:prstGeom prst="rect">
            <a:avLst/>
          </a:prstGeom>
          <a:noFill/>
          <a:ln w="0">
            <a:noFill/>
          </a:ln>
        </p:spPr>
      </p:pic>
      <p:sp>
        <p:nvSpPr>
          <p:cNvPr id="1334" name="文字框 1333"/>
          <p:cNvSpPr txBox="1"/>
          <p:nvPr/>
        </p:nvSpPr>
        <p:spPr>
          <a:xfrm>
            <a:off x="5849640" y="723348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率风险，甚至成为吸引资本流入的动力。</a:t>
            </a:r>
            <a:endParaRPr lang="en-US" sz="1050" b="0" u="none" strike="noStrike">
              <a:solidFill>
                <a:srgbClr val="000000"/>
              </a:solidFill>
              <a:effectLst/>
              <a:uFillTx/>
              <a:latin typeface="Times New Roman" panose="02020603050405020304"/>
            </a:endParaRPr>
          </a:p>
        </p:txBody>
      </p:sp>
      <p:sp>
        <p:nvSpPr>
          <p:cNvPr id="1335" name="文字框 1334"/>
          <p:cNvSpPr txBox="1"/>
          <p:nvPr/>
        </p:nvSpPr>
        <p:spPr>
          <a:xfrm>
            <a:off x="5849640" y="746748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美元贬值：当美元走弱时，虽然外国投资者购买美债的初始成本降低，</a:t>
            </a:r>
            <a:endParaRPr lang="en-US" sz="1050" b="0" u="none" strike="noStrike">
              <a:solidFill>
                <a:srgbClr val="000000"/>
              </a:solidFill>
              <a:effectLst/>
              <a:uFillTx/>
              <a:latin typeface="Times New Roman" panose="02020603050405020304"/>
            </a:endParaRPr>
          </a:p>
        </p:txBody>
      </p:sp>
      <p:sp>
        <p:nvSpPr>
          <p:cNvPr id="1336" name="文字框 1335"/>
          <p:cNvSpPr txBox="1"/>
          <p:nvPr/>
        </p:nvSpPr>
        <p:spPr>
          <a:xfrm>
            <a:off x="5849640" y="7668000"/>
            <a:ext cx="3889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但他们将面临未来将利息和本金换回本国货币时的汇兑损失风险。</a:t>
            </a:r>
            <a:endParaRPr lang="en-US" sz="1050" b="0" u="none" strike="noStrike">
              <a:solidFill>
                <a:srgbClr val="000000"/>
              </a:solidFill>
              <a:effectLst/>
              <a:uFillTx/>
              <a:latin typeface="Times New Roman" panose="02020603050405020304"/>
            </a:endParaRPr>
          </a:p>
        </p:txBody>
      </p:sp>
      <p:sp>
        <p:nvSpPr>
          <p:cNvPr id="1337" name="文字框 1336"/>
          <p:cNvSpPr txBox="1"/>
          <p:nvPr/>
        </p:nvSpPr>
        <p:spPr>
          <a:xfrm>
            <a:off x="534960" y="8202240"/>
            <a:ext cx="1409040" cy="148320"/>
          </a:xfrm>
          <a:prstGeom prst="rect">
            <a:avLst/>
          </a:prstGeom>
          <a:noFill/>
          <a:ln w="0">
            <a:noFill/>
          </a:ln>
        </p:spPr>
        <p:txBody>
          <a:bodyPr wrap="none" lIns="0" tIns="0" rIns="0" bIns="0" anchor="t">
            <a:spAutoFit/>
          </a:bodyPr>
          <a:p>
            <a:r>
              <a:rPr lang="zh-CN" sz="920" b="0" u="none" strike="noStrike">
                <a:solidFill>
                  <a:srgbClr val="9CA3AF"/>
                </a:solidFill>
                <a:effectLst/>
                <a:uFillTx/>
                <a:latin typeface="WenQuanYiZenHei"/>
                <a:ea typeface="WenQuanYiZenHei"/>
              </a:rPr>
              <a:t>美国国债与美联储政策关系</a:t>
            </a:r>
            <a:endParaRPr lang="en-US" sz="920" b="0" u="none" strike="noStrike">
              <a:solidFill>
                <a:srgbClr val="000000"/>
              </a:solidFill>
              <a:effectLst/>
              <a:uFillTx/>
              <a:latin typeface="Times New Roman" panose="02020603050405020304"/>
            </a:endParaRPr>
          </a:p>
        </p:txBody>
      </p:sp>
      <p:sp>
        <p:nvSpPr>
          <p:cNvPr id="1338" name="任意多邊形 1337"/>
          <p:cNvSpPr/>
          <p:nvPr/>
        </p:nvSpPr>
        <p:spPr>
          <a:xfrm>
            <a:off x="534600" y="1303560"/>
            <a:ext cx="4613400" cy="869400"/>
          </a:xfrm>
          <a:custGeom>
            <a:avLst/>
            <a:gdLst/>
            <a:ahLst/>
            <a:cxnLst/>
            <a:rect l="0" t="0" r="r" b="b"/>
            <a:pathLst>
              <a:path w="12815" h="2415">
                <a:moveTo>
                  <a:pt x="14" y="114"/>
                </a:moveTo>
                <a:cubicBezTo>
                  <a:pt x="24" y="92"/>
                  <a:pt x="37" y="72"/>
                  <a:pt x="55" y="54"/>
                </a:cubicBezTo>
                <a:cubicBezTo>
                  <a:pt x="72" y="37"/>
                  <a:pt x="92" y="23"/>
                  <a:pt x="115" y="14"/>
                </a:cubicBezTo>
                <a:cubicBezTo>
                  <a:pt x="138" y="4"/>
                  <a:pt x="161" y="0"/>
                  <a:pt x="186" y="0"/>
                </a:cubicBezTo>
                <a:lnTo>
                  <a:pt x="12629" y="0"/>
                </a:lnTo>
                <a:cubicBezTo>
                  <a:pt x="12654" y="0"/>
                  <a:pt x="12677" y="4"/>
                  <a:pt x="12700" y="14"/>
                </a:cubicBezTo>
                <a:cubicBezTo>
                  <a:pt x="12723" y="23"/>
                  <a:pt x="12743" y="37"/>
                  <a:pt x="12760" y="54"/>
                </a:cubicBezTo>
                <a:cubicBezTo>
                  <a:pt x="12778" y="72"/>
                  <a:pt x="12791" y="92"/>
                  <a:pt x="12801" y="114"/>
                </a:cubicBezTo>
                <a:cubicBezTo>
                  <a:pt x="12810" y="137"/>
                  <a:pt x="12815" y="161"/>
                  <a:pt x="12815" y="185"/>
                </a:cubicBezTo>
                <a:lnTo>
                  <a:pt x="12815" y="2228"/>
                </a:lnTo>
                <a:cubicBezTo>
                  <a:pt x="12815" y="2253"/>
                  <a:pt x="12810" y="2277"/>
                  <a:pt x="12801" y="2299"/>
                </a:cubicBezTo>
                <a:cubicBezTo>
                  <a:pt x="12791" y="2322"/>
                  <a:pt x="12778" y="2342"/>
                  <a:pt x="12760" y="2360"/>
                </a:cubicBezTo>
                <a:cubicBezTo>
                  <a:pt x="12743" y="2377"/>
                  <a:pt x="12723" y="2390"/>
                  <a:pt x="12700" y="2400"/>
                </a:cubicBezTo>
                <a:cubicBezTo>
                  <a:pt x="12677" y="2409"/>
                  <a:pt x="12654" y="2415"/>
                  <a:pt x="12629" y="2415"/>
                </a:cubicBezTo>
                <a:lnTo>
                  <a:pt x="186" y="2415"/>
                </a:lnTo>
                <a:cubicBezTo>
                  <a:pt x="161" y="2415"/>
                  <a:pt x="138" y="2409"/>
                  <a:pt x="115" y="2400"/>
                </a:cubicBezTo>
                <a:cubicBezTo>
                  <a:pt x="92" y="2390"/>
                  <a:pt x="72" y="2377"/>
                  <a:pt x="55" y="2360"/>
                </a:cubicBezTo>
                <a:cubicBezTo>
                  <a:pt x="37" y="2342"/>
                  <a:pt x="24" y="2322"/>
                  <a:pt x="14" y="2299"/>
                </a:cubicBezTo>
                <a:cubicBezTo>
                  <a:pt x="5" y="2277"/>
                  <a:pt x="0" y="2253"/>
                  <a:pt x="0" y="2228"/>
                </a:cubicBezTo>
                <a:lnTo>
                  <a:pt x="0" y="185"/>
                </a:lnTo>
                <a:cubicBezTo>
                  <a:pt x="0" y="161"/>
                  <a:pt x="5" y="137"/>
                  <a:pt x="14" y="114"/>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39" name="文字框 1338"/>
          <p:cNvSpPr txBox="1"/>
          <p:nvPr/>
        </p:nvSpPr>
        <p:spPr>
          <a:xfrm>
            <a:off x="9750240" y="8206200"/>
            <a:ext cx="247015" cy="140970"/>
          </a:xfrm>
          <a:prstGeom prst="rect">
            <a:avLst/>
          </a:prstGeom>
          <a:noFill/>
          <a:ln w="0">
            <a:noFill/>
          </a:ln>
        </p:spPr>
        <p:txBody>
          <a:bodyPr wrap="none" lIns="0" tIns="0" rIns="0" bIns="0" anchor="t">
            <a:spAutoFit/>
          </a:bodyPr>
          <a:p>
            <a:r>
              <a:rPr lang="en-US" sz="920" b="0" u="none" strike="noStrike">
                <a:solidFill>
                  <a:srgbClr val="9CA3AF"/>
                </a:solidFill>
                <a:effectLst/>
                <a:uFillTx/>
                <a:latin typeface="DejaVuSans"/>
                <a:ea typeface="DejaVuSans"/>
              </a:rPr>
              <a:t>24 / 24</a:t>
            </a:r>
            <a:endParaRPr lang="en-US" sz="920" b="0" u="none" strike="noStrike">
              <a:solidFill>
                <a:srgbClr val="000000"/>
              </a:solidFill>
              <a:effectLst/>
              <a:uFillTx/>
              <a:latin typeface="Times New Roman" panose="02020603050405020304"/>
            </a:endParaRPr>
          </a:p>
        </p:txBody>
      </p:sp>
      <p:sp>
        <p:nvSpPr>
          <p:cNvPr id="1340" name="文字框 1339"/>
          <p:cNvSpPr txBox="1"/>
          <p:nvPr/>
        </p:nvSpPr>
        <p:spPr>
          <a:xfrm>
            <a:off x="693720" y="145080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美国国债是由美国财政部发行的政府债券，旨在为政府筹集资金以弥补财</a:t>
            </a:r>
            <a:endParaRPr lang="en-US" sz="1050" b="0" u="none" strike="noStrike">
              <a:solidFill>
                <a:srgbClr val="000000"/>
              </a:solidFill>
              <a:effectLst/>
              <a:uFillTx/>
              <a:latin typeface="Times New Roman" panose="02020603050405020304"/>
            </a:endParaRPr>
          </a:p>
        </p:txBody>
      </p:sp>
      <p:sp>
        <p:nvSpPr>
          <p:cNvPr id="1341" name="文字框 1340"/>
          <p:cNvSpPr txBox="1"/>
          <p:nvPr/>
        </p:nvSpPr>
        <p:spPr>
          <a:xfrm>
            <a:off x="693720" y="1651320"/>
            <a:ext cx="4292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政赤字和支持公共支出。由于其由美国政府的完全信誉和信用作为担保，</a:t>
            </a:r>
            <a:endParaRPr lang="en-US" sz="1050" b="0" u="none" strike="noStrike">
              <a:solidFill>
                <a:srgbClr val="000000"/>
              </a:solidFill>
              <a:effectLst/>
              <a:uFillTx/>
              <a:latin typeface="Times New Roman" panose="02020603050405020304"/>
            </a:endParaRPr>
          </a:p>
        </p:txBody>
      </p:sp>
      <p:sp>
        <p:nvSpPr>
          <p:cNvPr id="1342" name="文字框 1341"/>
          <p:cNvSpPr txBox="1"/>
          <p:nvPr/>
        </p:nvSpPr>
        <p:spPr>
          <a:xfrm>
            <a:off x="693720" y="185184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通常被全球市场视为</a:t>
            </a:r>
            <a:endParaRPr lang="en-US" sz="1050" b="0" u="none" strike="noStrike">
              <a:solidFill>
                <a:srgbClr val="000000"/>
              </a:solidFill>
              <a:effectLst/>
              <a:uFillTx/>
              <a:latin typeface="Times New Roman" panose="02020603050405020304"/>
            </a:endParaRPr>
          </a:p>
        </p:txBody>
      </p:sp>
      <p:sp>
        <p:nvSpPr>
          <p:cNvPr id="1343" name="文字框 1342"/>
          <p:cNvSpPr txBox="1"/>
          <p:nvPr/>
        </p:nvSpPr>
        <p:spPr>
          <a:xfrm>
            <a:off x="1896840" y="185652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344" name="文字框 1343"/>
          <p:cNvSpPr txBox="1"/>
          <p:nvPr/>
        </p:nvSpPr>
        <p:spPr>
          <a:xfrm>
            <a:off x="1958400" y="185184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无风险资产</a:t>
            </a:r>
            <a:endParaRPr lang="en-US" sz="1050" b="0" u="none" strike="noStrike">
              <a:solidFill>
                <a:srgbClr val="000000"/>
              </a:solidFill>
              <a:effectLst/>
              <a:uFillTx/>
              <a:latin typeface="Times New Roman" panose="02020603050405020304"/>
            </a:endParaRPr>
          </a:p>
        </p:txBody>
      </p:sp>
      <p:sp>
        <p:nvSpPr>
          <p:cNvPr id="1345" name="文字框 1344"/>
          <p:cNvSpPr txBox="1"/>
          <p:nvPr/>
        </p:nvSpPr>
        <p:spPr>
          <a:xfrm>
            <a:off x="2626920" y="185652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a:t>
            </a:r>
            <a:endParaRPr lang="en-US" sz="1050" b="0" u="none" strike="noStrike">
              <a:solidFill>
                <a:srgbClr val="000000"/>
              </a:solidFill>
              <a:effectLst/>
              <a:uFillTx/>
              <a:latin typeface="Times New Roman" panose="02020603050405020304"/>
            </a:endParaRPr>
          </a:p>
        </p:txBody>
      </p:sp>
      <p:sp>
        <p:nvSpPr>
          <p:cNvPr id="1346" name="任意多邊形 1345"/>
          <p:cNvSpPr/>
          <p:nvPr/>
        </p:nvSpPr>
        <p:spPr>
          <a:xfrm>
            <a:off x="534600" y="2306160"/>
            <a:ext cx="4613400" cy="1571400"/>
          </a:xfrm>
          <a:custGeom>
            <a:avLst/>
            <a:gdLst/>
            <a:ahLst/>
            <a:cxnLst/>
            <a:rect l="0" t="0" r="r" b="b"/>
            <a:pathLst>
              <a:path w="12815" h="4365">
                <a:moveTo>
                  <a:pt x="14" y="115"/>
                </a:moveTo>
                <a:cubicBezTo>
                  <a:pt x="24" y="92"/>
                  <a:pt x="37" y="72"/>
                  <a:pt x="55" y="55"/>
                </a:cubicBezTo>
                <a:cubicBezTo>
                  <a:pt x="72" y="37"/>
                  <a:pt x="92" y="24"/>
                  <a:pt x="115" y="14"/>
                </a:cubicBezTo>
                <a:cubicBezTo>
                  <a:pt x="138" y="5"/>
                  <a:pt x="161" y="0"/>
                  <a:pt x="186" y="0"/>
                </a:cubicBezTo>
                <a:lnTo>
                  <a:pt x="12629" y="0"/>
                </a:lnTo>
                <a:cubicBezTo>
                  <a:pt x="12654" y="0"/>
                  <a:pt x="12677" y="5"/>
                  <a:pt x="12700" y="14"/>
                </a:cubicBezTo>
                <a:cubicBezTo>
                  <a:pt x="12723" y="24"/>
                  <a:pt x="12743" y="37"/>
                  <a:pt x="12760" y="55"/>
                </a:cubicBezTo>
                <a:cubicBezTo>
                  <a:pt x="12778" y="72"/>
                  <a:pt x="12791" y="92"/>
                  <a:pt x="12801" y="115"/>
                </a:cubicBezTo>
                <a:cubicBezTo>
                  <a:pt x="12810" y="138"/>
                  <a:pt x="12815" y="162"/>
                  <a:pt x="12815" y="187"/>
                </a:cubicBezTo>
                <a:lnTo>
                  <a:pt x="12815" y="4180"/>
                </a:lnTo>
                <a:cubicBezTo>
                  <a:pt x="12815" y="4204"/>
                  <a:pt x="12810" y="4228"/>
                  <a:pt x="12801" y="4251"/>
                </a:cubicBezTo>
                <a:cubicBezTo>
                  <a:pt x="12791" y="4273"/>
                  <a:pt x="12778" y="4294"/>
                  <a:pt x="12760" y="4311"/>
                </a:cubicBezTo>
                <a:cubicBezTo>
                  <a:pt x="12743" y="4328"/>
                  <a:pt x="12723" y="4342"/>
                  <a:pt x="12700" y="4351"/>
                </a:cubicBezTo>
                <a:cubicBezTo>
                  <a:pt x="12677" y="4361"/>
                  <a:pt x="12654" y="4365"/>
                  <a:pt x="12629" y="4365"/>
                </a:cubicBezTo>
                <a:lnTo>
                  <a:pt x="186" y="4365"/>
                </a:lnTo>
                <a:cubicBezTo>
                  <a:pt x="161" y="4365"/>
                  <a:pt x="138" y="4361"/>
                  <a:pt x="115" y="4351"/>
                </a:cubicBezTo>
                <a:cubicBezTo>
                  <a:pt x="92" y="4342"/>
                  <a:pt x="72" y="4328"/>
                  <a:pt x="55" y="4311"/>
                </a:cubicBezTo>
                <a:cubicBezTo>
                  <a:pt x="37" y="4294"/>
                  <a:pt x="24" y="4273"/>
                  <a:pt x="14" y="4251"/>
                </a:cubicBezTo>
                <a:cubicBezTo>
                  <a:pt x="5" y="4228"/>
                  <a:pt x="0" y="4204"/>
                  <a:pt x="0" y="4180"/>
                </a:cubicBezTo>
                <a:lnTo>
                  <a:pt x="0" y="187"/>
                </a:lnTo>
                <a:cubicBezTo>
                  <a:pt x="0" y="162"/>
                  <a:pt x="5" y="138"/>
                  <a:pt x="14" y="1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47" name="文字框 1346"/>
          <p:cNvSpPr txBox="1"/>
          <p:nvPr/>
        </p:nvSpPr>
        <p:spPr>
          <a:xfrm>
            <a:off x="2688480" y="1851840"/>
            <a:ext cx="1609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，是全球金融体系的基石。</a:t>
            </a:r>
            <a:endParaRPr lang="en-US" sz="1050" b="0" u="none" strike="noStrike">
              <a:solidFill>
                <a:srgbClr val="000000"/>
              </a:solidFill>
              <a:effectLst/>
              <a:uFillTx/>
              <a:latin typeface="Times New Roman" panose="02020603050405020304"/>
            </a:endParaRPr>
          </a:p>
        </p:txBody>
      </p:sp>
      <p:sp>
        <p:nvSpPr>
          <p:cNvPr id="1348" name="文字框 1347"/>
          <p:cNvSpPr txBox="1"/>
          <p:nvPr/>
        </p:nvSpPr>
        <p:spPr>
          <a:xfrm>
            <a:off x="693720" y="2460600"/>
            <a:ext cx="418320" cy="195480"/>
          </a:xfrm>
          <a:prstGeom prst="rect">
            <a:avLst/>
          </a:prstGeom>
          <a:noFill/>
          <a:ln w="0">
            <a:noFill/>
          </a:ln>
        </p:spPr>
        <p:txBody>
          <a:bodyPr wrap="none" lIns="0" tIns="0" rIns="0" bIns="0" anchor="t">
            <a:spAutoFit/>
          </a:bodyPr>
          <a:p>
            <a:r>
              <a:rPr lang="en-US" sz="1320" b="0" u="none" strike="noStrike">
                <a:solidFill>
                  <a:srgbClr val="FFFFFF"/>
                </a:solidFill>
                <a:effectLst/>
                <a:uFillTx/>
                <a:latin typeface="DejaVuSans"/>
                <a:ea typeface="DejaVuSans"/>
              </a:rPr>
              <a:t>T-Bill</a:t>
            </a:r>
            <a:endParaRPr lang="en-US" sz="1320" b="0" u="none" strike="noStrike">
              <a:solidFill>
                <a:srgbClr val="000000"/>
              </a:solidFill>
              <a:effectLst/>
              <a:uFillTx/>
              <a:latin typeface="Times New Roman" panose="02020603050405020304"/>
            </a:endParaRPr>
          </a:p>
        </p:txBody>
      </p:sp>
      <p:sp>
        <p:nvSpPr>
          <p:cNvPr id="1349" name="文字框 1348"/>
          <p:cNvSpPr txBox="1"/>
          <p:nvPr/>
        </p:nvSpPr>
        <p:spPr>
          <a:xfrm>
            <a:off x="1088640" y="2454840"/>
            <a:ext cx="117432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（短期国库券）</a:t>
            </a:r>
            <a:endParaRPr lang="en-US" sz="1320" b="0" u="none" strike="noStrike">
              <a:solidFill>
                <a:srgbClr val="000000"/>
              </a:solidFill>
              <a:effectLst/>
              <a:uFillTx/>
              <a:latin typeface="Times New Roman" panose="02020603050405020304"/>
            </a:endParaRPr>
          </a:p>
        </p:txBody>
      </p:sp>
      <p:sp>
        <p:nvSpPr>
          <p:cNvPr id="1350" name="文字框 1349"/>
          <p:cNvSpPr txBox="1"/>
          <p:nvPr/>
        </p:nvSpPr>
        <p:spPr>
          <a:xfrm>
            <a:off x="693720" y="275436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短期国库券（</a:t>
            </a:r>
            <a:endParaRPr lang="en-US" sz="1050" b="0" u="none" strike="noStrike">
              <a:solidFill>
                <a:srgbClr val="000000"/>
              </a:solidFill>
              <a:effectLst/>
              <a:uFillTx/>
              <a:latin typeface="Times New Roman" panose="02020603050405020304"/>
            </a:endParaRPr>
          </a:p>
        </p:txBody>
      </p:sp>
      <p:sp>
        <p:nvSpPr>
          <p:cNvPr id="1351" name="文字框 1350"/>
          <p:cNvSpPr txBox="1"/>
          <p:nvPr/>
        </p:nvSpPr>
        <p:spPr>
          <a:xfrm>
            <a:off x="1495800" y="2759040"/>
            <a:ext cx="139752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Treasury Bills, T-Bills</a:t>
            </a:r>
            <a:endParaRPr lang="en-US" sz="1050" b="0" u="none" strike="noStrike">
              <a:solidFill>
                <a:srgbClr val="000000"/>
              </a:solidFill>
              <a:effectLst/>
              <a:uFillTx/>
              <a:latin typeface="Times New Roman" panose="02020603050405020304"/>
            </a:endParaRPr>
          </a:p>
        </p:txBody>
      </p:sp>
      <p:sp>
        <p:nvSpPr>
          <p:cNvPr id="1352" name="文字框 1351"/>
          <p:cNvSpPr txBox="1"/>
          <p:nvPr/>
        </p:nvSpPr>
        <p:spPr>
          <a:xfrm>
            <a:off x="2848680" y="2754360"/>
            <a:ext cx="21466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）是美国政府发行的短期债务工具，</a:t>
            </a:r>
            <a:endParaRPr lang="en-US" sz="1050" b="0" u="none" strike="noStrike">
              <a:solidFill>
                <a:srgbClr val="000000"/>
              </a:solidFill>
              <a:effectLst/>
              <a:uFillTx/>
              <a:latin typeface="Times New Roman" panose="02020603050405020304"/>
            </a:endParaRPr>
          </a:p>
        </p:txBody>
      </p:sp>
      <p:sp>
        <p:nvSpPr>
          <p:cNvPr id="1353" name="文字框 1352"/>
          <p:cNvSpPr txBox="1"/>
          <p:nvPr/>
        </p:nvSpPr>
        <p:spPr>
          <a:xfrm>
            <a:off x="693720" y="295488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其期限通常为一年或更短，常见的期限包括</a:t>
            </a:r>
            <a:endParaRPr lang="en-US" sz="1050" b="0" u="none" strike="noStrike">
              <a:solidFill>
                <a:srgbClr val="000000"/>
              </a:solidFill>
              <a:effectLst/>
              <a:uFillTx/>
              <a:latin typeface="Times New Roman" panose="02020603050405020304"/>
            </a:endParaRPr>
          </a:p>
        </p:txBody>
      </p:sp>
      <p:sp>
        <p:nvSpPr>
          <p:cNvPr id="1354" name="文字框 1353"/>
          <p:cNvSpPr txBox="1"/>
          <p:nvPr/>
        </p:nvSpPr>
        <p:spPr>
          <a:xfrm>
            <a:off x="3233880" y="295956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4</a:t>
            </a:r>
            <a:endParaRPr lang="en-US" sz="1050" b="0" u="none" strike="noStrike">
              <a:solidFill>
                <a:srgbClr val="000000"/>
              </a:solidFill>
              <a:effectLst/>
              <a:uFillTx/>
              <a:latin typeface="Times New Roman" panose="02020603050405020304"/>
            </a:endParaRPr>
          </a:p>
        </p:txBody>
      </p:sp>
      <p:sp>
        <p:nvSpPr>
          <p:cNvPr id="1355" name="文字框 1354"/>
          <p:cNvSpPr txBox="1"/>
          <p:nvPr/>
        </p:nvSpPr>
        <p:spPr>
          <a:xfrm>
            <a:off x="3319200" y="295488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周、</a:t>
            </a:r>
            <a:endParaRPr lang="en-US" sz="1050" b="0" u="none" strike="noStrike">
              <a:solidFill>
                <a:srgbClr val="000000"/>
              </a:solidFill>
              <a:effectLst/>
              <a:uFillTx/>
              <a:latin typeface="Times New Roman" panose="02020603050405020304"/>
            </a:endParaRPr>
          </a:p>
        </p:txBody>
      </p:sp>
      <p:sp>
        <p:nvSpPr>
          <p:cNvPr id="1356" name="文字框 1355"/>
          <p:cNvSpPr txBox="1"/>
          <p:nvPr/>
        </p:nvSpPr>
        <p:spPr>
          <a:xfrm>
            <a:off x="3586680" y="295956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8</a:t>
            </a:r>
            <a:endParaRPr lang="en-US" sz="1050" b="0" u="none" strike="noStrike">
              <a:solidFill>
                <a:srgbClr val="000000"/>
              </a:solidFill>
              <a:effectLst/>
              <a:uFillTx/>
              <a:latin typeface="Times New Roman" panose="02020603050405020304"/>
            </a:endParaRPr>
          </a:p>
        </p:txBody>
      </p:sp>
      <p:sp>
        <p:nvSpPr>
          <p:cNvPr id="1357" name="文字框 1356"/>
          <p:cNvSpPr txBox="1"/>
          <p:nvPr/>
        </p:nvSpPr>
        <p:spPr>
          <a:xfrm>
            <a:off x="3671640" y="295488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周、</a:t>
            </a:r>
            <a:endParaRPr lang="en-US" sz="1050" b="0" u="none" strike="noStrike">
              <a:solidFill>
                <a:srgbClr val="000000"/>
              </a:solidFill>
              <a:effectLst/>
              <a:uFillTx/>
              <a:latin typeface="Times New Roman" panose="02020603050405020304"/>
            </a:endParaRPr>
          </a:p>
        </p:txBody>
      </p:sp>
      <p:sp>
        <p:nvSpPr>
          <p:cNvPr id="1358" name="文字框 1357"/>
          <p:cNvSpPr txBox="1"/>
          <p:nvPr/>
        </p:nvSpPr>
        <p:spPr>
          <a:xfrm>
            <a:off x="3939120" y="295956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13</a:t>
            </a:r>
            <a:endParaRPr lang="en-US" sz="1050" b="0" u="none" strike="noStrike">
              <a:solidFill>
                <a:srgbClr val="000000"/>
              </a:solidFill>
              <a:effectLst/>
              <a:uFillTx/>
              <a:latin typeface="Times New Roman" panose="02020603050405020304"/>
            </a:endParaRPr>
          </a:p>
        </p:txBody>
      </p:sp>
      <p:sp>
        <p:nvSpPr>
          <p:cNvPr id="1359" name="文字框 1358"/>
          <p:cNvSpPr txBox="1"/>
          <p:nvPr/>
        </p:nvSpPr>
        <p:spPr>
          <a:xfrm>
            <a:off x="4109040" y="295488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周、</a:t>
            </a:r>
            <a:endParaRPr lang="en-US" sz="1050" b="0" u="none" strike="noStrike">
              <a:solidFill>
                <a:srgbClr val="000000"/>
              </a:solidFill>
              <a:effectLst/>
              <a:uFillTx/>
              <a:latin typeface="Times New Roman" panose="02020603050405020304"/>
            </a:endParaRPr>
          </a:p>
        </p:txBody>
      </p:sp>
      <p:sp>
        <p:nvSpPr>
          <p:cNvPr id="1360" name="文字框 1359"/>
          <p:cNvSpPr txBox="1"/>
          <p:nvPr/>
        </p:nvSpPr>
        <p:spPr>
          <a:xfrm>
            <a:off x="4376520" y="295956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17</a:t>
            </a:r>
            <a:endParaRPr lang="en-US" sz="1050" b="0" u="none" strike="noStrike">
              <a:solidFill>
                <a:srgbClr val="000000"/>
              </a:solidFill>
              <a:effectLst/>
              <a:uFillTx/>
              <a:latin typeface="Times New Roman" panose="02020603050405020304"/>
            </a:endParaRPr>
          </a:p>
        </p:txBody>
      </p:sp>
      <p:sp>
        <p:nvSpPr>
          <p:cNvPr id="1361" name="文字框 1360"/>
          <p:cNvSpPr txBox="1"/>
          <p:nvPr/>
        </p:nvSpPr>
        <p:spPr>
          <a:xfrm>
            <a:off x="4546800" y="295488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周、</a:t>
            </a:r>
            <a:endParaRPr lang="en-US" sz="1050" b="0" u="none" strike="noStrike">
              <a:solidFill>
                <a:srgbClr val="000000"/>
              </a:solidFill>
              <a:effectLst/>
              <a:uFillTx/>
              <a:latin typeface="Times New Roman" panose="02020603050405020304"/>
            </a:endParaRPr>
          </a:p>
        </p:txBody>
      </p:sp>
      <p:sp>
        <p:nvSpPr>
          <p:cNvPr id="1362" name="文字框 1361"/>
          <p:cNvSpPr txBox="1"/>
          <p:nvPr/>
        </p:nvSpPr>
        <p:spPr>
          <a:xfrm>
            <a:off x="4814280" y="295956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26</a:t>
            </a:r>
            <a:endParaRPr lang="en-US" sz="1050" b="0" u="none" strike="noStrike">
              <a:solidFill>
                <a:srgbClr val="000000"/>
              </a:solidFill>
              <a:effectLst/>
              <a:uFillTx/>
              <a:latin typeface="Times New Roman" panose="02020603050405020304"/>
            </a:endParaRPr>
          </a:p>
        </p:txBody>
      </p:sp>
      <p:sp>
        <p:nvSpPr>
          <p:cNvPr id="1363" name="文字框 1362"/>
          <p:cNvSpPr txBox="1"/>
          <p:nvPr/>
        </p:nvSpPr>
        <p:spPr>
          <a:xfrm>
            <a:off x="693720" y="315540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周和</a:t>
            </a:r>
            <a:endParaRPr lang="en-US" sz="1050" b="0" u="none" strike="noStrike">
              <a:solidFill>
                <a:srgbClr val="000000"/>
              </a:solidFill>
              <a:effectLst/>
              <a:uFillTx/>
              <a:latin typeface="Times New Roman" panose="02020603050405020304"/>
            </a:endParaRPr>
          </a:p>
        </p:txBody>
      </p:sp>
      <p:sp>
        <p:nvSpPr>
          <p:cNvPr id="1364" name="文字框 1363"/>
          <p:cNvSpPr txBox="1"/>
          <p:nvPr/>
        </p:nvSpPr>
        <p:spPr>
          <a:xfrm>
            <a:off x="961200" y="316008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52</a:t>
            </a:r>
            <a:endParaRPr lang="en-US" sz="1050" b="0" u="none" strike="noStrike">
              <a:solidFill>
                <a:srgbClr val="000000"/>
              </a:solidFill>
              <a:effectLst/>
              <a:uFillTx/>
              <a:latin typeface="Times New Roman" panose="02020603050405020304"/>
            </a:endParaRPr>
          </a:p>
        </p:txBody>
      </p:sp>
      <p:sp>
        <p:nvSpPr>
          <p:cNvPr id="1365" name="文字框 1364"/>
          <p:cNvSpPr txBox="1"/>
          <p:nvPr/>
        </p:nvSpPr>
        <p:spPr>
          <a:xfrm>
            <a:off x="1131120" y="315540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周。</a:t>
            </a:r>
            <a:endParaRPr lang="en-US" sz="1050" b="0" u="none" strike="noStrike">
              <a:solidFill>
                <a:srgbClr val="000000"/>
              </a:solidFill>
              <a:effectLst/>
              <a:uFillTx/>
              <a:latin typeface="Times New Roman" panose="02020603050405020304"/>
            </a:endParaRPr>
          </a:p>
        </p:txBody>
      </p:sp>
      <p:sp>
        <p:nvSpPr>
          <p:cNvPr id="1366" name="文字框 1365"/>
          <p:cNvSpPr txBox="1"/>
          <p:nvPr/>
        </p:nvSpPr>
        <p:spPr>
          <a:xfrm>
            <a:off x="1398600" y="3160080"/>
            <a:ext cx="3348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T-Bill</a:t>
            </a:r>
            <a:endParaRPr lang="en-US" sz="1050" b="0" u="none" strike="noStrike">
              <a:solidFill>
                <a:srgbClr val="000000"/>
              </a:solidFill>
              <a:effectLst/>
              <a:uFillTx/>
              <a:latin typeface="Times New Roman" panose="02020603050405020304"/>
            </a:endParaRPr>
          </a:p>
        </p:txBody>
      </p:sp>
      <p:sp>
        <p:nvSpPr>
          <p:cNvPr id="1367" name="文字框 1366"/>
          <p:cNvSpPr txBox="1"/>
          <p:nvPr/>
        </p:nvSpPr>
        <p:spPr>
          <a:xfrm>
            <a:off x="1714680" y="3155400"/>
            <a:ext cx="32194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的主要特点是以折价方式发行，即投资者以低于面值的</a:t>
            </a:r>
            <a:endParaRPr lang="en-US" sz="1050" b="0" u="none" strike="noStrike">
              <a:solidFill>
                <a:srgbClr val="000000"/>
              </a:solidFill>
              <a:effectLst/>
              <a:uFillTx/>
              <a:latin typeface="Times New Roman" panose="02020603050405020304"/>
            </a:endParaRPr>
          </a:p>
        </p:txBody>
      </p:sp>
      <p:sp>
        <p:nvSpPr>
          <p:cNvPr id="1368" name="文字框 1367"/>
          <p:cNvSpPr txBox="1"/>
          <p:nvPr/>
        </p:nvSpPr>
        <p:spPr>
          <a:xfrm>
            <a:off x="693720" y="3355920"/>
            <a:ext cx="415836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价格购买，在到期时按面值获得偿付，其差额即为投资者的利息收入。</a:t>
            </a:r>
            <a:endParaRPr lang="en-US" sz="1050" b="0" u="none" strike="noStrike">
              <a:solidFill>
                <a:srgbClr val="000000"/>
              </a:solidFill>
              <a:effectLst/>
              <a:uFillTx/>
              <a:latin typeface="Times New Roman" panose="02020603050405020304"/>
            </a:endParaRPr>
          </a:p>
        </p:txBody>
      </p:sp>
      <p:sp>
        <p:nvSpPr>
          <p:cNvPr id="1369" name="文字框 1368"/>
          <p:cNvSpPr txBox="1"/>
          <p:nvPr/>
        </p:nvSpPr>
        <p:spPr>
          <a:xfrm>
            <a:off x="4838400" y="336060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a:t>
            </a:r>
            <a:endParaRPr lang="en-US" sz="1050" b="0" u="none" strike="noStrike">
              <a:solidFill>
                <a:srgbClr val="000000"/>
              </a:solidFill>
              <a:effectLst/>
              <a:uFillTx/>
              <a:latin typeface="Times New Roman" panose="02020603050405020304"/>
            </a:endParaRPr>
          </a:p>
        </p:txBody>
      </p:sp>
      <p:sp>
        <p:nvSpPr>
          <p:cNvPr id="1370" name="文字框 1369"/>
          <p:cNvSpPr txBox="1"/>
          <p:nvPr/>
        </p:nvSpPr>
        <p:spPr>
          <a:xfrm>
            <a:off x="693720" y="3561120"/>
            <a:ext cx="2044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Bill</a:t>
            </a:r>
            <a:endParaRPr lang="en-US" sz="1050" b="0" u="none" strike="noStrike">
              <a:solidFill>
                <a:srgbClr val="000000"/>
              </a:solidFill>
              <a:effectLst/>
              <a:uFillTx/>
              <a:latin typeface="Times New Roman" panose="02020603050405020304"/>
            </a:endParaRPr>
          </a:p>
        </p:txBody>
      </p:sp>
      <p:sp>
        <p:nvSpPr>
          <p:cNvPr id="1371" name="任意多邊形 1370"/>
          <p:cNvSpPr/>
          <p:nvPr/>
        </p:nvSpPr>
        <p:spPr>
          <a:xfrm>
            <a:off x="534600" y="4011120"/>
            <a:ext cx="4613400" cy="1370880"/>
          </a:xfrm>
          <a:custGeom>
            <a:avLst/>
            <a:gdLst/>
            <a:ahLst/>
            <a:cxnLst/>
            <a:rect l="0" t="0" r="r" b="b"/>
            <a:pathLst>
              <a:path w="12815" h="3808">
                <a:moveTo>
                  <a:pt x="14" y="114"/>
                </a:moveTo>
                <a:cubicBezTo>
                  <a:pt x="24" y="92"/>
                  <a:pt x="37" y="72"/>
                  <a:pt x="55" y="54"/>
                </a:cubicBezTo>
                <a:cubicBezTo>
                  <a:pt x="72" y="37"/>
                  <a:pt x="92" y="23"/>
                  <a:pt x="115" y="14"/>
                </a:cubicBezTo>
                <a:cubicBezTo>
                  <a:pt x="138" y="4"/>
                  <a:pt x="161" y="0"/>
                  <a:pt x="186" y="0"/>
                </a:cubicBezTo>
                <a:lnTo>
                  <a:pt x="12629" y="0"/>
                </a:lnTo>
                <a:cubicBezTo>
                  <a:pt x="12654" y="0"/>
                  <a:pt x="12677" y="4"/>
                  <a:pt x="12700" y="14"/>
                </a:cubicBezTo>
                <a:cubicBezTo>
                  <a:pt x="12723" y="23"/>
                  <a:pt x="12743" y="37"/>
                  <a:pt x="12760" y="54"/>
                </a:cubicBezTo>
                <a:cubicBezTo>
                  <a:pt x="12778" y="72"/>
                  <a:pt x="12791" y="92"/>
                  <a:pt x="12801" y="114"/>
                </a:cubicBezTo>
                <a:cubicBezTo>
                  <a:pt x="12810" y="137"/>
                  <a:pt x="12815" y="161"/>
                  <a:pt x="12815" y="185"/>
                </a:cubicBezTo>
                <a:lnTo>
                  <a:pt x="12815" y="3622"/>
                </a:lnTo>
                <a:cubicBezTo>
                  <a:pt x="12815" y="3647"/>
                  <a:pt x="12810" y="3670"/>
                  <a:pt x="12801" y="3693"/>
                </a:cubicBezTo>
                <a:cubicBezTo>
                  <a:pt x="12791" y="3716"/>
                  <a:pt x="12778" y="3736"/>
                  <a:pt x="12760" y="3753"/>
                </a:cubicBezTo>
                <a:cubicBezTo>
                  <a:pt x="12743" y="3771"/>
                  <a:pt x="12723" y="3784"/>
                  <a:pt x="12700" y="3794"/>
                </a:cubicBezTo>
                <a:cubicBezTo>
                  <a:pt x="12677" y="3803"/>
                  <a:pt x="12654" y="3808"/>
                  <a:pt x="12629" y="3808"/>
                </a:cubicBezTo>
                <a:lnTo>
                  <a:pt x="186" y="3808"/>
                </a:lnTo>
                <a:cubicBezTo>
                  <a:pt x="161" y="3808"/>
                  <a:pt x="138" y="3803"/>
                  <a:pt x="115" y="3794"/>
                </a:cubicBezTo>
                <a:cubicBezTo>
                  <a:pt x="92" y="3784"/>
                  <a:pt x="72" y="3771"/>
                  <a:pt x="55" y="3753"/>
                </a:cubicBezTo>
                <a:cubicBezTo>
                  <a:pt x="37" y="3736"/>
                  <a:pt x="24" y="3716"/>
                  <a:pt x="14" y="3693"/>
                </a:cubicBezTo>
                <a:cubicBezTo>
                  <a:pt x="5" y="3670"/>
                  <a:pt x="0" y="3647"/>
                  <a:pt x="0" y="3622"/>
                </a:cubicBezTo>
                <a:lnTo>
                  <a:pt x="0" y="185"/>
                </a:lnTo>
                <a:cubicBezTo>
                  <a:pt x="0" y="161"/>
                  <a:pt x="5" y="137"/>
                  <a:pt x="14" y="114"/>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72" name="文字框 1371"/>
          <p:cNvSpPr txBox="1"/>
          <p:nvPr/>
        </p:nvSpPr>
        <p:spPr>
          <a:xfrm>
            <a:off x="896760" y="3556440"/>
            <a:ext cx="1207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不支付定期的票息。</a:t>
            </a:r>
            <a:endParaRPr lang="en-US" sz="1050" b="0" u="none" strike="noStrike">
              <a:solidFill>
                <a:srgbClr val="000000"/>
              </a:solidFill>
              <a:effectLst/>
              <a:uFillTx/>
              <a:latin typeface="Times New Roman" panose="02020603050405020304"/>
            </a:endParaRPr>
          </a:p>
        </p:txBody>
      </p:sp>
      <p:sp>
        <p:nvSpPr>
          <p:cNvPr id="1373" name="文字框 1372"/>
          <p:cNvSpPr txBox="1"/>
          <p:nvPr/>
        </p:nvSpPr>
        <p:spPr>
          <a:xfrm>
            <a:off x="693720" y="4165200"/>
            <a:ext cx="560520" cy="195480"/>
          </a:xfrm>
          <a:prstGeom prst="rect">
            <a:avLst/>
          </a:prstGeom>
          <a:noFill/>
          <a:ln w="0">
            <a:noFill/>
          </a:ln>
        </p:spPr>
        <p:txBody>
          <a:bodyPr wrap="none" lIns="0" tIns="0" rIns="0" bIns="0" anchor="t">
            <a:spAutoFit/>
          </a:bodyPr>
          <a:p>
            <a:r>
              <a:rPr lang="en-US" sz="1320" b="0" u="none" strike="noStrike">
                <a:solidFill>
                  <a:srgbClr val="FFFFFF"/>
                </a:solidFill>
                <a:effectLst/>
                <a:uFillTx/>
                <a:latin typeface="DejaVuSans"/>
                <a:ea typeface="DejaVuSans"/>
              </a:rPr>
              <a:t>T-Note</a:t>
            </a:r>
            <a:endParaRPr lang="en-US" sz="1320" b="0" u="none" strike="noStrike">
              <a:solidFill>
                <a:srgbClr val="000000"/>
              </a:solidFill>
              <a:effectLst/>
              <a:uFillTx/>
              <a:latin typeface="Times New Roman" panose="02020603050405020304"/>
            </a:endParaRPr>
          </a:p>
        </p:txBody>
      </p:sp>
      <p:sp>
        <p:nvSpPr>
          <p:cNvPr id="1374" name="文字框 1373"/>
          <p:cNvSpPr txBox="1"/>
          <p:nvPr/>
        </p:nvSpPr>
        <p:spPr>
          <a:xfrm>
            <a:off x="1236240" y="415944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（中期国债）</a:t>
            </a:r>
            <a:endParaRPr lang="en-US" sz="1320" b="0" u="none" strike="noStrike">
              <a:solidFill>
                <a:srgbClr val="000000"/>
              </a:solidFill>
              <a:effectLst/>
              <a:uFillTx/>
              <a:latin typeface="Times New Roman" panose="02020603050405020304"/>
            </a:endParaRPr>
          </a:p>
        </p:txBody>
      </p:sp>
      <p:sp>
        <p:nvSpPr>
          <p:cNvPr id="1375" name="文字框 1374"/>
          <p:cNvSpPr txBox="1"/>
          <p:nvPr/>
        </p:nvSpPr>
        <p:spPr>
          <a:xfrm>
            <a:off x="693720" y="445896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中期国债（</a:t>
            </a:r>
            <a:endParaRPr lang="en-US" sz="1050" b="0" u="none" strike="noStrike">
              <a:solidFill>
                <a:srgbClr val="000000"/>
              </a:solidFill>
              <a:effectLst/>
              <a:uFillTx/>
              <a:latin typeface="Times New Roman" panose="02020603050405020304"/>
            </a:endParaRPr>
          </a:p>
        </p:txBody>
      </p:sp>
      <p:sp>
        <p:nvSpPr>
          <p:cNvPr id="1376" name="文字框 1375"/>
          <p:cNvSpPr txBox="1"/>
          <p:nvPr/>
        </p:nvSpPr>
        <p:spPr>
          <a:xfrm>
            <a:off x="1362240" y="4463640"/>
            <a:ext cx="162468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Treasury Notes, T-Notes</a:t>
            </a:r>
            <a:endParaRPr lang="en-US" sz="1050" b="0" u="none" strike="noStrike">
              <a:solidFill>
                <a:srgbClr val="000000"/>
              </a:solidFill>
              <a:effectLst/>
              <a:uFillTx/>
              <a:latin typeface="Times New Roman" panose="02020603050405020304"/>
            </a:endParaRPr>
          </a:p>
        </p:txBody>
      </p:sp>
      <p:sp>
        <p:nvSpPr>
          <p:cNvPr id="1377" name="文字框 1376"/>
          <p:cNvSpPr txBox="1"/>
          <p:nvPr/>
        </p:nvSpPr>
        <p:spPr>
          <a:xfrm>
            <a:off x="2946240" y="445896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）是期限为</a:t>
            </a:r>
            <a:endParaRPr lang="en-US" sz="1050" b="0" u="none" strike="noStrike">
              <a:solidFill>
                <a:srgbClr val="000000"/>
              </a:solidFill>
              <a:effectLst/>
              <a:uFillTx/>
              <a:latin typeface="Times New Roman" panose="02020603050405020304"/>
            </a:endParaRPr>
          </a:p>
        </p:txBody>
      </p:sp>
      <p:sp>
        <p:nvSpPr>
          <p:cNvPr id="1378" name="文字框 1377"/>
          <p:cNvSpPr txBox="1"/>
          <p:nvPr/>
        </p:nvSpPr>
        <p:spPr>
          <a:xfrm>
            <a:off x="3614760" y="4463640"/>
            <a:ext cx="133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a:t>
            </a:r>
            <a:endParaRPr lang="en-US" sz="1050" b="0" u="none" strike="noStrike">
              <a:solidFill>
                <a:srgbClr val="000000"/>
              </a:solidFill>
              <a:effectLst/>
              <a:uFillTx/>
              <a:latin typeface="Times New Roman" panose="02020603050405020304"/>
            </a:endParaRPr>
          </a:p>
        </p:txBody>
      </p:sp>
      <p:sp>
        <p:nvSpPr>
          <p:cNvPr id="1379" name="文字框 1378"/>
          <p:cNvSpPr txBox="1"/>
          <p:nvPr/>
        </p:nvSpPr>
        <p:spPr>
          <a:xfrm>
            <a:off x="3700080" y="445896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年至</a:t>
            </a:r>
            <a:endParaRPr lang="en-US" sz="1050" b="0" u="none" strike="noStrike">
              <a:solidFill>
                <a:srgbClr val="000000"/>
              </a:solidFill>
              <a:effectLst/>
              <a:uFillTx/>
              <a:latin typeface="Times New Roman" panose="02020603050405020304"/>
            </a:endParaRPr>
          </a:p>
        </p:txBody>
      </p:sp>
      <p:sp>
        <p:nvSpPr>
          <p:cNvPr id="1380" name="文字框 1379"/>
          <p:cNvSpPr txBox="1"/>
          <p:nvPr/>
        </p:nvSpPr>
        <p:spPr>
          <a:xfrm>
            <a:off x="3967560" y="446364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10</a:t>
            </a:r>
            <a:endParaRPr lang="en-US" sz="1050" b="0" u="none" strike="noStrike">
              <a:solidFill>
                <a:srgbClr val="000000"/>
              </a:solidFill>
              <a:effectLst/>
              <a:uFillTx/>
              <a:latin typeface="Times New Roman" panose="02020603050405020304"/>
            </a:endParaRPr>
          </a:p>
        </p:txBody>
      </p:sp>
      <p:sp>
        <p:nvSpPr>
          <p:cNvPr id="1381" name="文字框 1380"/>
          <p:cNvSpPr txBox="1"/>
          <p:nvPr/>
        </p:nvSpPr>
        <p:spPr>
          <a:xfrm>
            <a:off x="4137480" y="4458960"/>
            <a:ext cx="8053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年的美国政府</a:t>
            </a:r>
            <a:endParaRPr lang="en-US" sz="1050" b="0" u="none" strike="noStrike">
              <a:solidFill>
                <a:srgbClr val="000000"/>
              </a:solidFill>
              <a:effectLst/>
              <a:uFillTx/>
              <a:latin typeface="Times New Roman" panose="02020603050405020304"/>
            </a:endParaRPr>
          </a:p>
        </p:txBody>
      </p:sp>
      <p:sp>
        <p:nvSpPr>
          <p:cNvPr id="1382" name="文字框 1381"/>
          <p:cNvSpPr txBox="1"/>
          <p:nvPr/>
        </p:nvSpPr>
        <p:spPr>
          <a:xfrm>
            <a:off x="693720" y="4659480"/>
            <a:ext cx="5371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债券。与</a:t>
            </a:r>
            <a:endParaRPr lang="en-US" sz="1050" b="0" u="none" strike="noStrike">
              <a:solidFill>
                <a:srgbClr val="000000"/>
              </a:solidFill>
              <a:effectLst/>
              <a:uFillTx/>
              <a:latin typeface="Times New Roman" panose="02020603050405020304"/>
            </a:endParaRPr>
          </a:p>
        </p:txBody>
      </p:sp>
      <p:sp>
        <p:nvSpPr>
          <p:cNvPr id="1383" name="文字框 1382"/>
          <p:cNvSpPr txBox="1"/>
          <p:nvPr/>
        </p:nvSpPr>
        <p:spPr>
          <a:xfrm>
            <a:off x="1228320" y="4664160"/>
            <a:ext cx="3348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T-Bill</a:t>
            </a:r>
            <a:endParaRPr lang="en-US" sz="1050" b="0" u="none" strike="noStrike">
              <a:solidFill>
                <a:srgbClr val="000000"/>
              </a:solidFill>
              <a:effectLst/>
              <a:uFillTx/>
              <a:latin typeface="Times New Roman" panose="02020603050405020304"/>
            </a:endParaRPr>
          </a:p>
        </p:txBody>
      </p:sp>
      <p:sp>
        <p:nvSpPr>
          <p:cNvPr id="1384" name="文字框 1383"/>
          <p:cNvSpPr txBox="1"/>
          <p:nvPr/>
        </p:nvSpPr>
        <p:spPr>
          <a:xfrm>
            <a:off x="1544400" y="465948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不同，</a:t>
            </a:r>
            <a:endParaRPr lang="en-US" sz="1050" b="0" u="none" strike="noStrike">
              <a:solidFill>
                <a:srgbClr val="000000"/>
              </a:solidFill>
              <a:effectLst/>
              <a:uFillTx/>
              <a:latin typeface="Times New Roman" panose="02020603050405020304"/>
            </a:endParaRPr>
          </a:p>
        </p:txBody>
      </p:sp>
      <p:sp>
        <p:nvSpPr>
          <p:cNvPr id="1385" name="文字框 1384"/>
          <p:cNvSpPr txBox="1"/>
          <p:nvPr/>
        </p:nvSpPr>
        <p:spPr>
          <a:xfrm>
            <a:off x="1945440" y="4664160"/>
            <a:ext cx="4485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T-Note</a:t>
            </a:r>
            <a:endParaRPr lang="en-US" sz="1050" b="0" u="none" strike="noStrike">
              <a:solidFill>
                <a:srgbClr val="000000"/>
              </a:solidFill>
              <a:effectLst/>
              <a:uFillTx/>
              <a:latin typeface="Times New Roman" panose="02020603050405020304"/>
            </a:endParaRPr>
          </a:p>
        </p:txBody>
      </p:sp>
      <p:sp>
        <p:nvSpPr>
          <p:cNvPr id="1386" name="文字框 1385"/>
          <p:cNvSpPr txBox="1"/>
          <p:nvPr/>
        </p:nvSpPr>
        <p:spPr>
          <a:xfrm>
            <a:off x="2379600" y="4659480"/>
            <a:ext cx="25488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每半年支付一次固定利息（票息），并在到</a:t>
            </a:r>
            <a:endParaRPr lang="en-US" sz="1050" b="0" u="none" strike="noStrike">
              <a:solidFill>
                <a:srgbClr val="000000"/>
              </a:solidFill>
              <a:effectLst/>
              <a:uFillTx/>
              <a:latin typeface="Times New Roman" panose="02020603050405020304"/>
            </a:endParaRPr>
          </a:p>
        </p:txBody>
      </p:sp>
      <p:sp>
        <p:nvSpPr>
          <p:cNvPr id="1387" name="文字框 1386"/>
          <p:cNvSpPr txBox="1"/>
          <p:nvPr/>
        </p:nvSpPr>
        <p:spPr>
          <a:xfrm>
            <a:off x="693720" y="486036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期时偿还本金。</a:t>
            </a:r>
            <a:endParaRPr lang="en-US" sz="1050" b="0" u="none" strike="noStrike">
              <a:solidFill>
                <a:srgbClr val="000000"/>
              </a:solidFill>
              <a:effectLst/>
              <a:uFillTx/>
              <a:latin typeface="Times New Roman" panose="02020603050405020304"/>
            </a:endParaRPr>
          </a:p>
        </p:txBody>
      </p:sp>
      <p:sp>
        <p:nvSpPr>
          <p:cNvPr id="1388" name="文字框 1387"/>
          <p:cNvSpPr txBox="1"/>
          <p:nvPr/>
        </p:nvSpPr>
        <p:spPr>
          <a:xfrm>
            <a:off x="1629720" y="4865040"/>
            <a:ext cx="4485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T-Note</a:t>
            </a:r>
            <a:endParaRPr lang="en-US" sz="1050" b="0" u="none" strike="noStrike">
              <a:solidFill>
                <a:srgbClr val="000000"/>
              </a:solidFill>
              <a:effectLst/>
              <a:uFillTx/>
              <a:latin typeface="Times New Roman" panose="02020603050405020304"/>
            </a:endParaRPr>
          </a:p>
        </p:txBody>
      </p:sp>
      <p:sp>
        <p:nvSpPr>
          <p:cNvPr id="1389" name="文字框 1388"/>
          <p:cNvSpPr txBox="1"/>
          <p:nvPr/>
        </p:nvSpPr>
        <p:spPr>
          <a:xfrm>
            <a:off x="2063880" y="4860360"/>
            <a:ext cx="2817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是美国国债市场中发行量最大、交易最活跃的品</a:t>
            </a:r>
            <a:endParaRPr lang="en-US" sz="1050" b="0" u="none" strike="noStrike">
              <a:solidFill>
                <a:srgbClr val="000000"/>
              </a:solidFill>
              <a:effectLst/>
              <a:uFillTx/>
              <a:latin typeface="Times New Roman" panose="02020603050405020304"/>
            </a:endParaRPr>
          </a:p>
        </p:txBody>
      </p:sp>
      <p:sp>
        <p:nvSpPr>
          <p:cNvPr id="1390" name="任意多邊形 1389"/>
          <p:cNvSpPr/>
          <p:nvPr/>
        </p:nvSpPr>
        <p:spPr>
          <a:xfrm>
            <a:off x="534600" y="5515200"/>
            <a:ext cx="4613400" cy="1170360"/>
          </a:xfrm>
          <a:custGeom>
            <a:avLst/>
            <a:gdLst/>
            <a:ahLst/>
            <a:cxnLst/>
            <a:rect l="0" t="0" r="r" b="b"/>
            <a:pathLst>
              <a:path w="12815" h="3251">
                <a:moveTo>
                  <a:pt x="14" y="115"/>
                </a:moveTo>
                <a:cubicBezTo>
                  <a:pt x="24" y="92"/>
                  <a:pt x="37" y="72"/>
                  <a:pt x="55" y="55"/>
                </a:cubicBezTo>
                <a:cubicBezTo>
                  <a:pt x="72" y="37"/>
                  <a:pt x="92" y="24"/>
                  <a:pt x="115" y="14"/>
                </a:cubicBezTo>
                <a:cubicBezTo>
                  <a:pt x="137" y="5"/>
                  <a:pt x="161" y="0"/>
                  <a:pt x="186" y="0"/>
                </a:cubicBezTo>
                <a:lnTo>
                  <a:pt x="12629" y="0"/>
                </a:lnTo>
                <a:cubicBezTo>
                  <a:pt x="12654" y="0"/>
                  <a:pt x="12677" y="5"/>
                  <a:pt x="12700" y="14"/>
                </a:cubicBezTo>
                <a:cubicBezTo>
                  <a:pt x="12723" y="24"/>
                  <a:pt x="12743" y="37"/>
                  <a:pt x="12760" y="55"/>
                </a:cubicBezTo>
                <a:cubicBezTo>
                  <a:pt x="12778" y="72"/>
                  <a:pt x="12791" y="92"/>
                  <a:pt x="12801" y="115"/>
                </a:cubicBezTo>
                <a:cubicBezTo>
                  <a:pt x="12810" y="138"/>
                  <a:pt x="12815" y="161"/>
                  <a:pt x="12815" y="186"/>
                </a:cubicBezTo>
                <a:lnTo>
                  <a:pt x="12815" y="3065"/>
                </a:lnTo>
                <a:cubicBezTo>
                  <a:pt x="12815" y="3090"/>
                  <a:pt x="12810" y="3114"/>
                  <a:pt x="12801" y="3136"/>
                </a:cubicBezTo>
                <a:cubicBezTo>
                  <a:pt x="12791" y="3159"/>
                  <a:pt x="12778" y="3179"/>
                  <a:pt x="12760" y="3197"/>
                </a:cubicBezTo>
                <a:cubicBezTo>
                  <a:pt x="12743" y="3214"/>
                  <a:pt x="12723" y="3227"/>
                  <a:pt x="12700" y="3237"/>
                </a:cubicBezTo>
                <a:cubicBezTo>
                  <a:pt x="12677" y="3246"/>
                  <a:pt x="12654" y="3251"/>
                  <a:pt x="12629" y="3251"/>
                </a:cubicBezTo>
                <a:lnTo>
                  <a:pt x="186" y="3251"/>
                </a:lnTo>
                <a:cubicBezTo>
                  <a:pt x="161" y="3251"/>
                  <a:pt x="138" y="3246"/>
                  <a:pt x="115" y="3237"/>
                </a:cubicBezTo>
                <a:cubicBezTo>
                  <a:pt x="92" y="3227"/>
                  <a:pt x="72" y="3214"/>
                  <a:pt x="55" y="3197"/>
                </a:cubicBezTo>
                <a:cubicBezTo>
                  <a:pt x="37" y="3179"/>
                  <a:pt x="24" y="3159"/>
                  <a:pt x="14" y="3136"/>
                </a:cubicBezTo>
                <a:cubicBezTo>
                  <a:pt x="5" y="3114"/>
                  <a:pt x="0" y="3090"/>
                  <a:pt x="0" y="3065"/>
                </a:cubicBezTo>
                <a:lnTo>
                  <a:pt x="0" y="186"/>
                </a:lnTo>
                <a:cubicBezTo>
                  <a:pt x="0" y="161"/>
                  <a:pt x="5" y="138"/>
                  <a:pt x="14" y="115"/>
                </a:cubicBezTo>
                <a:close/>
              </a:path>
            </a:pathLst>
          </a:custGeom>
          <a:solidFill>
            <a:srgbClr val="FFFFFF">
              <a:alpha val="10000"/>
            </a:srgbClr>
          </a:solidFill>
          <a:ln w="0">
            <a:noFill/>
          </a:ln>
        </p:spPr>
        <p:txBody>
          <a:bodyPr lIns="0" tIns="0" rIns="0" bIns="0" anchor="t">
            <a:noAutofit/>
          </a:bodyPr>
          <a:p>
            <a:endParaRPr lang="en-US" sz="2400" b="0" u="none" strike="noStrike">
              <a:solidFill>
                <a:srgbClr val="000000"/>
              </a:solidFill>
              <a:effectLst/>
              <a:uFillTx/>
              <a:latin typeface="Times New Roman" panose="02020603050405020304"/>
            </a:endParaRPr>
          </a:p>
        </p:txBody>
      </p:sp>
      <p:sp>
        <p:nvSpPr>
          <p:cNvPr id="1391" name="文字框 1390"/>
          <p:cNvSpPr txBox="1"/>
          <p:nvPr/>
        </p:nvSpPr>
        <p:spPr>
          <a:xfrm>
            <a:off x="693720" y="5060880"/>
            <a:ext cx="24148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种，构成了美国中长期债务的主要部分。</a:t>
            </a:r>
            <a:endParaRPr lang="en-US" sz="1050" b="0" u="none" strike="noStrike">
              <a:solidFill>
                <a:srgbClr val="000000"/>
              </a:solidFill>
              <a:effectLst/>
              <a:uFillTx/>
              <a:latin typeface="Times New Roman" panose="02020603050405020304"/>
            </a:endParaRPr>
          </a:p>
        </p:txBody>
      </p:sp>
      <p:sp>
        <p:nvSpPr>
          <p:cNvPr id="1392" name="文字框 1391"/>
          <p:cNvSpPr txBox="1"/>
          <p:nvPr/>
        </p:nvSpPr>
        <p:spPr>
          <a:xfrm>
            <a:off x="693720" y="5669640"/>
            <a:ext cx="594000" cy="195480"/>
          </a:xfrm>
          <a:prstGeom prst="rect">
            <a:avLst/>
          </a:prstGeom>
          <a:noFill/>
          <a:ln w="0">
            <a:noFill/>
          </a:ln>
        </p:spPr>
        <p:txBody>
          <a:bodyPr wrap="none" lIns="0" tIns="0" rIns="0" bIns="0" anchor="t">
            <a:spAutoFit/>
          </a:bodyPr>
          <a:p>
            <a:r>
              <a:rPr lang="en-US" sz="1320" b="0" u="none" strike="noStrike">
                <a:solidFill>
                  <a:srgbClr val="FFFFFF"/>
                </a:solidFill>
                <a:effectLst/>
                <a:uFillTx/>
                <a:latin typeface="DejaVuSans"/>
                <a:ea typeface="DejaVuSans"/>
              </a:rPr>
              <a:t>T-Bond</a:t>
            </a:r>
            <a:endParaRPr lang="en-US" sz="1320" b="0" u="none" strike="noStrike">
              <a:solidFill>
                <a:srgbClr val="000000"/>
              </a:solidFill>
              <a:effectLst/>
              <a:uFillTx/>
              <a:latin typeface="Times New Roman" panose="02020603050405020304"/>
            </a:endParaRPr>
          </a:p>
        </p:txBody>
      </p:sp>
      <p:sp>
        <p:nvSpPr>
          <p:cNvPr id="1393" name="文字框 1392"/>
          <p:cNvSpPr txBox="1"/>
          <p:nvPr/>
        </p:nvSpPr>
        <p:spPr>
          <a:xfrm>
            <a:off x="1263600" y="5663520"/>
            <a:ext cx="1006560" cy="212400"/>
          </a:xfrm>
          <a:prstGeom prst="rect">
            <a:avLst/>
          </a:prstGeom>
          <a:noFill/>
          <a:ln w="0">
            <a:noFill/>
          </a:ln>
        </p:spPr>
        <p:txBody>
          <a:bodyPr wrap="none" lIns="0" tIns="0" rIns="0" bIns="0" anchor="t">
            <a:spAutoFit/>
          </a:bodyPr>
          <a:p>
            <a:r>
              <a:rPr lang="zh-CN" sz="1320" b="0" u="none" strike="noStrike">
                <a:solidFill>
                  <a:srgbClr val="FFFFFF"/>
                </a:solidFill>
                <a:effectLst/>
                <a:uFillTx/>
                <a:latin typeface="WenQuanYiZenHei"/>
                <a:ea typeface="WenQuanYiZenHei"/>
              </a:rPr>
              <a:t>（长期国债）</a:t>
            </a:r>
            <a:endParaRPr lang="en-US" sz="1320" b="0" u="none" strike="noStrike">
              <a:solidFill>
                <a:srgbClr val="000000"/>
              </a:solidFill>
              <a:effectLst/>
              <a:uFillTx/>
              <a:latin typeface="Times New Roman" panose="02020603050405020304"/>
            </a:endParaRPr>
          </a:p>
        </p:txBody>
      </p:sp>
      <p:sp>
        <p:nvSpPr>
          <p:cNvPr id="1394" name="文字框 1393"/>
          <p:cNvSpPr txBox="1"/>
          <p:nvPr/>
        </p:nvSpPr>
        <p:spPr>
          <a:xfrm>
            <a:off x="693720" y="596340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长期国债（</a:t>
            </a:r>
            <a:endParaRPr lang="en-US" sz="1050" b="0" u="none" strike="noStrike">
              <a:solidFill>
                <a:srgbClr val="000000"/>
              </a:solidFill>
              <a:effectLst/>
              <a:uFillTx/>
              <a:latin typeface="Times New Roman" panose="02020603050405020304"/>
            </a:endParaRPr>
          </a:p>
        </p:txBody>
      </p:sp>
      <p:sp>
        <p:nvSpPr>
          <p:cNvPr id="1395" name="文字框 1394"/>
          <p:cNvSpPr txBox="1"/>
          <p:nvPr/>
        </p:nvSpPr>
        <p:spPr>
          <a:xfrm>
            <a:off x="1362240" y="5968080"/>
            <a:ext cx="167832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Treasury Bonds, T-Bonds</a:t>
            </a:r>
            <a:endParaRPr lang="en-US" sz="1050" b="0" u="none" strike="noStrike">
              <a:solidFill>
                <a:srgbClr val="000000"/>
              </a:solidFill>
              <a:effectLst/>
              <a:uFillTx/>
              <a:latin typeface="Times New Roman" panose="02020603050405020304"/>
            </a:endParaRPr>
          </a:p>
        </p:txBody>
      </p:sp>
      <p:sp>
        <p:nvSpPr>
          <p:cNvPr id="1396" name="文字框 1395"/>
          <p:cNvSpPr txBox="1"/>
          <p:nvPr/>
        </p:nvSpPr>
        <p:spPr>
          <a:xfrm>
            <a:off x="2994840" y="5963400"/>
            <a:ext cx="2012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）是期限最长的美国政府债券，期</a:t>
            </a:r>
            <a:endParaRPr lang="en-US" sz="1050" b="0" u="none" strike="noStrike">
              <a:solidFill>
                <a:srgbClr val="000000"/>
              </a:solidFill>
              <a:effectLst/>
              <a:uFillTx/>
              <a:latin typeface="Times New Roman" panose="02020603050405020304"/>
            </a:endParaRPr>
          </a:p>
        </p:txBody>
      </p:sp>
      <p:sp>
        <p:nvSpPr>
          <p:cNvPr id="1397" name="文字框 1396"/>
          <p:cNvSpPr txBox="1"/>
          <p:nvPr/>
        </p:nvSpPr>
        <p:spPr>
          <a:xfrm>
            <a:off x="693720" y="6163920"/>
            <a:ext cx="6714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限通常超过</a:t>
            </a:r>
            <a:endParaRPr lang="en-US" sz="1050" b="0" u="none" strike="noStrike">
              <a:solidFill>
                <a:srgbClr val="000000"/>
              </a:solidFill>
              <a:effectLst/>
              <a:uFillTx/>
              <a:latin typeface="Times New Roman" panose="02020603050405020304"/>
            </a:endParaRPr>
          </a:p>
        </p:txBody>
      </p:sp>
      <p:sp>
        <p:nvSpPr>
          <p:cNvPr id="1398" name="文字框 1397"/>
          <p:cNvSpPr txBox="1"/>
          <p:nvPr/>
        </p:nvSpPr>
        <p:spPr>
          <a:xfrm>
            <a:off x="1362240" y="616860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10</a:t>
            </a:r>
            <a:endParaRPr lang="en-US" sz="1050" b="0" u="none" strike="noStrike">
              <a:solidFill>
                <a:srgbClr val="000000"/>
              </a:solidFill>
              <a:effectLst/>
              <a:uFillTx/>
              <a:latin typeface="Times New Roman" panose="02020603050405020304"/>
            </a:endParaRPr>
          </a:p>
        </p:txBody>
      </p:sp>
      <p:sp>
        <p:nvSpPr>
          <p:cNvPr id="1399" name="文字框 1398"/>
          <p:cNvSpPr txBox="1"/>
          <p:nvPr/>
        </p:nvSpPr>
        <p:spPr>
          <a:xfrm>
            <a:off x="1532160" y="6163920"/>
            <a:ext cx="9396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年，最常见的为</a:t>
            </a:r>
            <a:endParaRPr lang="en-US" sz="1050" b="0" u="none" strike="noStrike">
              <a:solidFill>
                <a:srgbClr val="000000"/>
              </a:solidFill>
              <a:effectLst/>
              <a:uFillTx/>
              <a:latin typeface="Times New Roman" panose="02020603050405020304"/>
            </a:endParaRPr>
          </a:p>
        </p:txBody>
      </p:sp>
      <p:sp>
        <p:nvSpPr>
          <p:cNvPr id="1400" name="文字框 1399"/>
          <p:cNvSpPr txBox="1"/>
          <p:nvPr/>
        </p:nvSpPr>
        <p:spPr>
          <a:xfrm>
            <a:off x="2468160" y="616860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20</a:t>
            </a:r>
            <a:endParaRPr lang="en-US" sz="1050" b="0" u="none" strike="noStrike">
              <a:solidFill>
                <a:srgbClr val="000000"/>
              </a:solidFill>
              <a:effectLst/>
              <a:uFillTx/>
              <a:latin typeface="Times New Roman" panose="02020603050405020304"/>
            </a:endParaRPr>
          </a:p>
        </p:txBody>
      </p:sp>
      <p:sp>
        <p:nvSpPr>
          <p:cNvPr id="1401" name="文字框 1400"/>
          <p:cNvSpPr txBox="1"/>
          <p:nvPr/>
        </p:nvSpPr>
        <p:spPr>
          <a:xfrm>
            <a:off x="2638440" y="6163920"/>
            <a:ext cx="26892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年和</a:t>
            </a:r>
            <a:endParaRPr lang="en-US" sz="1050" b="0" u="none" strike="noStrike">
              <a:solidFill>
                <a:srgbClr val="000000"/>
              </a:solidFill>
              <a:effectLst/>
              <a:uFillTx/>
              <a:latin typeface="Times New Roman" panose="02020603050405020304"/>
            </a:endParaRPr>
          </a:p>
        </p:txBody>
      </p:sp>
      <p:sp>
        <p:nvSpPr>
          <p:cNvPr id="1402" name="文字框 1401"/>
          <p:cNvSpPr txBox="1"/>
          <p:nvPr/>
        </p:nvSpPr>
        <p:spPr>
          <a:xfrm>
            <a:off x="2905920" y="6168600"/>
            <a:ext cx="1713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30</a:t>
            </a:r>
            <a:endParaRPr lang="en-US" sz="1050" b="0" u="none" strike="noStrike">
              <a:solidFill>
                <a:srgbClr val="000000"/>
              </a:solidFill>
              <a:effectLst/>
              <a:uFillTx/>
              <a:latin typeface="Times New Roman" panose="02020603050405020304"/>
            </a:endParaRPr>
          </a:p>
        </p:txBody>
      </p:sp>
      <p:sp>
        <p:nvSpPr>
          <p:cNvPr id="1403" name="文字框 1402"/>
          <p:cNvSpPr txBox="1"/>
          <p:nvPr/>
        </p:nvSpPr>
        <p:spPr>
          <a:xfrm>
            <a:off x="3075840" y="616392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年。与</a:t>
            </a:r>
            <a:endParaRPr lang="en-US" sz="1050" b="0" u="none" strike="noStrike">
              <a:solidFill>
                <a:srgbClr val="000000"/>
              </a:solidFill>
              <a:effectLst/>
              <a:uFillTx/>
              <a:latin typeface="Times New Roman" panose="02020603050405020304"/>
            </a:endParaRPr>
          </a:p>
        </p:txBody>
      </p:sp>
      <p:sp>
        <p:nvSpPr>
          <p:cNvPr id="1404" name="文字框 1403"/>
          <p:cNvSpPr txBox="1"/>
          <p:nvPr/>
        </p:nvSpPr>
        <p:spPr>
          <a:xfrm>
            <a:off x="3476880" y="6168600"/>
            <a:ext cx="44856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T-Note</a:t>
            </a:r>
            <a:endParaRPr lang="en-US" sz="1050" b="0" u="none" strike="noStrike">
              <a:solidFill>
                <a:srgbClr val="000000"/>
              </a:solidFill>
              <a:effectLst/>
              <a:uFillTx/>
              <a:latin typeface="Times New Roman" panose="02020603050405020304"/>
            </a:endParaRPr>
          </a:p>
        </p:txBody>
      </p:sp>
      <p:sp>
        <p:nvSpPr>
          <p:cNvPr id="1405" name="文字框 1404"/>
          <p:cNvSpPr txBox="1"/>
          <p:nvPr/>
        </p:nvSpPr>
        <p:spPr>
          <a:xfrm>
            <a:off x="3911040" y="6163920"/>
            <a:ext cx="4032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类似，</a:t>
            </a:r>
            <a:endParaRPr lang="en-US" sz="1050" b="0" u="none" strike="noStrike">
              <a:solidFill>
                <a:srgbClr val="000000"/>
              </a:solidFill>
              <a:effectLst/>
              <a:uFillTx/>
              <a:latin typeface="Times New Roman" panose="02020603050405020304"/>
            </a:endParaRPr>
          </a:p>
        </p:txBody>
      </p:sp>
      <p:sp>
        <p:nvSpPr>
          <p:cNvPr id="1406" name="文字框 1405"/>
          <p:cNvSpPr txBox="1"/>
          <p:nvPr/>
        </p:nvSpPr>
        <p:spPr>
          <a:xfrm>
            <a:off x="4312440" y="6168600"/>
            <a:ext cx="475200" cy="157320"/>
          </a:xfrm>
          <a:prstGeom prst="rect">
            <a:avLst/>
          </a:prstGeom>
          <a:noFill/>
          <a:ln w="0">
            <a:noFill/>
          </a:ln>
        </p:spPr>
        <p:txBody>
          <a:bodyPr wrap="none" lIns="0" tIns="0" rIns="0" bIns="0" anchor="t">
            <a:spAutoFit/>
          </a:bodyPr>
          <a:p>
            <a:r>
              <a:rPr lang="en-US" sz="1050" b="0" u="none" strike="noStrike">
                <a:solidFill>
                  <a:srgbClr val="E5E7EB"/>
                </a:solidFill>
                <a:effectLst/>
                <a:uFillTx/>
                <a:latin typeface="DejaVuSans"/>
                <a:ea typeface="DejaVuSans"/>
              </a:rPr>
              <a:t>T-Bond</a:t>
            </a:r>
            <a:endParaRPr lang="en-US" sz="1050" b="0" u="none" strike="noStrike">
              <a:solidFill>
                <a:srgbClr val="000000"/>
              </a:solidFill>
              <a:effectLst/>
              <a:uFillTx/>
              <a:latin typeface="Times New Roman" panose="02020603050405020304"/>
            </a:endParaRPr>
          </a:p>
        </p:txBody>
      </p:sp>
      <p:sp>
        <p:nvSpPr>
          <p:cNvPr id="1407" name="文字框 1406"/>
          <p:cNvSpPr txBox="1"/>
          <p:nvPr/>
        </p:nvSpPr>
        <p:spPr>
          <a:xfrm>
            <a:off x="4768200" y="6163920"/>
            <a:ext cx="13500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也</a:t>
            </a:r>
            <a:endParaRPr lang="en-US" sz="1050" b="0" u="none" strike="noStrike">
              <a:solidFill>
                <a:srgbClr val="000000"/>
              </a:solidFill>
              <a:effectLst/>
              <a:uFillTx/>
              <a:latin typeface="Times New Roman" panose="02020603050405020304"/>
            </a:endParaRPr>
          </a:p>
        </p:txBody>
      </p:sp>
      <p:sp>
        <p:nvSpPr>
          <p:cNvPr id="1408" name="文字框 1407"/>
          <p:cNvSpPr txBox="1"/>
          <p:nvPr/>
        </p:nvSpPr>
        <p:spPr>
          <a:xfrm>
            <a:off x="693720" y="6364440"/>
            <a:ext cx="2951280" cy="169560"/>
          </a:xfrm>
          <a:prstGeom prst="rect">
            <a:avLst/>
          </a:prstGeom>
          <a:noFill/>
          <a:ln w="0">
            <a:noFill/>
          </a:ln>
        </p:spPr>
        <p:txBody>
          <a:bodyPr wrap="none" lIns="0" tIns="0" rIns="0" bIns="0" anchor="t">
            <a:spAutoFit/>
          </a:bodyPr>
          <a:p>
            <a:r>
              <a:rPr lang="zh-CN" sz="1050" b="0" u="none" strike="noStrike">
                <a:solidFill>
                  <a:srgbClr val="E5E7EB"/>
                </a:solidFill>
                <a:effectLst/>
                <a:uFillTx/>
                <a:latin typeface="WenQuanYiZenHei"/>
                <a:ea typeface="WenQuanYiZenHei"/>
              </a:rPr>
              <a:t>每半年支付一次固定利息，并在到期时偿还本金。</a:t>
            </a:r>
            <a:endParaRPr lang="en-US" sz="105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9177</Words>
  <Application>WPS Presentation</Application>
  <PresentationFormat/>
  <Paragraphs>1740</Paragraphs>
  <Slides>24</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24</vt:i4>
      </vt:variant>
    </vt:vector>
  </HeadingPairs>
  <TitlesOfParts>
    <vt:vector size="39" baseType="lpstr">
      <vt:lpstr>Arial</vt:lpstr>
      <vt:lpstr>宋体</vt:lpstr>
      <vt:lpstr>Wingdings</vt:lpstr>
      <vt:lpstr>Arial</vt:lpstr>
      <vt:lpstr>Symbol</vt:lpstr>
      <vt:lpstr>WenQuanYiZenHei</vt:lpstr>
      <vt:lpstr>Euphorigenic</vt:lpstr>
      <vt:lpstr>Times New Roman</vt:lpstr>
      <vt:lpstr>DejaVuSans</vt:lpstr>
      <vt:lpstr>微软雅黑</vt:lpstr>
      <vt:lpstr>Arial Unicode MS</vt:lpstr>
      <vt:lpstr>Calibri</vt:lpstr>
      <vt:lpstr>PMingLiU</vt:lpstr>
      <vt:lpstr>DejaVu Sans</vt:lpstr>
      <vt:lpstr>Office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dayda</cp:lastModifiedBy>
  <cp:revision>1</cp:revision>
  <dcterms:created xsi:type="dcterms:W3CDTF">2025-06-29T12:52:52Z</dcterms:created>
  <dcterms:modified xsi:type="dcterms:W3CDTF">2025-06-29T12:52:52Z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2D8575CC733046B895037C7DF176E343_12</vt:lpwstr>
  </property>
  <property fmtid="{D5CDD505-2E9C-101B-9397-08002B2CF9AE}" pid="3" name="KSOProductBuildVer">
    <vt:lpwstr>3076-12.2.0.21546</vt:lpwstr>
  </property>
</Properties>
</file>